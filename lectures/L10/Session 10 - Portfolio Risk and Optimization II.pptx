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7" r:id="rId1"/>
  </p:sldMasterIdLst>
  <p:notesMasterIdLst>
    <p:notesMasterId r:id="rId27"/>
  </p:notesMasterIdLst>
  <p:sldIdLst>
    <p:sldId id="256" r:id="rId2"/>
    <p:sldId id="258" r:id="rId3"/>
    <p:sldId id="260" r:id="rId4"/>
    <p:sldId id="282" r:id="rId5"/>
    <p:sldId id="283" r:id="rId6"/>
    <p:sldId id="284" r:id="rId7"/>
    <p:sldId id="285" r:id="rId8"/>
    <p:sldId id="261" r:id="rId9"/>
    <p:sldId id="262" r:id="rId10"/>
    <p:sldId id="264" r:id="rId11"/>
    <p:sldId id="265" r:id="rId12"/>
    <p:sldId id="267" r:id="rId13"/>
    <p:sldId id="269" r:id="rId14"/>
    <p:sldId id="270" r:id="rId15"/>
    <p:sldId id="271" r:id="rId16"/>
    <p:sldId id="272" r:id="rId17"/>
    <p:sldId id="274" r:id="rId18"/>
    <p:sldId id="275" r:id="rId19"/>
    <p:sldId id="276" r:id="rId20"/>
    <p:sldId id="277" r:id="rId21"/>
    <p:sldId id="281" r:id="rId22"/>
    <p:sldId id="286" r:id="rId23"/>
    <p:sldId id="287" r:id="rId24"/>
    <p:sldId id="288" r:id="rId25"/>
    <p:sldId id="289" r:id="rId26"/>
    <p:sldId id="290" r:id="rId34"/>
    <p:sldId id="291" r:id="rId35"/>
    <p:sldId id="292"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141D49-00C8-6B46-AE5E-DD897DF321F9}" v="77" dt="2026-07-19T18:06:45.7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6390"/>
    <p:restoredTop sz="73043"/>
  </p:normalViewPr>
  <p:slideViewPr>
    <p:cSldViewPr>
      <p:cViewPr varScale="1">
        <p:scale>
          <a:sx n="55" d="100"/>
          <a:sy n="55" d="100"/>
        </p:scale>
        <p:origin x="216" y="84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6/11/relationships/changesInfo" Target="changesInfos/changesInfo1.xml"/><Relationship Id="rId33" Type="http://schemas.microsoft.com/office/2015/10/relationships/revisionInfo" Target="revisionInfo.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riy Zabolotnyuk" userId="5293f801-6ede-4669-8a17-9af1adeb069e" providerId="ADAL" clId="{9C72D551-62FB-5E3D-901C-9F32929520A9}"/>
    <pc:docChg chg="undo redo custSel addSld delSld modSld sldOrd modMainMaster">
      <pc:chgData name="Yuriy Zabolotnyuk" userId="5293f801-6ede-4669-8a17-9af1adeb069e" providerId="ADAL" clId="{9C72D551-62FB-5E3D-901C-9F32929520A9}" dt="2026-07-19T18:16:40.250" v="2555" actId="20577"/>
      <pc:docMkLst>
        <pc:docMk/>
      </pc:docMkLst>
      <pc:sldChg chg="addSp delSp modSp mod modNotesTx">
        <pc:chgData name="Yuriy Zabolotnyuk" userId="5293f801-6ede-4669-8a17-9af1adeb069e" providerId="ADAL" clId="{9C72D551-62FB-5E3D-901C-9F32929520A9}" dt="2026-07-16T19:29:01.676" v="1749" actId="20577"/>
        <pc:sldMkLst>
          <pc:docMk/>
          <pc:sldMk cId="0" sldId="256"/>
        </pc:sldMkLst>
        <pc:spChg chg="mod">
          <ac:chgData name="Yuriy Zabolotnyuk" userId="5293f801-6ede-4669-8a17-9af1adeb069e" providerId="ADAL" clId="{9C72D551-62FB-5E3D-901C-9F32929520A9}" dt="2026-07-05T17:33:01.698" v="1631" actId="20577"/>
          <ac:spMkLst>
            <pc:docMk/>
            <pc:sldMk cId="0" sldId="256"/>
            <ac:spMk id="2" creationId="{00000000-0000-0000-0000-000000000000}"/>
          </ac:spMkLst>
        </pc:spChg>
      </pc:sldChg>
      <pc:sldChg chg="modSp del mod modNotesTx">
        <pc:chgData name="Yuriy Zabolotnyuk" userId="5293f801-6ede-4669-8a17-9af1adeb069e" providerId="ADAL" clId="{9C72D551-62FB-5E3D-901C-9F32929520A9}" dt="2026-07-16T19:29:31.748" v="1752" actId="20577"/>
        <pc:sldMkLst>
          <pc:docMk/>
          <pc:sldMk cId="0" sldId="258"/>
        </pc:sldMkLst>
        <pc:spChg chg="mod">
          <ac:chgData name="Yuriy Zabolotnyuk" userId="5293f801-6ede-4669-8a17-9af1adeb069e" providerId="ADAL" clId="{9C72D551-62FB-5E3D-901C-9F32929520A9}" dt="2026-07-16T19:29:31.748" v="1752" actId="20577"/>
          <ac:spMkLst>
            <pc:docMk/>
            <pc:sldMk cId="0" sldId="258"/>
            <ac:spMk id="4004" creationId="{00000000-0000-0000-0000-000000000000}"/>
          </ac:spMkLst>
        </pc:spChg>
      </pc:sldChg>
      <pc:sldChg chg="modSp del mod">
        <pc:chgData name="Yuriy Zabolotnyuk" userId="5293f801-6ede-4669-8a17-9af1adeb069e" providerId="ADAL" clId="{9C72D551-62FB-5E3D-901C-9F32929520A9}" dt="2026-07-19T16:16:24.975" v="2246" actId="20577"/>
        <pc:sldMkLst>
          <pc:docMk/>
          <pc:sldMk cId="0" sldId="260"/>
        </pc:sldMkLst>
        <pc:spChg chg="mod">
          <ac:chgData name="Yuriy Zabolotnyuk" userId="5293f801-6ede-4669-8a17-9af1adeb069e" providerId="ADAL" clId="{9C72D551-62FB-5E3D-901C-9F32929520A9}" dt="2026-07-19T16:16:24.975" v="2246" actId="20577"/>
          <ac:spMkLst>
            <pc:docMk/>
            <pc:sldMk cId="0" sldId="260"/>
            <ac:spMk id="4008" creationId="{00000000-0000-0000-0000-000000000000}"/>
          </ac:spMkLst>
        </pc:spChg>
      </pc:sldChg>
      <pc:sldChg chg="modSp del mod">
        <pc:chgData name="Yuriy Zabolotnyuk" userId="5293f801-6ede-4669-8a17-9af1adeb069e" providerId="ADAL" clId="{9C72D551-62FB-5E3D-901C-9F32929520A9}" dt="2026-07-16T19:30:44.738" v="1769" actId="27636"/>
        <pc:sldMkLst>
          <pc:docMk/>
          <pc:sldMk cId="0" sldId="261"/>
        </pc:sldMkLst>
        <pc:spChg chg="mod">
          <ac:chgData name="Yuriy Zabolotnyuk" userId="5293f801-6ede-4669-8a17-9af1adeb069e" providerId="ADAL" clId="{9C72D551-62FB-5E3D-901C-9F32929520A9}" dt="2026-07-16T19:30:44.738" v="1769" actId="27636"/>
          <ac:spMkLst>
            <pc:docMk/>
            <pc:sldMk cId="0" sldId="261"/>
            <ac:spMk id="2" creationId="{00000000-0000-0000-0000-000000000000}"/>
          </ac:spMkLst>
        </pc:spChg>
        <pc:picChg chg="mod">
          <ac:chgData name="Yuriy Zabolotnyuk" userId="5293f801-6ede-4669-8a17-9af1adeb069e" providerId="ADAL" clId="{9C72D551-62FB-5E3D-901C-9F32929520A9}" dt="2026-07-16T19:30:24.995" v="1754" actId="1076"/>
          <ac:picMkLst>
            <pc:docMk/>
            <pc:sldMk cId="0" sldId="261"/>
            <ac:picMk id="4010" creationId="{00000000-0000-0000-0000-000000000000}"/>
          </ac:picMkLst>
        </pc:picChg>
        <pc:picChg chg="mod">
          <ac:chgData name="Yuriy Zabolotnyuk" userId="5293f801-6ede-4669-8a17-9af1adeb069e" providerId="ADAL" clId="{9C72D551-62FB-5E3D-901C-9F32929520A9}" dt="2026-07-16T19:30:32.960" v="1756" actId="14100"/>
          <ac:picMkLst>
            <pc:docMk/>
            <pc:sldMk cId="0" sldId="261"/>
            <ac:picMk id="4011" creationId="{00000000-0000-0000-0000-000000000000}"/>
          </ac:picMkLst>
        </pc:picChg>
      </pc:sldChg>
      <pc:sldChg chg="modSp del mod modNotesTx">
        <pc:chgData name="Yuriy Zabolotnyuk" userId="5293f801-6ede-4669-8a17-9af1adeb069e" providerId="ADAL" clId="{9C72D551-62FB-5E3D-901C-9F32929520A9}" dt="2026-07-16T19:33:09.585" v="1777" actId="20577"/>
        <pc:sldMkLst>
          <pc:docMk/>
          <pc:sldMk cId="0" sldId="262"/>
        </pc:sldMkLst>
        <pc:spChg chg="mod">
          <ac:chgData name="Yuriy Zabolotnyuk" userId="5293f801-6ede-4669-8a17-9af1adeb069e" providerId="ADAL" clId="{9C72D551-62FB-5E3D-901C-9F32929520A9}" dt="2026-07-16T19:32:37.118" v="1776" actId="20577"/>
          <ac:spMkLst>
            <pc:docMk/>
            <pc:sldMk cId="0" sldId="262"/>
            <ac:spMk id="2" creationId="{00000000-0000-0000-0000-000000000000}"/>
          </ac:spMkLst>
        </pc:spChg>
        <pc:picChg chg="mod">
          <ac:chgData name="Yuriy Zabolotnyuk" userId="5293f801-6ede-4669-8a17-9af1adeb069e" providerId="ADAL" clId="{9C72D551-62FB-5E3D-901C-9F32929520A9}" dt="2026-07-16T19:31:57.066" v="1771" actId="1076"/>
          <ac:picMkLst>
            <pc:docMk/>
            <pc:sldMk cId="0" sldId="262"/>
            <ac:picMk id="4012" creationId="{00000000-0000-0000-0000-000000000000}"/>
          </ac:picMkLst>
        </pc:picChg>
        <pc:picChg chg="mod">
          <ac:chgData name="Yuriy Zabolotnyuk" userId="5293f801-6ede-4669-8a17-9af1adeb069e" providerId="ADAL" clId="{9C72D551-62FB-5E3D-901C-9F32929520A9}" dt="2026-07-16T19:32:26.048" v="1773" actId="1076"/>
          <ac:picMkLst>
            <pc:docMk/>
            <pc:sldMk cId="0" sldId="262"/>
            <ac:picMk id="4013" creationId="{00000000-0000-0000-0000-000000000000}"/>
          </ac:picMkLst>
        </pc:picChg>
      </pc:sldChg>
      <pc:sldChg chg="modSp del mod">
        <pc:chgData name="Yuriy Zabolotnyuk" userId="5293f801-6ede-4669-8a17-9af1adeb069e" providerId="ADAL" clId="{9C72D551-62FB-5E3D-901C-9F32929520A9}" dt="2026-07-16T19:34:26.274" v="1781" actId="20577"/>
        <pc:sldMkLst>
          <pc:docMk/>
          <pc:sldMk cId="0" sldId="264"/>
        </pc:sldMkLst>
        <pc:spChg chg="mod">
          <ac:chgData name="Yuriy Zabolotnyuk" userId="5293f801-6ede-4669-8a17-9af1adeb069e" providerId="ADAL" clId="{9C72D551-62FB-5E3D-901C-9F32929520A9}" dt="2026-07-16T19:34:26.274" v="1781" actId="20577"/>
          <ac:spMkLst>
            <pc:docMk/>
            <pc:sldMk cId="0" sldId="264"/>
            <ac:spMk id="4016" creationId="{00000000-0000-0000-0000-000000000000}"/>
          </ac:spMkLst>
        </pc:spChg>
      </pc:sldChg>
      <pc:sldChg chg="modSp del mod">
        <pc:chgData name="Yuriy Zabolotnyuk" userId="5293f801-6ede-4669-8a17-9af1adeb069e" providerId="ADAL" clId="{9C72D551-62FB-5E3D-901C-9F32929520A9}" dt="2026-07-19T16:13:38.688" v="2204"/>
        <pc:sldMkLst>
          <pc:docMk/>
          <pc:sldMk cId="0" sldId="265"/>
        </pc:sldMkLst>
        <pc:spChg chg="mod">
          <ac:chgData name="Yuriy Zabolotnyuk" userId="5293f801-6ede-4669-8a17-9af1adeb069e" providerId="ADAL" clId="{9C72D551-62FB-5E3D-901C-9F32929520A9}" dt="2026-07-19T16:13:38.688" v="2204"/>
          <ac:spMkLst>
            <pc:docMk/>
            <pc:sldMk cId="0" sldId="265"/>
            <ac:spMk id="2" creationId="{00000000-0000-0000-0000-000000000000}"/>
          </ac:spMkLst>
        </pc:spChg>
        <pc:picChg chg="mod">
          <ac:chgData name="Yuriy Zabolotnyuk" userId="5293f801-6ede-4669-8a17-9af1adeb069e" providerId="ADAL" clId="{9C72D551-62FB-5E3D-901C-9F32929520A9}" dt="2026-07-16T19:34:44.934" v="1783" actId="1076"/>
          <ac:picMkLst>
            <pc:docMk/>
            <pc:sldMk cId="0" sldId="265"/>
            <ac:picMk id="4018" creationId="{00000000-0000-0000-0000-000000000000}"/>
          </ac:picMkLst>
        </pc:picChg>
        <pc:picChg chg="mod">
          <ac:chgData name="Yuriy Zabolotnyuk" userId="5293f801-6ede-4669-8a17-9af1adeb069e" providerId="ADAL" clId="{9C72D551-62FB-5E3D-901C-9F32929520A9}" dt="2026-07-16T19:34:49.634" v="1785" actId="1076"/>
          <ac:picMkLst>
            <pc:docMk/>
            <pc:sldMk cId="0" sldId="265"/>
            <ac:picMk id="4019" creationId="{00000000-0000-0000-0000-000000000000}"/>
          </ac:picMkLst>
        </pc:picChg>
      </pc:sldChg>
      <pc:sldChg chg="modSp del mod">
        <pc:chgData name="Yuriy Zabolotnyuk" userId="5293f801-6ede-4669-8a17-9af1adeb069e" providerId="ADAL" clId="{9C72D551-62FB-5E3D-901C-9F32929520A9}" dt="2026-07-19T17:19:14.053" v="2445" actId="2696"/>
        <pc:sldMkLst>
          <pc:docMk/>
          <pc:sldMk cId="0" sldId="266"/>
        </pc:sldMkLst>
        <pc:spChg chg="mod">
          <ac:chgData name="Yuriy Zabolotnyuk" userId="5293f801-6ede-4669-8a17-9af1adeb069e" providerId="ADAL" clId="{9C72D551-62FB-5E3D-901C-9F32929520A9}" dt="2026-07-19T16:13:25.848" v="2203"/>
          <ac:spMkLst>
            <pc:docMk/>
            <pc:sldMk cId="0" sldId="266"/>
            <ac:spMk id="4020" creationId="{00000000-0000-0000-0000-000000000000}"/>
          </ac:spMkLst>
        </pc:spChg>
      </pc:sldChg>
      <pc:sldChg chg="modSp del mod">
        <pc:chgData name="Yuriy Zabolotnyuk" userId="5293f801-6ede-4669-8a17-9af1adeb069e" providerId="ADAL" clId="{9C72D551-62FB-5E3D-901C-9F32929520A9}" dt="2026-07-19T16:21:06.529" v="2305"/>
        <pc:sldMkLst>
          <pc:docMk/>
          <pc:sldMk cId="0" sldId="267"/>
        </pc:sldMkLst>
        <pc:spChg chg="mod">
          <ac:chgData name="Yuriy Zabolotnyuk" userId="5293f801-6ede-4669-8a17-9af1adeb069e" providerId="ADAL" clId="{9C72D551-62FB-5E3D-901C-9F32929520A9}" dt="2026-07-19T16:21:06.529" v="2305"/>
          <ac:spMkLst>
            <pc:docMk/>
            <pc:sldMk cId="0" sldId="267"/>
            <ac:spMk id="4022" creationId="{00000000-0000-0000-0000-000000000000}"/>
          </ac:spMkLst>
        </pc:spChg>
      </pc:sldChg>
      <pc:sldChg chg="modSp add del mod modNotesTx">
        <pc:chgData name="Yuriy Zabolotnyuk" userId="5293f801-6ede-4669-8a17-9af1adeb069e" providerId="ADAL" clId="{9C72D551-62FB-5E3D-901C-9F32929520A9}" dt="2026-07-19T16:14:47.089" v="2215"/>
        <pc:sldMkLst>
          <pc:docMk/>
          <pc:sldMk cId="0" sldId="269"/>
        </pc:sldMkLst>
        <pc:spChg chg="mod">
          <ac:chgData name="Yuriy Zabolotnyuk" userId="5293f801-6ede-4669-8a17-9af1adeb069e" providerId="ADAL" clId="{9C72D551-62FB-5E3D-901C-9F32929520A9}" dt="2026-07-19T16:14:47.089" v="2215"/>
          <ac:spMkLst>
            <pc:docMk/>
            <pc:sldMk cId="0" sldId="269"/>
            <ac:spMk id="4026" creationId="{00000000-0000-0000-0000-000000000000}"/>
          </ac:spMkLst>
        </pc:spChg>
      </pc:sldChg>
      <pc:sldChg chg="modSp add del mod">
        <pc:chgData name="Yuriy Zabolotnyuk" userId="5293f801-6ede-4669-8a17-9af1adeb069e" providerId="ADAL" clId="{9C72D551-62FB-5E3D-901C-9F32929520A9}" dt="2026-07-16T19:39:19.866" v="1924" actId="20577"/>
        <pc:sldMkLst>
          <pc:docMk/>
          <pc:sldMk cId="0" sldId="270"/>
        </pc:sldMkLst>
        <pc:spChg chg="mod">
          <ac:chgData name="Yuriy Zabolotnyuk" userId="5293f801-6ede-4669-8a17-9af1adeb069e" providerId="ADAL" clId="{9C72D551-62FB-5E3D-901C-9F32929520A9}" dt="2026-07-16T19:39:19.866" v="1924" actId="20577"/>
          <ac:spMkLst>
            <pc:docMk/>
            <pc:sldMk cId="0" sldId="270"/>
            <ac:spMk id="2" creationId="{00000000-0000-0000-0000-000000000000}"/>
          </ac:spMkLst>
        </pc:spChg>
        <pc:picChg chg="mod">
          <ac:chgData name="Yuriy Zabolotnyuk" userId="5293f801-6ede-4669-8a17-9af1adeb069e" providerId="ADAL" clId="{9C72D551-62FB-5E3D-901C-9F32929520A9}" dt="2026-07-16T19:38:41.763" v="1893" actId="1035"/>
          <ac:picMkLst>
            <pc:docMk/>
            <pc:sldMk cId="0" sldId="270"/>
            <ac:picMk id="4028" creationId="{00000000-0000-0000-0000-000000000000}"/>
          </ac:picMkLst>
        </pc:picChg>
        <pc:picChg chg="mod">
          <ac:chgData name="Yuriy Zabolotnyuk" userId="5293f801-6ede-4669-8a17-9af1adeb069e" providerId="ADAL" clId="{9C72D551-62FB-5E3D-901C-9F32929520A9}" dt="2026-07-16T19:38:49.164" v="1914" actId="1036"/>
          <ac:picMkLst>
            <pc:docMk/>
            <pc:sldMk cId="0" sldId="270"/>
            <ac:picMk id="4029" creationId="{00000000-0000-0000-0000-000000000000}"/>
          </ac:picMkLst>
        </pc:picChg>
        <pc:picChg chg="mod">
          <ac:chgData name="Yuriy Zabolotnyuk" userId="5293f801-6ede-4669-8a17-9af1adeb069e" providerId="ADAL" clId="{9C72D551-62FB-5E3D-901C-9F32929520A9}" dt="2026-07-16T19:38:50.637" v="1915" actId="1036"/>
          <ac:picMkLst>
            <pc:docMk/>
            <pc:sldMk cId="0" sldId="270"/>
            <ac:picMk id="4030" creationId="{00000000-0000-0000-0000-000000000000}"/>
          </ac:picMkLst>
        </pc:picChg>
      </pc:sldChg>
      <pc:sldChg chg="delSp modSp add del mod">
        <pc:chgData name="Yuriy Zabolotnyuk" userId="5293f801-6ede-4669-8a17-9af1adeb069e" providerId="ADAL" clId="{9C72D551-62FB-5E3D-901C-9F32929520A9}" dt="2026-07-19T16:22:27.208" v="2323" actId="20577"/>
        <pc:sldMkLst>
          <pc:docMk/>
          <pc:sldMk cId="0" sldId="271"/>
        </pc:sldMkLst>
        <pc:spChg chg="mod">
          <ac:chgData name="Yuriy Zabolotnyuk" userId="5293f801-6ede-4669-8a17-9af1adeb069e" providerId="ADAL" clId="{9C72D551-62FB-5E3D-901C-9F32929520A9}" dt="2026-07-19T16:22:27.208" v="2323" actId="20577"/>
          <ac:spMkLst>
            <pc:docMk/>
            <pc:sldMk cId="0" sldId="271"/>
            <ac:spMk id="4030" creationId="{00000000-0000-0000-0000-000000000000}"/>
          </ac:spMkLst>
        </pc:spChg>
      </pc:sldChg>
      <pc:sldChg chg="delSp modSp add del mod modNotesTx">
        <pc:chgData name="Yuriy Zabolotnyuk" userId="5293f801-6ede-4669-8a17-9af1adeb069e" providerId="ADAL" clId="{9C72D551-62FB-5E3D-901C-9F32929520A9}" dt="2026-07-16T19:40:19.693" v="1936" actId="27636"/>
        <pc:sldMkLst>
          <pc:docMk/>
          <pc:sldMk cId="0" sldId="272"/>
        </pc:sldMkLst>
        <pc:spChg chg="mod">
          <ac:chgData name="Yuriy Zabolotnyuk" userId="5293f801-6ede-4669-8a17-9af1adeb069e" providerId="ADAL" clId="{9C72D551-62FB-5E3D-901C-9F32929520A9}" dt="2026-07-16T19:40:19.693" v="1936" actId="27636"/>
          <ac:spMkLst>
            <pc:docMk/>
            <pc:sldMk cId="0" sldId="272"/>
            <ac:spMk id="4032" creationId="{00000000-0000-0000-0000-000000000000}"/>
          </ac:spMkLst>
        </pc:spChg>
      </pc:sldChg>
      <pc:sldChg chg="modSp mod">
        <pc:chgData name="Yuriy Zabolotnyuk" userId="5293f801-6ede-4669-8a17-9af1adeb069e" providerId="ADAL" clId="{9C72D551-62FB-5E3D-901C-9F32929520A9}" dt="2026-07-05T12:15:53.536" v="1067" actId="113"/>
        <pc:sldMkLst>
          <pc:docMk/>
          <pc:sldMk cId="0" sldId="274"/>
        </pc:sldMkLst>
      </pc:sldChg>
      <pc:sldChg chg="modSp add del mod">
        <pc:chgData name="Yuriy Zabolotnyuk" userId="5293f801-6ede-4669-8a17-9af1adeb069e" providerId="ADAL" clId="{9C72D551-62FB-5E3D-901C-9F32929520A9}" dt="2026-07-16T19:41:20.414" v="1945" actId="27636"/>
        <pc:sldMkLst>
          <pc:docMk/>
          <pc:sldMk cId="0" sldId="275"/>
        </pc:sldMkLst>
        <pc:spChg chg="mod">
          <ac:chgData name="Yuriy Zabolotnyuk" userId="5293f801-6ede-4669-8a17-9af1adeb069e" providerId="ADAL" clId="{9C72D551-62FB-5E3D-901C-9F32929520A9}" dt="2026-07-16T19:41:20.414" v="1945" actId="27636"/>
          <ac:spMkLst>
            <pc:docMk/>
            <pc:sldMk cId="0" sldId="275"/>
            <ac:spMk id="4038" creationId="{00000000-0000-0000-0000-000000000000}"/>
          </ac:spMkLst>
        </pc:spChg>
      </pc:sldChg>
      <pc:sldChg chg="modSp add del mod modNotesTx">
        <pc:chgData name="Yuriy Zabolotnyuk" userId="5293f801-6ede-4669-8a17-9af1adeb069e" providerId="ADAL" clId="{9C72D551-62FB-5E3D-901C-9F32929520A9}" dt="2026-07-16T19:42:50.591" v="1971" actId="20577"/>
        <pc:sldMkLst>
          <pc:docMk/>
          <pc:sldMk cId="0" sldId="276"/>
        </pc:sldMkLst>
        <pc:spChg chg="mod">
          <ac:chgData name="Yuriy Zabolotnyuk" userId="5293f801-6ede-4669-8a17-9af1adeb069e" providerId="ADAL" clId="{9C72D551-62FB-5E3D-901C-9F32929520A9}" dt="2026-07-16T19:42:46.071" v="1970" actId="20577"/>
          <ac:spMkLst>
            <pc:docMk/>
            <pc:sldMk cId="0" sldId="276"/>
            <ac:spMk id="2" creationId="{00000000-0000-0000-0000-000000000000}"/>
          </ac:spMkLst>
        </pc:spChg>
        <pc:picChg chg="mod">
          <ac:chgData name="Yuriy Zabolotnyuk" userId="5293f801-6ede-4669-8a17-9af1adeb069e" providerId="ADAL" clId="{9C72D551-62FB-5E3D-901C-9F32929520A9}" dt="2026-07-16T19:41:37.202" v="1954" actId="14100"/>
          <ac:picMkLst>
            <pc:docMk/>
            <pc:sldMk cId="0" sldId="276"/>
            <ac:picMk id="4040" creationId="{00000000-0000-0000-0000-000000000000}"/>
          </ac:picMkLst>
        </pc:picChg>
      </pc:sldChg>
      <pc:sldChg chg="addSp delSp modSp mod modNotesTx">
        <pc:chgData name="Yuriy Zabolotnyuk" userId="5293f801-6ede-4669-8a17-9af1adeb069e" providerId="ADAL" clId="{9C72D551-62FB-5E3D-901C-9F32929520A9}" dt="2026-07-16T19:43:33.698" v="1989" actId="20577"/>
        <pc:sldMkLst>
          <pc:docMk/>
          <pc:sldMk cId="0" sldId="277"/>
        </pc:sldMkLst>
        <pc:spChg chg="mod">
          <ac:chgData name="Yuriy Zabolotnyuk" userId="5293f801-6ede-4669-8a17-9af1adeb069e" providerId="ADAL" clId="{9C72D551-62FB-5E3D-901C-9F32929520A9}" dt="2026-07-16T19:43:27.453" v="1988" actId="27636"/>
          <ac:spMkLst>
            <pc:docMk/>
            <pc:sldMk cId="0" sldId="277"/>
            <ac:spMk id="4042" creationId="{00000000-0000-0000-0000-000000000000}"/>
          </ac:spMkLst>
        </pc:spChg>
      </pc:sldChg>
      <pc:sldChg chg="modSp add del mod">
        <pc:chgData name="Yuriy Zabolotnyuk" userId="5293f801-6ede-4669-8a17-9af1adeb069e" providerId="ADAL" clId="{9C72D551-62FB-5E3D-901C-9F32929520A9}" dt="2026-07-19T17:19:36.006" v="2446" actId="2696"/>
        <pc:sldMkLst>
          <pc:docMk/>
          <pc:sldMk cId="0" sldId="279"/>
        </pc:sldMkLst>
      </pc:sldChg>
      <pc:sldChg chg="modSp mod modNotesTx">
        <pc:chgData name="Yuriy Zabolotnyuk" userId="5293f801-6ede-4669-8a17-9af1adeb069e" providerId="ADAL" clId="{9C72D551-62FB-5E3D-901C-9F32929520A9}" dt="2026-07-16T19:44:10.619" v="1999" actId="20577"/>
        <pc:sldMkLst>
          <pc:docMk/>
          <pc:sldMk cId="0" sldId="281"/>
        </pc:sldMkLst>
        <pc:spChg chg="mod">
          <ac:chgData name="Yuriy Zabolotnyuk" userId="5293f801-6ede-4669-8a17-9af1adeb069e" providerId="ADAL" clId="{9C72D551-62FB-5E3D-901C-9F32929520A9}" dt="2026-07-16T19:44:07.550" v="1998" actId="27636"/>
          <ac:spMkLst>
            <pc:docMk/>
            <pc:sldMk cId="0" sldId="281"/>
            <ac:spMk id="4050" creationId="{00000000-0000-0000-0000-000000000000}"/>
          </ac:spMkLst>
        </pc:spChg>
      </pc:sldChg>
      <pc:sldChg chg="modSp add mod modNotesTx">
        <pc:chgData name="Yuriy Zabolotnyuk" userId="5293f801-6ede-4669-8a17-9af1adeb069e" providerId="ADAL" clId="{9C72D551-62FB-5E3D-901C-9F32929520A9}" dt="2026-07-19T16:26:55.956" v="2365" actId="20577"/>
        <pc:sldMkLst>
          <pc:docMk/>
          <pc:sldMk cId="0" sldId="282"/>
        </pc:sldMkLst>
        <pc:spChg chg="mod">
          <ac:chgData name="Yuriy Zabolotnyuk" userId="5293f801-6ede-4669-8a17-9af1adeb069e" providerId="ADAL" clId="{9C72D551-62FB-5E3D-901C-9F32929520A9}" dt="2026-07-19T16:24:29.457" v="2330" actId="2711"/>
          <ac:spMkLst>
            <pc:docMk/>
            <pc:sldMk cId="0" sldId="282"/>
            <ac:spMk id="2" creationId="{00000000-0000-0000-0000-000000000000}"/>
          </ac:spMkLst>
        </pc:spChg>
        <pc:spChg chg="mod">
          <ac:chgData name="Yuriy Zabolotnyuk" userId="5293f801-6ede-4669-8a17-9af1adeb069e" providerId="ADAL" clId="{9C72D551-62FB-5E3D-901C-9F32929520A9}" dt="2026-07-19T16:26:55.956" v="2365" actId="20577"/>
          <ac:spMkLst>
            <pc:docMk/>
            <pc:sldMk cId="0" sldId="282"/>
            <ac:spMk id="4" creationId="{00000000-0000-0000-0000-000000000000}"/>
          </ac:spMkLst>
        </pc:spChg>
      </pc:sldChg>
      <pc:sldChg chg="delSp modSp add mod modNotes">
        <pc:chgData name="Yuriy Zabolotnyuk" userId="5293f801-6ede-4669-8a17-9af1adeb069e" providerId="ADAL" clId="{9C72D551-62FB-5E3D-901C-9F32929520A9}" dt="2026-07-19T16:28:13.207" v="2380" actId="20577"/>
        <pc:sldMkLst>
          <pc:docMk/>
          <pc:sldMk cId="0" sldId="283"/>
        </pc:sldMkLst>
        <pc:spChg chg="mod">
          <ac:chgData name="Yuriy Zabolotnyuk" userId="5293f801-6ede-4669-8a17-9af1adeb069e" providerId="ADAL" clId="{9C72D551-62FB-5E3D-901C-9F32929520A9}" dt="2026-07-19T16:27:36.340" v="2375" actId="20577"/>
          <ac:spMkLst>
            <pc:docMk/>
            <pc:sldMk cId="0" sldId="283"/>
            <ac:spMk id="2" creationId="{00000000-0000-0000-0000-000000000000}"/>
          </ac:spMkLst>
        </pc:spChg>
        <pc:spChg chg="del mod">
          <ac:chgData name="Yuriy Zabolotnyuk" userId="5293f801-6ede-4669-8a17-9af1adeb069e" providerId="ADAL" clId="{9C72D551-62FB-5E3D-901C-9F32929520A9}" dt="2026-07-19T16:27:16.008" v="2367" actId="478"/>
          <ac:spMkLst>
            <pc:docMk/>
            <pc:sldMk cId="0" sldId="283"/>
            <ac:spMk id="4" creationId="{00000000-0000-0000-0000-000000000000}"/>
          </ac:spMkLst>
        </pc:spChg>
        <pc:spChg chg="mod">
          <ac:chgData name="Yuriy Zabolotnyuk" userId="5293f801-6ede-4669-8a17-9af1adeb069e" providerId="ADAL" clId="{9C72D551-62FB-5E3D-901C-9F32929520A9}" dt="2026-07-19T16:28:13.207" v="2380" actId="20577"/>
          <ac:spMkLst>
            <pc:docMk/>
            <pc:sldMk cId="0" sldId="283"/>
            <ac:spMk id="5" creationId="{00000000-0000-0000-0000-000000000000}"/>
          </ac:spMkLst>
        </pc:spChg>
      </pc:sldChg>
      <pc:sldChg chg="modSp add mod modNotes">
        <pc:chgData name="Yuriy Zabolotnyuk" userId="5293f801-6ede-4669-8a17-9af1adeb069e" providerId="ADAL" clId="{9C72D551-62FB-5E3D-901C-9F32929520A9}" dt="2026-07-19T16:29:12.672" v="2396" actId="113"/>
        <pc:sldMkLst>
          <pc:docMk/>
          <pc:sldMk cId="0" sldId="284"/>
        </pc:sldMkLst>
        <pc:spChg chg="mod">
          <ac:chgData name="Yuriy Zabolotnyuk" userId="5293f801-6ede-4669-8a17-9af1adeb069e" providerId="ADAL" clId="{9C72D551-62FB-5E3D-901C-9F32929520A9}" dt="2026-07-19T16:29:12.672" v="2396" actId="113"/>
          <ac:spMkLst>
            <pc:docMk/>
            <pc:sldMk cId="0" sldId="284"/>
            <ac:spMk id="2" creationId="{00000000-0000-0000-0000-000000000000}"/>
          </ac:spMkLst>
        </pc:spChg>
        <pc:spChg chg="mod">
          <ac:chgData name="Yuriy Zabolotnyuk" userId="5293f801-6ede-4669-8a17-9af1adeb069e" providerId="ADAL" clId="{9C72D551-62FB-5E3D-901C-9F32929520A9}" dt="2026-07-19T16:29:04.290" v="2392" actId="27636"/>
          <ac:spMkLst>
            <pc:docMk/>
            <pc:sldMk cId="0" sldId="284"/>
            <ac:spMk id="21" creationId="{00000000-0000-0000-0000-000000000000}"/>
          </ac:spMkLst>
        </pc:spChg>
        <pc:spChg chg="mod">
          <ac:chgData name="Yuriy Zabolotnyuk" userId="5293f801-6ede-4669-8a17-9af1adeb069e" providerId="ADAL" clId="{9C72D551-62FB-5E3D-901C-9F32929520A9}" dt="2026-07-19T16:29:04.286" v="2387" actId="27636"/>
          <ac:spMkLst>
            <pc:docMk/>
            <pc:sldMk cId="0" sldId="284"/>
            <ac:spMk id="23" creationId="{00000000-0000-0000-0000-000000000000}"/>
          </ac:spMkLst>
        </pc:spChg>
        <pc:spChg chg="mod">
          <ac:chgData name="Yuriy Zabolotnyuk" userId="5293f801-6ede-4669-8a17-9af1adeb069e" providerId="ADAL" clId="{9C72D551-62FB-5E3D-901C-9F32929520A9}" dt="2026-07-19T16:29:04.285" v="2384" actId="27636"/>
          <ac:spMkLst>
            <pc:docMk/>
            <pc:sldMk cId="0" sldId="284"/>
            <ac:spMk id="33" creationId="{00000000-0000-0000-0000-000000000000}"/>
          </ac:spMkLst>
        </pc:spChg>
        <pc:spChg chg="mod">
          <ac:chgData name="Yuriy Zabolotnyuk" userId="5293f801-6ede-4669-8a17-9af1adeb069e" providerId="ADAL" clId="{9C72D551-62FB-5E3D-901C-9F32929520A9}" dt="2026-07-19T16:29:04.290" v="2391" actId="27636"/>
          <ac:spMkLst>
            <pc:docMk/>
            <pc:sldMk cId="0" sldId="284"/>
            <ac:spMk id="41" creationId="{00000000-0000-0000-0000-000000000000}"/>
          </ac:spMkLst>
        </pc:spChg>
        <pc:spChg chg="mod">
          <ac:chgData name="Yuriy Zabolotnyuk" userId="5293f801-6ede-4669-8a17-9af1adeb069e" providerId="ADAL" clId="{9C72D551-62FB-5E3D-901C-9F32929520A9}" dt="2026-07-19T16:29:04.284" v="2382" actId="27636"/>
          <ac:spMkLst>
            <pc:docMk/>
            <pc:sldMk cId="0" sldId="284"/>
            <ac:spMk id="43" creationId="{00000000-0000-0000-0000-000000000000}"/>
          </ac:spMkLst>
        </pc:spChg>
        <pc:spChg chg="mod">
          <ac:chgData name="Yuriy Zabolotnyuk" userId="5293f801-6ede-4669-8a17-9af1adeb069e" providerId="ADAL" clId="{9C72D551-62FB-5E3D-901C-9F32929520A9}" dt="2026-07-19T16:29:04.289" v="2390" actId="27636"/>
          <ac:spMkLst>
            <pc:docMk/>
            <pc:sldMk cId="0" sldId="284"/>
            <ac:spMk id="47" creationId="{00000000-0000-0000-0000-000000000000}"/>
          </ac:spMkLst>
        </pc:spChg>
        <pc:spChg chg="mod">
          <ac:chgData name="Yuriy Zabolotnyuk" userId="5293f801-6ede-4669-8a17-9af1adeb069e" providerId="ADAL" clId="{9C72D551-62FB-5E3D-901C-9F32929520A9}" dt="2026-07-19T16:29:04.284" v="2383" actId="27636"/>
          <ac:spMkLst>
            <pc:docMk/>
            <pc:sldMk cId="0" sldId="284"/>
            <ac:spMk id="53" creationId="{00000000-0000-0000-0000-000000000000}"/>
          </ac:spMkLst>
        </pc:spChg>
        <pc:spChg chg="mod">
          <ac:chgData name="Yuriy Zabolotnyuk" userId="5293f801-6ede-4669-8a17-9af1adeb069e" providerId="ADAL" clId="{9C72D551-62FB-5E3D-901C-9F32929520A9}" dt="2026-07-19T16:29:04.285" v="2385" actId="27636"/>
          <ac:spMkLst>
            <pc:docMk/>
            <pc:sldMk cId="0" sldId="284"/>
            <ac:spMk id="61" creationId="{00000000-0000-0000-0000-000000000000}"/>
          </ac:spMkLst>
        </pc:spChg>
        <pc:spChg chg="mod">
          <ac:chgData name="Yuriy Zabolotnyuk" userId="5293f801-6ede-4669-8a17-9af1adeb069e" providerId="ADAL" clId="{9C72D551-62FB-5E3D-901C-9F32929520A9}" dt="2026-07-19T16:29:04.288" v="2389" actId="27636"/>
          <ac:spMkLst>
            <pc:docMk/>
            <pc:sldMk cId="0" sldId="284"/>
            <ac:spMk id="63" creationId="{00000000-0000-0000-0000-000000000000}"/>
          </ac:spMkLst>
        </pc:spChg>
        <pc:spChg chg="mod">
          <ac:chgData name="Yuriy Zabolotnyuk" userId="5293f801-6ede-4669-8a17-9af1adeb069e" providerId="ADAL" clId="{9C72D551-62FB-5E3D-901C-9F32929520A9}" dt="2026-07-19T16:29:04.286" v="2386" actId="27636"/>
          <ac:spMkLst>
            <pc:docMk/>
            <pc:sldMk cId="0" sldId="284"/>
            <ac:spMk id="71" creationId="{00000000-0000-0000-0000-000000000000}"/>
          </ac:spMkLst>
        </pc:spChg>
        <pc:spChg chg="mod">
          <ac:chgData name="Yuriy Zabolotnyuk" userId="5293f801-6ede-4669-8a17-9af1adeb069e" providerId="ADAL" clId="{9C72D551-62FB-5E3D-901C-9F32929520A9}" dt="2026-07-19T16:29:04.287" v="2388" actId="27636"/>
          <ac:spMkLst>
            <pc:docMk/>
            <pc:sldMk cId="0" sldId="284"/>
            <ac:spMk id="73" creationId="{00000000-0000-0000-0000-000000000000}"/>
          </ac:spMkLst>
        </pc:spChg>
      </pc:sldChg>
      <pc:sldChg chg="modSp add mod modNotes">
        <pc:chgData name="Yuriy Zabolotnyuk" userId="5293f801-6ede-4669-8a17-9af1adeb069e" providerId="ADAL" clId="{9C72D551-62FB-5E3D-901C-9F32929520A9}" dt="2026-07-19T16:33:19.771" v="2444" actId="404"/>
        <pc:sldMkLst>
          <pc:docMk/>
          <pc:sldMk cId="0" sldId="285"/>
        </pc:sldMkLst>
        <pc:spChg chg="mod">
          <ac:chgData name="Yuriy Zabolotnyuk" userId="5293f801-6ede-4669-8a17-9af1adeb069e" providerId="ADAL" clId="{9C72D551-62FB-5E3D-901C-9F32929520A9}" dt="2026-07-19T16:33:19.771" v="2444" actId="404"/>
          <ac:spMkLst>
            <pc:docMk/>
            <pc:sldMk cId="0" sldId="285"/>
            <ac:spMk id="2" creationId="{00000000-0000-0000-0000-000000000000}"/>
          </ac:spMkLst>
        </pc:spChg>
        <pc:spChg chg="mod">
          <ac:chgData name="Yuriy Zabolotnyuk" userId="5293f801-6ede-4669-8a17-9af1adeb069e" providerId="ADAL" clId="{9C72D551-62FB-5E3D-901C-9F32929520A9}" dt="2026-07-19T16:32:44.327" v="2416" actId="114"/>
          <ac:spMkLst>
            <pc:docMk/>
            <pc:sldMk cId="0" sldId="285"/>
            <ac:spMk id="4" creationId="{00000000-0000-0000-0000-000000000000}"/>
          </ac:spMkLst>
        </pc:spChg>
      </pc:sldChg>
      <pc:sldChg chg="delSp modSp mod modNotesTx">
        <pc:chgData name="Yuriy Zabolotnyuk" userId="5293f801-6ede-4669-8a17-9af1adeb069e" providerId="ADAL" clId="{9C72D551-62FB-5E3D-901C-9F32929520A9}" dt="2026-07-19T18:08:21.388" v="2482" actId="404"/>
        <pc:sldMkLst>
          <pc:docMk/>
          <pc:sldMk cId="0" sldId="286"/>
        </pc:sldMkLst>
        <pc:spChg chg="mod">
          <ac:chgData name="Yuriy Zabolotnyuk" userId="5293f801-6ede-4669-8a17-9af1adeb069e" providerId="ADAL" clId="{9C72D551-62FB-5E3D-901C-9F32929520A9}" dt="2026-07-19T18:08:21.388" v="2482" actId="404"/>
          <ac:spMkLst>
            <pc:docMk/>
            <pc:sldMk cId="0" sldId="286"/>
            <ac:spMk id="2" creationId="{00000000-0000-0000-0000-000000000000}"/>
          </ac:spMkLst>
        </pc:spChg>
        <pc:spChg chg="del">
          <ac:chgData name="Yuriy Zabolotnyuk" userId="5293f801-6ede-4669-8a17-9af1adeb069e" providerId="ADAL" clId="{9C72D551-62FB-5E3D-901C-9F32929520A9}" dt="2026-07-19T18:07:56.059" v="2473" actId="478"/>
          <ac:spMkLst>
            <pc:docMk/>
            <pc:sldMk cId="0" sldId="286"/>
            <ac:spMk id="3" creationId="{00000000-0000-0000-0000-000000000000}"/>
          </ac:spMkLst>
        </pc:spChg>
        <pc:spChg chg="mod">
          <ac:chgData name="Yuriy Zabolotnyuk" userId="5293f801-6ede-4669-8a17-9af1adeb069e" providerId="ADAL" clId="{9C72D551-62FB-5E3D-901C-9F32929520A9}" dt="2026-07-19T18:08:04.277" v="2477" actId="403"/>
          <ac:spMkLst>
            <pc:docMk/>
            <pc:sldMk cId="0" sldId="286"/>
            <ac:spMk id="4" creationId="{00000000-0000-0000-0000-000000000000}"/>
          </ac:spMkLst>
        </pc:spChg>
        <pc:spChg chg="mod">
          <ac:chgData name="Yuriy Zabolotnyuk" userId="5293f801-6ede-4669-8a17-9af1adeb069e" providerId="ADAL" clId="{9C72D551-62FB-5E3D-901C-9F32929520A9}" dt="2026-07-19T18:08:04.277" v="2477" actId="403"/>
          <ac:spMkLst>
            <pc:docMk/>
            <pc:sldMk cId="0" sldId="286"/>
            <ac:spMk id="5" creationId="{00000000-0000-0000-0000-000000000000}"/>
          </ac:spMkLst>
        </pc:spChg>
        <pc:spChg chg="mod">
          <ac:chgData name="Yuriy Zabolotnyuk" userId="5293f801-6ede-4669-8a17-9af1adeb069e" providerId="ADAL" clId="{9C72D551-62FB-5E3D-901C-9F32929520A9}" dt="2026-07-19T18:08:10.290" v="2478" actId="404"/>
          <ac:spMkLst>
            <pc:docMk/>
            <pc:sldMk cId="0" sldId="286"/>
            <ac:spMk id="6" creationId="{00000000-0000-0000-0000-000000000000}"/>
          </ac:spMkLst>
        </pc:spChg>
        <pc:spChg chg="mod">
          <ac:chgData name="Yuriy Zabolotnyuk" userId="5293f801-6ede-4669-8a17-9af1adeb069e" providerId="ADAL" clId="{9C72D551-62FB-5E3D-901C-9F32929520A9}" dt="2026-07-19T18:08:04.277" v="2477" actId="403"/>
          <ac:spMkLst>
            <pc:docMk/>
            <pc:sldMk cId="0" sldId="286"/>
            <ac:spMk id="7" creationId="{00000000-0000-0000-0000-000000000000}"/>
          </ac:spMkLst>
        </pc:spChg>
        <pc:spChg chg="mod">
          <ac:chgData name="Yuriy Zabolotnyuk" userId="5293f801-6ede-4669-8a17-9af1adeb069e" providerId="ADAL" clId="{9C72D551-62FB-5E3D-901C-9F32929520A9}" dt="2026-07-19T18:08:04.277" v="2477" actId="403"/>
          <ac:spMkLst>
            <pc:docMk/>
            <pc:sldMk cId="0" sldId="286"/>
            <ac:spMk id="8" creationId="{00000000-0000-0000-0000-000000000000}"/>
          </ac:spMkLst>
        </pc:spChg>
        <pc:spChg chg="mod">
          <ac:chgData name="Yuriy Zabolotnyuk" userId="5293f801-6ede-4669-8a17-9af1adeb069e" providerId="ADAL" clId="{9C72D551-62FB-5E3D-901C-9F32929520A9}" dt="2026-07-19T18:08:04.277" v="2477" actId="403"/>
          <ac:spMkLst>
            <pc:docMk/>
            <pc:sldMk cId="0" sldId="286"/>
            <ac:spMk id="9" creationId="{00000000-0000-0000-0000-000000000000}"/>
          </ac:spMkLst>
        </pc:spChg>
        <pc:spChg chg="mod">
          <ac:chgData name="Yuriy Zabolotnyuk" userId="5293f801-6ede-4669-8a17-9af1adeb069e" providerId="ADAL" clId="{9C72D551-62FB-5E3D-901C-9F32929520A9}" dt="2026-07-19T18:08:13.265" v="2479" actId="404"/>
          <ac:spMkLst>
            <pc:docMk/>
            <pc:sldMk cId="0" sldId="286"/>
            <ac:spMk id="10" creationId="{00000000-0000-0000-0000-000000000000}"/>
          </ac:spMkLst>
        </pc:spChg>
        <pc:spChg chg="mod">
          <ac:chgData name="Yuriy Zabolotnyuk" userId="5293f801-6ede-4669-8a17-9af1adeb069e" providerId="ADAL" clId="{9C72D551-62FB-5E3D-901C-9F32929520A9}" dt="2026-07-19T18:08:04.277" v="2477" actId="403"/>
          <ac:spMkLst>
            <pc:docMk/>
            <pc:sldMk cId="0" sldId="286"/>
            <ac:spMk id="11" creationId="{00000000-0000-0000-0000-000000000000}"/>
          </ac:spMkLst>
        </pc:spChg>
      </pc:sldChg>
      <pc:sldChg chg="delSp modSp mod">
        <pc:chgData name="Yuriy Zabolotnyuk" userId="5293f801-6ede-4669-8a17-9af1adeb069e" providerId="ADAL" clId="{9C72D551-62FB-5E3D-901C-9F32929520A9}" dt="2026-07-19T18:16:40.250" v="2555" actId="20577"/>
        <pc:sldMkLst>
          <pc:docMk/>
          <pc:sldMk cId="0" sldId="287"/>
        </pc:sldMkLst>
        <pc:spChg chg="mod">
          <ac:chgData name="Yuriy Zabolotnyuk" userId="5293f801-6ede-4669-8a17-9af1adeb069e" providerId="ADAL" clId="{9C72D551-62FB-5E3D-901C-9F32929520A9}" dt="2026-07-19T18:06:34.629" v="2466" actId="20577"/>
          <ac:spMkLst>
            <pc:docMk/>
            <pc:sldMk cId="0" sldId="287"/>
            <ac:spMk id="2" creationId="{00000000-0000-0000-0000-000000000000}"/>
          </ac:spMkLst>
        </pc:spChg>
        <pc:spChg chg="del">
          <ac:chgData name="Yuriy Zabolotnyuk" userId="5293f801-6ede-4669-8a17-9af1adeb069e" providerId="ADAL" clId="{9C72D551-62FB-5E3D-901C-9F32929520A9}" dt="2026-07-19T18:08:33.201" v="2483" actId="478"/>
          <ac:spMkLst>
            <pc:docMk/>
            <pc:sldMk cId="0" sldId="287"/>
            <ac:spMk id="3" creationId="{00000000-0000-0000-0000-000000000000}"/>
          </ac:spMkLst>
        </pc:spChg>
        <pc:spChg chg="mod">
          <ac:chgData name="Yuriy Zabolotnyuk" userId="5293f801-6ede-4669-8a17-9af1adeb069e" providerId="ADAL" clId="{9C72D551-62FB-5E3D-901C-9F32929520A9}" dt="2026-07-19T18:08:42.775" v="2491" actId="403"/>
          <ac:spMkLst>
            <pc:docMk/>
            <pc:sldMk cId="0" sldId="287"/>
            <ac:spMk id="6" creationId="{00000000-0000-0000-0000-000000000000}"/>
          </ac:spMkLst>
        </pc:spChg>
        <pc:spChg chg="mod">
          <ac:chgData name="Yuriy Zabolotnyuk" userId="5293f801-6ede-4669-8a17-9af1adeb069e" providerId="ADAL" clId="{9C72D551-62FB-5E3D-901C-9F32929520A9}" dt="2026-07-19T18:08:40.138" v="2489" actId="403"/>
          <ac:spMkLst>
            <pc:docMk/>
            <pc:sldMk cId="0" sldId="287"/>
            <ac:spMk id="7" creationId="{00000000-0000-0000-0000-000000000000}"/>
          </ac:spMkLst>
        </pc:spChg>
        <pc:spChg chg="mod">
          <ac:chgData name="Yuriy Zabolotnyuk" userId="5293f801-6ede-4669-8a17-9af1adeb069e" providerId="ADAL" clId="{9C72D551-62FB-5E3D-901C-9F32929520A9}" dt="2026-07-19T18:08:46.792" v="2493" actId="403"/>
          <ac:spMkLst>
            <pc:docMk/>
            <pc:sldMk cId="0" sldId="287"/>
            <ac:spMk id="10" creationId="{00000000-0000-0000-0000-000000000000}"/>
          </ac:spMkLst>
        </pc:spChg>
        <pc:spChg chg="mod">
          <ac:chgData name="Yuriy Zabolotnyuk" userId="5293f801-6ede-4669-8a17-9af1adeb069e" providerId="ADAL" clId="{9C72D551-62FB-5E3D-901C-9F32929520A9}" dt="2026-07-19T18:16:40.250" v="2555" actId="20577"/>
          <ac:spMkLst>
            <pc:docMk/>
            <pc:sldMk cId="0" sldId="287"/>
            <ac:spMk id="11" creationId="{00000000-0000-0000-0000-000000000000}"/>
          </ac:spMkLst>
        </pc:spChg>
      </pc:sldChg>
      <pc:sldChg chg="modSp mod">
        <pc:chgData name="Yuriy Zabolotnyuk" userId="5293f801-6ede-4669-8a17-9af1adeb069e" providerId="ADAL" clId="{9C72D551-62FB-5E3D-901C-9F32929520A9}" dt="2026-07-19T18:11:13.822" v="2507" actId="113"/>
        <pc:sldMkLst>
          <pc:docMk/>
          <pc:sldMk cId="0" sldId="288"/>
        </pc:sldMkLst>
        <pc:spChg chg="mod">
          <ac:chgData name="Yuriy Zabolotnyuk" userId="5293f801-6ede-4669-8a17-9af1adeb069e" providerId="ADAL" clId="{9C72D551-62FB-5E3D-901C-9F32929520A9}" dt="2026-07-19T18:06:40.329" v="2469" actId="20577"/>
          <ac:spMkLst>
            <pc:docMk/>
            <pc:sldMk cId="0" sldId="288"/>
            <ac:spMk id="2" creationId="{00000000-0000-0000-0000-000000000000}"/>
          </ac:spMkLst>
        </pc:spChg>
        <pc:spChg chg="mod">
          <ac:chgData name="Yuriy Zabolotnyuk" userId="5293f801-6ede-4669-8a17-9af1adeb069e" providerId="ADAL" clId="{9C72D551-62FB-5E3D-901C-9F32929520A9}" dt="2026-07-19T18:09:16.967" v="2505" actId="403"/>
          <ac:spMkLst>
            <pc:docMk/>
            <pc:sldMk cId="0" sldId="288"/>
            <ac:spMk id="3" creationId="{00000000-0000-0000-0000-000000000000}"/>
          </ac:spMkLst>
        </pc:spChg>
        <pc:spChg chg="mod">
          <ac:chgData name="Yuriy Zabolotnyuk" userId="5293f801-6ede-4669-8a17-9af1adeb069e" providerId="ADAL" clId="{9C72D551-62FB-5E3D-901C-9F32929520A9}" dt="2026-07-19T18:09:11.083" v="2501" actId="403"/>
          <ac:spMkLst>
            <pc:docMk/>
            <pc:sldMk cId="0" sldId="288"/>
            <ac:spMk id="6" creationId="{00000000-0000-0000-0000-000000000000}"/>
          </ac:spMkLst>
        </pc:spChg>
        <pc:spChg chg="mod">
          <ac:chgData name="Yuriy Zabolotnyuk" userId="5293f801-6ede-4669-8a17-9af1adeb069e" providerId="ADAL" clId="{9C72D551-62FB-5E3D-901C-9F32929520A9}" dt="2026-07-19T18:11:13.822" v="2507" actId="113"/>
          <ac:spMkLst>
            <pc:docMk/>
            <pc:sldMk cId="0" sldId="288"/>
            <ac:spMk id="7" creationId="{00000000-0000-0000-0000-000000000000}"/>
          </ac:spMkLst>
        </pc:spChg>
        <pc:spChg chg="mod">
          <ac:chgData name="Yuriy Zabolotnyuk" userId="5293f801-6ede-4669-8a17-9af1adeb069e" providerId="ADAL" clId="{9C72D551-62FB-5E3D-901C-9F32929520A9}" dt="2026-07-19T18:09:14.341" v="2503" actId="403"/>
          <ac:spMkLst>
            <pc:docMk/>
            <pc:sldMk cId="0" sldId="288"/>
            <ac:spMk id="10" creationId="{00000000-0000-0000-0000-000000000000}"/>
          </ac:spMkLst>
        </pc:spChg>
        <pc:spChg chg="mod">
          <ac:chgData name="Yuriy Zabolotnyuk" userId="5293f801-6ede-4669-8a17-9af1adeb069e" providerId="ADAL" clId="{9C72D551-62FB-5E3D-901C-9F32929520A9}" dt="2026-07-19T18:09:08.616" v="2499" actId="403"/>
          <ac:spMkLst>
            <pc:docMk/>
            <pc:sldMk cId="0" sldId="288"/>
            <ac:spMk id="11" creationId="{00000000-0000-0000-0000-000000000000}"/>
          </ac:spMkLst>
        </pc:spChg>
      </pc:sldChg>
      <pc:sldChg chg="modSp mod">
        <pc:chgData name="Yuriy Zabolotnyuk" userId="5293f801-6ede-4669-8a17-9af1adeb069e" providerId="ADAL" clId="{9C72D551-62FB-5E3D-901C-9F32929520A9}" dt="2026-07-19T18:14:24.914" v="2517" actId="207"/>
        <pc:sldMkLst>
          <pc:docMk/>
          <pc:sldMk cId="0" sldId="289"/>
        </pc:sldMkLst>
        <pc:spChg chg="mod">
          <ac:chgData name="Yuriy Zabolotnyuk" userId="5293f801-6ede-4669-8a17-9af1adeb069e" providerId="ADAL" clId="{9C72D551-62FB-5E3D-901C-9F32929520A9}" dt="2026-07-19T18:11:34.617" v="2509" actId="404"/>
          <ac:spMkLst>
            <pc:docMk/>
            <pc:sldMk cId="0" sldId="289"/>
            <ac:spMk id="2" creationId="{00000000-0000-0000-0000-000000000000}"/>
          </ac:spMkLst>
        </pc:spChg>
        <pc:spChg chg="mod">
          <ac:chgData name="Yuriy Zabolotnyuk" userId="5293f801-6ede-4669-8a17-9af1adeb069e" providerId="ADAL" clId="{9C72D551-62FB-5E3D-901C-9F32929520A9}" dt="2026-07-19T18:11:30.019" v="2508" actId="403"/>
          <ac:spMkLst>
            <pc:docMk/>
            <pc:sldMk cId="0" sldId="289"/>
            <ac:spMk id="3" creationId="{00000000-0000-0000-0000-000000000000}"/>
          </ac:spMkLst>
        </pc:spChg>
        <pc:spChg chg="mod">
          <ac:chgData name="Yuriy Zabolotnyuk" userId="5293f801-6ede-4669-8a17-9af1adeb069e" providerId="ADAL" clId="{9C72D551-62FB-5E3D-901C-9F32929520A9}" dt="2026-07-19T18:11:30.019" v="2508" actId="403"/>
          <ac:spMkLst>
            <pc:docMk/>
            <pc:sldMk cId="0" sldId="289"/>
            <ac:spMk id="4" creationId="{00000000-0000-0000-0000-000000000000}"/>
          </ac:spMkLst>
        </pc:spChg>
        <pc:spChg chg="mod">
          <ac:chgData name="Yuriy Zabolotnyuk" userId="5293f801-6ede-4669-8a17-9af1adeb069e" providerId="ADAL" clId="{9C72D551-62FB-5E3D-901C-9F32929520A9}" dt="2026-07-19T18:11:30.019" v="2508" actId="403"/>
          <ac:spMkLst>
            <pc:docMk/>
            <pc:sldMk cId="0" sldId="289"/>
            <ac:spMk id="5" creationId="{00000000-0000-0000-0000-000000000000}"/>
          </ac:spMkLst>
        </pc:spChg>
        <pc:spChg chg="mod">
          <ac:chgData name="Yuriy Zabolotnyuk" userId="5293f801-6ede-4669-8a17-9af1adeb069e" providerId="ADAL" clId="{9C72D551-62FB-5E3D-901C-9F32929520A9}" dt="2026-07-19T18:11:30.019" v="2508" actId="403"/>
          <ac:spMkLst>
            <pc:docMk/>
            <pc:sldMk cId="0" sldId="289"/>
            <ac:spMk id="6" creationId="{00000000-0000-0000-0000-000000000000}"/>
          </ac:spMkLst>
        </pc:spChg>
        <pc:spChg chg="mod">
          <ac:chgData name="Yuriy Zabolotnyuk" userId="5293f801-6ede-4669-8a17-9af1adeb069e" providerId="ADAL" clId="{9C72D551-62FB-5E3D-901C-9F32929520A9}" dt="2026-07-19T18:11:39.784" v="2511" actId="403"/>
          <ac:spMkLst>
            <pc:docMk/>
            <pc:sldMk cId="0" sldId="289"/>
            <ac:spMk id="7" creationId="{00000000-0000-0000-0000-000000000000}"/>
          </ac:spMkLst>
        </pc:spChg>
        <pc:spChg chg="mod">
          <ac:chgData name="Yuriy Zabolotnyuk" userId="5293f801-6ede-4669-8a17-9af1adeb069e" providerId="ADAL" clId="{9C72D551-62FB-5E3D-901C-9F32929520A9}" dt="2026-07-19T18:11:30.019" v="2508" actId="403"/>
          <ac:spMkLst>
            <pc:docMk/>
            <pc:sldMk cId="0" sldId="289"/>
            <ac:spMk id="8" creationId="{00000000-0000-0000-0000-000000000000}"/>
          </ac:spMkLst>
        </pc:spChg>
        <pc:spChg chg="mod">
          <ac:chgData name="Yuriy Zabolotnyuk" userId="5293f801-6ede-4669-8a17-9af1adeb069e" providerId="ADAL" clId="{9C72D551-62FB-5E3D-901C-9F32929520A9}" dt="2026-07-19T18:11:30.019" v="2508" actId="403"/>
          <ac:spMkLst>
            <pc:docMk/>
            <pc:sldMk cId="0" sldId="289"/>
            <ac:spMk id="10" creationId="{00000000-0000-0000-0000-000000000000}"/>
          </ac:spMkLst>
        </pc:spChg>
        <pc:spChg chg="mod">
          <ac:chgData name="Yuriy Zabolotnyuk" userId="5293f801-6ede-4669-8a17-9af1adeb069e" providerId="ADAL" clId="{9C72D551-62FB-5E3D-901C-9F32929520A9}" dt="2026-07-19T18:11:42.864" v="2513" actId="403"/>
          <ac:spMkLst>
            <pc:docMk/>
            <pc:sldMk cId="0" sldId="289"/>
            <ac:spMk id="11" creationId="{00000000-0000-0000-0000-000000000000}"/>
          </ac:spMkLst>
        </pc:spChg>
        <pc:spChg chg="mod">
          <ac:chgData name="Yuriy Zabolotnyuk" userId="5293f801-6ede-4669-8a17-9af1adeb069e" providerId="ADAL" clId="{9C72D551-62FB-5E3D-901C-9F32929520A9}" dt="2026-07-19T18:14:17.937" v="2516" actId="207"/>
          <ac:spMkLst>
            <pc:docMk/>
            <pc:sldMk cId="0" sldId="289"/>
            <ac:spMk id="12" creationId="{00000000-0000-0000-0000-000000000000}"/>
          </ac:spMkLst>
        </pc:spChg>
        <pc:spChg chg="mod">
          <ac:chgData name="Yuriy Zabolotnyuk" userId="5293f801-6ede-4669-8a17-9af1adeb069e" providerId="ADAL" clId="{9C72D551-62FB-5E3D-901C-9F32929520A9}" dt="2026-07-19T18:14:24.914" v="2517" actId="207"/>
          <ac:spMkLst>
            <pc:docMk/>
            <pc:sldMk cId="0" sldId="289"/>
            <ac:spMk id="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D0D3E168-E06C-4270-93A1-BA6F395C0456}" type="datetimeFigureOut">
              <a:rPr lang="en-US"/>
              <a:pPr>
                <a:defRPr/>
              </a:pPr>
              <a:t>7/19/26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30D07607-43F6-4AEA-9890-00BBE9F451C8}" type="slidenum">
              <a:rPr lang="en-US" altLang="en-US"/>
              <a:pPr/>
              <a:t>‹#›</a:t>
            </a:fld>
            <a:endParaRPr lang="en-US" altLang="en-US"/>
          </a:p>
        </p:txBody>
      </p:sp>
    </p:spTree>
    <p:extLst>
      <p:ext uri="{BB962C8B-B14F-4D97-AF65-F5344CB8AC3E}">
        <p14:creationId xmlns:p14="http://schemas.microsoft.com/office/powerpoint/2010/main" val="30934397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Five objectives cover the full arc of today: estimation (LW), risk decomposition (ERC), Bayesian expected returns (BL), ESG constraint, out-of-sample comparison.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Use the 'garbage in, garbage out' principle. Walk through the parameter count: 10 sector ETFs (as in the lab) give 55 covariance entries from about 2,500 observations. The Michaud (1989) reference is optional but memorable. The three remedies map to the three blocks: LW (Block 1), ERC (Block 2), BL (Block 3).</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is critical context before the Black-Litterman and HRP slides. The instability of Markowitz </a:t>
            </a:r>
            <a:r>
              <a:rPr dirty="0" err="1"/>
              <a:t>optimisation</a:t>
            </a:r>
            <a:r>
              <a:rPr dirty="0"/>
              <a:t> is a well-documented problem — Green and Hollifield (1992) showed that the max Sharpe portfolio is often just a leveraged version of the highest-Sharpe single asset.</a:t>
            </a:r>
          </a:p>
          <a:p>
            <a:endParaRPr dirty="0"/>
          </a:p>
          <a:p>
            <a:r>
              <a:rPr dirty="0" err="1"/>
              <a:t>Ledoit</a:t>
            </a:r>
            <a:r>
              <a:rPr dirty="0"/>
              <a:t>-Wolf shrinkage (2004): the key idea is to combine the sample covariance (unbiased, high variance) with a structured target matrix (biased, low variance). The optimal combination (shrinkage intensity) is derived analytically. </a:t>
            </a:r>
            <a:r>
              <a:rPr dirty="0" err="1"/>
              <a:t>PyPortfolioOpt</a:t>
            </a:r>
            <a:r>
              <a:rPr dirty="0"/>
              <a:t> implements this directly.</a:t>
            </a:r>
          </a:p>
          <a:p>
            <a:endParaRPr dirty="0"/>
          </a:p>
          <a:p>
            <a:r>
              <a:rPr dirty="0"/>
              <a:t>Exponential weighting: useful when the correlation structure changes over time (e.g., the 2022 equity-bond correlation regime break</a:t>
            </a:r>
            <a:r>
              <a:rPr lang="en-US" dirty="0"/>
              <a:t>)</a:t>
            </a:r>
            <a:r>
              <a:rPr dirty="0"/>
              <a:t>. A span of 180 days means data from 180 days ago has weight e⁻¹ ≈ 37% relative to today.</a:t>
            </a:r>
          </a:p>
          <a:p>
            <a:endParaRPr dirty="0"/>
          </a:p>
          <a:p>
            <a:r>
              <a:rPr dirty="0"/>
              <a:t>Factor models:</a:t>
            </a:r>
            <a:r>
              <a:rPr lang="en-US" dirty="0"/>
              <a:t> </a:t>
            </a:r>
            <a:r>
              <a:rPr dirty="0"/>
              <a:t>The key message is that for large universes (N &gt; 50), factor-based covariance estimation is the only practical approach. Fama-French 3-factor and 5-factor models are the standard academic benchmarks.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rmAutofit fontScale="92500" lnSpcReduction="20000"/>
          </a:bodyPr>
          <a:lstStyle/>
          <a:p>
            <a:r>
              <a:t>This slide is the conceptual spine of the second half of the session. The single most important idea in modern portfolio construction is that the inputs differ enormously in how reliably they can be estimated. Expected returns (μ) are extremely noisy — a one-percentage-point error in a single asset's μ can swing optimal weights by 10–20 percentage points. The covariance matrix Σ is more stable, and within Σ the individual variances are far more reliable than the pairwise correlations.</a:t>
            </a:r>
          </a:p>
          <a:p>
            <a:endParaRPr/>
          </a:p>
          <a:p>
            <a:r>
              <a:t>The risk-based family is best taught as a ladder: each rung throws away the least reliable remaining input. Max Sharpe uses everything (μ and Σ) — most powerful in theory, most fragile in practice. Minimum variance drops μ entirely and keeps only Σ. Inverse volatility goes further and keeps only the diagonal of Σ (the variances), ignoring correlations — wᵢ proportional to 1/σᵢ. Equal Risk Contribution brings the full Σ back in but targets equal risk shares rather than minimum variance. HRP uses Σ through correlation clustering rather than direct inversion.</a:t>
            </a:r>
          </a:p>
          <a:p>
            <a:endParaRPr/>
          </a:p>
          <a:p>
            <a:r>
              <a:t>The pedagogical payoff: students see that 'optimisation' is not one thing. The right method depends on how much you trust your inputs. If you have no confidence in return forecasts, you drop down the ladder. The DeMiguel, Garlappi and Uppal (2009) result — that naive 1/N often beats Markowitz out of sample — is the empirical motivation for taking the lower rungs seriously.</a:t>
            </a:r>
          </a:p>
          <a:p>
            <a:endParaRPr/>
          </a:p>
          <a:p>
            <a:r>
              <a:t>This slide sets up the next slide (Equal Risk Contribution, the one method on this list that needs real explanation) and then HRP, which is the machine-learning-flavoured culmination of the same idea. Min variance and inverse vol the students can already implement; ERC and HRP are the new tools.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rmAutofit fontScale="92500"/>
          </a:bodyPr>
          <a:lstStyle/>
          <a:p>
            <a:r>
              <a:t>This comparison table is the centrepiece of Block B. Spend 5 minutes here.</a:t>
            </a:r>
          </a:p>
          <a:p>
            <a:endParaRPr/>
          </a:p>
          <a:p>
            <a:r>
              <a:t>Key points for each strategy:</a:t>
            </a:r>
          </a:p>
          <a:p>
            <a:r>
              <a:t>- Equal weight: DeMiguel et al. (2009) showed that 1/N beats optimised portfolios out-of-sample in most tests. The reason: optimised portfolios overfit to the estimation period. This is a humbling result that students should take seriously.</a:t>
            </a:r>
          </a:p>
          <a:p>
            <a:r>
              <a:t>- Min variance: uses only Σ (no μ), making it less sensitive to estimation error. Studies show it often outperforms max Sharpe out-of-sample. Weight: mainly bonds and low-vol stocks.</a:t>
            </a:r>
          </a:p>
          <a:p>
            <a:r>
              <a:t>- Max Sharpe: correct in-sample but notoriously unstable out-of-sample. If your training period includes AAPL's exceptional 2019-2022 run, the model thinks AAPL will always be great.</a:t>
            </a:r>
          </a:p>
          <a:p>
            <a:r>
              <a:t>- Black-Litterman: addresses the MV instability by starting from market equilibrium. Only moves weights if the analyst has high-confidence views. Without views, it produces the market portfolio.</a:t>
            </a:r>
          </a:p>
          <a:p>
            <a:r>
              <a:t>- HRP: the newest approach on this list (2016). Increasingly popular in practice. No return forecasts, no matrix inversion — robust by design.</a:t>
            </a:r>
          </a:p>
          <a:p>
            <a:r>
              <a:t>- Min CVaR: most appropriate for investors who care more about avoiding large drawdowns than maximising average return.</a:t>
            </a:r>
          </a:p>
          <a:p>
            <a:endParaRPr/>
          </a:p>
          <a:p>
            <a:r>
              <a:t>Ask: 'In live portfolios, most institutions use some combination of these. What would you combine?'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rmAutofit lnSpcReduction="10000"/>
          </a:bodyPr>
          <a:lstStyle/>
          <a:p>
            <a:r>
              <a:t>Constraints are where theory meets professional practice. Every real portfolio has constraints.</a:t>
            </a:r>
          </a:p>
          <a:p>
            <a:endParaRPr/>
          </a:p>
          <a:p>
            <a:r>
              <a:t>Weight bounds are the most common constraint in practice. Without them, PyPortfolioOpt's max Sharpe will frequently produce portfolios with &gt;50% in a single name. No client, risk manager, or compliance officer will accept that.</a:t>
            </a:r>
          </a:p>
          <a:p>
            <a:endParaRPr/>
          </a:p>
          <a:p>
            <a:r>
              <a:t>Sector constraints are common in mandates: a large-cap equity fund might cap technology at 30% regardless of optimisation results. In PyPortfolioOpt, you need to define sector membership and add a linear constraint on the sum of weights within each sector.</a:t>
            </a:r>
          </a:p>
          <a:p>
            <a:endParaRPr/>
          </a:p>
          <a:p>
            <a:r>
              <a:t>Turnover constraint is crucial for cost management. The add_constraint() method uses cvxpy under the hood, so you can add any convex constraint. The cp.abs() function is the L1 norm of weight changes — this bounds total turnover.</a:t>
            </a:r>
          </a:p>
          <a:p>
            <a:endParaRPr/>
          </a:p>
          <a:p>
            <a:r>
              <a:t>Key question to ask: 'What happens to portfolio performance when you add more constraints?' Answer: it gets worse by construction (you're restricting the feasible set). But it gets more stable and more practically implementable. This is the fundamental tension in constrained optimisation.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heatmap in the lab (Section 1) shows LW vs sample covariance side by side. Point out the condition numbers printed in the notebook output, LW dramatically improves invertibility. Students should use LW throughout their own Assignment 3 </a:t>
            </a:r>
            <a:r>
              <a:rPr dirty="0" err="1"/>
              <a:t>optimisations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 the 2022 environment explicitly: rising rates hurt bonds, which have large weights in risk parity (low volatility), so risk parity had a difficult year. This is a live debate. Asness et al. (2012) is supplementary reading.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Work through the three-asset example if time permits: assets A (vol 20%), B (vol 10%), C (vol 15%), zero correlation, gives weights proportional to 1 over vol. In the lab (Section 2) students implement erc_objective and minimise it. Show the bar chart: ERC has roughly equal risk bars; EW and MV do not.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Emphasise: ERC uses Sigma only, a big advantage since mu is notoriously hard to forecast. Min-variance also needs only Sigma but concentrates; ERC diversifies risk. In the out-of-sample lab (Section 5), risk parity often outperforms tangency in volatile periods despite ignoring return forecasts entirely.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Reverse optimisation (step 1) recovers the returns implied by the CAPM, so the prior portfolio is the market portfolio, you start neutral. Views (step 2) can be absolute ('XLK returns 18%') or relative ('XLE outperforms XLU'). The posterior (step 3) is a precision-weighted average, views with low uncertainty receive high weight. Walk the lab example with two views (Section 3).</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derivation is standard Bayesian linear regression with a normal conjugate prior. Point out that as Omega goes to zero (certainty), expected returns go to Q (pure views); as tau goes to zero (tight prior), expected returns go to Pi (pure equilibrium). The lab implements this in about 15 lines (Section 3, cell 7). The key insight: posterior returns are stable because they are anchored to Pi.</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lab chart (Section 3, right panel): BL weights vs equal weights. The overweight in XLK is clearly visible; XLU is underweighted. Encourage students to try reversing the signs of Q, the model is well-behaved. For Assignment 3: views can be based on analyst forecasts, factor model output, or ESG considerations, the model is agnostic about the source.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selling point of BL: the weights look reasonable, not extreme corner solutions. Compare to naive MVO: if you feed in forecasts directly, MVO typically goes 80 to 100% into one or two assets. BL blends toward the market and produces institutional-quality allocations. This is why BL dominates in practice at large asset managers.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Berg et al. (2022) is required supplementary reading, keep it accessible. The 0.38 to 0.61 correlation figure is shocking vs credit ratings: same concept, radically different outcomes. This is why Assignment 3 explicitly requires TWO ESG rating providers, to demonstrate that portfolio composition changes when you switch providers.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Review of Finance is a top-5 finance journal, worth noting for credibility. The 44/56 scope/measurement split is debated in the literature but the key takeaway is unambiguous: ESG ratings are not consensus measures. For Assignment 3: students use the two synthetic ESG score vectors in the lab (Section 4) as stand-ins for two rating providers, then compare their ESG-constrained portfolios.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Setup for the by-hand HRP example. Five assets: two tech (AAPL, MSFT) and three defensive (gold GLD, long bonds TLT, investment-grade bonds LQD). Variance is just volatility squared. The one new formula is the distance: turn each correlation into a distance with d = sqrt((1-corr)/2). Correlation 1 gives distance 0, correlation -1 gives distance 1. So</a:t>
            </a:r>
            <a:r>
              <a:rPr lang="en-US" dirty="0"/>
              <a:t>,</a:t>
            </a:r>
            <a:r>
              <a:rPr dirty="0"/>
              <a:t> the tech pair (0.85) and the bond pair (0.75) have the smallest distances; tech-vs-safe pairs are the farthest apart.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1 uses single-linkage clustering: keep joining the two closest things, using the smallest distance, until everything is in one tree. AAPL-MSFT join first (0.274), then the bond pair TLT-LQD (0.354), then gold joins the bonds, then the tech pair joins the safe trio at the root. Step 2 just reads the tree left to right so similar assets are adjacent. That ordering is what makes the positional split in the next step land on a sensible boundary.</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split the money, HRP first measures how risky each branch is. The branch risk is the variance of a mini-portfolio inside it, using inverse-variance weights (the calmer asset gets more). Show one full expansion so students see where every number comes from: square each weight times its variance, plus twice each pair's weight-weight-covariance term, where covariance = correlation times the two vols. The tech branch lands at about 0.068, the safe trio at about 0.008, so the safe side is roughly eight times calmer. Those two numbers drive the top split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split rule: at each fork, the calmer side's share equals the other side's risk divided by the total risk, so lower risk means a bigger share. Top split: tech is riskier (0.0677) so it gets only 10.6 percent; the safe trio gets 89.4 percent. Then split each branch the same way. Final weight of each asset is the product of the shares along its path from the root. LQD, the calmest, ends up largest at 41 percent; the volatile tech pair gets under 11 percent combined. These weights match </a:t>
            </a:r>
            <a:r>
              <a:rPr dirty="0" err="1"/>
              <a:t>PyPortfolioOpt</a:t>
            </a:r>
            <a:r>
              <a:rPr dirty="0"/>
              <a:t> </a:t>
            </a:r>
            <a:r>
              <a:rPr dirty="0" err="1"/>
              <a:t>HRPOpt</a:t>
            </a:r>
            <a:r>
              <a:rPr dirty="0"/>
              <a:t> to five decimals.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Tiny worked example so every number is checkable. Center each column by subtracting its mean (means 1,1,0 give clean integers). The sample covariance S is the average product of centered columns; S_AA and S_AB shown fully. Divide by n=5 (Ledoit-Wolf convention), not n-1.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estimator blends S with a simple target F = scaled identity (average variance m on diagonal, zero off). d-squared = how far S is from that target: sum squared entry differences / 3 = 9.369. b-squared = how noisy S is: per period form x times x-transpose, distance to S, average; period 1 fully (11.52), all five sum 216.4, / (p n^2) = 2.885.</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 b-squared / d-squared = 0.308, capped at 1: shrink about 31 percent toward the target. The shrunk matrix adds delta*m (0.944) on the diagonal and keeps 0.692 of each sample value; off-diagonal just scales by 0.692. Effect: large variance pulled toward the average, small ones up, covariances toward zero. Matches sklearn/pypfopt ledoit_wolf, delta 0.308.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4115700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950961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330155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4159761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Aarhus University Summer School 2026</a:t>
            </a:r>
          </a:p>
        </p:txBody>
      </p:sp>
      <p:sp>
        <p:nvSpPr>
          <p:cNvPr id="9" name="Slide Number Placeholder 8"/>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4538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Aarhus University Summer School 2026</a:t>
            </a:r>
          </a:p>
        </p:txBody>
      </p:sp>
      <p:sp>
        <p:nvSpPr>
          <p:cNvPr id="5" name="Slide Number Placeholder 4"/>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2965185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Aarhus University Summer School 2026</a:t>
            </a:r>
          </a:p>
        </p:txBody>
      </p:sp>
      <p:sp>
        <p:nvSpPr>
          <p:cNvPr id="4" name="Slide Number Placeholder 3"/>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3000429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917986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196803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318535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2184773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3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23099" y="365125"/>
            <a:ext cx="11345799" cy="1325563"/>
          </a:xfrm>
        </p:spPr>
        <p:txBody>
          <a:bodyPr lIns="0" tIns="0" rIns="0" bIns="0" anchor="t">
            <a:normAutofit/>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423101" y="1681163"/>
            <a:ext cx="6438105" cy="823912"/>
          </a:xfrm>
        </p:spPr>
        <p:txBody>
          <a:bodyPr lIns="0" tIns="0" rIns="0" bIns="0" anchor="t"/>
          <a:lstStyle>
            <a:lvl1pPr marL="0" indent="0">
              <a:buNone/>
              <a:defRPr sz="2400" b="1">
                <a:solidFill>
                  <a:schemeClr val="accent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23101" y="2671763"/>
            <a:ext cx="6438105" cy="3684588"/>
          </a:xfrm>
        </p:spPr>
        <p:txBody>
          <a:bodyPr lIns="0" tIns="0" rIns="0" bIns="0">
            <a:normAutofit/>
          </a:bodyPr>
          <a:lstStyle>
            <a:lvl1pPr marL="0" indent="0">
              <a:buFontTx/>
              <a:buNone/>
              <a:defRPr sz="2133"/>
            </a:lvl1pPr>
            <a:lvl2pPr marL="457189" indent="0">
              <a:buFontTx/>
              <a:buNone/>
              <a:defRPr sz="2400"/>
            </a:lvl2pPr>
            <a:lvl3pPr marL="914377" indent="0">
              <a:buFontTx/>
              <a:buNone/>
              <a:defRPr sz="2400"/>
            </a:lvl3pPr>
            <a:lvl4pPr marL="1371566" indent="0">
              <a:buFontTx/>
              <a:buNone/>
              <a:defRPr sz="2400"/>
            </a:lvl4pPr>
            <a:lvl5pPr marL="1828754" indent="0">
              <a:buFontTx/>
              <a:buNone/>
              <a:defRPr sz="2400"/>
            </a:lvl5pPr>
          </a:lstStyle>
          <a:p>
            <a:pPr lvl="0"/>
            <a:r>
              <a:rPr lang="en-US"/>
              <a:t>Click to edit Master text styles</a:t>
            </a:r>
          </a:p>
        </p:txBody>
      </p:sp>
      <p:sp>
        <p:nvSpPr>
          <p:cNvPr id="6" name="Content Placeholder 5"/>
          <p:cNvSpPr>
            <a:spLocks noGrp="1"/>
          </p:cNvSpPr>
          <p:nvPr>
            <p:ph sz="quarter" idx="4"/>
          </p:nvPr>
        </p:nvSpPr>
        <p:spPr>
          <a:xfrm>
            <a:off x="7299767" y="1723424"/>
            <a:ext cx="4453672" cy="3168811"/>
          </a:xfrm>
          <a:solidFill>
            <a:schemeClr val="tx1"/>
          </a:solidFill>
        </p:spPr>
        <p:txBody>
          <a:bodyPr lIns="360000" tIns="360000" rIns="360000" bIns="360000" anchor="ctr"/>
          <a:lstStyle>
            <a:lvl1pPr marL="0" indent="0" algn="l">
              <a:buFontTx/>
              <a:buNone/>
              <a:defRPr sz="24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20502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New Title Content Slide">
    <p:spTree>
      <p:nvGrpSpPr>
        <p:cNvPr id="1" name=""/>
        <p:cNvGrpSpPr/>
        <p:nvPr/>
      </p:nvGrpSpPr>
      <p:grpSpPr>
        <a:xfrm>
          <a:off x="0" y="0"/>
          <a:ext cx="0" cy="0"/>
          <a:chOff x="0" y="0"/>
          <a:chExt cx="0" cy="0"/>
        </a:xfrm>
      </p:grpSpPr>
      <p:sp>
        <p:nvSpPr>
          <p:cNvPr id="2" name="Title 1"/>
          <p:cNvSpPr>
            <a:spLocks noGrp="1"/>
          </p:cNvSpPr>
          <p:nvPr>
            <p:ph type="title"/>
          </p:nvPr>
        </p:nvSpPr>
        <p:spPr>
          <a:xfrm>
            <a:off x="423099" y="365126"/>
            <a:ext cx="11345799" cy="1076813"/>
          </a:xfrm>
        </p:spPr>
        <p:txBody>
          <a:bodyPr lIns="0" tIns="0" rIns="0" bIns="0" anchor="t">
            <a:normAutofit/>
          </a:bodyPr>
          <a:lstStyle>
            <a:lvl1pPr algn="ctr">
              <a:defRPr sz="3200"/>
            </a:lvl1pPr>
          </a:lstStyle>
          <a:p>
            <a:r>
              <a:rPr lang="en-US"/>
              <a:t>Click to edit Master title style</a:t>
            </a:r>
            <a:endParaRPr lang="en-US" dirty="0"/>
          </a:p>
        </p:txBody>
      </p:sp>
      <p:sp>
        <p:nvSpPr>
          <p:cNvPr id="4" name="Content Placeholder 3"/>
          <p:cNvSpPr>
            <a:spLocks noGrp="1"/>
          </p:cNvSpPr>
          <p:nvPr>
            <p:ph sz="half" idx="2"/>
          </p:nvPr>
        </p:nvSpPr>
        <p:spPr>
          <a:xfrm>
            <a:off x="423100" y="1535723"/>
            <a:ext cx="11345797" cy="4501661"/>
          </a:xfrm>
        </p:spPr>
        <p:txBody>
          <a:bodyPr lIns="0" tIns="0" rIns="0" bIns="0">
            <a:normAutofit/>
          </a:bodyPr>
          <a:lstStyle>
            <a:lvl1pPr marL="228594" indent="-228594">
              <a:buClr>
                <a:schemeClr val="accent1"/>
              </a:buClr>
              <a:buFont typeface="Arial" panose="020B0604020202020204" pitchFamily="34" charset="0"/>
              <a:buChar char="•"/>
              <a:defRPr sz="2667"/>
            </a:lvl1pPr>
            <a:lvl2pPr marL="685783" indent="-228594">
              <a:buClr>
                <a:schemeClr val="accent1"/>
              </a:buClr>
              <a:buFont typeface="Arial" panose="020B0604020202020204" pitchFamily="34" charset="0"/>
              <a:buChar char="•"/>
              <a:defRPr sz="2667"/>
            </a:lvl2pPr>
            <a:lvl3pPr marL="1142971" indent="-228594">
              <a:buClr>
                <a:schemeClr val="accent1"/>
              </a:buClr>
              <a:buFont typeface="Arial" panose="020B0604020202020204" pitchFamily="34" charset="0"/>
              <a:buChar char="•"/>
              <a:defRPr sz="2667"/>
            </a:lvl3pPr>
            <a:lvl4pPr marL="1600160" indent="-228594">
              <a:buClr>
                <a:schemeClr val="accent1"/>
              </a:buClr>
              <a:buFont typeface="Arial" panose="020B0604020202020204" pitchFamily="34" charset="0"/>
              <a:buChar char="•"/>
              <a:defRPr sz="2667"/>
            </a:lvl4pPr>
            <a:lvl5pPr marL="2057349" indent="-228594">
              <a:buClr>
                <a:schemeClr val="accent1"/>
              </a:buClr>
              <a:buFont typeface="Arial" panose="020B0604020202020204" pitchFamily="34" charset="0"/>
              <a:buChar char="•"/>
              <a:defRPr sz="26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203823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New Title Content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CCE42D8-5361-9940-B797-FFC03759880E}"/>
              </a:ext>
            </a:extLst>
          </p:cNvPr>
          <p:cNvPicPr>
            <a:picLocks noChangeAspect="1"/>
          </p:cNvPicPr>
          <p:nvPr/>
        </p:nvPicPr>
        <p:blipFill>
          <a:blip r:embed="rId2"/>
          <a:srcRect/>
          <a:stretch/>
        </p:blipFill>
        <p:spPr>
          <a:xfrm>
            <a:off x="0" y="1"/>
            <a:ext cx="12192000" cy="6858000"/>
          </a:xfrm>
          <a:prstGeom prst="rect">
            <a:avLst/>
          </a:prstGeom>
        </p:spPr>
      </p:pic>
      <p:sp>
        <p:nvSpPr>
          <p:cNvPr id="2" name="Title 1"/>
          <p:cNvSpPr>
            <a:spLocks noGrp="1"/>
          </p:cNvSpPr>
          <p:nvPr>
            <p:ph type="title"/>
          </p:nvPr>
        </p:nvSpPr>
        <p:spPr>
          <a:xfrm>
            <a:off x="423099" y="365126"/>
            <a:ext cx="11345799" cy="924413"/>
          </a:xfrm>
        </p:spPr>
        <p:txBody>
          <a:bodyPr lIns="0" tIns="0" rIns="0" bIns="0" anchor="t">
            <a:normAutofit/>
          </a:bodyPr>
          <a:lstStyle>
            <a:lvl1pPr algn="ctr">
              <a:defRPr sz="3200"/>
            </a:lvl1pPr>
          </a:lstStyle>
          <a:p>
            <a:r>
              <a:rPr lang="en-US"/>
              <a:t>Click to edit Master title style</a:t>
            </a:r>
            <a:endParaRPr lang="en-US" dirty="0"/>
          </a:p>
        </p:txBody>
      </p:sp>
      <p:sp>
        <p:nvSpPr>
          <p:cNvPr id="4" name="Content Placeholder 3"/>
          <p:cNvSpPr>
            <a:spLocks noGrp="1"/>
          </p:cNvSpPr>
          <p:nvPr>
            <p:ph sz="half" idx="2"/>
          </p:nvPr>
        </p:nvSpPr>
        <p:spPr>
          <a:xfrm>
            <a:off x="423100" y="1383323"/>
            <a:ext cx="11345797" cy="4380169"/>
          </a:xfrm>
        </p:spPr>
        <p:txBody>
          <a:bodyPr lIns="0" tIns="0" rIns="0" bIns="0">
            <a:normAutofit/>
          </a:bodyPr>
          <a:lstStyle>
            <a:lvl1pPr marL="228594" indent="-228594">
              <a:buClr>
                <a:schemeClr val="accent1"/>
              </a:buClr>
              <a:buFont typeface="Arial" panose="020B0604020202020204" pitchFamily="34" charset="0"/>
              <a:buChar char="•"/>
              <a:defRPr sz="2667"/>
            </a:lvl1pPr>
            <a:lvl2pPr marL="685783" indent="-228594">
              <a:buClr>
                <a:schemeClr val="accent1"/>
              </a:buClr>
              <a:buFont typeface="Arial" panose="020B0604020202020204" pitchFamily="34" charset="0"/>
              <a:buChar char="•"/>
              <a:defRPr sz="2667"/>
            </a:lvl2pPr>
            <a:lvl3pPr marL="1142971" indent="-228594">
              <a:buClr>
                <a:schemeClr val="accent1"/>
              </a:buClr>
              <a:buFont typeface="Arial" panose="020B0604020202020204" pitchFamily="34" charset="0"/>
              <a:buChar char="•"/>
              <a:defRPr sz="2667"/>
            </a:lvl3pPr>
            <a:lvl4pPr marL="1600160" indent="-228594">
              <a:buClr>
                <a:schemeClr val="accent1"/>
              </a:buClr>
              <a:buFont typeface="Arial" panose="020B0604020202020204" pitchFamily="34" charset="0"/>
              <a:buChar char="•"/>
              <a:defRPr sz="2667"/>
            </a:lvl4pPr>
            <a:lvl5pPr marL="2057349" indent="-228594">
              <a:buClr>
                <a:schemeClr val="accent1"/>
              </a:buClr>
              <a:buFont typeface="Arial" panose="020B0604020202020204" pitchFamily="34" charset="0"/>
              <a:buChar char="•"/>
              <a:defRPr sz="26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a:extLst>
              <a:ext uri="{FF2B5EF4-FFF2-40B4-BE49-F238E27FC236}">
                <a16:creationId xmlns:a16="http://schemas.microsoft.com/office/drawing/2014/main" id="{423224AA-A183-CA4A-BDDA-A7ED236E648B}"/>
              </a:ext>
            </a:extLst>
          </p:cNvPr>
          <p:cNvPicPr>
            <a:picLocks noChangeAspect="1"/>
          </p:cNvPicPr>
          <p:nvPr/>
        </p:nvPicPr>
        <p:blipFill>
          <a:blip r:embed="rId3"/>
          <a:srcRect/>
          <a:stretch/>
        </p:blipFill>
        <p:spPr>
          <a:xfrm>
            <a:off x="8875618" y="5748384"/>
            <a:ext cx="3316380" cy="1109616"/>
          </a:xfrm>
          <a:prstGeom prst="rect">
            <a:avLst/>
          </a:prstGeom>
        </p:spPr>
      </p:pic>
    </p:spTree>
    <p:extLst>
      <p:ext uri="{BB962C8B-B14F-4D97-AF65-F5344CB8AC3E}">
        <p14:creationId xmlns:p14="http://schemas.microsoft.com/office/powerpoint/2010/main" val="26311648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314D-F56C-2D2F-97D9-F1714A9861D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7998694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Aarhus University Summer School 2026</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977878-5A46-4A4D-987F-065558C472F5}" type="slidenum">
              <a:rPr lang="en-US" smtClean="0"/>
              <a:t>‹#›</a:t>
            </a:fld>
            <a:endParaRPr lang="en-US"/>
          </a:p>
        </p:txBody>
      </p:sp>
    </p:spTree>
    <p:extLst>
      <p:ext uri="{BB962C8B-B14F-4D97-AF65-F5344CB8AC3E}">
        <p14:creationId xmlns:p14="http://schemas.microsoft.com/office/powerpoint/2010/main" val="2450784130"/>
      </p:ext>
    </p:extLst>
  </p:cSld>
  <p:clrMap bg1="lt1" tx1="dk1" bg2="lt2" tx2="dk2" accent1="accent1" accent2="accent2" accent3="accent3" accent4="accent4" accent5="accent5" accent6="accent6" hlink="hlink" folHlink="folHlink"/>
  <p:sldLayoutIdLst>
    <p:sldLayoutId id="2147484118" r:id="rId1"/>
    <p:sldLayoutId id="2147484119" r:id="rId2"/>
    <p:sldLayoutId id="2147484120" r:id="rId3"/>
    <p:sldLayoutId id="2147484121" r:id="rId4"/>
    <p:sldLayoutId id="2147484122" r:id="rId5"/>
    <p:sldLayoutId id="2147484123" r:id="rId6"/>
    <p:sldLayoutId id="2147484124" r:id="rId7"/>
    <p:sldLayoutId id="2147484125" r:id="rId8"/>
    <p:sldLayoutId id="2147484126" r:id="rId9"/>
    <p:sldLayoutId id="2147484127" r:id="rId10"/>
    <p:sldLayoutId id="2147484128" r:id="rId11"/>
    <p:sldLayoutId id="2147484129" r:id="rId12"/>
    <p:sldLayoutId id="2147484130" r:id="rId13"/>
    <p:sldLayoutId id="2147484059" r:id="rId14"/>
    <p:sldLayoutId id="2147484017" r:id="rId15"/>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099" y="2112962"/>
            <a:ext cx="7273101" cy="2306638"/>
          </a:xfrm>
        </p:spPr>
        <p:txBody>
          <a:bodyPr anchor="t">
            <a:normAutofit/>
          </a:bodyPr>
          <a:lstStyle/>
          <a:p>
            <a:r>
              <a:rPr lang="en-US" dirty="0"/>
              <a:t>FINANCIAL RISK MANAGEMENT AND ENGINEERING</a:t>
            </a:r>
            <a:br>
              <a:rPr lang="en-US" dirty="0"/>
            </a:br>
            <a:br>
              <a:rPr lang="en-US" dirty="0"/>
            </a:br>
            <a:r>
              <a:rPr lang="en-US" dirty="0"/>
              <a:t>Session 10: Portfolio Risk &amp; Optimization II: Risk Parity &amp; Black-Litterman</a:t>
            </a:r>
          </a:p>
        </p:txBody>
      </p:sp>
      <p:pic>
        <p:nvPicPr>
          <p:cNvPr id="4" name="Picture 3" descr="New guidelines for the logo structure and university seal">
            <a:extLst>
              <a:ext uri="{FF2B5EF4-FFF2-40B4-BE49-F238E27FC236}">
                <a16:creationId xmlns:a16="http://schemas.microsoft.com/office/drawing/2014/main" id="{D6F9100D-02AF-EE22-EDE3-68F783F22630}"/>
              </a:ext>
            </a:extLst>
          </p:cNvPr>
          <p:cNvPicPr>
            <a:picLocks noChangeAspect="1"/>
          </p:cNvPicPr>
          <p:nvPr/>
        </p:nvPicPr>
        <p:blipFill>
          <a:blip r:embed="rId3"/>
          <a:srcRect t="42767" r="4" b="4"/>
          <a:stretch>
            <a:fillRect/>
          </a:stretch>
        </p:blipFill>
        <p:spPr>
          <a:xfrm>
            <a:off x="423101" y="2671763"/>
            <a:ext cx="6438105" cy="3684588"/>
          </a:xfrm>
          <a:prstGeom prst="rect">
            <a:avLst/>
          </a:prstGeom>
          <a:noFill/>
        </p:spPr>
      </p:pic>
      <p:pic>
        <p:nvPicPr>
          <p:cNvPr id="6" name="Picture 5" descr="AU's segl">
            <a:extLst>
              <a:ext uri="{FF2B5EF4-FFF2-40B4-BE49-F238E27FC236}">
                <a16:creationId xmlns:a16="http://schemas.microsoft.com/office/drawing/2014/main" id="{49BE1E43-6F81-3C41-C30C-E25204F4EEF2}"/>
              </a:ext>
            </a:extLst>
          </p:cNvPr>
          <p:cNvPicPr>
            <a:picLocks noChangeAspect="1"/>
          </p:cNvPicPr>
          <p:nvPr/>
        </p:nvPicPr>
        <p:blipFill>
          <a:blip r:embed="rId4"/>
          <a:stretch>
            <a:fillRect/>
          </a:stretch>
        </p:blipFill>
        <p:spPr>
          <a:xfrm>
            <a:off x="8153400" y="1905000"/>
            <a:ext cx="3048000" cy="304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Learning Objectives</a:t>
            </a:r>
            <a:endParaRPr b="1" dirty="0">
              <a:latin typeface="Arial" panose="020B0604020202020204" pitchFamily="34" charset="0"/>
              <a:cs typeface="Arial" panose="020B0604020202020204" pitchFamily="34" charset="0"/>
            </a:endParaRPr>
          </a:p>
        </p:txBody>
      </p:sp>
      <p:sp>
        <p:nvSpPr>
          <p:cNvPr id="4004" name="Content Placeholder"/>
          <p:cNvSpPr>
            <a:spLocks noGrp="1"/>
          </p:cNvSpPr>
          <p:nvPr>
            <p:ph sz="half" idx="2"/>
          </p:nvPr>
        </p:nvSpPr>
        <p:spPr/>
        <p:txBody>
          <a:bodyPr wrap="square">
            <a:normAutofit lnSpcReduction="10000"/>
          </a:bodyPr>
          <a:lstStyle/>
          <a:p>
            <a:pPr marL="0" indent="0">
              <a:buNone/>
            </a:pPr>
            <a:r>
              <a:rPr lang="en-CA" b="1" dirty="0"/>
              <a:t>By the end of this session, you will be able to:</a:t>
            </a:r>
          </a:p>
          <a:p>
            <a:pPr marL="0" indent="0">
              <a:buNone/>
            </a:pPr>
            <a:r>
              <a:rPr lang="en-CA" dirty="0"/>
              <a:t>1. Explain why sample covariance matrices are noisy and apply Ledoit-Wolf shrinkage to obtain a more stable estimate</a:t>
            </a:r>
          </a:p>
          <a:p>
            <a:pPr marL="0" indent="0">
              <a:buNone/>
            </a:pPr>
            <a:r>
              <a:rPr lang="en-CA" dirty="0"/>
              <a:t>2. Derive and implement risk contributions and the Equal-Risk-Contribution (ERC) portfolio</a:t>
            </a:r>
          </a:p>
          <a:p>
            <a:pPr marL="0" indent="0">
              <a:buNone/>
            </a:pPr>
            <a:r>
              <a:rPr lang="en-CA" dirty="0"/>
              <a:t>3. Set up the Black-Litterman posterior distribution from equilibrium returns and investor views</a:t>
            </a:r>
          </a:p>
          <a:p>
            <a:pPr marL="0" indent="0">
              <a:buNone/>
            </a:pPr>
            <a:r>
              <a:rPr lang="en-CA" dirty="0"/>
              <a:t>4. Optimise an ESG-constrained portfolio and explain how ESG-rating divergence (Berg et al. 2022) creates a new source of estimation risk</a:t>
            </a:r>
          </a:p>
          <a:p>
            <a:pPr marL="0" indent="0">
              <a:buNone/>
            </a:pPr>
            <a:r>
              <a:rPr lang="en-CA" dirty="0"/>
              <a:t>5. Compare risk parity, Black-Litterman, and mean-variance out-of-sample and interpret results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Mean-Variance Optimisation - Where It Breaks Down</a:t>
            </a:r>
            <a:endParaRPr b="1" dirty="0">
              <a:latin typeface="Arial" panose="020B0604020202020204" pitchFamily="34" charset="0"/>
              <a:cs typeface="Arial" panose="020B0604020202020204" pitchFamily="34" charset="0"/>
            </a:endParaRPr>
          </a:p>
        </p:txBody>
      </p:sp>
      <p:sp>
        <p:nvSpPr>
          <p:cNvPr id="4008" name="Content Placeholder"/>
          <p:cNvSpPr>
            <a:spLocks noGrp="1"/>
          </p:cNvSpPr>
          <p:nvPr>
            <p:ph sz="half" idx="2"/>
          </p:nvPr>
        </p:nvSpPr>
        <p:spPr/>
        <p:txBody>
          <a:bodyPr wrap="square">
            <a:normAutofit fontScale="92500"/>
          </a:bodyPr>
          <a:lstStyle/>
          <a:p>
            <a:pPr marL="0" indent="0">
              <a:buNone/>
            </a:pPr>
            <a:r>
              <a:rPr lang="en-CA" b="1" dirty="0"/>
              <a:t>Session 9 gave us the efficient frontier. Session 10 makes it robust.</a:t>
            </a:r>
          </a:p>
          <a:p>
            <a:r>
              <a:rPr lang="en-CA" dirty="0"/>
              <a:t>MVO maximises the Sharpe ratio given expected returns </a:t>
            </a:r>
            <a:r>
              <a:rPr lang="en-CA" dirty="0" err="1"/>
              <a:t>μ</a:t>
            </a:r>
            <a:r>
              <a:rPr lang="en-CA" dirty="0"/>
              <a:t> and covariance </a:t>
            </a:r>
            <a:r>
              <a:rPr lang="en-CA" dirty="0" err="1"/>
              <a:t>Σ</a:t>
            </a:r>
            <a:endParaRPr lang="en-CA" dirty="0"/>
          </a:p>
          <a:p>
            <a:r>
              <a:rPr lang="en-CA" dirty="0"/>
              <a:t>Both </a:t>
            </a:r>
            <a:r>
              <a:rPr lang="en-CA" dirty="0" err="1"/>
              <a:t>μ</a:t>
            </a:r>
            <a:r>
              <a:rPr lang="en-CA" dirty="0"/>
              <a:t> and </a:t>
            </a:r>
            <a:r>
              <a:rPr lang="en-CA" dirty="0" err="1"/>
              <a:t>Σ</a:t>
            </a:r>
            <a:r>
              <a:rPr lang="en-CA" dirty="0"/>
              <a:t> must be estimated, and estimation errors are amplified by optimisation</a:t>
            </a:r>
          </a:p>
          <a:p>
            <a:r>
              <a:rPr lang="en-CA" dirty="0"/>
              <a:t>With N assets, </a:t>
            </a:r>
            <a:r>
              <a:rPr lang="en-CA" dirty="0" err="1"/>
              <a:t>Σ</a:t>
            </a:r>
            <a:r>
              <a:rPr lang="en-CA" dirty="0"/>
              <a:t> has N(N+1)/2 unique entries; with N = 50 that is 1,275 parameters</a:t>
            </a:r>
          </a:p>
          <a:p>
            <a:r>
              <a:rPr lang="en-CA" dirty="0"/>
              <a:t>Sample covariance is unbiased but has enormous sampling variance on short histories</a:t>
            </a:r>
          </a:p>
          <a:p>
            <a:r>
              <a:rPr lang="en-CA" dirty="0"/>
              <a:t>The resulting portfolio concentrates in a few assets and is unstable across re-estimations</a:t>
            </a:r>
          </a:p>
          <a:p>
            <a:r>
              <a:rPr lang="en-CA" dirty="0"/>
              <a:t>Michaud (1989): MVO is an 'error maximiser', it overweights assets with overestimated </a:t>
            </a:r>
            <a:r>
              <a:rPr lang="en-CA" dirty="0" err="1"/>
              <a:t>μ</a:t>
            </a:r>
            <a:endParaRPr lang="en-CA" dirty="0"/>
          </a:p>
          <a:p>
            <a:r>
              <a:rPr lang="en-CA" dirty="0"/>
              <a:t>Three practical remedies: (i) shrinkage (LW), (ii) robust optimisation, or (iii) risk parity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b="1" dirty="0">
                <a:latin typeface="Arial" panose="020B0604020202020204" pitchFamily="34" charset="0"/>
                <a:cs typeface="Arial" panose="020B0604020202020204" pitchFamily="34" charset="0"/>
              </a:rPr>
              <a:t>Covariance Estimation — The Most Important Input</a:t>
            </a:r>
          </a:p>
        </p:txBody>
      </p:sp>
      <p:sp>
        <p:nvSpPr>
          <p:cNvPr id="4" name="TextBox 3"/>
          <p:cNvSpPr txBox="1"/>
          <p:nvPr/>
        </p:nvSpPr>
        <p:spPr>
          <a:xfrm>
            <a:off x="420624" y="1380744"/>
            <a:ext cx="11347704" cy="4379976"/>
          </a:xfrm>
          <a:prstGeom prst="rect">
            <a:avLst/>
          </a:prstGeom>
          <a:noFill/>
        </p:spPr>
        <p:txBody>
          <a:bodyPr wrap="square">
            <a:noAutofit/>
          </a:bodyPr>
          <a:lstStyle/>
          <a:p>
            <a:pPr>
              <a:spcBef>
                <a:spcPts val="400"/>
              </a:spcBef>
              <a:spcAft>
                <a:spcPts val="200"/>
              </a:spcAft>
            </a:pPr>
            <a:r>
              <a:rPr sz="2200" dirty="0"/>
              <a:t>Garbage in, garbage out: a noisy covariance matrix produces unstable, concentrated weights</a:t>
            </a:r>
          </a:p>
          <a:p>
            <a:pPr lvl="1">
              <a:spcBef>
                <a:spcPts val="100"/>
              </a:spcBef>
            </a:pPr>
            <a:r>
              <a:rPr sz="2200" dirty="0"/>
              <a:t>With N=50 assets and T=252 days, </a:t>
            </a:r>
            <a:r>
              <a:rPr sz="2200" dirty="0" err="1"/>
              <a:t>Σ</a:t>
            </a:r>
            <a:r>
              <a:rPr sz="2200" dirty="0"/>
              <a:t> has 1,275 elements but only 252 observations</a:t>
            </a:r>
            <a:r>
              <a:rPr lang="en-US" sz="2200" dirty="0"/>
              <a:t>,</a:t>
            </a:r>
            <a:r>
              <a:rPr sz="2200" dirty="0"/>
              <a:t> </a:t>
            </a:r>
            <a:r>
              <a:rPr lang="en-US" sz="2200" dirty="0"/>
              <a:t>so it is</a:t>
            </a:r>
            <a:r>
              <a:rPr sz="2200" dirty="0"/>
              <a:t> </a:t>
            </a:r>
            <a:r>
              <a:rPr sz="2200" dirty="0" err="1"/>
              <a:t>underidentified</a:t>
            </a:r>
            <a:endParaRPr sz="2200" dirty="0"/>
          </a:p>
          <a:p>
            <a:pPr lvl="1">
              <a:spcBef>
                <a:spcPts val="100"/>
              </a:spcBef>
            </a:pPr>
            <a:r>
              <a:rPr sz="2200" dirty="0"/>
              <a:t>Result: small perturbations in data produce wildly different optimal weights</a:t>
            </a:r>
          </a:p>
          <a:p>
            <a:pPr>
              <a:spcBef>
                <a:spcPts val="400"/>
              </a:spcBef>
              <a:spcAft>
                <a:spcPts val="200"/>
              </a:spcAft>
            </a:pPr>
            <a:r>
              <a:rPr sz="2200" dirty="0"/>
              <a:t>Rule of thumb: you need T ≥ 5N observations for a reliable sample covariance</a:t>
            </a:r>
          </a:p>
          <a:p>
            <a:pPr lvl="1">
              <a:spcBef>
                <a:spcPts val="100"/>
              </a:spcBef>
            </a:pPr>
            <a:r>
              <a:rPr sz="2200" dirty="0"/>
              <a:t>N=10 stocks → need ≥ 50 days (easy); N=50 stocks → need ≥ 250 days (1 year, borderline)</a:t>
            </a:r>
          </a:p>
          <a:p>
            <a:pPr lvl="1">
              <a:spcBef>
                <a:spcPts val="100"/>
              </a:spcBef>
            </a:pPr>
            <a:r>
              <a:rPr sz="2200" dirty="0"/>
              <a:t>N=500 stocks → need ≥ 2,500 days (10 years) — factor models are the only practical alternative</a:t>
            </a:r>
          </a:p>
          <a:p>
            <a:pPr>
              <a:spcBef>
                <a:spcPts val="400"/>
              </a:spcBef>
              <a:spcAft>
                <a:spcPts val="200"/>
              </a:spcAft>
            </a:pPr>
            <a:r>
              <a:rPr sz="2200" dirty="0"/>
              <a:t>Factor models: reduce dimensionality by expressing </a:t>
            </a:r>
            <a:r>
              <a:rPr sz="2200" dirty="0" err="1"/>
              <a:t>Σ</a:t>
            </a:r>
            <a:r>
              <a:rPr sz="2200" dirty="0"/>
              <a:t> = BFBᵀ + D</a:t>
            </a:r>
          </a:p>
          <a:p>
            <a:pPr lvl="1">
              <a:spcBef>
                <a:spcPts val="100"/>
              </a:spcBef>
            </a:pPr>
            <a:r>
              <a:rPr sz="2200" dirty="0"/>
              <a:t>B = factor loadings, F = factor covariance, D = idiosyncratic risk</a:t>
            </a:r>
          </a:p>
          <a:p>
            <a:pPr lvl="1">
              <a:spcBef>
                <a:spcPts val="100"/>
              </a:spcBef>
            </a:pPr>
            <a:r>
              <a:rPr sz="2200" dirty="0"/>
              <a:t>Reduces N² parameters to K² + N (K factors) — much more tractable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b="1" dirty="0">
                <a:latin typeface="Arial" panose="020B0604020202020204" pitchFamily="34" charset="0"/>
                <a:cs typeface="Arial" panose="020B0604020202020204" pitchFamily="34" charset="0"/>
              </a:rPr>
              <a:t>The Risk-Based Allocation Family</a:t>
            </a:r>
            <a:r>
              <a:rPr lang="en-US" b="1" dirty="0">
                <a:latin typeface="Arial" panose="020B0604020202020204" pitchFamily="34" charset="0"/>
                <a:cs typeface="Arial" panose="020B0604020202020204" pitchFamily="34" charset="0"/>
              </a:rPr>
              <a:t>:</a:t>
            </a:r>
            <a:br>
              <a:rPr lang="en-US" b="1" dirty="0">
                <a:latin typeface="Arial" panose="020B0604020202020204" pitchFamily="34" charset="0"/>
                <a:cs typeface="Arial" panose="020B0604020202020204" pitchFamily="34" charset="0"/>
              </a:rPr>
            </a:br>
            <a:r>
              <a:rPr dirty="0">
                <a:latin typeface="Arial" panose="020B0604020202020204" pitchFamily="34" charset="0"/>
                <a:cs typeface="Arial" panose="020B0604020202020204" pitchFamily="34" charset="0"/>
              </a:rPr>
              <a:t>Dropping Noisy Inputs</a:t>
            </a:r>
          </a:p>
        </p:txBody>
      </p:sp>
      <p:sp>
        <p:nvSpPr>
          <p:cNvPr id="5" name="TextBox 4"/>
          <p:cNvSpPr txBox="1"/>
          <p:nvPr/>
        </p:nvSpPr>
        <p:spPr>
          <a:xfrm>
            <a:off x="420624" y="1417320"/>
            <a:ext cx="11347704" cy="1179576"/>
          </a:xfrm>
          <a:prstGeom prst="rect">
            <a:avLst/>
          </a:prstGeom>
          <a:noFill/>
        </p:spPr>
        <p:txBody>
          <a:bodyPr wrap="square">
            <a:noAutofit/>
          </a:bodyPr>
          <a:lstStyle/>
          <a:p>
            <a:pPr>
              <a:spcBef>
                <a:spcPts val="400"/>
              </a:spcBef>
              <a:spcAft>
                <a:spcPts val="200"/>
              </a:spcAft>
            </a:pPr>
            <a:r>
              <a:rPr sz="2200" dirty="0">
                <a:latin typeface="Calibri"/>
              </a:rPr>
              <a:t>Estimation-error spectrum: </a:t>
            </a:r>
            <a:r>
              <a:rPr sz="2200" dirty="0" err="1">
                <a:latin typeface="Calibri"/>
              </a:rPr>
              <a:t>μ</a:t>
            </a:r>
            <a:r>
              <a:rPr sz="2200" dirty="0">
                <a:latin typeface="Calibri"/>
              </a:rPr>
              <a:t> is far noisier than </a:t>
            </a:r>
            <a:r>
              <a:rPr sz="2200" dirty="0" err="1">
                <a:latin typeface="Calibri"/>
              </a:rPr>
              <a:t>Σ</a:t>
            </a:r>
            <a:r>
              <a:rPr sz="2200" dirty="0">
                <a:latin typeface="Calibri"/>
              </a:rPr>
              <a:t>, and correlations are noisier than variances</a:t>
            </a:r>
          </a:p>
          <a:p>
            <a:pPr lvl="1">
              <a:spcBef>
                <a:spcPts val="100"/>
              </a:spcBef>
            </a:pPr>
            <a:r>
              <a:rPr sz="2200" dirty="0">
                <a:latin typeface="Calibri"/>
              </a:rPr>
              <a:t>Each rung below discards the least reliable remaining input</a:t>
            </a:r>
          </a:p>
          <a:p>
            <a:pPr lvl="1">
              <a:spcBef>
                <a:spcPts val="100"/>
              </a:spcBef>
            </a:pPr>
            <a:r>
              <a:rPr sz="2200" dirty="0">
                <a:latin typeface="Calibri"/>
              </a:rPr>
              <a:t>Less information used </a:t>
            </a:r>
            <a:r>
              <a:rPr lang="en-US" sz="2200" dirty="0">
                <a:latin typeface="Calibri"/>
              </a:rPr>
              <a:t>-&gt;</a:t>
            </a:r>
            <a:r>
              <a:rPr sz="2200" dirty="0">
                <a:latin typeface="Calibri"/>
              </a:rPr>
              <a:t> more stable, more diversified weights out-of-sample</a:t>
            </a:r>
          </a:p>
        </p:txBody>
      </p:sp>
      <p:sp>
        <p:nvSpPr>
          <p:cNvPr id="6" name="Rectangle 5"/>
          <p:cNvSpPr/>
          <p:nvPr/>
        </p:nvSpPr>
        <p:spPr>
          <a:xfrm>
            <a:off x="420624" y="2734056"/>
            <a:ext cx="2836926" cy="457200"/>
          </a:xfrm>
          <a:prstGeom prst="rect">
            <a:avLst/>
          </a:prstGeom>
          <a:solidFill>
            <a:srgbClr val="445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93776" y="2770632"/>
            <a:ext cx="2690622" cy="384048"/>
          </a:xfrm>
          <a:prstGeom prst="rect">
            <a:avLst/>
          </a:prstGeom>
          <a:noFill/>
        </p:spPr>
        <p:txBody>
          <a:bodyPr wrap="square">
            <a:normAutofit/>
          </a:bodyPr>
          <a:lstStyle/>
          <a:p>
            <a:pPr algn="l"/>
            <a:r>
              <a:rPr sz="1800" b="1" i="0">
                <a:solidFill>
                  <a:srgbClr val="FFFFFF"/>
                </a:solidFill>
                <a:latin typeface="Calibri"/>
              </a:rPr>
              <a:t>Method</a:t>
            </a:r>
          </a:p>
        </p:txBody>
      </p:sp>
      <p:sp>
        <p:nvSpPr>
          <p:cNvPr id="8" name="Rectangle 7"/>
          <p:cNvSpPr/>
          <p:nvPr/>
        </p:nvSpPr>
        <p:spPr>
          <a:xfrm>
            <a:off x="3257550" y="2734056"/>
            <a:ext cx="2836926" cy="457200"/>
          </a:xfrm>
          <a:prstGeom prst="rect">
            <a:avLst/>
          </a:prstGeom>
          <a:solidFill>
            <a:srgbClr val="445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30702" y="2770632"/>
            <a:ext cx="2690622" cy="384048"/>
          </a:xfrm>
          <a:prstGeom prst="rect">
            <a:avLst/>
          </a:prstGeom>
          <a:noFill/>
        </p:spPr>
        <p:txBody>
          <a:bodyPr wrap="square">
            <a:normAutofit/>
          </a:bodyPr>
          <a:lstStyle/>
          <a:p>
            <a:pPr algn="l"/>
            <a:r>
              <a:rPr sz="1800" b="1" i="0">
                <a:solidFill>
                  <a:srgbClr val="FFFFFF"/>
                </a:solidFill>
                <a:latin typeface="Calibri"/>
              </a:rPr>
              <a:t>Inputs used</a:t>
            </a:r>
          </a:p>
        </p:txBody>
      </p:sp>
      <p:sp>
        <p:nvSpPr>
          <p:cNvPr id="10" name="Rectangle 9"/>
          <p:cNvSpPr/>
          <p:nvPr/>
        </p:nvSpPr>
        <p:spPr>
          <a:xfrm>
            <a:off x="6094476" y="2734056"/>
            <a:ext cx="2836926" cy="457200"/>
          </a:xfrm>
          <a:prstGeom prst="rect">
            <a:avLst/>
          </a:prstGeom>
          <a:solidFill>
            <a:srgbClr val="445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67628" y="2770632"/>
            <a:ext cx="2690622" cy="384048"/>
          </a:xfrm>
          <a:prstGeom prst="rect">
            <a:avLst/>
          </a:prstGeom>
          <a:noFill/>
        </p:spPr>
        <p:txBody>
          <a:bodyPr wrap="square">
            <a:normAutofit/>
          </a:bodyPr>
          <a:lstStyle/>
          <a:p>
            <a:pPr algn="l"/>
            <a:r>
              <a:rPr sz="1800" b="1" i="0">
                <a:solidFill>
                  <a:srgbClr val="FFFFFF"/>
                </a:solidFill>
                <a:latin typeface="Calibri"/>
              </a:rPr>
              <a:t>Core idea</a:t>
            </a:r>
          </a:p>
        </p:txBody>
      </p:sp>
      <p:sp>
        <p:nvSpPr>
          <p:cNvPr id="12" name="Rectangle 11"/>
          <p:cNvSpPr/>
          <p:nvPr/>
        </p:nvSpPr>
        <p:spPr>
          <a:xfrm>
            <a:off x="8931402" y="2734056"/>
            <a:ext cx="2836926" cy="457200"/>
          </a:xfrm>
          <a:prstGeom prst="rect">
            <a:avLst/>
          </a:prstGeom>
          <a:solidFill>
            <a:srgbClr val="445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004554" y="2770632"/>
            <a:ext cx="2690622" cy="384048"/>
          </a:xfrm>
          <a:prstGeom prst="rect">
            <a:avLst/>
          </a:prstGeom>
          <a:noFill/>
        </p:spPr>
        <p:txBody>
          <a:bodyPr wrap="square">
            <a:normAutofit/>
          </a:bodyPr>
          <a:lstStyle/>
          <a:p>
            <a:pPr algn="l"/>
            <a:r>
              <a:rPr sz="1800" b="1" i="0">
                <a:solidFill>
                  <a:srgbClr val="FFFFFF"/>
                </a:solidFill>
                <a:latin typeface="Calibri"/>
              </a:rPr>
              <a:t>Main weakness</a:t>
            </a:r>
          </a:p>
        </p:txBody>
      </p:sp>
      <p:sp>
        <p:nvSpPr>
          <p:cNvPr id="14" name="Rectangle 13"/>
          <p:cNvSpPr/>
          <p:nvPr/>
        </p:nvSpPr>
        <p:spPr>
          <a:xfrm>
            <a:off x="420624" y="3191256"/>
            <a:ext cx="2836926" cy="45720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3776" y="3227832"/>
            <a:ext cx="2690622" cy="384048"/>
          </a:xfrm>
          <a:prstGeom prst="rect">
            <a:avLst/>
          </a:prstGeom>
          <a:noFill/>
        </p:spPr>
        <p:txBody>
          <a:bodyPr wrap="square">
            <a:normAutofit/>
          </a:bodyPr>
          <a:lstStyle/>
          <a:p>
            <a:pPr algn="l"/>
            <a:r>
              <a:rPr sz="1600" b="0" i="0">
                <a:solidFill>
                  <a:srgbClr val="374151"/>
                </a:solidFill>
                <a:latin typeface="Calibri"/>
              </a:rPr>
              <a:t>Max Sharpe (Markowitz)</a:t>
            </a:r>
          </a:p>
        </p:txBody>
      </p:sp>
      <p:sp>
        <p:nvSpPr>
          <p:cNvPr id="16" name="Rectangle 15"/>
          <p:cNvSpPr/>
          <p:nvPr/>
        </p:nvSpPr>
        <p:spPr>
          <a:xfrm>
            <a:off x="3257550" y="3191256"/>
            <a:ext cx="2836926" cy="45720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30702" y="3227832"/>
            <a:ext cx="2690622" cy="384048"/>
          </a:xfrm>
          <a:prstGeom prst="rect">
            <a:avLst/>
          </a:prstGeom>
          <a:noFill/>
        </p:spPr>
        <p:txBody>
          <a:bodyPr wrap="square">
            <a:normAutofit/>
          </a:bodyPr>
          <a:lstStyle/>
          <a:p>
            <a:pPr algn="l"/>
            <a:r>
              <a:rPr sz="1600" b="0" i="0">
                <a:solidFill>
                  <a:srgbClr val="374151"/>
                </a:solidFill>
                <a:latin typeface="Calibri"/>
              </a:rPr>
              <a:t>μ and Σ</a:t>
            </a:r>
          </a:p>
        </p:txBody>
      </p:sp>
      <p:sp>
        <p:nvSpPr>
          <p:cNvPr id="18" name="Rectangle 17"/>
          <p:cNvSpPr/>
          <p:nvPr/>
        </p:nvSpPr>
        <p:spPr>
          <a:xfrm>
            <a:off x="6094476" y="3191256"/>
            <a:ext cx="2836926" cy="45720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67628" y="3227832"/>
            <a:ext cx="2690622" cy="384048"/>
          </a:xfrm>
          <a:prstGeom prst="rect">
            <a:avLst/>
          </a:prstGeom>
          <a:noFill/>
        </p:spPr>
        <p:txBody>
          <a:bodyPr wrap="square">
            <a:normAutofit/>
          </a:bodyPr>
          <a:lstStyle/>
          <a:p>
            <a:pPr algn="l"/>
            <a:r>
              <a:rPr sz="1600" b="0" i="0">
                <a:solidFill>
                  <a:srgbClr val="374151"/>
                </a:solidFill>
                <a:latin typeface="Calibri"/>
              </a:rPr>
              <a:t>Max return per unit risk</a:t>
            </a:r>
          </a:p>
        </p:txBody>
      </p:sp>
      <p:sp>
        <p:nvSpPr>
          <p:cNvPr id="20" name="Rectangle 19"/>
          <p:cNvSpPr/>
          <p:nvPr/>
        </p:nvSpPr>
        <p:spPr>
          <a:xfrm>
            <a:off x="8931402" y="3191256"/>
            <a:ext cx="2836926" cy="45720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04554" y="3227832"/>
            <a:ext cx="2690622" cy="384048"/>
          </a:xfrm>
          <a:prstGeom prst="rect">
            <a:avLst/>
          </a:prstGeom>
          <a:noFill/>
        </p:spPr>
        <p:txBody>
          <a:bodyPr wrap="square">
            <a:normAutofit/>
          </a:bodyPr>
          <a:lstStyle/>
          <a:p>
            <a:pPr algn="l"/>
            <a:r>
              <a:rPr sz="1600" b="0" i="0">
                <a:solidFill>
                  <a:srgbClr val="374151"/>
                </a:solidFill>
                <a:latin typeface="Calibri"/>
              </a:rPr>
              <a:t>Very sensitive to μ errors</a:t>
            </a:r>
          </a:p>
        </p:txBody>
      </p:sp>
      <p:sp>
        <p:nvSpPr>
          <p:cNvPr id="22" name="Rectangle 21"/>
          <p:cNvSpPr/>
          <p:nvPr/>
        </p:nvSpPr>
        <p:spPr>
          <a:xfrm>
            <a:off x="420624" y="3648456"/>
            <a:ext cx="2836926" cy="4572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93776" y="3685032"/>
            <a:ext cx="2690622" cy="384048"/>
          </a:xfrm>
          <a:prstGeom prst="rect">
            <a:avLst/>
          </a:prstGeom>
          <a:noFill/>
        </p:spPr>
        <p:txBody>
          <a:bodyPr wrap="square">
            <a:normAutofit/>
          </a:bodyPr>
          <a:lstStyle/>
          <a:p>
            <a:pPr algn="l"/>
            <a:r>
              <a:rPr sz="1600" b="0" i="0">
                <a:solidFill>
                  <a:srgbClr val="374151"/>
                </a:solidFill>
                <a:latin typeface="Calibri"/>
              </a:rPr>
              <a:t>Minimum Variance</a:t>
            </a:r>
          </a:p>
        </p:txBody>
      </p:sp>
      <p:sp>
        <p:nvSpPr>
          <p:cNvPr id="24" name="Rectangle 23"/>
          <p:cNvSpPr/>
          <p:nvPr/>
        </p:nvSpPr>
        <p:spPr>
          <a:xfrm>
            <a:off x="3257550" y="3648456"/>
            <a:ext cx="2836926" cy="4572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330702" y="3685032"/>
            <a:ext cx="2690622" cy="384048"/>
          </a:xfrm>
          <a:prstGeom prst="rect">
            <a:avLst/>
          </a:prstGeom>
          <a:noFill/>
        </p:spPr>
        <p:txBody>
          <a:bodyPr wrap="square">
            <a:normAutofit/>
          </a:bodyPr>
          <a:lstStyle/>
          <a:p>
            <a:pPr algn="l"/>
            <a:r>
              <a:rPr sz="1600" b="0" i="0">
                <a:solidFill>
                  <a:srgbClr val="374151"/>
                </a:solidFill>
                <a:latin typeface="Calibri"/>
              </a:rPr>
              <a:t>Σ only</a:t>
            </a:r>
          </a:p>
        </p:txBody>
      </p:sp>
      <p:sp>
        <p:nvSpPr>
          <p:cNvPr id="26" name="Rectangle 25"/>
          <p:cNvSpPr/>
          <p:nvPr/>
        </p:nvSpPr>
        <p:spPr>
          <a:xfrm>
            <a:off x="6094476" y="3648456"/>
            <a:ext cx="2836926" cy="4572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167628" y="3685032"/>
            <a:ext cx="2690622" cy="384048"/>
          </a:xfrm>
          <a:prstGeom prst="rect">
            <a:avLst/>
          </a:prstGeom>
          <a:noFill/>
        </p:spPr>
        <p:txBody>
          <a:bodyPr wrap="square">
            <a:normAutofit/>
          </a:bodyPr>
          <a:lstStyle/>
          <a:p>
            <a:pPr algn="l"/>
            <a:r>
              <a:rPr sz="1600" b="0" i="0">
                <a:solidFill>
                  <a:srgbClr val="374151"/>
                </a:solidFill>
                <a:latin typeface="Calibri"/>
              </a:rPr>
              <a:t>Lowest-risk portfolio</a:t>
            </a:r>
          </a:p>
        </p:txBody>
      </p:sp>
      <p:sp>
        <p:nvSpPr>
          <p:cNvPr id="28" name="Rectangle 27"/>
          <p:cNvSpPr/>
          <p:nvPr/>
        </p:nvSpPr>
        <p:spPr>
          <a:xfrm>
            <a:off x="8931402" y="3648456"/>
            <a:ext cx="2836926" cy="4572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004554" y="3685032"/>
            <a:ext cx="2690622" cy="384048"/>
          </a:xfrm>
          <a:prstGeom prst="rect">
            <a:avLst/>
          </a:prstGeom>
          <a:noFill/>
        </p:spPr>
        <p:txBody>
          <a:bodyPr wrap="square">
            <a:normAutofit/>
          </a:bodyPr>
          <a:lstStyle/>
          <a:p>
            <a:pPr algn="l"/>
            <a:r>
              <a:rPr sz="1600" b="0" i="0">
                <a:solidFill>
                  <a:srgbClr val="374151"/>
                </a:solidFill>
                <a:latin typeface="Calibri"/>
              </a:rPr>
              <a:t>Piles into low-vol assets</a:t>
            </a:r>
          </a:p>
        </p:txBody>
      </p:sp>
      <p:sp>
        <p:nvSpPr>
          <p:cNvPr id="30" name="Rectangle 29"/>
          <p:cNvSpPr/>
          <p:nvPr/>
        </p:nvSpPr>
        <p:spPr>
          <a:xfrm>
            <a:off x="420624" y="4105656"/>
            <a:ext cx="2836926" cy="45720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93776" y="4142232"/>
            <a:ext cx="2690622" cy="384048"/>
          </a:xfrm>
          <a:prstGeom prst="rect">
            <a:avLst/>
          </a:prstGeom>
          <a:noFill/>
        </p:spPr>
        <p:txBody>
          <a:bodyPr wrap="square">
            <a:normAutofit/>
          </a:bodyPr>
          <a:lstStyle/>
          <a:p>
            <a:pPr algn="l"/>
            <a:r>
              <a:rPr sz="1600" b="0" i="0">
                <a:solidFill>
                  <a:srgbClr val="374151"/>
                </a:solidFill>
                <a:latin typeface="Calibri"/>
              </a:rPr>
              <a:t>Inverse Volatility</a:t>
            </a:r>
          </a:p>
        </p:txBody>
      </p:sp>
      <p:sp>
        <p:nvSpPr>
          <p:cNvPr id="32" name="Rectangle 31"/>
          <p:cNvSpPr/>
          <p:nvPr/>
        </p:nvSpPr>
        <p:spPr>
          <a:xfrm>
            <a:off x="3257550" y="4105656"/>
            <a:ext cx="2836926" cy="45720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330702" y="4142232"/>
            <a:ext cx="2690622" cy="384048"/>
          </a:xfrm>
          <a:prstGeom prst="rect">
            <a:avLst/>
          </a:prstGeom>
          <a:noFill/>
        </p:spPr>
        <p:txBody>
          <a:bodyPr wrap="square">
            <a:normAutofit/>
          </a:bodyPr>
          <a:lstStyle/>
          <a:p>
            <a:pPr algn="l"/>
            <a:r>
              <a:rPr sz="1600" b="0" i="0">
                <a:solidFill>
                  <a:srgbClr val="374151"/>
                </a:solidFill>
                <a:latin typeface="Calibri"/>
              </a:rPr>
              <a:t>diag(Σ)</a:t>
            </a:r>
          </a:p>
        </p:txBody>
      </p:sp>
      <p:sp>
        <p:nvSpPr>
          <p:cNvPr id="34" name="Rectangle 33"/>
          <p:cNvSpPr/>
          <p:nvPr/>
        </p:nvSpPr>
        <p:spPr>
          <a:xfrm>
            <a:off x="6094476" y="4105656"/>
            <a:ext cx="2836926" cy="45720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167628" y="4142232"/>
            <a:ext cx="2690622" cy="384048"/>
          </a:xfrm>
          <a:prstGeom prst="rect">
            <a:avLst/>
          </a:prstGeom>
          <a:noFill/>
        </p:spPr>
        <p:txBody>
          <a:bodyPr wrap="square">
            <a:normAutofit/>
          </a:bodyPr>
          <a:lstStyle/>
          <a:p>
            <a:pPr algn="l"/>
            <a:r>
              <a:rPr sz="1600" b="0" i="0">
                <a:solidFill>
                  <a:srgbClr val="374151"/>
                </a:solidFill>
                <a:latin typeface="Calibri"/>
              </a:rPr>
              <a:t>wᵢ ∝ 1/σᵢ</a:t>
            </a:r>
          </a:p>
        </p:txBody>
      </p:sp>
      <p:sp>
        <p:nvSpPr>
          <p:cNvPr id="36" name="Rectangle 35"/>
          <p:cNvSpPr/>
          <p:nvPr/>
        </p:nvSpPr>
        <p:spPr>
          <a:xfrm>
            <a:off x="8931402" y="4105656"/>
            <a:ext cx="2836926" cy="45720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004554" y="4142232"/>
            <a:ext cx="2690622" cy="384048"/>
          </a:xfrm>
          <a:prstGeom prst="rect">
            <a:avLst/>
          </a:prstGeom>
          <a:noFill/>
        </p:spPr>
        <p:txBody>
          <a:bodyPr wrap="square">
            <a:normAutofit/>
          </a:bodyPr>
          <a:lstStyle/>
          <a:p>
            <a:pPr algn="l"/>
            <a:r>
              <a:rPr sz="1600" b="0" i="0">
                <a:solidFill>
                  <a:srgbClr val="374151"/>
                </a:solidFill>
                <a:latin typeface="Calibri"/>
              </a:rPr>
              <a:t>Ignores correlation risk</a:t>
            </a:r>
          </a:p>
        </p:txBody>
      </p:sp>
      <p:sp>
        <p:nvSpPr>
          <p:cNvPr id="38" name="Rectangle 37"/>
          <p:cNvSpPr/>
          <p:nvPr/>
        </p:nvSpPr>
        <p:spPr>
          <a:xfrm>
            <a:off x="420624" y="4562856"/>
            <a:ext cx="2836926" cy="4572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93776" y="4599432"/>
            <a:ext cx="2690622" cy="384048"/>
          </a:xfrm>
          <a:prstGeom prst="rect">
            <a:avLst/>
          </a:prstGeom>
          <a:noFill/>
        </p:spPr>
        <p:txBody>
          <a:bodyPr wrap="square">
            <a:normAutofit/>
          </a:bodyPr>
          <a:lstStyle/>
          <a:p>
            <a:pPr algn="l"/>
            <a:r>
              <a:rPr sz="1600" b="0" i="0">
                <a:solidFill>
                  <a:srgbClr val="374151"/>
                </a:solidFill>
                <a:latin typeface="Calibri"/>
              </a:rPr>
              <a:t>Equal Risk Contribution</a:t>
            </a:r>
          </a:p>
        </p:txBody>
      </p:sp>
      <p:sp>
        <p:nvSpPr>
          <p:cNvPr id="40" name="Rectangle 39"/>
          <p:cNvSpPr/>
          <p:nvPr/>
        </p:nvSpPr>
        <p:spPr>
          <a:xfrm>
            <a:off x="3257550" y="4562856"/>
            <a:ext cx="2836926" cy="4572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330702" y="4599432"/>
            <a:ext cx="2690622" cy="384048"/>
          </a:xfrm>
          <a:prstGeom prst="rect">
            <a:avLst/>
          </a:prstGeom>
          <a:noFill/>
        </p:spPr>
        <p:txBody>
          <a:bodyPr wrap="square">
            <a:normAutofit/>
          </a:bodyPr>
          <a:lstStyle/>
          <a:p>
            <a:pPr algn="l"/>
            <a:r>
              <a:rPr sz="1600" b="0" i="0">
                <a:solidFill>
                  <a:srgbClr val="374151"/>
                </a:solidFill>
                <a:latin typeface="Calibri"/>
              </a:rPr>
              <a:t>Σ (full)</a:t>
            </a:r>
          </a:p>
        </p:txBody>
      </p:sp>
      <p:sp>
        <p:nvSpPr>
          <p:cNvPr id="42" name="Rectangle 41"/>
          <p:cNvSpPr/>
          <p:nvPr/>
        </p:nvSpPr>
        <p:spPr>
          <a:xfrm>
            <a:off x="6094476" y="4562856"/>
            <a:ext cx="2836926" cy="4572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167628" y="4599432"/>
            <a:ext cx="2690622" cy="384048"/>
          </a:xfrm>
          <a:prstGeom prst="rect">
            <a:avLst/>
          </a:prstGeom>
          <a:noFill/>
        </p:spPr>
        <p:txBody>
          <a:bodyPr wrap="square">
            <a:normAutofit/>
          </a:bodyPr>
          <a:lstStyle/>
          <a:p>
            <a:pPr algn="l"/>
            <a:r>
              <a:rPr sz="1600" b="0" i="0">
                <a:solidFill>
                  <a:srgbClr val="374151"/>
                </a:solidFill>
                <a:latin typeface="Calibri"/>
              </a:rPr>
              <a:t>Equal risk per asset</a:t>
            </a:r>
          </a:p>
        </p:txBody>
      </p:sp>
      <p:sp>
        <p:nvSpPr>
          <p:cNvPr id="44" name="Rectangle 43"/>
          <p:cNvSpPr/>
          <p:nvPr/>
        </p:nvSpPr>
        <p:spPr>
          <a:xfrm>
            <a:off x="8931402" y="4562856"/>
            <a:ext cx="2836926" cy="4572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004554" y="4599432"/>
            <a:ext cx="2690622" cy="384048"/>
          </a:xfrm>
          <a:prstGeom prst="rect">
            <a:avLst/>
          </a:prstGeom>
          <a:noFill/>
        </p:spPr>
        <p:txBody>
          <a:bodyPr wrap="square">
            <a:normAutofit/>
          </a:bodyPr>
          <a:lstStyle/>
          <a:p>
            <a:pPr algn="l"/>
            <a:r>
              <a:rPr sz="1600" b="0" i="0">
                <a:solidFill>
                  <a:srgbClr val="374151"/>
                </a:solidFill>
                <a:latin typeface="Calibri"/>
              </a:rPr>
              <a:t>Needs a numerical solver</a:t>
            </a:r>
          </a:p>
        </p:txBody>
      </p:sp>
      <p:sp>
        <p:nvSpPr>
          <p:cNvPr id="46" name="Rectangle 45"/>
          <p:cNvSpPr/>
          <p:nvPr/>
        </p:nvSpPr>
        <p:spPr>
          <a:xfrm>
            <a:off x="420624" y="5020056"/>
            <a:ext cx="2836926" cy="45720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93776" y="5056632"/>
            <a:ext cx="2690622" cy="384048"/>
          </a:xfrm>
          <a:prstGeom prst="rect">
            <a:avLst/>
          </a:prstGeom>
          <a:noFill/>
        </p:spPr>
        <p:txBody>
          <a:bodyPr wrap="square">
            <a:normAutofit/>
          </a:bodyPr>
          <a:lstStyle/>
          <a:p>
            <a:pPr algn="l"/>
            <a:r>
              <a:rPr sz="1600" b="0" i="0">
                <a:solidFill>
                  <a:srgbClr val="374151"/>
                </a:solidFill>
                <a:latin typeface="Calibri"/>
              </a:rPr>
              <a:t>Hierarchical Risk Parity</a:t>
            </a:r>
          </a:p>
        </p:txBody>
      </p:sp>
      <p:sp>
        <p:nvSpPr>
          <p:cNvPr id="48" name="Rectangle 47"/>
          <p:cNvSpPr/>
          <p:nvPr/>
        </p:nvSpPr>
        <p:spPr>
          <a:xfrm>
            <a:off x="3257550" y="5020056"/>
            <a:ext cx="2836926" cy="45720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330702" y="5056632"/>
            <a:ext cx="2690622" cy="384048"/>
          </a:xfrm>
          <a:prstGeom prst="rect">
            <a:avLst/>
          </a:prstGeom>
          <a:noFill/>
        </p:spPr>
        <p:txBody>
          <a:bodyPr wrap="square">
            <a:normAutofit/>
          </a:bodyPr>
          <a:lstStyle/>
          <a:p>
            <a:pPr algn="l"/>
            <a:r>
              <a:rPr sz="1600" b="0" i="0">
                <a:solidFill>
                  <a:srgbClr val="374151"/>
                </a:solidFill>
                <a:latin typeface="Calibri"/>
              </a:rPr>
              <a:t>Σ via clustering</a:t>
            </a:r>
          </a:p>
        </p:txBody>
      </p:sp>
      <p:sp>
        <p:nvSpPr>
          <p:cNvPr id="50" name="Rectangle 49"/>
          <p:cNvSpPr/>
          <p:nvPr/>
        </p:nvSpPr>
        <p:spPr>
          <a:xfrm>
            <a:off x="6094476" y="5020056"/>
            <a:ext cx="2836926" cy="45720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167628" y="5056632"/>
            <a:ext cx="2690622" cy="384048"/>
          </a:xfrm>
          <a:prstGeom prst="rect">
            <a:avLst/>
          </a:prstGeom>
          <a:noFill/>
        </p:spPr>
        <p:txBody>
          <a:bodyPr wrap="square">
            <a:normAutofit/>
          </a:bodyPr>
          <a:lstStyle/>
          <a:p>
            <a:pPr algn="l"/>
            <a:r>
              <a:rPr sz="1600" b="0" i="0">
                <a:solidFill>
                  <a:srgbClr val="374151"/>
                </a:solidFill>
                <a:latin typeface="Calibri"/>
              </a:rPr>
              <a:t>Cluster, then split risk</a:t>
            </a:r>
          </a:p>
        </p:txBody>
      </p:sp>
      <p:sp>
        <p:nvSpPr>
          <p:cNvPr id="52" name="Rectangle 51"/>
          <p:cNvSpPr/>
          <p:nvPr/>
        </p:nvSpPr>
        <p:spPr>
          <a:xfrm>
            <a:off x="8931402" y="5020056"/>
            <a:ext cx="2836926" cy="45720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004554" y="5056632"/>
            <a:ext cx="2690622" cy="384048"/>
          </a:xfrm>
          <a:prstGeom prst="rect">
            <a:avLst/>
          </a:prstGeom>
          <a:noFill/>
        </p:spPr>
        <p:txBody>
          <a:bodyPr wrap="square">
            <a:normAutofit/>
          </a:bodyPr>
          <a:lstStyle/>
          <a:p>
            <a:pPr algn="l"/>
            <a:r>
              <a:rPr sz="1600" b="0" i="0" dirty="0">
                <a:solidFill>
                  <a:srgbClr val="374151"/>
                </a:solidFill>
                <a:latin typeface="Calibri"/>
              </a:rPr>
              <a:t>No expected-return signal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b="1" dirty="0">
                <a:latin typeface="Arial" panose="020B0604020202020204" pitchFamily="34" charset="0"/>
                <a:cs typeface="Arial" panose="020B0604020202020204" pitchFamily="34" charset="0"/>
              </a:rPr>
              <a:t>Comparing Portfolio Construction Strategies</a:t>
            </a:r>
          </a:p>
        </p:txBody>
      </p:sp>
      <p:sp>
        <p:nvSpPr>
          <p:cNvPr id="4" name="Rectangle 3"/>
          <p:cNvSpPr/>
          <p:nvPr/>
        </p:nvSpPr>
        <p:spPr>
          <a:xfrm>
            <a:off x="420624" y="1380744"/>
            <a:ext cx="2269540" cy="625710"/>
          </a:xfrm>
          <a:prstGeom prst="rect">
            <a:avLst/>
          </a:prstGeom>
          <a:solidFill>
            <a:srgbClr val="445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 y="1417320"/>
            <a:ext cx="2123236" cy="552558"/>
          </a:xfrm>
          <a:prstGeom prst="rect">
            <a:avLst/>
          </a:prstGeom>
          <a:noFill/>
        </p:spPr>
        <p:txBody>
          <a:bodyPr wrap="square">
            <a:normAutofit/>
          </a:bodyPr>
          <a:lstStyle/>
          <a:p>
            <a:pPr algn="l"/>
            <a:r>
              <a:rPr sz="1800" b="1" i="0">
                <a:solidFill>
                  <a:srgbClr val="FFFFFF"/>
                </a:solidFill>
                <a:latin typeface="Calibri"/>
              </a:rPr>
              <a:t>Strategy</a:t>
            </a:r>
          </a:p>
        </p:txBody>
      </p:sp>
      <p:sp>
        <p:nvSpPr>
          <p:cNvPr id="6" name="Rectangle 5"/>
          <p:cNvSpPr/>
          <p:nvPr/>
        </p:nvSpPr>
        <p:spPr>
          <a:xfrm>
            <a:off x="2690164" y="1380744"/>
            <a:ext cx="2269540" cy="625710"/>
          </a:xfrm>
          <a:prstGeom prst="rect">
            <a:avLst/>
          </a:prstGeom>
          <a:solidFill>
            <a:srgbClr val="445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63316" y="1417320"/>
            <a:ext cx="2123236" cy="552558"/>
          </a:xfrm>
          <a:prstGeom prst="rect">
            <a:avLst/>
          </a:prstGeom>
          <a:noFill/>
        </p:spPr>
        <p:txBody>
          <a:bodyPr wrap="square">
            <a:normAutofit/>
          </a:bodyPr>
          <a:lstStyle/>
          <a:p>
            <a:pPr algn="l"/>
            <a:r>
              <a:rPr sz="1800" b="1" i="0">
                <a:solidFill>
                  <a:srgbClr val="FFFFFF"/>
                </a:solidFill>
                <a:latin typeface="Calibri"/>
              </a:rPr>
              <a:t>Optimises For</a:t>
            </a:r>
          </a:p>
        </p:txBody>
      </p:sp>
      <p:sp>
        <p:nvSpPr>
          <p:cNvPr id="8" name="Rectangle 7"/>
          <p:cNvSpPr/>
          <p:nvPr/>
        </p:nvSpPr>
        <p:spPr>
          <a:xfrm>
            <a:off x="4959705" y="1380744"/>
            <a:ext cx="2269540" cy="625710"/>
          </a:xfrm>
          <a:prstGeom prst="rect">
            <a:avLst/>
          </a:prstGeom>
          <a:solidFill>
            <a:srgbClr val="445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32857" y="1417320"/>
            <a:ext cx="2123236" cy="552558"/>
          </a:xfrm>
          <a:prstGeom prst="rect">
            <a:avLst/>
          </a:prstGeom>
          <a:noFill/>
        </p:spPr>
        <p:txBody>
          <a:bodyPr wrap="square">
            <a:normAutofit/>
          </a:bodyPr>
          <a:lstStyle/>
          <a:p>
            <a:pPr algn="l"/>
            <a:r>
              <a:rPr sz="1800" b="1" i="0">
                <a:solidFill>
                  <a:srgbClr val="FFFFFF"/>
                </a:solidFill>
                <a:latin typeface="Calibri"/>
              </a:rPr>
              <a:t>Key Input</a:t>
            </a:r>
          </a:p>
        </p:txBody>
      </p:sp>
      <p:sp>
        <p:nvSpPr>
          <p:cNvPr id="10" name="Rectangle 9"/>
          <p:cNvSpPr/>
          <p:nvPr/>
        </p:nvSpPr>
        <p:spPr>
          <a:xfrm>
            <a:off x="7229246" y="1380744"/>
            <a:ext cx="2269540" cy="625710"/>
          </a:xfrm>
          <a:prstGeom prst="rect">
            <a:avLst/>
          </a:prstGeom>
          <a:solidFill>
            <a:srgbClr val="445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02398" y="1417320"/>
            <a:ext cx="2123236" cy="552558"/>
          </a:xfrm>
          <a:prstGeom prst="rect">
            <a:avLst/>
          </a:prstGeom>
          <a:noFill/>
        </p:spPr>
        <p:txBody>
          <a:bodyPr wrap="square">
            <a:normAutofit/>
          </a:bodyPr>
          <a:lstStyle/>
          <a:p>
            <a:pPr algn="l"/>
            <a:r>
              <a:rPr sz="1800" b="1" i="0">
                <a:solidFill>
                  <a:srgbClr val="FFFFFF"/>
                </a:solidFill>
                <a:latin typeface="Calibri"/>
              </a:rPr>
              <a:t>Strength</a:t>
            </a:r>
          </a:p>
        </p:txBody>
      </p:sp>
      <p:sp>
        <p:nvSpPr>
          <p:cNvPr id="12" name="Rectangle 11"/>
          <p:cNvSpPr/>
          <p:nvPr/>
        </p:nvSpPr>
        <p:spPr>
          <a:xfrm>
            <a:off x="9498787" y="1380744"/>
            <a:ext cx="2269540" cy="625710"/>
          </a:xfrm>
          <a:prstGeom prst="rect">
            <a:avLst/>
          </a:prstGeom>
          <a:solidFill>
            <a:srgbClr val="445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571939" y="1417320"/>
            <a:ext cx="2123236" cy="552558"/>
          </a:xfrm>
          <a:prstGeom prst="rect">
            <a:avLst/>
          </a:prstGeom>
          <a:noFill/>
        </p:spPr>
        <p:txBody>
          <a:bodyPr wrap="square">
            <a:normAutofit/>
          </a:bodyPr>
          <a:lstStyle/>
          <a:p>
            <a:pPr algn="l"/>
            <a:r>
              <a:rPr sz="1800" b="1" i="0">
                <a:solidFill>
                  <a:srgbClr val="FFFFFF"/>
                </a:solidFill>
                <a:latin typeface="Calibri"/>
              </a:rPr>
              <a:t>Weakness</a:t>
            </a:r>
          </a:p>
        </p:txBody>
      </p:sp>
      <p:sp>
        <p:nvSpPr>
          <p:cNvPr id="14" name="Rectangle 13"/>
          <p:cNvSpPr/>
          <p:nvPr/>
        </p:nvSpPr>
        <p:spPr>
          <a:xfrm>
            <a:off x="420624" y="2006454"/>
            <a:ext cx="2269540" cy="62571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3776" y="2043030"/>
            <a:ext cx="2123236" cy="552558"/>
          </a:xfrm>
          <a:prstGeom prst="rect">
            <a:avLst/>
          </a:prstGeom>
          <a:noFill/>
        </p:spPr>
        <p:txBody>
          <a:bodyPr wrap="square">
            <a:normAutofit/>
          </a:bodyPr>
          <a:lstStyle/>
          <a:p>
            <a:pPr algn="l"/>
            <a:r>
              <a:rPr sz="1600" b="0" i="0">
                <a:solidFill>
                  <a:srgbClr val="374151"/>
                </a:solidFill>
                <a:latin typeface="Calibri"/>
              </a:rPr>
              <a:t>Equal Weight</a:t>
            </a:r>
          </a:p>
        </p:txBody>
      </p:sp>
      <p:sp>
        <p:nvSpPr>
          <p:cNvPr id="16" name="Rectangle 15"/>
          <p:cNvSpPr/>
          <p:nvPr/>
        </p:nvSpPr>
        <p:spPr>
          <a:xfrm>
            <a:off x="2690164" y="2006454"/>
            <a:ext cx="2269540" cy="62571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3316" y="2043030"/>
            <a:ext cx="2123236" cy="552558"/>
          </a:xfrm>
          <a:prstGeom prst="rect">
            <a:avLst/>
          </a:prstGeom>
          <a:noFill/>
        </p:spPr>
        <p:txBody>
          <a:bodyPr wrap="square">
            <a:normAutofit/>
          </a:bodyPr>
          <a:lstStyle/>
          <a:p>
            <a:pPr algn="l"/>
            <a:r>
              <a:rPr sz="1600" b="0" i="0">
                <a:solidFill>
                  <a:srgbClr val="374151"/>
                </a:solidFill>
                <a:latin typeface="Calibri"/>
              </a:rPr>
              <a:t>Nothing (1/N heuristic)</a:t>
            </a:r>
          </a:p>
        </p:txBody>
      </p:sp>
      <p:sp>
        <p:nvSpPr>
          <p:cNvPr id="18" name="Rectangle 17"/>
          <p:cNvSpPr/>
          <p:nvPr/>
        </p:nvSpPr>
        <p:spPr>
          <a:xfrm>
            <a:off x="4959705" y="2006454"/>
            <a:ext cx="2269540" cy="62571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32857" y="2043030"/>
            <a:ext cx="2123236" cy="552558"/>
          </a:xfrm>
          <a:prstGeom prst="rect">
            <a:avLst/>
          </a:prstGeom>
          <a:noFill/>
        </p:spPr>
        <p:txBody>
          <a:bodyPr wrap="square">
            <a:normAutofit/>
          </a:bodyPr>
          <a:lstStyle/>
          <a:p>
            <a:pPr algn="l"/>
            <a:r>
              <a:rPr sz="1600" b="0" i="0">
                <a:solidFill>
                  <a:srgbClr val="374151"/>
                </a:solidFill>
                <a:latin typeface="Calibri"/>
              </a:rPr>
              <a:t>None</a:t>
            </a:r>
          </a:p>
        </p:txBody>
      </p:sp>
      <p:sp>
        <p:nvSpPr>
          <p:cNvPr id="20" name="Rectangle 19"/>
          <p:cNvSpPr/>
          <p:nvPr/>
        </p:nvSpPr>
        <p:spPr>
          <a:xfrm>
            <a:off x="7229246" y="2006454"/>
            <a:ext cx="2269540" cy="62571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02398" y="2043030"/>
            <a:ext cx="2123236" cy="552558"/>
          </a:xfrm>
          <a:prstGeom prst="rect">
            <a:avLst/>
          </a:prstGeom>
          <a:noFill/>
        </p:spPr>
        <p:txBody>
          <a:bodyPr wrap="square">
            <a:normAutofit lnSpcReduction="10000"/>
          </a:bodyPr>
          <a:lstStyle/>
          <a:p>
            <a:pPr algn="l"/>
            <a:r>
              <a:rPr sz="1600" b="0" i="0">
                <a:solidFill>
                  <a:srgbClr val="374151"/>
                </a:solidFill>
                <a:latin typeface="Calibri"/>
              </a:rPr>
              <a:t>No estimation risk; hard to beat</a:t>
            </a:r>
          </a:p>
        </p:txBody>
      </p:sp>
      <p:sp>
        <p:nvSpPr>
          <p:cNvPr id="22" name="Rectangle 21"/>
          <p:cNvSpPr/>
          <p:nvPr/>
        </p:nvSpPr>
        <p:spPr>
          <a:xfrm>
            <a:off x="9498787" y="2006454"/>
            <a:ext cx="2269540" cy="62571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71939" y="2043030"/>
            <a:ext cx="2123236" cy="552558"/>
          </a:xfrm>
          <a:prstGeom prst="rect">
            <a:avLst/>
          </a:prstGeom>
          <a:noFill/>
        </p:spPr>
        <p:txBody>
          <a:bodyPr wrap="square">
            <a:normAutofit lnSpcReduction="10000"/>
          </a:bodyPr>
          <a:lstStyle/>
          <a:p>
            <a:pPr algn="l"/>
            <a:r>
              <a:rPr sz="1600" b="0" i="0">
                <a:solidFill>
                  <a:srgbClr val="374151"/>
                </a:solidFill>
                <a:latin typeface="Calibri"/>
              </a:rPr>
              <a:t>Ignores all risk/return data</a:t>
            </a:r>
          </a:p>
        </p:txBody>
      </p:sp>
      <p:sp>
        <p:nvSpPr>
          <p:cNvPr id="24" name="Rectangle 23"/>
          <p:cNvSpPr/>
          <p:nvPr/>
        </p:nvSpPr>
        <p:spPr>
          <a:xfrm>
            <a:off x="420624" y="2632165"/>
            <a:ext cx="2269540" cy="62571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93776" y="2668741"/>
            <a:ext cx="2123236" cy="552558"/>
          </a:xfrm>
          <a:prstGeom prst="rect">
            <a:avLst/>
          </a:prstGeom>
          <a:noFill/>
        </p:spPr>
        <p:txBody>
          <a:bodyPr wrap="square">
            <a:normAutofit/>
          </a:bodyPr>
          <a:lstStyle/>
          <a:p>
            <a:pPr algn="l"/>
            <a:r>
              <a:rPr sz="1600" b="0" i="0">
                <a:solidFill>
                  <a:srgbClr val="374151"/>
                </a:solidFill>
                <a:latin typeface="Calibri"/>
              </a:rPr>
              <a:t>Min Variance</a:t>
            </a:r>
          </a:p>
        </p:txBody>
      </p:sp>
      <p:sp>
        <p:nvSpPr>
          <p:cNvPr id="26" name="Rectangle 25"/>
          <p:cNvSpPr/>
          <p:nvPr/>
        </p:nvSpPr>
        <p:spPr>
          <a:xfrm>
            <a:off x="2690164" y="2632165"/>
            <a:ext cx="2269540" cy="62571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763316" y="2668741"/>
            <a:ext cx="2123236" cy="552558"/>
          </a:xfrm>
          <a:prstGeom prst="rect">
            <a:avLst/>
          </a:prstGeom>
          <a:noFill/>
        </p:spPr>
        <p:txBody>
          <a:bodyPr wrap="square">
            <a:normAutofit/>
          </a:bodyPr>
          <a:lstStyle/>
          <a:p>
            <a:pPr algn="l"/>
            <a:r>
              <a:rPr sz="1600" b="0" i="0">
                <a:solidFill>
                  <a:srgbClr val="374151"/>
                </a:solidFill>
                <a:latin typeface="Calibri"/>
              </a:rPr>
              <a:t>Lowest portfolio σ</a:t>
            </a:r>
          </a:p>
        </p:txBody>
      </p:sp>
      <p:sp>
        <p:nvSpPr>
          <p:cNvPr id="28" name="Rectangle 27"/>
          <p:cNvSpPr/>
          <p:nvPr/>
        </p:nvSpPr>
        <p:spPr>
          <a:xfrm>
            <a:off x="4959705" y="2632165"/>
            <a:ext cx="2269540" cy="62571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32857" y="2668741"/>
            <a:ext cx="2123236" cy="552558"/>
          </a:xfrm>
          <a:prstGeom prst="rect">
            <a:avLst/>
          </a:prstGeom>
          <a:noFill/>
        </p:spPr>
        <p:txBody>
          <a:bodyPr wrap="square">
            <a:normAutofit/>
          </a:bodyPr>
          <a:lstStyle/>
          <a:p>
            <a:pPr algn="l"/>
            <a:r>
              <a:rPr sz="1600" b="0" i="0">
                <a:solidFill>
                  <a:srgbClr val="374151"/>
                </a:solidFill>
                <a:latin typeface="Calibri"/>
              </a:rPr>
              <a:t>Σ only</a:t>
            </a:r>
          </a:p>
        </p:txBody>
      </p:sp>
      <p:sp>
        <p:nvSpPr>
          <p:cNvPr id="30" name="Rectangle 29"/>
          <p:cNvSpPr/>
          <p:nvPr/>
        </p:nvSpPr>
        <p:spPr>
          <a:xfrm>
            <a:off x="7229246" y="2632165"/>
            <a:ext cx="2269540" cy="62571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302398" y="2668741"/>
            <a:ext cx="2123236" cy="552558"/>
          </a:xfrm>
          <a:prstGeom prst="rect">
            <a:avLst/>
          </a:prstGeom>
          <a:noFill/>
        </p:spPr>
        <p:txBody>
          <a:bodyPr wrap="square">
            <a:normAutofit/>
          </a:bodyPr>
          <a:lstStyle/>
          <a:p>
            <a:pPr algn="l"/>
            <a:r>
              <a:rPr sz="1600" b="0" i="0">
                <a:solidFill>
                  <a:srgbClr val="374151"/>
                </a:solidFill>
                <a:latin typeface="Calibri"/>
              </a:rPr>
              <a:t>Robust; stable weights</a:t>
            </a:r>
          </a:p>
        </p:txBody>
      </p:sp>
      <p:sp>
        <p:nvSpPr>
          <p:cNvPr id="32" name="Rectangle 31"/>
          <p:cNvSpPr/>
          <p:nvPr/>
        </p:nvSpPr>
        <p:spPr>
          <a:xfrm>
            <a:off x="9498787" y="2632165"/>
            <a:ext cx="2269540" cy="62571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571939" y="2668741"/>
            <a:ext cx="2123236" cy="552558"/>
          </a:xfrm>
          <a:prstGeom prst="rect">
            <a:avLst/>
          </a:prstGeom>
          <a:noFill/>
        </p:spPr>
        <p:txBody>
          <a:bodyPr wrap="square">
            <a:normAutofit lnSpcReduction="10000"/>
          </a:bodyPr>
          <a:lstStyle/>
          <a:p>
            <a:pPr algn="l"/>
            <a:r>
              <a:rPr sz="1600" b="0" i="0">
                <a:solidFill>
                  <a:srgbClr val="374151"/>
                </a:solidFill>
                <a:latin typeface="Calibri"/>
              </a:rPr>
              <a:t>May sacrifice significant return</a:t>
            </a:r>
          </a:p>
        </p:txBody>
      </p:sp>
      <p:sp>
        <p:nvSpPr>
          <p:cNvPr id="34" name="Rectangle 33"/>
          <p:cNvSpPr/>
          <p:nvPr/>
        </p:nvSpPr>
        <p:spPr>
          <a:xfrm>
            <a:off x="420624" y="3257876"/>
            <a:ext cx="2269540" cy="62571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93776" y="3294452"/>
            <a:ext cx="2123236" cy="552558"/>
          </a:xfrm>
          <a:prstGeom prst="rect">
            <a:avLst/>
          </a:prstGeom>
          <a:noFill/>
        </p:spPr>
        <p:txBody>
          <a:bodyPr wrap="square">
            <a:normAutofit/>
          </a:bodyPr>
          <a:lstStyle/>
          <a:p>
            <a:pPr algn="l"/>
            <a:r>
              <a:rPr sz="1600" b="0" i="0">
                <a:solidFill>
                  <a:srgbClr val="374151"/>
                </a:solidFill>
                <a:latin typeface="Calibri"/>
              </a:rPr>
              <a:t>Max Sharpe</a:t>
            </a:r>
          </a:p>
        </p:txBody>
      </p:sp>
      <p:sp>
        <p:nvSpPr>
          <p:cNvPr id="36" name="Rectangle 35"/>
          <p:cNvSpPr/>
          <p:nvPr/>
        </p:nvSpPr>
        <p:spPr>
          <a:xfrm>
            <a:off x="2690164" y="3257876"/>
            <a:ext cx="2269540" cy="62571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63316" y="3294452"/>
            <a:ext cx="2123236" cy="552558"/>
          </a:xfrm>
          <a:prstGeom prst="rect">
            <a:avLst/>
          </a:prstGeom>
          <a:noFill/>
        </p:spPr>
        <p:txBody>
          <a:bodyPr wrap="square">
            <a:normAutofit/>
          </a:bodyPr>
          <a:lstStyle/>
          <a:p>
            <a:pPr algn="l"/>
            <a:r>
              <a:rPr sz="1600" b="0" i="0">
                <a:solidFill>
                  <a:srgbClr val="374151"/>
                </a:solidFill>
                <a:latin typeface="Calibri"/>
              </a:rPr>
              <a:t>Highest Sharpe ratio</a:t>
            </a:r>
          </a:p>
        </p:txBody>
      </p:sp>
      <p:sp>
        <p:nvSpPr>
          <p:cNvPr id="38" name="Rectangle 37"/>
          <p:cNvSpPr/>
          <p:nvPr/>
        </p:nvSpPr>
        <p:spPr>
          <a:xfrm>
            <a:off x="4959705" y="3257876"/>
            <a:ext cx="2269540" cy="62571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032857" y="3294452"/>
            <a:ext cx="2123236" cy="552558"/>
          </a:xfrm>
          <a:prstGeom prst="rect">
            <a:avLst/>
          </a:prstGeom>
          <a:noFill/>
        </p:spPr>
        <p:txBody>
          <a:bodyPr wrap="square">
            <a:normAutofit/>
          </a:bodyPr>
          <a:lstStyle/>
          <a:p>
            <a:pPr algn="l"/>
            <a:r>
              <a:rPr sz="1600" b="0" i="0">
                <a:solidFill>
                  <a:srgbClr val="374151"/>
                </a:solidFill>
                <a:latin typeface="Calibri"/>
              </a:rPr>
              <a:t>μ + Σ</a:t>
            </a:r>
          </a:p>
        </p:txBody>
      </p:sp>
      <p:sp>
        <p:nvSpPr>
          <p:cNvPr id="40" name="Rectangle 39"/>
          <p:cNvSpPr/>
          <p:nvPr/>
        </p:nvSpPr>
        <p:spPr>
          <a:xfrm>
            <a:off x="7229246" y="3257876"/>
            <a:ext cx="2269540" cy="62571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302398" y="3294452"/>
            <a:ext cx="2123236" cy="552558"/>
          </a:xfrm>
          <a:prstGeom prst="rect">
            <a:avLst/>
          </a:prstGeom>
          <a:noFill/>
        </p:spPr>
        <p:txBody>
          <a:bodyPr wrap="square">
            <a:normAutofit lnSpcReduction="10000"/>
          </a:bodyPr>
          <a:lstStyle/>
          <a:p>
            <a:pPr algn="l"/>
            <a:r>
              <a:rPr sz="1600" b="0" i="0">
                <a:solidFill>
                  <a:srgbClr val="374151"/>
                </a:solidFill>
                <a:latin typeface="Calibri"/>
              </a:rPr>
              <a:t>Theoretically optimal under CAPM</a:t>
            </a:r>
          </a:p>
        </p:txBody>
      </p:sp>
      <p:sp>
        <p:nvSpPr>
          <p:cNvPr id="42" name="Rectangle 41"/>
          <p:cNvSpPr/>
          <p:nvPr/>
        </p:nvSpPr>
        <p:spPr>
          <a:xfrm>
            <a:off x="9498787" y="3257876"/>
            <a:ext cx="2269540" cy="62571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571939" y="3294452"/>
            <a:ext cx="2123236" cy="552558"/>
          </a:xfrm>
          <a:prstGeom prst="rect">
            <a:avLst/>
          </a:prstGeom>
          <a:noFill/>
        </p:spPr>
        <p:txBody>
          <a:bodyPr wrap="square">
            <a:normAutofit lnSpcReduction="10000"/>
          </a:bodyPr>
          <a:lstStyle/>
          <a:p>
            <a:pPr algn="l"/>
            <a:r>
              <a:rPr sz="1600" b="0" i="0">
                <a:solidFill>
                  <a:srgbClr val="374151"/>
                </a:solidFill>
                <a:latin typeface="Calibri"/>
              </a:rPr>
              <a:t>Extremely sensitive to μ errors</a:t>
            </a:r>
          </a:p>
        </p:txBody>
      </p:sp>
      <p:sp>
        <p:nvSpPr>
          <p:cNvPr id="44" name="Rectangle 43"/>
          <p:cNvSpPr/>
          <p:nvPr/>
        </p:nvSpPr>
        <p:spPr>
          <a:xfrm>
            <a:off x="420624" y="3883587"/>
            <a:ext cx="2269540" cy="62571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93776" y="3920163"/>
            <a:ext cx="2123236" cy="552558"/>
          </a:xfrm>
          <a:prstGeom prst="rect">
            <a:avLst/>
          </a:prstGeom>
          <a:noFill/>
        </p:spPr>
        <p:txBody>
          <a:bodyPr wrap="square">
            <a:normAutofit/>
          </a:bodyPr>
          <a:lstStyle/>
          <a:p>
            <a:pPr algn="l"/>
            <a:r>
              <a:rPr sz="1600" b="0" i="0">
                <a:solidFill>
                  <a:srgbClr val="374151"/>
                </a:solidFill>
                <a:latin typeface="Calibri"/>
              </a:rPr>
              <a:t>Black-Litterman</a:t>
            </a:r>
          </a:p>
        </p:txBody>
      </p:sp>
      <p:sp>
        <p:nvSpPr>
          <p:cNvPr id="46" name="Rectangle 45"/>
          <p:cNvSpPr/>
          <p:nvPr/>
        </p:nvSpPr>
        <p:spPr>
          <a:xfrm>
            <a:off x="2690164" y="3883587"/>
            <a:ext cx="2269540" cy="62571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763316" y="3920163"/>
            <a:ext cx="2123236" cy="552558"/>
          </a:xfrm>
          <a:prstGeom prst="rect">
            <a:avLst/>
          </a:prstGeom>
          <a:noFill/>
        </p:spPr>
        <p:txBody>
          <a:bodyPr wrap="square">
            <a:normAutofit lnSpcReduction="10000"/>
          </a:bodyPr>
          <a:lstStyle/>
          <a:p>
            <a:pPr algn="l"/>
            <a:r>
              <a:rPr sz="1600" b="0" i="0">
                <a:solidFill>
                  <a:srgbClr val="374151"/>
                </a:solidFill>
                <a:latin typeface="Calibri"/>
              </a:rPr>
              <a:t>Max Sharpe on posterior μ</a:t>
            </a:r>
          </a:p>
        </p:txBody>
      </p:sp>
      <p:sp>
        <p:nvSpPr>
          <p:cNvPr id="48" name="Rectangle 47"/>
          <p:cNvSpPr/>
          <p:nvPr/>
        </p:nvSpPr>
        <p:spPr>
          <a:xfrm>
            <a:off x="4959705" y="3883587"/>
            <a:ext cx="2269540" cy="62571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032857" y="3920163"/>
            <a:ext cx="2123236" cy="552558"/>
          </a:xfrm>
          <a:prstGeom prst="rect">
            <a:avLst/>
          </a:prstGeom>
          <a:noFill/>
        </p:spPr>
        <p:txBody>
          <a:bodyPr wrap="square">
            <a:normAutofit/>
          </a:bodyPr>
          <a:lstStyle/>
          <a:p>
            <a:pPr algn="l"/>
            <a:r>
              <a:rPr sz="1600" b="0" i="0">
                <a:solidFill>
                  <a:srgbClr val="374151"/>
                </a:solidFill>
                <a:latin typeface="Calibri"/>
              </a:rPr>
              <a:t>Prior + views + Σ</a:t>
            </a:r>
          </a:p>
        </p:txBody>
      </p:sp>
      <p:sp>
        <p:nvSpPr>
          <p:cNvPr id="50" name="Rectangle 49"/>
          <p:cNvSpPr/>
          <p:nvPr/>
        </p:nvSpPr>
        <p:spPr>
          <a:xfrm>
            <a:off x="7229246" y="3883587"/>
            <a:ext cx="2269540" cy="62571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302398" y="3920163"/>
            <a:ext cx="2123236" cy="552558"/>
          </a:xfrm>
          <a:prstGeom prst="rect">
            <a:avLst/>
          </a:prstGeom>
          <a:noFill/>
        </p:spPr>
        <p:txBody>
          <a:bodyPr wrap="square">
            <a:normAutofit/>
          </a:bodyPr>
          <a:lstStyle/>
          <a:p>
            <a:pPr algn="l"/>
            <a:r>
              <a:rPr sz="1600" b="0" i="0">
                <a:solidFill>
                  <a:srgbClr val="374151"/>
                </a:solidFill>
                <a:latin typeface="Calibri"/>
              </a:rPr>
              <a:t>Anchored; view-flexible</a:t>
            </a:r>
          </a:p>
        </p:txBody>
      </p:sp>
      <p:sp>
        <p:nvSpPr>
          <p:cNvPr id="52" name="Rectangle 51"/>
          <p:cNvSpPr/>
          <p:nvPr/>
        </p:nvSpPr>
        <p:spPr>
          <a:xfrm>
            <a:off x="9498787" y="3883587"/>
            <a:ext cx="2269540" cy="62571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571939" y="3920163"/>
            <a:ext cx="2123236" cy="552558"/>
          </a:xfrm>
          <a:prstGeom prst="rect">
            <a:avLst/>
          </a:prstGeom>
          <a:noFill/>
        </p:spPr>
        <p:txBody>
          <a:bodyPr wrap="square">
            <a:normAutofit lnSpcReduction="10000"/>
          </a:bodyPr>
          <a:lstStyle/>
          <a:p>
            <a:pPr algn="l"/>
            <a:r>
              <a:rPr sz="1600" b="0" i="0">
                <a:solidFill>
                  <a:srgbClr val="374151"/>
                </a:solidFill>
                <a:latin typeface="Calibri"/>
              </a:rPr>
              <a:t>Views must be well-calibrated</a:t>
            </a:r>
          </a:p>
        </p:txBody>
      </p:sp>
      <p:sp>
        <p:nvSpPr>
          <p:cNvPr id="54" name="Rectangle 53"/>
          <p:cNvSpPr/>
          <p:nvPr/>
        </p:nvSpPr>
        <p:spPr>
          <a:xfrm>
            <a:off x="420624" y="4509298"/>
            <a:ext cx="2269540" cy="62571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93776" y="4545874"/>
            <a:ext cx="2123236" cy="552558"/>
          </a:xfrm>
          <a:prstGeom prst="rect">
            <a:avLst/>
          </a:prstGeom>
          <a:noFill/>
        </p:spPr>
        <p:txBody>
          <a:bodyPr wrap="square">
            <a:normAutofit/>
          </a:bodyPr>
          <a:lstStyle/>
          <a:p>
            <a:pPr algn="l"/>
            <a:r>
              <a:rPr sz="1600" b="0" i="0">
                <a:solidFill>
                  <a:srgbClr val="374151"/>
                </a:solidFill>
                <a:latin typeface="Calibri"/>
              </a:rPr>
              <a:t>HRP</a:t>
            </a:r>
          </a:p>
        </p:txBody>
      </p:sp>
      <p:sp>
        <p:nvSpPr>
          <p:cNvPr id="56" name="Rectangle 55"/>
          <p:cNvSpPr/>
          <p:nvPr/>
        </p:nvSpPr>
        <p:spPr>
          <a:xfrm>
            <a:off x="2690164" y="4509298"/>
            <a:ext cx="2269540" cy="62571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763316" y="4545874"/>
            <a:ext cx="2123236" cy="552558"/>
          </a:xfrm>
          <a:prstGeom prst="rect">
            <a:avLst/>
          </a:prstGeom>
          <a:noFill/>
        </p:spPr>
        <p:txBody>
          <a:bodyPr wrap="square">
            <a:normAutofit/>
          </a:bodyPr>
          <a:lstStyle/>
          <a:p>
            <a:pPr algn="l"/>
            <a:r>
              <a:rPr sz="1600" b="0" i="0">
                <a:solidFill>
                  <a:srgbClr val="374151"/>
                </a:solidFill>
                <a:latin typeface="Calibri"/>
              </a:rPr>
              <a:t>Equal risk clusters</a:t>
            </a:r>
          </a:p>
        </p:txBody>
      </p:sp>
      <p:sp>
        <p:nvSpPr>
          <p:cNvPr id="58" name="Rectangle 57"/>
          <p:cNvSpPr/>
          <p:nvPr/>
        </p:nvSpPr>
        <p:spPr>
          <a:xfrm>
            <a:off x="4959705" y="4509298"/>
            <a:ext cx="2269540" cy="62571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032857" y="4545874"/>
            <a:ext cx="2123236" cy="552558"/>
          </a:xfrm>
          <a:prstGeom prst="rect">
            <a:avLst/>
          </a:prstGeom>
          <a:noFill/>
        </p:spPr>
        <p:txBody>
          <a:bodyPr wrap="square">
            <a:normAutofit/>
          </a:bodyPr>
          <a:lstStyle/>
          <a:p>
            <a:pPr algn="l"/>
            <a:r>
              <a:rPr sz="1600" b="0" i="0">
                <a:solidFill>
                  <a:srgbClr val="374151"/>
                </a:solidFill>
                <a:latin typeface="Calibri"/>
              </a:rPr>
              <a:t>Σ only (clustering)</a:t>
            </a:r>
          </a:p>
        </p:txBody>
      </p:sp>
      <p:sp>
        <p:nvSpPr>
          <p:cNvPr id="60" name="Rectangle 59"/>
          <p:cNvSpPr/>
          <p:nvPr/>
        </p:nvSpPr>
        <p:spPr>
          <a:xfrm>
            <a:off x="7229246" y="4509298"/>
            <a:ext cx="2269540" cy="62571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302398" y="4545874"/>
            <a:ext cx="2123236" cy="552558"/>
          </a:xfrm>
          <a:prstGeom prst="rect">
            <a:avLst/>
          </a:prstGeom>
          <a:noFill/>
        </p:spPr>
        <p:txBody>
          <a:bodyPr wrap="square">
            <a:normAutofit lnSpcReduction="10000"/>
          </a:bodyPr>
          <a:lstStyle/>
          <a:p>
            <a:pPr algn="l"/>
            <a:r>
              <a:rPr sz="1600" b="0" i="0">
                <a:solidFill>
                  <a:srgbClr val="374151"/>
                </a:solidFill>
                <a:latin typeface="Calibri"/>
              </a:rPr>
              <a:t>No matrix inversion; robust</a:t>
            </a:r>
          </a:p>
        </p:txBody>
      </p:sp>
      <p:sp>
        <p:nvSpPr>
          <p:cNvPr id="62" name="Rectangle 61"/>
          <p:cNvSpPr/>
          <p:nvPr/>
        </p:nvSpPr>
        <p:spPr>
          <a:xfrm>
            <a:off x="9498787" y="4509298"/>
            <a:ext cx="2269540" cy="625710"/>
          </a:xfrm>
          <a:prstGeom prst="rect">
            <a:avLst/>
          </a:prstGeom>
          <a:solidFill>
            <a:srgbClr val="E7E6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571939" y="4545874"/>
            <a:ext cx="2123236" cy="552558"/>
          </a:xfrm>
          <a:prstGeom prst="rect">
            <a:avLst/>
          </a:prstGeom>
          <a:noFill/>
        </p:spPr>
        <p:txBody>
          <a:bodyPr wrap="square">
            <a:normAutofit lnSpcReduction="10000"/>
          </a:bodyPr>
          <a:lstStyle/>
          <a:p>
            <a:pPr algn="l"/>
            <a:r>
              <a:rPr sz="1600" b="0" i="0">
                <a:solidFill>
                  <a:srgbClr val="374151"/>
                </a:solidFill>
                <a:latin typeface="Calibri"/>
              </a:rPr>
              <a:t>No expected-return signal</a:t>
            </a:r>
          </a:p>
        </p:txBody>
      </p:sp>
      <p:sp>
        <p:nvSpPr>
          <p:cNvPr id="64" name="Rectangle 63"/>
          <p:cNvSpPr/>
          <p:nvPr/>
        </p:nvSpPr>
        <p:spPr>
          <a:xfrm>
            <a:off x="420624" y="5135009"/>
            <a:ext cx="2269540" cy="62571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93776" y="5171585"/>
            <a:ext cx="2123236" cy="552558"/>
          </a:xfrm>
          <a:prstGeom prst="rect">
            <a:avLst/>
          </a:prstGeom>
          <a:noFill/>
        </p:spPr>
        <p:txBody>
          <a:bodyPr wrap="square">
            <a:normAutofit/>
          </a:bodyPr>
          <a:lstStyle/>
          <a:p>
            <a:pPr algn="l"/>
            <a:r>
              <a:rPr sz="1600" b="0" i="0">
                <a:solidFill>
                  <a:srgbClr val="374151"/>
                </a:solidFill>
                <a:latin typeface="Calibri"/>
              </a:rPr>
              <a:t>Min CVaR</a:t>
            </a:r>
          </a:p>
        </p:txBody>
      </p:sp>
      <p:sp>
        <p:nvSpPr>
          <p:cNvPr id="66" name="Rectangle 65"/>
          <p:cNvSpPr/>
          <p:nvPr/>
        </p:nvSpPr>
        <p:spPr>
          <a:xfrm>
            <a:off x="2690164" y="5135009"/>
            <a:ext cx="2269540" cy="62571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763316" y="5171585"/>
            <a:ext cx="2123236" cy="552558"/>
          </a:xfrm>
          <a:prstGeom prst="rect">
            <a:avLst/>
          </a:prstGeom>
          <a:noFill/>
        </p:spPr>
        <p:txBody>
          <a:bodyPr wrap="square">
            <a:normAutofit/>
          </a:bodyPr>
          <a:lstStyle/>
          <a:p>
            <a:pPr algn="l"/>
            <a:r>
              <a:rPr sz="1600" b="0" i="0">
                <a:solidFill>
                  <a:srgbClr val="374151"/>
                </a:solidFill>
                <a:latin typeface="Calibri"/>
              </a:rPr>
              <a:t>Lowest tail loss</a:t>
            </a:r>
          </a:p>
        </p:txBody>
      </p:sp>
      <p:sp>
        <p:nvSpPr>
          <p:cNvPr id="68" name="Rectangle 67"/>
          <p:cNvSpPr/>
          <p:nvPr/>
        </p:nvSpPr>
        <p:spPr>
          <a:xfrm>
            <a:off x="4959705" y="5135009"/>
            <a:ext cx="2269540" cy="62571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032857" y="5171585"/>
            <a:ext cx="2123236" cy="552558"/>
          </a:xfrm>
          <a:prstGeom prst="rect">
            <a:avLst/>
          </a:prstGeom>
          <a:noFill/>
        </p:spPr>
        <p:txBody>
          <a:bodyPr wrap="square">
            <a:normAutofit/>
          </a:bodyPr>
          <a:lstStyle/>
          <a:p>
            <a:pPr algn="l"/>
            <a:r>
              <a:rPr sz="1600" b="0" i="0">
                <a:solidFill>
                  <a:srgbClr val="374151"/>
                </a:solidFill>
                <a:latin typeface="Calibri"/>
              </a:rPr>
              <a:t>Return history</a:t>
            </a:r>
          </a:p>
        </p:txBody>
      </p:sp>
      <p:sp>
        <p:nvSpPr>
          <p:cNvPr id="70" name="Rectangle 69"/>
          <p:cNvSpPr/>
          <p:nvPr/>
        </p:nvSpPr>
        <p:spPr>
          <a:xfrm>
            <a:off x="7229246" y="5135009"/>
            <a:ext cx="2269540" cy="62571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302398" y="5171585"/>
            <a:ext cx="2123236" cy="552558"/>
          </a:xfrm>
          <a:prstGeom prst="rect">
            <a:avLst/>
          </a:prstGeom>
          <a:noFill/>
        </p:spPr>
        <p:txBody>
          <a:bodyPr wrap="square">
            <a:normAutofit lnSpcReduction="10000"/>
          </a:bodyPr>
          <a:lstStyle/>
          <a:p>
            <a:pPr algn="l"/>
            <a:r>
              <a:rPr sz="1600" b="0" i="0">
                <a:solidFill>
                  <a:srgbClr val="374151"/>
                </a:solidFill>
                <a:latin typeface="Calibri"/>
              </a:rPr>
              <a:t>Protects against extreme losses</a:t>
            </a:r>
          </a:p>
        </p:txBody>
      </p:sp>
      <p:sp>
        <p:nvSpPr>
          <p:cNvPr id="72" name="Rectangle 71"/>
          <p:cNvSpPr/>
          <p:nvPr/>
        </p:nvSpPr>
        <p:spPr>
          <a:xfrm>
            <a:off x="9498787" y="5135009"/>
            <a:ext cx="2269540" cy="62571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571939" y="5171585"/>
            <a:ext cx="2123236" cy="552558"/>
          </a:xfrm>
          <a:prstGeom prst="rect">
            <a:avLst/>
          </a:prstGeom>
          <a:noFill/>
        </p:spPr>
        <p:txBody>
          <a:bodyPr wrap="square">
            <a:normAutofit lnSpcReduction="10000"/>
          </a:bodyPr>
          <a:lstStyle/>
          <a:p>
            <a:pPr algn="l"/>
            <a:r>
              <a:rPr sz="1600" b="0" i="0">
                <a:solidFill>
                  <a:srgbClr val="374151"/>
                </a:solidFill>
                <a:latin typeface="Calibri"/>
              </a:rPr>
              <a:t>Sensitive to historical tail events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b="1" dirty="0">
                <a:latin typeface="Arial" panose="020B0604020202020204" pitchFamily="34" charset="0"/>
                <a:cs typeface="Arial" panose="020B0604020202020204" pitchFamily="34" charset="0"/>
              </a:rPr>
              <a:t>Real-World Portfolio Constraints</a:t>
            </a:r>
            <a:br>
              <a:rPr lang="en-US" b="1"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a:t>
            </a:r>
            <a:r>
              <a:rPr lang="en-CA" sz="2800" dirty="0" err="1">
                <a:latin typeface="Arial" panose="020B0604020202020204" pitchFamily="34" charset="0"/>
                <a:cs typeface="Arial" panose="020B0604020202020204" pitchFamily="34" charset="0"/>
              </a:rPr>
              <a:t>PyPortfolioOpt</a:t>
            </a:r>
            <a:r>
              <a:rPr lang="en-CA" sz="2800" dirty="0">
                <a:latin typeface="Arial" panose="020B0604020202020204" pitchFamily="34" charset="0"/>
                <a:cs typeface="Arial" panose="020B0604020202020204" pitchFamily="34" charset="0"/>
              </a:rPr>
              <a:t> code)</a:t>
            </a:r>
            <a:endParaRPr dirty="0">
              <a:latin typeface="Arial" panose="020B0604020202020204" pitchFamily="34" charset="0"/>
              <a:cs typeface="Arial" panose="020B0604020202020204" pitchFamily="34" charset="0"/>
            </a:endParaRPr>
          </a:p>
        </p:txBody>
      </p:sp>
      <p:sp>
        <p:nvSpPr>
          <p:cNvPr id="4" name="TextBox 3"/>
          <p:cNvSpPr txBox="1"/>
          <p:nvPr/>
        </p:nvSpPr>
        <p:spPr>
          <a:xfrm>
            <a:off x="420624" y="1380744"/>
            <a:ext cx="11347704" cy="4379976"/>
          </a:xfrm>
          <a:prstGeom prst="rect">
            <a:avLst/>
          </a:prstGeom>
          <a:noFill/>
        </p:spPr>
        <p:txBody>
          <a:bodyPr wrap="square">
            <a:noAutofit/>
          </a:bodyPr>
          <a:lstStyle/>
          <a:p>
            <a:pPr marL="342900" indent="-342900">
              <a:spcBef>
                <a:spcPts val="400"/>
              </a:spcBef>
              <a:spcAft>
                <a:spcPts val="200"/>
              </a:spcAft>
              <a:buFont typeface="Arial" panose="020B0604020202020204" pitchFamily="34" charset="0"/>
              <a:buChar char="•"/>
            </a:pPr>
            <a:r>
              <a:rPr sz="2200" dirty="0">
                <a:latin typeface="Calibri"/>
              </a:rPr>
              <a:t>Long-only: wᵢ ≥ 0 — no short selling (required for most retail and pension mandates)</a:t>
            </a:r>
          </a:p>
          <a:p>
            <a:pPr lvl="1">
              <a:spcBef>
                <a:spcPts val="100"/>
              </a:spcBef>
            </a:pPr>
            <a:r>
              <a:rPr sz="2200" i="1" dirty="0" err="1">
                <a:latin typeface="Calibri"/>
              </a:rPr>
              <a:t>ef</a:t>
            </a:r>
            <a:r>
              <a:rPr sz="2200" i="1" dirty="0">
                <a:latin typeface="Calibri"/>
              </a:rPr>
              <a:t> = </a:t>
            </a:r>
            <a:r>
              <a:rPr sz="2200" i="1" dirty="0" err="1">
                <a:latin typeface="Calibri"/>
              </a:rPr>
              <a:t>EfficientFrontier</a:t>
            </a:r>
            <a:r>
              <a:rPr sz="2200" i="1" dirty="0">
                <a:latin typeface="Calibri"/>
              </a:rPr>
              <a:t>(mu, S, </a:t>
            </a:r>
            <a:r>
              <a:rPr sz="2200" i="1" dirty="0" err="1">
                <a:latin typeface="Calibri"/>
              </a:rPr>
              <a:t>weight_bounds</a:t>
            </a:r>
            <a:r>
              <a:rPr sz="2200" i="1" dirty="0">
                <a:latin typeface="Calibri"/>
              </a:rPr>
              <a:t>=(0, 1))</a:t>
            </a:r>
          </a:p>
          <a:p>
            <a:pPr marL="342900" indent="-342900">
              <a:spcBef>
                <a:spcPts val="400"/>
              </a:spcBef>
              <a:spcAft>
                <a:spcPts val="200"/>
              </a:spcAft>
              <a:buFont typeface="Arial" panose="020B0604020202020204" pitchFamily="34" charset="0"/>
              <a:buChar char="•"/>
            </a:pPr>
            <a:r>
              <a:rPr sz="2200" dirty="0">
                <a:latin typeface="Calibri"/>
              </a:rPr>
              <a:t>Weight bounds: 0.02 ≤ wᵢ ≤ 0.25 — avoids extreme concentration</a:t>
            </a:r>
          </a:p>
          <a:p>
            <a:pPr lvl="1">
              <a:spcBef>
                <a:spcPts val="100"/>
              </a:spcBef>
            </a:pPr>
            <a:r>
              <a:rPr sz="2200" i="1" dirty="0" err="1">
                <a:latin typeface="Calibri"/>
              </a:rPr>
              <a:t>ef</a:t>
            </a:r>
            <a:r>
              <a:rPr sz="2200" i="1" dirty="0">
                <a:latin typeface="Calibri"/>
              </a:rPr>
              <a:t> = </a:t>
            </a:r>
            <a:r>
              <a:rPr sz="2200" i="1" dirty="0" err="1">
                <a:latin typeface="Calibri"/>
              </a:rPr>
              <a:t>EfficientFrontier</a:t>
            </a:r>
            <a:r>
              <a:rPr sz="2200" i="1" dirty="0">
                <a:latin typeface="Calibri"/>
              </a:rPr>
              <a:t>(mu, S, </a:t>
            </a:r>
            <a:r>
              <a:rPr sz="2200" i="1" dirty="0" err="1">
                <a:latin typeface="Calibri"/>
              </a:rPr>
              <a:t>weight_bounds</a:t>
            </a:r>
            <a:r>
              <a:rPr sz="2200" i="1" dirty="0">
                <a:latin typeface="Calibri"/>
              </a:rPr>
              <a:t>=(0.02, 0.25))</a:t>
            </a:r>
          </a:p>
          <a:p>
            <a:pPr lvl="1">
              <a:spcBef>
                <a:spcPts val="100"/>
              </a:spcBef>
            </a:pPr>
            <a:r>
              <a:rPr sz="2200" dirty="0">
                <a:latin typeface="Calibri"/>
              </a:rPr>
              <a:t>Without this, max Sharpe routinely allocates 50%+ to a single stock</a:t>
            </a:r>
          </a:p>
          <a:p>
            <a:pPr marL="342900" indent="-342900">
              <a:spcBef>
                <a:spcPts val="400"/>
              </a:spcBef>
              <a:spcAft>
                <a:spcPts val="200"/>
              </a:spcAft>
              <a:buFont typeface="Arial" panose="020B0604020202020204" pitchFamily="34" charset="0"/>
              <a:buChar char="•"/>
            </a:pPr>
            <a:r>
              <a:rPr sz="2200" dirty="0">
                <a:latin typeface="Calibri"/>
              </a:rPr>
              <a:t>Sector constraints: no more than 30% in any GICS sector</a:t>
            </a:r>
          </a:p>
          <a:p>
            <a:pPr lvl="1">
              <a:spcBef>
                <a:spcPts val="100"/>
              </a:spcBef>
            </a:pPr>
            <a:r>
              <a:rPr sz="2200" i="1" dirty="0" err="1">
                <a:latin typeface="Calibri"/>
              </a:rPr>
              <a:t>ef.add_constraint</a:t>
            </a:r>
            <a:r>
              <a:rPr sz="2200" i="1" dirty="0">
                <a:latin typeface="Calibri"/>
              </a:rPr>
              <a:t>(lambda w: w[</a:t>
            </a:r>
            <a:r>
              <a:rPr sz="2200" i="1" dirty="0" err="1">
                <a:latin typeface="Calibri"/>
              </a:rPr>
              <a:t>tech_idx</a:t>
            </a:r>
            <a:r>
              <a:rPr sz="2200" i="1" dirty="0">
                <a:latin typeface="Calibri"/>
              </a:rPr>
              <a:t>].sum() &lt;= 0.30)</a:t>
            </a:r>
          </a:p>
          <a:p>
            <a:pPr lvl="1">
              <a:spcBef>
                <a:spcPts val="100"/>
              </a:spcBef>
            </a:pPr>
            <a:r>
              <a:rPr sz="2200" dirty="0">
                <a:latin typeface="Calibri"/>
              </a:rPr>
              <a:t>Required in many institutional mandates; reduces concentration risk</a:t>
            </a:r>
          </a:p>
          <a:p>
            <a:pPr marL="342900" indent="-342900">
              <a:spcBef>
                <a:spcPts val="400"/>
              </a:spcBef>
              <a:spcAft>
                <a:spcPts val="200"/>
              </a:spcAft>
              <a:buFont typeface="Arial" panose="020B0604020202020204" pitchFamily="34" charset="0"/>
              <a:buChar char="•"/>
            </a:pPr>
            <a:r>
              <a:rPr sz="2200" dirty="0">
                <a:latin typeface="Calibri"/>
              </a:rPr>
              <a:t>Turnover constraint: limit rebalancing to reduce transaction costs</a:t>
            </a:r>
          </a:p>
          <a:p>
            <a:pPr lvl="1">
              <a:spcBef>
                <a:spcPts val="100"/>
              </a:spcBef>
            </a:pPr>
            <a:r>
              <a:rPr sz="2200" i="1" dirty="0" err="1">
                <a:latin typeface="Calibri"/>
              </a:rPr>
              <a:t>ef.add_constraint</a:t>
            </a:r>
            <a:r>
              <a:rPr sz="2200" i="1" dirty="0">
                <a:latin typeface="Calibri"/>
              </a:rPr>
              <a:t>(lambda w: </a:t>
            </a:r>
            <a:r>
              <a:rPr sz="2200" i="1" dirty="0" err="1">
                <a:latin typeface="Calibri"/>
              </a:rPr>
              <a:t>cp.sum</a:t>
            </a:r>
            <a:r>
              <a:rPr sz="2200" i="1" dirty="0">
                <a:latin typeface="Calibri"/>
              </a:rPr>
              <a:t>(</a:t>
            </a:r>
            <a:r>
              <a:rPr sz="2200" i="1" dirty="0" err="1">
                <a:latin typeface="Calibri"/>
              </a:rPr>
              <a:t>cp.abs</a:t>
            </a:r>
            <a:r>
              <a:rPr sz="2200" i="1" dirty="0">
                <a:latin typeface="Calibri"/>
              </a:rPr>
              <a:t>(w - </a:t>
            </a:r>
            <a:r>
              <a:rPr sz="2200" i="1" dirty="0" err="1">
                <a:latin typeface="Calibri"/>
              </a:rPr>
              <a:t>w_prev</a:t>
            </a:r>
            <a:r>
              <a:rPr sz="2200" i="1" dirty="0">
                <a:latin typeface="Calibri"/>
              </a:rPr>
              <a:t>)) &lt;= 0.20)</a:t>
            </a:r>
          </a:p>
          <a:p>
            <a:pPr lvl="1">
              <a:spcBef>
                <a:spcPts val="100"/>
              </a:spcBef>
            </a:pPr>
            <a:r>
              <a:rPr sz="2200" dirty="0">
                <a:latin typeface="Calibri"/>
              </a:rPr>
              <a:t>Caps total rebalancing at 20% of portfolio value per period</a:t>
            </a:r>
          </a:p>
          <a:p>
            <a:pPr marL="342900" indent="-342900">
              <a:spcBef>
                <a:spcPts val="400"/>
              </a:spcBef>
              <a:spcAft>
                <a:spcPts val="200"/>
              </a:spcAft>
              <a:buFont typeface="Arial" panose="020B0604020202020204" pitchFamily="34" charset="0"/>
              <a:buChar char="•"/>
            </a:pPr>
            <a:r>
              <a:rPr sz="2200" dirty="0">
                <a:latin typeface="Calibri"/>
              </a:rPr>
              <a:t>Tracking error: portfolio must stay within X% of a benchmark</a:t>
            </a:r>
          </a:p>
          <a:p>
            <a:pPr lvl="1">
              <a:spcBef>
                <a:spcPts val="100"/>
              </a:spcBef>
            </a:pPr>
            <a:r>
              <a:rPr sz="2200" dirty="0">
                <a:latin typeface="Calibri"/>
              </a:rPr>
              <a:t>Active management mandates: "no more than 5% tracking error vs S&amp;P 500"</a:t>
            </a:r>
          </a:p>
          <a:p>
            <a:pPr lvl="1">
              <a:spcBef>
                <a:spcPts val="100"/>
              </a:spcBef>
            </a:pPr>
            <a:r>
              <a:rPr sz="2200" dirty="0">
                <a:latin typeface="Calibri"/>
              </a:rPr>
              <a:t>This creates a bias toward the benchmark weights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Covariance Estimation: Sample vs Shrinkage</a:t>
            </a:r>
            <a:endParaRPr b="1" dirty="0">
              <a:latin typeface="Arial" panose="020B0604020202020204" pitchFamily="34" charset="0"/>
              <a:cs typeface="Arial" panose="020B0604020202020204" pitchFamily="34" charset="0"/>
            </a:endParaRPr>
          </a:p>
        </p:txBody>
      </p:sp>
      <p:pic>
        <p:nvPicPr>
          <p:cNvPr id="4010" name="Picture 4009" descr="f_sample.png"/>
          <p:cNvPicPr>
            <a:picLocks noChangeAspect="1"/>
          </p:cNvPicPr>
          <p:nvPr/>
        </p:nvPicPr>
        <p:blipFill>
          <a:blip r:embed="rId3"/>
          <a:stretch>
            <a:fillRect/>
          </a:stretch>
        </p:blipFill>
        <p:spPr>
          <a:xfrm>
            <a:off x="4495800" y="835622"/>
            <a:ext cx="2713791" cy="606317"/>
          </a:xfrm>
          <a:prstGeom prst="rect">
            <a:avLst/>
          </a:prstGeom>
        </p:spPr>
      </p:pic>
      <p:pic>
        <p:nvPicPr>
          <p:cNvPr id="4011" name="Picture 4010" descr="f_lw.png"/>
          <p:cNvPicPr>
            <a:picLocks noChangeAspect="1"/>
          </p:cNvPicPr>
          <p:nvPr/>
        </p:nvPicPr>
        <p:blipFill>
          <a:blip r:embed="rId4"/>
          <a:stretch>
            <a:fillRect/>
          </a:stretch>
        </p:blipFill>
        <p:spPr>
          <a:xfrm>
            <a:off x="3634517" y="1683834"/>
            <a:ext cx="5659896" cy="525965"/>
          </a:xfrm>
          <a:prstGeom prst="rect">
            <a:avLst/>
          </a:prstGeom>
        </p:spPr>
      </p:pic>
      <p:sp>
        <p:nvSpPr>
          <p:cNvPr id="2" name="Content Placeholder"/>
          <p:cNvSpPr>
            <a:spLocks noGrp="1"/>
          </p:cNvSpPr>
          <p:nvPr>
            <p:ph sz="half" idx="2"/>
          </p:nvPr>
        </p:nvSpPr>
        <p:spPr>
          <a:xfrm>
            <a:off x="420624" y="2286000"/>
            <a:ext cx="11347704" cy="4206874"/>
          </a:xfrm>
        </p:spPr>
        <p:txBody>
          <a:bodyPr wrap="square">
            <a:normAutofit fontScale="77500" lnSpcReduction="20000"/>
          </a:bodyPr>
          <a:lstStyle/>
          <a:p>
            <a:pPr marL="0" indent="0">
              <a:buNone/>
            </a:pPr>
            <a:r>
              <a:rPr lang="en-CA" b="1" dirty="0"/>
              <a:t>Sample covariance</a:t>
            </a:r>
          </a:p>
          <a:p>
            <a:r>
              <a:rPr lang="en-CA" dirty="0"/>
              <a:t>Unbiased, maximum-likelihood estimator</a:t>
            </a:r>
          </a:p>
          <a:p>
            <a:r>
              <a:rPr lang="en-CA" dirty="0"/>
              <a:t>Largest eigenvalues are overstated, smallest eigenvalues understated</a:t>
            </a:r>
          </a:p>
          <a:p>
            <a:r>
              <a:rPr lang="en-CA" dirty="0"/>
              <a:t>Condition number can exceed 100x, making matrix inversion unstable</a:t>
            </a:r>
          </a:p>
          <a:p>
            <a:r>
              <a:rPr lang="en-CA" dirty="0"/>
              <a:t>Out-of-sample: concentrated, volatile weights</a:t>
            </a:r>
          </a:p>
          <a:p>
            <a:r>
              <a:rPr lang="en-CA" dirty="0"/>
              <a:t>Worsens as the N over T ratio rises (curse of dimensionality)</a:t>
            </a:r>
          </a:p>
          <a:p>
            <a:pPr marL="0" indent="0">
              <a:buNone/>
            </a:pPr>
            <a:r>
              <a:rPr lang="en-CA" b="1" dirty="0"/>
              <a:t>Ledoit-Wolf shrinkage</a:t>
            </a:r>
          </a:p>
          <a:p>
            <a:r>
              <a:rPr lang="en-CA" dirty="0"/>
              <a:t>F is a structured target (for example equicorrelation)</a:t>
            </a:r>
          </a:p>
          <a:p>
            <a:r>
              <a:rPr lang="en-CA" dirty="0"/>
              <a:t>delta is the optimal shrinkage intensity, available in closed form</a:t>
            </a:r>
          </a:p>
          <a:p>
            <a:r>
              <a:rPr lang="en-CA" dirty="0"/>
              <a:t>Eigenvalues pulled toward the target: large ones shrunk, small ones raised</a:t>
            </a:r>
          </a:p>
          <a:p>
            <a:r>
              <a:rPr lang="en-CA" dirty="0"/>
              <a:t>Better-conditioned, so numerically stable</a:t>
            </a:r>
          </a:p>
          <a:p>
            <a:r>
              <a:rPr lang="en-CA" dirty="0"/>
              <a:t>Proven to improve out-of-sample portfolio performance (Ledoit and Wolf 2004, 2022)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Ledoit-Wolf Shrinkage</a:t>
            </a:r>
            <a:endParaRPr b="1" dirty="0">
              <a:latin typeface="Arial" panose="020B0604020202020204" pitchFamily="34" charset="0"/>
              <a:cs typeface="Arial" panose="020B0604020202020204" pitchFamily="34" charset="0"/>
            </a:endParaRPr>
          </a:p>
        </p:txBody>
      </p:sp>
      <p:pic>
        <p:nvPicPr>
          <p:cNvPr id="4012" name="Picture 4011" descr="f_lw.png"/>
          <p:cNvPicPr>
            <a:picLocks noChangeAspect="1"/>
          </p:cNvPicPr>
          <p:nvPr/>
        </p:nvPicPr>
        <p:blipFill>
          <a:blip r:embed="rId3"/>
          <a:stretch>
            <a:fillRect/>
          </a:stretch>
        </p:blipFill>
        <p:spPr>
          <a:xfrm>
            <a:off x="2362200" y="1065511"/>
            <a:ext cx="8101465" cy="752856"/>
          </a:xfrm>
          <a:prstGeom prst="rect">
            <a:avLst/>
          </a:prstGeom>
        </p:spPr>
      </p:pic>
      <p:pic>
        <p:nvPicPr>
          <p:cNvPr id="4013" name="Picture 4012" descr="f_lw_delta.png"/>
          <p:cNvPicPr>
            <a:picLocks noChangeAspect="1"/>
          </p:cNvPicPr>
          <p:nvPr/>
        </p:nvPicPr>
        <p:blipFill>
          <a:blip r:embed="rId4"/>
          <a:stretch>
            <a:fillRect/>
          </a:stretch>
        </p:blipFill>
        <p:spPr>
          <a:xfrm>
            <a:off x="3538936" y="1879928"/>
            <a:ext cx="5114127" cy="752856"/>
          </a:xfrm>
          <a:prstGeom prst="rect">
            <a:avLst/>
          </a:prstGeom>
        </p:spPr>
      </p:pic>
      <p:sp>
        <p:nvSpPr>
          <p:cNvPr id="2" name="Content Placeholder"/>
          <p:cNvSpPr>
            <a:spLocks noGrp="1"/>
          </p:cNvSpPr>
          <p:nvPr>
            <p:ph sz="half" idx="2"/>
          </p:nvPr>
        </p:nvSpPr>
        <p:spPr>
          <a:xfrm>
            <a:off x="420624" y="2825496"/>
            <a:ext cx="11347704" cy="3227832"/>
          </a:xfrm>
        </p:spPr>
        <p:txBody>
          <a:bodyPr wrap="square">
            <a:normAutofit fontScale="77500" lnSpcReduction="20000"/>
          </a:bodyPr>
          <a:lstStyle/>
          <a:p>
            <a:pPr marL="0" indent="0">
              <a:buNone/>
            </a:pPr>
            <a:r>
              <a:rPr lang="en-CA" b="1" dirty="0"/>
              <a:t>Reading the shrinkage estimator</a:t>
            </a:r>
          </a:p>
          <a:p>
            <a:r>
              <a:rPr lang="en-CA" dirty="0"/>
              <a:t>S is the sample covariance (noisy, T observations by N assets)</a:t>
            </a:r>
          </a:p>
          <a:p>
            <a:r>
              <a:rPr lang="en-CA" dirty="0"/>
              <a:t>F is the shrinkage target, typically equicorrelation or constant-correlation matrix</a:t>
            </a:r>
          </a:p>
          <a:p>
            <a:r>
              <a:rPr lang="en-CA" dirty="0"/>
              <a:t>Delta in the interval 0 to 1: delta = 0 gives pure sample, delta = 1 gives pure target</a:t>
            </a:r>
          </a:p>
          <a:p>
            <a:r>
              <a:rPr lang="en-CA" dirty="0"/>
              <a:t>The optimal delta balances bias (target) against variance (sample)</a:t>
            </a:r>
          </a:p>
          <a:p>
            <a:r>
              <a:rPr lang="en-CA" dirty="0"/>
              <a:t>Ledoit and Wolf (2004): closed-form delta, no tuning required</a:t>
            </a:r>
          </a:p>
          <a:p>
            <a:r>
              <a:rPr lang="en-CA" dirty="0"/>
              <a:t>Ledoit and Wolf (2022): analytical non-linear shrinkage of eigenvalues</a:t>
            </a:r>
          </a:p>
          <a:p>
            <a:r>
              <a:rPr lang="en-CA" dirty="0"/>
              <a:t>In the lab, lw.shrinkage_ gives delta; usually 0.05 to 0.25 for equities</a:t>
            </a:r>
          </a:p>
          <a:p>
            <a:r>
              <a:rPr lang="en-CA" dirty="0"/>
              <a:t>Lower condition number leads to more stable portfolio weights across time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Risk Parity - Intuition and Motivation</a:t>
            </a:r>
            <a:endParaRPr b="1" dirty="0">
              <a:latin typeface="Arial" panose="020B0604020202020204" pitchFamily="34" charset="0"/>
              <a:cs typeface="Arial" panose="020B0604020202020204" pitchFamily="34" charset="0"/>
            </a:endParaRPr>
          </a:p>
        </p:txBody>
      </p:sp>
      <p:sp>
        <p:nvSpPr>
          <p:cNvPr id="4016" name="Content Placeholder"/>
          <p:cNvSpPr>
            <a:spLocks noGrp="1"/>
          </p:cNvSpPr>
          <p:nvPr>
            <p:ph sz="half" idx="2"/>
          </p:nvPr>
        </p:nvSpPr>
        <p:spPr/>
        <p:txBody>
          <a:bodyPr wrap="square">
            <a:normAutofit fontScale="92500" lnSpcReduction="20000"/>
          </a:bodyPr>
          <a:lstStyle/>
          <a:p>
            <a:pPr marL="0" indent="0">
              <a:buNone/>
            </a:pPr>
            <a:r>
              <a:rPr lang="en-CA" b="1" dirty="0"/>
              <a:t>Risk parity: allocate so every asset contributes equally to total portfolio risk.</a:t>
            </a:r>
          </a:p>
          <a:p>
            <a:r>
              <a:rPr lang="en-CA" dirty="0"/>
              <a:t>Equal-weight is not equal-risk: volatility differences make some assets dominate risk</a:t>
            </a:r>
          </a:p>
          <a:p>
            <a:r>
              <a:rPr lang="en-CA" dirty="0"/>
              <a:t>In a 60/40 stock-bond portfolio, equities typically drive over 90% of portfolio risk</a:t>
            </a:r>
          </a:p>
          <a:p>
            <a:r>
              <a:rPr lang="en-CA" dirty="0"/>
              <a:t>Risk parity targets equal risk contribution from every asset</a:t>
            </a:r>
          </a:p>
          <a:p>
            <a:r>
              <a:rPr lang="en-CA" dirty="0"/>
              <a:t>No expected-return forecasts needed, a pure risk-decomposition approach</a:t>
            </a:r>
          </a:p>
          <a:p>
            <a:r>
              <a:rPr lang="en-CA" dirty="0"/>
              <a:t>Pioneered by Ray Dalio (Bridgewater 'All Weather', about 1996) and popularised by </a:t>
            </a:r>
            <a:r>
              <a:rPr lang="en-CA" dirty="0" err="1"/>
              <a:t>Asness</a:t>
            </a:r>
            <a:r>
              <a:rPr lang="en-CA" dirty="0"/>
              <a:t> (AQR)</a:t>
            </a:r>
          </a:p>
          <a:p>
            <a:r>
              <a:rPr lang="en-CA" dirty="0" err="1"/>
              <a:t>Asness</a:t>
            </a:r>
            <a:r>
              <a:rPr lang="en-CA" dirty="0"/>
              <a:t>, Frazzini and Pedersen (2012): leverage aversion explains the risk-parity premium</a:t>
            </a:r>
          </a:p>
          <a:p>
            <a:r>
              <a:rPr lang="en-CA" dirty="0"/>
              <a:t>Leverage aversion means low-beta assets are underpriced, so risk parity earns a premium</a:t>
            </a:r>
          </a:p>
          <a:p>
            <a:r>
              <a:rPr lang="en-CA" dirty="0"/>
              <a:t>Criticism: works best in declining-rate environments; can struggle when rates rise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Risk Contribution and Equal-Risk-Contribution (ERC)</a:t>
            </a:r>
            <a:endParaRPr b="1" dirty="0">
              <a:latin typeface="Arial" panose="020B0604020202020204" pitchFamily="34" charset="0"/>
              <a:cs typeface="Arial" panose="020B0604020202020204" pitchFamily="34" charset="0"/>
            </a:endParaRPr>
          </a:p>
        </p:txBody>
      </p:sp>
      <p:pic>
        <p:nvPicPr>
          <p:cNvPr id="4018" name="Picture 4017" descr="f_erc1.png"/>
          <p:cNvPicPr>
            <a:picLocks noChangeAspect="1"/>
          </p:cNvPicPr>
          <p:nvPr/>
        </p:nvPicPr>
        <p:blipFill>
          <a:blip r:embed="rId3"/>
          <a:stretch>
            <a:fillRect/>
          </a:stretch>
        </p:blipFill>
        <p:spPr>
          <a:xfrm>
            <a:off x="2819400" y="1043083"/>
            <a:ext cx="6029195" cy="606317"/>
          </a:xfrm>
          <a:prstGeom prst="rect">
            <a:avLst/>
          </a:prstGeom>
        </p:spPr>
      </p:pic>
      <p:pic>
        <p:nvPicPr>
          <p:cNvPr id="4019" name="Picture 4018" descr="f_erc2.png"/>
          <p:cNvPicPr>
            <a:picLocks noChangeAspect="1"/>
          </p:cNvPicPr>
          <p:nvPr/>
        </p:nvPicPr>
        <p:blipFill>
          <a:blip r:embed="rId4"/>
          <a:stretch>
            <a:fillRect/>
          </a:stretch>
        </p:blipFill>
        <p:spPr>
          <a:xfrm>
            <a:off x="1524000" y="1877961"/>
            <a:ext cx="9529468" cy="737616"/>
          </a:xfrm>
          <a:prstGeom prst="rect">
            <a:avLst/>
          </a:prstGeom>
        </p:spPr>
      </p:pic>
      <mc:AlternateContent xmlns:mc="http://schemas.openxmlformats.org/markup-compatibility/2006" xmlns:a14="http://schemas.microsoft.com/office/drawing/2010/main">
        <mc:Choice Requires="a14">
          <p:sp>
            <p:nvSpPr>
              <p:cNvPr id="2" name="Content Placeholder"/>
              <p:cNvSpPr>
                <a:spLocks noGrp="1"/>
              </p:cNvSpPr>
              <p:nvPr>
                <p:ph sz="half" idx="2"/>
              </p:nvPr>
            </p:nvSpPr>
            <p:spPr>
              <a:xfrm>
                <a:off x="420624" y="2825496"/>
                <a:ext cx="11347704" cy="3227832"/>
              </a:xfrm>
            </p:spPr>
            <p:txBody>
              <a:bodyPr wrap="square">
                <a:normAutofit fontScale="85000" lnSpcReduction="20000"/>
              </a:bodyPr>
              <a:lstStyle/>
              <a:p>
                <a:pPr marL="0" indent="0">
                  <a:buNone/>
                </a:pPr>
                <a:r>
                  <a:rPr lang="en-CA" b="1" dirty="0"/>
                  <a:t>Interpreting the risk decomposition</a:t>
                </a:r>
              </a:p>
              <a:p>
                <a:r>
                  <a:rPr lang="en-CA" dirty="0"/>
                  <a:t>Euler's theorem: portfolio volatility equals the sum of risk contributions (exact decomposition)</a:t>
                </a:r>
              </a:p>
              <a:p>
                <a:r>
                  <a:rPr lang="en-CA" dirty="0"/>
                  <a:t>Fractional risk contribution: </a:t>
                </a:r>
                <a:r>
                  <a:rPr lang="en-CA" dirty="0" err="1"/>
                  <a:t>RC</a:t>
                </a:r>
                <a:r>
                  <a:rPr lang="en-CA" baseline="-25000" dirty="0" err="1"/>
                  <a:t>i</a:t>
                </a:r>
                <a:r>
                  <a:rPr lang="en-CA" dirty="0"/>
                  <a:t> /</a:t>
                </a:r>
                <a:r>
                  <a:rPr lang="en-CA" dirty="0" err="1"/>
                  <a:t>sigma</a:t>
                </a:r>
                <a:r>
                  <a:rPr lang="en-CA" baseline="-25000" dirty="0" err="1"/>
                  <a:t>p</a:t>
                </a:r>
                <a:r>
                  <a:rPr lang="en-CA" dirty="0"/>
                  <a:t> = 1/N in ERC</a:t>
                </a:r>
              </a:p>
              <a:p>
                <a:r>
                  <a:rPr lang="en-CA" dirty="0"/>
                  <a:t>ERC is the unique solution that equalises all risk contributions</a:t>
                </a:r>
              </a:p>
              <a:p>
                <a:r>
                  <a:rPr lang="en-CA" dirty="0"/>
                  <a:t>No closed form in general, so use numerical optimisation</a:t>
                </a:r>
              </a:p>
              <a:p>
                <a:r>
                  <a:rPr lang="en-CA" dirty="0"/>
                  <a:t>Loss function:  </a:t>
                </a:r>
                <a14:m>
                  <m:oMath xmlns:m="http://schemas.openxmlformats.org/officeDocument/2006/math">
                    <m:nary>
                      <m:naryPr>
                        <m:chr m:val="∑"/>
                        <m:subHide m:val="on"/>
                        <m:supHide m:val="on"/>
                        <m:ctrlPr>
                          <a:rPr lang="en-CA" i="1" smtClean="0">
                            <a:latin typeface="Cambria Math" panose="02040503050406030204" pitchFamily="18" charset="0"/>
                          </a:rPr>
                        </m:ctrlPr>
                      </m:naryPr>
                      <m:sub/>
                      <m:sup/>
                      <m:e>
                        <m:r>
                          <m:rPr>
                            <m:nor/>
                          </m:rPr>
                          <a:rPr lang="en-CA" i="0" dirty="0"/>
                          <m:t>(</m:t>
                        </m:r>
                        <m:r>
                          <m:rPr>
                            <m:nor/>
                          </m:rPr>
                          <a:rPr lang="en-CA" i="0" dirty="0"/>
                          <m:t>RCi</m:t>
                        </m:r>
                        <m:r>
                          <m:rPr>
                            <m:nor/>
                          </m:rPr>
                          <a:rPr lang="en-CA" i="0" dirty="0"/>
                          <m:t> − </m:t>
                        </m:r>
                        <m:r>
                          <m:rPr>
                            <m:nor/>
                          </m:rPr>
                          <a:rPr lang="en-CA" i="0" dirty="0"/>
                          <m:t>RCj</m:t>
                        </m:r>
                        <m:r>
                          <m:rPr>
                            <m:nor/>
                          </m:rPr>
                          <a:rPr lang="en-CA" i="0" dirty="0"/>
                          <m:t>)2</m:t>
                        </m:r>
                      </m:e>
                    </m:nary>
                    <m:r>
                      <a:rPr lang="en-US" b="0" i="0" smtClean="0">
                        <a:latin typeface="Cambria Math" panose="02040503050406030204" pitchFamily="18" charset="0"/>
                      </a:rPr>
                      <m:t> →0</m:t>
                    </m:r>
                  </m:oMath>
                </a14:m>
                <a:endParaRPr lang="en-CA" dirty="0"/>
              </a:p>
              <a:p>
                <a:r>
                  <a:rPr lang="en-CA" dirty="0"/>
                  <a:t>Constraints: weights at least zero, weights sum to one (long-only ERC)</a:t>
                </a:r>
              </a:p>
              <a:p>
                <a:r>
                  <a:rPr lang="en-CA" dirty="0"/>
                  <a:t>With </a:t>
                </a:r>
                <a:r>
                  <a:rPr lang="en-CA" dirty="0" err="1"/>
                  <a:t>Ledoit</a:t>
                </a:r>
                <a:r>
                  <a:rPr lang="en-CA" dirty="0"/>
                  <a:t>-Wolf </a:t>
                </a:r>
                <a:r>
                  <a:rPr lang="en-CA" dirty="0" err="1"/>
                  <a:t>Σ</a:t>
                </a:r>
                <a:r>
                  <a:rPr lang="en-CA" dirty="0"/>
                  <a:t>, ERC weights are more stable over time</a:t>
                </a:r>
              </a:p>
            </p:txBody>
          </p:sp>
        </mc:Choice>
        <mc:Fallback xmlns="">
          <p:sp>
            <p:nvSpPr>
              <p:cNvPr id="2" name="Content Placeholder"/>
              <p:cNvSpPr>
                <a:spLocks noGrp="1" noRot="1" noChangeAspect="1" noMove="1" noResize="1" noEditPoints="1" noAdjustHandles="1" noChangeArrowheads="1" noChangeShapeType="1" noTextEdit="1"/>
              </p:cNvSpPr>
              <p:nvPr>
                <p:ph sz="half" idx="2"/>
              </p:nvPr>
            </p:nvSpPr>
            <p:spPr>
              <a:xfrm>
                <a:off x="420624" y="2825496"/>
                <a:ext cx="11347704" cy="3227832"/>
              </a:xfrm>
              <a:blipFill>
                <a:blip r:embed="rId5"/>
                <a:stretch>
                  <a:fillRect l="-1678" t="-5882" b="-1961"/>
                </a:stretch>
              </a:blipFill>
            </p:spPr>
            <p:txBody>
              <a:bodyPr/>
              <a:lstStyle/>
              <a:p>
                <a:r>
                  <a:rPr 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Risk Parity vs Alternatives - A Structured Comparison</a:t>
            </a:r>
            <a:endParaRPr b="1" dirty="0">
              <a:latin typeface="Arial" panose="020B0604020202020204" pitchFamily="34" charset="0"/>
              <a:cs typeface="Arial" panose="020B0604020202020204" pitchFamily="34" charset="0"/>
            </a:endParaRPr>
          </a:p>
        </p:txBody>
      </p:sp>
      <p:sp>
        <p:nvSpPr>
          <p:cNvPr id="4022" name="Content Placeholder"/>
          <p:cNvSpPr>
            <a:spLocks noGrp="1"/>
          </p:cNvSpPr>
          <p:nvPr>
            <p:ph sz="half" idx="2"/>
          </p:nvPr>
        </p:nvSpPr>
        <p:spPr>
          <a:xfrm>
            <a:off x="423100" y="1066801"/>
            <a:ext cx="11345797" cy="4970584"/>
          </a:xfrm>
        </p:spPr>
        <p:txBody>
          <a:bodyPr wrap="square">
            <a:normAutofit fontScale="55000" lnSpcReduction="20000"/>
          </a:bodyPr>
          <a:lstStyle/>
          <a:p>
            <a:pPr marL="0" indent="0">
              <a:buNone/>
            </a:pPr>
            <a:r>
              <a:rPr lang="en-CA" b="1" dirty="0"/>
              <a:t>Equal Weight (1/N)</a:t>
            </a:r>
          </a:p>
          <a:p>
            <a:r>
              <a:rPr lang="en-CA" dirty="0"/>
              <a:t>Simple: weight of each asset is 1 over N</a:t>
            </a:r>
          </a:p>
          <a:p>
            <a:r>
              <a:rPr lang="en-CA" dirty="0"/>
              <a:t>No estimation required</a:t>
            </a:r>
          </a:p>
          <a:p>
            <a:r>
              <a:rPr lang="en-CA" dirty="0"/>
              <a:t>Surprisingly competitive (DeMiguel 2009)</a:t>
            </a:r>
          </a:p>
          <a:p>
            <a:r>
              <a:rPr lang="en-CA" dirty="0"/>
              <a:t>Risk dominated by volatile assets; not risk-diversified</a:t>
            </a:r>
          </a:p>
          <a:p>
            <a:pPr marL="0" indent="0">
              <a:buNone/>
            </a:pPr>
            <a:r>
              <a:rPr lang="en-CA" b="1" dirty="0"/>
              <a:t>Risk Parity (ERC)</a:t>
            </a:r>
          </a:p>
          <a:p>
            <a:r>
              <a:rPr lang="en-CA" dirty="0"/>
              <a:t>Equates risk contributions; uses </a:t>
            </a:r>
            <a:r>
              <a:rPr lang="en-CA" dirty="0" err="1"/>
              <a:t>Σ</a:t>
            </a:r>
            <a:r>
              <a:rPr lang="en-CA" dirty="0"/>
              <a:t> only (no </a:t>
            </a:r>
            <a:r>
              <a:rPr lang="en-CA" dirty="0" err="1"/>
              <a:t>μ</a:t>
            </a:r>
            <a:r>
              <a:rPr lang="en-CA" dirty="0"/>
              <a:t> needed)</a:t>
            </a:r>
          </a:p>
          <a:p>
            <a:r>
              <a:rPr lang="en-CA" dirty="0"/>
              <a:t>Robust to return estimation errors</a:t>
            </a:r>
          </a:p>
          <a:p>
            <a:r>
              <a:rPr lang="en-CA" dirty="0"/>
              <a:t>Often leveraged to hit a return target; sensitive to correlations rising</a:t>
            </a:r>
          </a:p>
          <a:p>
            <a:pPr marL="0" indent="0">
              <a:buNone/>
            </a:pPr>
            <a:r>
              <a:rPr lang="en-CA" b="1" dirty="0"/>
              <a:t>Min-Variance</a:t>
            </a:r>
          </a:p>
          <a:p>
            <a:r>
              <a:rPr lang="en-CA" dirty="0"/>
              <a:t>Minimises portfolio variance; concentrates in low-vol assets</a:t>
            </a:r>
          </a:p>
          <a:p>
            <a:r>
              <a:rPr lang="en-CA" dirty="0"/>
              <a:t>Sensitive to </a:t>
            </a:r>
            <a:r>
              <a:rPr lang="en-CA" dirty="0" err="1"/>
              <a:t>Σ</a:t>
            </a:r>
            <a:r>
              <a:rPr lang="en-CA" dirty="0"/>
              <a:t> estimation; good in-sample, unstable out-of-sample</a:t>
            </a:r>
          </a:p>
          <a:p>
            <a:r>
              <a:rPr lang="en-CA" dirty="0"/>
              <a:t>Not a risk-parity strategy</a:t>
            </a:r>
          </a:p>
          <a:p>
            <a:pPr marL="0" indent="0">
              <a:buNone/>
            </a:pPr>
            <a:r>
              <a:rPr lang="en-CA" b="1" dirty="0"/>
              <a:t>Tangency (Max Sharpe)</a:t>
            </a:r>
          </a:p>
          <a:p>
            <a:r>
              <a:rPr lang="en-CA" dirty="0"/>
              <a:t>Maximises (</a:t>
            </a:r>
            <a:r>
              <a:rPr lang="en-CA" dirty="0" err="1"/>
              <a:t>μ</a:t>
            </a:r>
            <a:r>
              <a:rPr lang="en-CA" dirty="0"/>
              <a:t> -r</a:t>
            </a:r>
            <a:r>
              <a:rPr lang="en-CA" baseline="-25000" dirty="0"/>
              <a:t>f</a:t>
            </a:r>
            <a:r>
              <a:rPr lang="en-CA" dirty="0"/>
              <a:t>)/</a:t>
            </a:r>
            <a:r>
              <a:rPr lang="en-CA" dirty="0" err="1"/>
              <a:t>σ</a:t>
            </a:r>
            <a:r>
              <a:rPr lang="en-CA" dirty="0"/>
              <a:t>; requires both </a:t>
            </a:r>
            <a:r>
              <a:rPr lang="en-CA" dirty="0" err="1"/>
              <a:t>μ</a:t>
            </a:r>
            <a:r>
              <a:rPr lang="en-CA" dirty="0"/>
              <a:t> and </a:t>
            </a:r>
            <a:r>
              <a:rPr lang="en-CA" dirty="0" err="1"/>
              <a:t>Σ</a:t>
            </a:r>
            <a:endParaRPr lang="en-CA" dirty="0"/>
          </a:p>
          <a:p>
            <a:r>
              <a:rPr lang="en-CA" dirty="0"/>
              <a:t>Highly sensitive to </a:t>
            </a:r>
            <a:r>
              <a:rPr lang="en-CA" dirty="0" err="1"/>
              <a:t>μ</a:t>
            </a:r>
            <a:r>
              <a:rPr lang="en-CA" dirty="0"/>
              <a:t> errors; often extreme corner weights</a:t>
            </a:r>
          </a:p>
          <a:p>
            <a:r>
              <a:rPr lang="en-CA" dirty="0"/>
              <a:t>BL provides better mu input; shown in the out-of-sample comparison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Black-Litterman - Framework and Intuition</a:t>
            </a:r>
            <a:endParaRPr b="1" dirty="0">
              <a:latin typeface="Arial" panose="020B0604020202020204" pitchFamily="34" charset="0"/>
              <a:cs typeface="Arial" panose="020B0604020202020204" pitchFamily="34" charset="0"/>
            </a:endParaRPr>
          </a:p>
        </p:txBody>
      </p:sp>
      <p:sp>
        <p:nvSpPr>
          <p:cNvPr id="4026" name="Content Placeholder"/>
          <p:cNvSpPr>
            <a:spLocks noGrp="1"/>
          </p:cNvSpPr>
          <p:nvPr>
            <p:ph sz="half" idx="2"/>
          </p:nvPr>
        </p:nvSpPr>
        <p:spPr>
          <a:xfrm>
            <a:off x="423100" y="1143001"/>
            <a:ext cx="11345797" cy="4894384"/>
          </a:xfrm>
        </p:spPr>
        <p:txBody>
          <a:bodyPr wrap="square">
            <a:normAutofit fontScale="92500" lnSpcReduction="20000"/>
          </a:bodyPr>
          <a:lstStyle/>
          <a:p>
            <a:pPr marL="0" indent="0">
              <a:buNone/>
            </a:pPr>
            <a:r>
              <a:rPr lang="en-CA" b="1" dirty="0"/>
              <a:t>The problem with classical MVO</a:t>
            </a:r>
          </a:p>
          <a:p>
            <a:r>
              <a:rPr lang="en-CA" dirty="0"/>
              <a:t>Expected return </a:t>
            </a:r>
            <a:r>
              <a:rPr lang="en-CA" dirty="0" err="1"/>
              <a:t>μ</a:t>
            </a:r>
            <a:r>
              <a:rPr lang="en-CA" dirty="0"/>
              <a:t> drives the weights strongly</a:t>
            </a:r>
          </a:p>
          <a:p>
            <a:r>
              <a:rPr lang="en-CA" dirty="0"/>
              <a:t>Small changes in </a:t>
            </a:r>
            <a:r>
              <a:rPr lang="en-CA" dirty="0" err="1"/>
              <a:t>μ</a:t>
            </a:r>
            <a:r>
              <a:rPr lang="en-CA" dirty="0"/>
              <a:t> lead to extreme weight shifts</a:t>
            </a:r>
          </a:p>
          <a:p>
            <a:r>
              <a:rPr lang="en-CA" dirty="0"/>
              <a:t>Ad hoc </a:t>
            </a:r>
            <a:r>
              <a:rPr lang="en-CA" dirty="0" err="1"/>
              <a:t>μ</a:t>
            </a:r>
            <a:r>
              <a:rPr lang="en-CA" dirty="0"/>
              <a:t> inputs give unintuitive portfolios</a:t>
            </a:r>
          </a:p>
          <a:p>
            <a:r>
              <a:rPr lang="en-CA" dirty="0"/>
              <a:t>No link between weights and market equilibrium</a:t>
            </a:r>
          </a:p>
          <a:p>
            <a:r>
              <a:rPr lang="en-CA" dirty="0"/>
              <a:t>Solution: start from a 'neutral' prior and update only where you have conviction</a:t>
            </a:r>
          </a:p>
          <a:p>
            <a:pPr marL="0" indent="0">
              <a:buNone/>
            </a:pPr>
            <a:r>
              <a:rPr lang="en-CA" b="1" dirty="0"/>
              <a:t>The BL three-step framework</a:t>
            </a:r>
          </a:p>
          <a:p>
            <a:r>
              <a:rPr lang="en-CA" dirty="0"/>
              <a:t>Step 1 Prior: reverse-optimise market weights into equilibrium returns Pi</a:t>
            </a:r>
          </a:p>
          <a:p>
            <a:r>
              <a:rPr lang="en-CA" dirty="0"/>
              <a:t>Step 2 Views: express views as a view portfolio matrix P and view returns Q with uncertainty Omega</a:t>
            </a:r>
          </a:p>
          <a:p>
            <a:r>
              <a:rPr lang="en-CA" dirty="0"/>
              <a:t>Step 3 Posterior: Bayesian update, a weighted average of Pi and the view returns Q</a:t>
            </a:r>
          </a:p>
          <a:p>
            <a:r>
              <a:rPr lang="en-CA" dirty="0"/>
              <a:t>Result: intuitive, stable, market-consistent allocations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Black-Litterman Posterior Expected Returns</a:t>
            </a:r>
            <a:endParaRPr b="1" dirty="0">
              <a:latin typeface="Arial" panose="020B0604020202020204" pitchFamily="34" charset="0"/>
              <a:cs typeface="Arial" panose="020B0604020202020204" pitchFamily="34" charset="0"/>
            </a:endParaRPr>
          </a:p>
        </p:txBody>
      </p:sp>
      <p:pic>
        <p:nvPicPr>
          <p:cNvPr id="4028" name="Picture 4027" descr="f_bl_prior.png"/>
          <p:cNvPicPr>
            <a:picLocks noChangeAspect="1"/>
          </p:cNvPicPr>
          <p:nvPr/>
        </p:nvPicPr>
        <p:blipFill>
          <a:blip r:embed="rId3"/>
          <a:stretch>
            <a:fillRect/>
          </a:stretch>
        </p:blipFill>
        <p:spPr>
          <a:xfrm>
            <a:off x="2909841" y="914400"/>
            <a:ext cx="6369268" cy="457200"/>
          </a:xfrm>
          <a:prstGeom prst="rect">
            <a:avLst/>
          </a:prstGeom>
        </p:spPr>
      </p:pic>
      <p:pic>
        <p:nvPicPr>
          <p:cNvPr id="4029" name="Picture 4028" descr="f_bl_post.png"/>
          <p:cNvPicPr>
            <a:picLocks noChangeAspect="1"/>
          </p:cNvPicPr>
          <p:nvPr/>
        </p:nvPicPr>
        <p:blipFill>
          <a:blip r:embed="rId4"/>
          <a:stretch>
            <a:fillRect/>
          </a:stretch>
        </p:blipFill>
        <p:spPr>
          <a:xfrm>
            <a:off x="1986876" y="1524000"/>
            <a:ext cx="8215200" cy="457200"/>
          </a:xfrm>
          <a:prstGeom prst="rect">
            <a:avLst/>
          </a:prstGeom>
        </p:spPr>
      </p:pic>
      <p:pic>
        <p:nvPicPr>
          <p:cNvPr id="4030" name="Picture 4029" descr="f_bl_postcov.png"/>
          <p:cNvPicPr>
            <a:picLocks noChangeAspect="1"/>
          </p:cNvPicPr>
          <p:nvPr/>
        </p:nvPicPr>
        <p:blipFill>
          <a:blip r:embed="rId5"/>
          <a:stretch>
            <a:fillRect/>
          </a:stretch>
        </p:blipFill>
        <p:spPr>
          <a:xfrm>
            <a:off x="3984688" y="2133600"/>
            <a:ext cx="4219575" cy="457200"/>
          </a:xfrm>
          <a:prstGeom prst="rect">
            <a:avLst/>
          </a:prstGeom>
        </p:spPr>
      </p:pic>
      <p:sp>
        <p:nvSpPr>
          <p:cNvPr id="2" name="Content Placeholder"/>
          <p:cNvSpPr>
            <a:spLocks noGrp="1"/>
          </p:cNvSpPr>
          <p:nvPr>
            <p:ph sz="half" idx="2"/>
          </p:nvPr>
        </p:nvSpPr>
        <p:spPr>
          <a:xfrm>
            <a:off x="420624" y="2971800"/>
            <a:ext cx="11347704" cy="3276600"/>
          </a:xfrm>
        </p:spPr>
        <p:txBody>
          <a:bodyPr wrap="square">
            <a:normAutofit fontScale="85000" lnSpcReduction="20000"/>
          </a:bodyPr>
          <a:lstStyle/>
          <a:p>
            <a:pPr marL="0" indent="0">
              <a:buNone/>
            </a:pPr>
            <a:r>
              <a:rPr lang="en-CA" b="1" dirty="0"/>
              <a:t>Reading the posterior formula</a:t>
            </a:r>
          </a:p>
          <a:p>
            <a:r>
              <a:rPr lang="en-CA" dirty="0"/>
              <a:t>delta: risk-aversion coefficient (typically 2.5)</a:t>
            </a:r>
          </a:p>
          <a:p>
            <a:r>
              <a:rPr lang="en-CA" dirty="0" err="1"/>
              <a:t>w</a:t>
            </a:r>
            <a:r>
              <a:rPr lang="en-CA" baseline="-25000" dirty="0" err="1"/>
              <a:t>mkt</a:t>
            </a:r>
            <a:r>
              <a:rPr lang="en-CA" dirty="0"/>
              <a:t>: market-cap (or equal-weight proxy) portfolio</a:t>
            </a:r>
          </a:p>
          <a:p>
            <a:r>
              <a:rPr lang="en-CA" dirty="0"/>
              <a:t>tau: scales prior uncertainty (typically 0.01 to 0.10)</a:t>
            </a:r>
          </a:p>
          <a:p>
            <a:r>
              <a:rPr lang="en-CA" dirty="0"/>
              <a:t>P: K by N view portfolio matrix (rows are views)</a:t>
            </a:r>
          </a:p>
          <a:p>
            <a:r>
              <a:rPr lang="en-CA" dirty="0"/>
              <a:t>Q: K by 1 view return vector (absolute or relative)</a:t>
            </a:r>
          </a:p>
          <a:p>
            <a:r>
              <a:rPr lang="en-CA" dirty="0"/>
              <a:t>Omega: K by K diagonal view-uncertainty matrix</a:t>
            </a:r>
          </a:p>
          <a:p>
            <a:r>
              <a:rPr lang="en-CA" dirty="0"/>
              <a:t>A low </a:t>
            </a:r>
            <a:r>
              <a:rPr lang="en-CA" dirty="0" err="1"/>
              <a:t>Omega</a:t>
            </a:r>
            <a:r>
              <a:rPr lang="en-CA" baseline="-25000" dirty="0" err="1"/>
              <a:t>ii</a:t>
            </a:r>
            <a:r>
              <a:rPr lang="en-CA" dirty="0"/>
              <a:t> means high confidence in view i, so a large pull from Pi toward Qi</a:t>
            </a:r>
          </a:p>
          <a:p>
            <a:r>
              <a:rPr lang="en-CA" dirty="0"/>
              <a:t>The formula is a precision-weighted average: more certain inputs get more weight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Constructing Investor Views in Practice</a:t>
            </a:r>
            <a:endParaRPr b="1" dirty="0">
              <a:latin typeface="Arial" panose="020B0604020202020204" pitchFamily="34" charset="0"/>
              <a:cs typeface="Arial" panose="020B0604020202020204" pitchFamily="34" charset="0"/>
            </a:endParaRPr>
          </a:p>
        </p:txBody>
      </p:sp>
      <p:sp>
        <p:nvSpPr>
          <p:cNvPr id="4030" name="Content Placeholder"/>
          <p:cNvSpPr>
            <a:spLocks noGrp="1"/>
          </p:cNvSpPr>
          <p:nvPr>
            <p:ph sz="half" idx="2"/>
          </p:nvPr>
        </p:nvSpPr>
        <p:spPr/>
        <p:txBody>
          <a:bodyPr wrap="square">
            <a:normAutofit fontScale="92500"/>
          </a:bodyPr>
          <a:lstStyle/>
          <a:p>
            <a:pPr marL="0" indent="0">
              <a:buNone/>
            </a:pPr>
            <a:r>
              <a:rPr lang="en-CA" b="1" dirty="0"/>
              <a:t>Views translate conviction into a statistical input, calibrate Omega honestly.</a:t>
            </a:r>
          </a:p>
          <a:p>
            <a:r>
              <a:rPr lang="en-CA" dirty="0"/>
              <a:t>Two view types: absolute ('</a:t>
            </a:r>
            <a:r>
              <a:rPr lang="en-CA" dirty="0" err="1"/>
              <a:t>Asset</a:t>
            </a:r>
            <a:r>
              <a:rPr lang="en-CA" baseline="-25000" dirty="0" err="1"/>
              <a:t>i</a:t>
            </a:r>
            <a:r>
              <a:rPr lang="en-CA" dirty="0"/>
              <a:t> returns X% per year') and relative ('i outperforms j by X%')</a:t>
            </a:r>
          </a:p>
          <a:p>
            <a:r>
              <a:rPr lang="en-CA" dirty="0"/>
              <a:t>Absolute view: a P row with a single plus one at position i; </a:t>
            </a:r>
            <a:r>
              <a:rPr lang="en-CA" dirty="0" err="1"/>
              <a:t>Qk</a:t>
            </a:r>
            <a:r>
              <a:rPr lang="en-CA" dirty="0"/>
              <a:t> is the target return</a:t>
            </a:r>
          </a:p>
          <a:p>
            <a:r>
              <a:rPr lang="en-CA" dirty="0"/>
              <a:t>Relative view: a P row with plus one at i and minus one at j; </a:t>
            </a:r>
            <a:r>
              <a:rPr lang="en-CA" dirty="0" err="1"/>
              <a:t>Qk</a:t>
            </a:r>
            <a:r>
              <a:rPr lang="en-CA" dirty="0"/>
              <a:t> is the expected spread</a:t>
            </a:r>
          </a:p>
          <a:p>
            <a:r>
              <a:rPr lang="en-CA" dirty="0"/>
              <a:t>Omega is view uncertainty; diagonal entries are the view standard error squared</a:t>
            </a:r>
          </a:p>
          <a:p>
            <a:r>
              <a:rPr lang="en-CA" dirty="0"/>
              <a:t>A high-confidence view (small </a:t>
            </a:r>
            <a:r>
              <a:rPr lang="en-CA" dirty="0" err="1"/>
              <a:t>Omega</a:t>
            </a:r>
            <a:r>
              <a:rPr lang="en-CA" baseline="-25000" dirty="0" err="1"/>
              <a:t>ii</a:t>
            </a:r>
            <a:r>
              <a:rPr lang="en-CA" dirty="0"/>
              <a:t>) shifts the posterior strongly toward Q_i</a:t>
            </a:r>
          </a:p>
          <a:p>
            <a:r>
              <a:rPr lang="en-CA" dirty="0"/>
              <a:t>Lab example, View 1: XLK (Technology) returns 18% absolute</a:t>
            </a:r>
          </a:p>
          <a:p>
            <a:r>
              <a:rPr lang="en-CA" dirty="0"/>
              <a:t>Lab example, View 2: XLE (Energy) outperforms XLU (Utilities) by 5%</a:t>
            </a:r>
          </a:p>
          <a:p>
            <a:r>
              <a:rPr lang="en-CA" dirty="0"/>
              <a:t>Both views shift BL weights toward XLK and XLE and away from XLU, inspect the chart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 vs Equilibrium - Portfolio Implications</a:t>
            </a:r>
            <a:endParaRPr b="1" dirty="0">
              <a:latin typeface="Arial" panose="020B0604020202020204" pitchFamily="34" charset="0"/>
              <a:cs typeface="Arial" panose="020B0604020202020204" pitchFamily="34" charset="0"/>
            </a:endParaRPr>
          </a:p>
        </p:txBody>
      </p:sp>
      <p:sp>
        <p:nvSpPr>
          <p:cNvPr id="4032" name="Content Placeholder"/>
          <p:cNvSpPr>
            <a:spLocks noGrp="1"/>
          </p:cNvSpPr>
          <p:nvPr>
            <p:ph sz="half" idx="2"/>
          </p:nvPr>
        </p:nvSpPr>
        <p:spPr>
          <a:xfrm>
            <a:off x="423100" y="1295401"/>
            <a:ext cx="11345797" cy="4741984"/>
          </a:xfrm>
        </p:spPr>
        <p:txBody>
          <a:bodyPr wrap="square">
            <a:normAutofit fontScale="85000" lnSpcReduction="20000"/>
          </a:bodyPr>
          <a:lstStyle/>
          <a:p>
            <a:pPr marL="0" indent="0">
              <a:buNone/>
            </a:pPr>
            <a:r>
              <a:rPr lang="en-CA" b="1" dirty="0"/>
              <a:t>Equilibrium portfolio (prior)</a:t>
            </a:r>
          </a:p>
          <a:p>
            <a:r>
              <a:rPr lang="en-CA" dirty="0"/>
              <a:t>All assets have market-implied returns Pi</a:t>
            </a:r>
          </a:p>
          <a:p>
            <a:r>
              <a:rPr lang="en-CA" dirty="0"/>
              <a:t>Maximum diversification, close to equal weight</a:t>
            </a:r>
          </a:p>
          <a:p>
            <a:r>
              <a:rPr lang="en-CA" dirty="0"/>
              <a:t>No conviction means no tilts, boring but robust</a:t>
            </a:r>
          </a:p>
          <a:p>
            <a:r>
              <a:rPr lang="en-CA" dirty="0"/>
              <a:t>Starting point before any view is applied</a:t>
            </a:r>
          </a:p>
          <a:p>
            <a:r>
              <a:rPr lang="en-CA" dirty="0"/>
              <a:t>Stable and reproducible across investors; equivalent to a CAPM passive index allocation</a:t>
            </a:r>
          </a:p>
          <a:p>
            <a:pPr marL="0" indent="0">
              <a:buNone/>
            </a:pPr>
            <a:r>
              <a:rPr lang="en-CA" b="1" dirty="0"/>
              <a:t>BL posterior portfolio</a:t>
            </a:r>
          </a:p>
          <a:p>
            <a:r>
              <a:rPr lang="en-CA" dirty="0"/>
              <a:t>Views tilt returns from Pi toward Q</a:t>
            </a:r>
          </a:p>
          <a:p>
            <a:r>
              <a:rPr lang="en-CA" dirty="0"/>
              <a:t>High-conviction view assets gain weight</a:t>
            </a:r>
          </a:p>
          <a:p>
            <a:r>
              <a:rPr lang="en-CA" dirty="0"/>
              <a:t>Lower-conviction views leave weight near the prior</a:t>
            </a:r>
          </a:p>
          <a:p>
            <a:r>
              <a:rPr lang="en-CA" dirty="0"/>
              <a:t>Result: moderate, sensible tilts, not corner solutions</a:t>
            </a:r>
          </a:p>
          <a:p>
            <a:r>
              <a:rPr lang="en-CA" dirty="0"/>
              <a:t>Posterior covariance used in optimisation is tighter; max-Sharpe on BL returns gives stable, tilted weights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ESG Ratings and the Divergence Problem</a:t>
            </a:r>
            <a:endParaRPr b="1" dirty="0">
              <a:latin typeface="Arial" panose="020B0604020202020204" pitchFamily="34" charset="0"/>
              <a:cs typeface="Arial" panose="020B0604020202020204" pitchFamily="34" charset="0"/>
            </a:endParaRPr>
          </a:p>
        </p:txBody>
      </p:sp>
      <p:sp>
        <p:nvSpPr>
          <p:cNvPr id="4036" name="Content Placeholder"/>
          <p:cNvSpPr>
            <a:spLocks noGrp="1"/>
          </p:cNvSpPr>
          <p:nvPr>
            <p:ph sz="half" idx="2"/>
          </p:nvPr>
        </p:nvSpPr>
        <p:spPr/>
        <p:txBody>
          <a:bodyPr wrap="square">
            <a:normAutofit fontScale="92500" lnSpcReduction="20000"/>
          </a:bodyPr>
          <a:lstStyle/>
          <a:p>
            <a:pPr marL="0" indent="0">
              <a:buNone/>
            </a:pPr>
            <a:r>
              <a:rPr lang="en-CA" b="1" dirty="0"/>
              <a:t>ESG ratings are not objective facts, they are contested, provider-specific constructs.</a:t>
            </a:r>
          </a:p>
          <a:p>
            <a:r>
              <a:rPr lang="en-CA" dirty="0"/>
              <a:t>ESG ratings purport to measure environmental, social, and governance performance</a:t>
            </a:r>
          </a:p>
          <a:p>
            <a:r>
              <a:rPr lang="en-CA" dirty="0"/>
              <a:t>Major providers: MSCI, Sustainalytics, Refinitiv, Bloomberg, ISS, S&amp;P Global</a:t>
            </a:r>
          </a:p>
          <a:p>
            <a:r>
              <a:rPr lang="en-CA" dirty="0"/>
              <a:t>Rating scales, methodologies, and scope vary enormously across providers</a:t>
            </a:r>
          </a:p>
          <a:p>
            <a:r>
              <a:rPr lang="en-CA" dirty="0"/>
              <a:t>Berg, Koelbel and Rigobon (2022): correlation between major ESG rating pairs about 0.38 to 0.61</a:t>
            </a:r>
          </a:p>
          <a:p>
            <a:r>
              <a:rPr lang="en-CA" dirty="0"/>
              <a:t>Compare: credit rating agencies agree on rank order about 99% of the time</a:t>
            </a:r>
          </a:p>
          <a:p>
            <a:r>
              <a:rPr lang="en-CA" dirty="0"/>
              <a:t>Three sources of divergence (Berg et al.): scope, measurement, and weights</a:t>
            </a:r>
          </a:p>
          <a:p>
            <a:r>
              <a:rPr lang="en-CA" dirty="0"/>
              <a:t>Scope: which ESG attributes to include at all (providers disagree on the menu)</a:t>
            </a:r>
          </a:p>
          <a:p>
            <a:r>
              <a:rPr lang="en-CA" dirty="0"/>
              <a:t>Measurement: how to quantify each attribute (same attribute, different proxy)</a:t>
            </a:r>
          </a:p>
          <a:p>
            <a:r>
              <a:rPr lang="en-CA" dirty="0"/>
              <a:t>Weights: how to aggregate attributes into a single score</a:t>
            </a:r>
          </a:p>
          <a:p>
            <a:r>
              <a:rPr lang="en-CA" dirty="0"/>
              <a:t>Consequence: a portfolio that is 'green' by MSCI may be 'brown' by Sustainalytics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Berg, Koelbel and Rigobon (2022) - Aggregate Confusion</a:t>
            </a:r>
            <a:endParaRPr b="1" dirty="0">
              <a:latin typeface="Arial" panose="020B0604020202020204" pitchFamily="34" charset="0"/>
              <a:cs typeface="Arial" panose="020B0604020202020204" pitchFamily="34" charset="0"/>
            </a:endParaRPr>
          </a:p>
        </p:txBody>
      </p:sp>
      <p:sp>
        <p:nvSpPr>
          <p:cNvPr id="4038" name="Content Placeholder"/>
          <p:cNvSpPr>
            <a:spLocks noGrp="1"/>
          </p:cNvSpPr>
          <p:nvPr>
            <p:ph sz="half" idx="2"/>
          </p:nvPr>
        </p:nvSpPr>
        <p:spPr>
          <a:xfrm>
            <a:off x="423100" y="1219201"/>
            <a:ext cx="11345797" cy="4818184"/>
          </a:xfrm>
        </p:spPr>
        <p:txBody>
          <a:bodyPr wrap="square">
            <a:normAutofit fontScale="85000" lnSpcReduction="20000"/>
          </a:bodyPr>
          <a:lstStyle/>
          <a:p>
            <a:pPr marL="0" indent="0">
              <a:buNone/>
            </a:pPr>
            <a:r>
              <a:rPr lang="en-CA" b="1" dirty="0"/>
              <a:t>Key findings</a:t>
            </a:r>
          </a:p>
          <a:p>
            <a:r>
              <a:rPr lang="en-CA" dirty="0"/>
              <a:t>Study: 6 major ESG rating providers, 2002 to 2019</a:t>
            </a:r>
          </a:p>
          <a:p>
            <a:r>
              <a:rPr lang="en-CA" dirty="0"/>
              <a:t>Rating-pair correlations: 0.38 to 0.61 (very low)</a:t>
            </a:r>
          </a:p>
          <a:p>
            <a:r>
              <a:rPr lang="en-CA" dirty="0"/>
              <a:t>Scope divergence explains about 44% of disagreement</a:t>
            </a:r>
          </a:p>
          <a:p>
            <a:r>
              <a:rPr lang="en-CA" dirty="0"/>
              <a:t>Measurement divergence explains about 56% of disagreement</a:t>
            </a:r>
          </a:p>
          <a:p>
            <a:r>
              <a:rPr lang="en-CA" dirty="0"/>
              <a:t>Weight divergence is relatively minor; rater effect is a systematic ideological bias per provider</a:t>
            </a:r>
          </a:p>
          <a:p>
            <a:pPr marL="0" indent="0">
              <a:buNone/>
            </a:pPr>
            <a:r>
              <a:rPr lang="en-CA" b="1" dirty="0"/>
              <a:t>Implications for portfolio management</a:t>
            </a:r>
          </a:p>
          <a:p>
            <a:r>
              <a:rPr lang="en-CA" dirty="0"/>
              <a:t>ESG-constrained portfolio weights depend on which rating provider you use, not just on 'ESG quality'</a:t>
            </a:r>
          </a:p>
          <a:p>
            <a:r>
              <a:rPr lang="en-CA" dirty="0"/>
              <a:t>Assignment 3: build the ESG tilt twice with two synthetic providers; compare resulting portfolios</a:t>
            </a:r>
          </a:p>
          <a:p>
            <a:r>
              <a:rPr lang="en-CA" dirty="0"/>
              <a:t>ESG divergence is a new form of model risk</a:t>
            </a:r>
          </a:p>
          <a:p>
            <a:r>
              <a:rPr lang="en-CA" dirty="0"/>
              <a:t>Investors who screen by ESG may get very different exposures depending on the data vendor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ESG-Constrained Portfolio Optimisation</a:t>
            </a:r>
            <a:endParaRPr b="1" dirty="0">
              <a:latin typeface="Arial" panose="020B0604020202020204" pitchFamily="34" charset="0"/>
              <a:cs typeface="Arial" panose="020B0604020202020204" pitchFamily="34" charset="0"/>
            </a:endParaRPr>
          </a:p>
        </p:txBody>
      </p:sp>
      <p:pic>
        <p:nvPicPr>
          <p:cNvPr id="4040" name="Picture 4039" descr="f_esg.png"/>
          <p:cNvPicPr>
            <a:picLocks noChangeAspect="1"/>
          </p:cNvPicPr>
          <p:nvPr/>
        </p:nvPicPr>
        <p:blipFill>
          <a:blip r:embed="rId3"/>
          <a:stretch>
            <a:fillRect/>
          </a:stretch>
        </p:blipFill>
        <p:spPr>
          <a:xfrm>
            <a:off x="3396836" y="990600"/>
            <a:ext cx="4316223" cy="609600"/>
          </a:xfrm>
          <a:prstGeom prst="rect">
            <a:avLst/>
          </a:prstGeom>
        </p:spPr>
      </p:pic>
      <p:sp>
        <p:nvSpPr>
          <p:cNvPr id="2" name="Content Placeholder"/>
          <p:cNvSpPr>
            <a:spLocks noGrp="1"/>
          </p:cNvSpPr>
          <p:nvPr>
            <p:ph sz="half" idx="2"/>
          </p:nvPr>
        </p:nvSpPr>
        <p:spPr>
          <a:xfrm>
            <a:off x="420624" y="2231136"/>
            <a:ext cx="11347704" cy="3822191"/>
          </a:xfrm>
        </p:spPr>
        <p:txBody>
          <a:bodyPr wrap="square">
            <a:normAutofit fontScale="85000" lnSpcReduction="10000"/>
          </a:bodyPr>
          <a:lstStyle/>
          <a:p>
            <a:pPr marL="0" indent="0">
              <a:buNone/>
            </a:pPr>
            <a:r>
              <a:rPr lang="en-CA" b="1" dirty="0"/>
              <a:t>ESG integration is modelled as an additional linear constraint on portfolio weights.</a:t>
            </a:r>
          </a:p>
          <a:p>
            <a:r>
              <a:rPr lang="en-CA" dirty="0"/>
              <a:t>Objective: maximise the Sharpe ratio subject to a minimum portfolio-average ESG score</a:t>
            </a:r>
          </a:p>
          <a:p>
            <a:r>
              <a:rPr lang="en-CA" dirty="0"/>
              <a:t>Constraint: weights times ESG scores at least </a:t>
            </a:r>
            <a:r>
              <a:rPr lang="en-CA" dirty="0" err="1"/>
              <a:t>ESG</a:t>
            </a:r>
            <a:r>
              <a:rPr lang="en-CA" baseline="-25000" dirty="0" err="1"/>
              <a:t>min</a:t>
            </a:r>
            <a:r>
              <a:rPr lang="en-CA" dirty="0"/>
              <a:t> (a linear inequality)</a:t>
            </a:r>
          </a:p>
          <a:p>
            <a:r>
              <a:rPr lang="en-CA" dirty="0" err="1"/>
              <a:t>ESG</a:t>
            </a:r>
            <a:r>
              <a:rPr lang="en-CA" baseline="-25000" dirty="0" err="1"/>
              <a:t>min</a:t>
            </a:r>
            <a:r>
              <a:rPr lang="en-CA" dirty="0"/>
              <a:t> tuning parameter: a higher threshold gives greener but potentially lower Sharpe</a:t>
            </a:r>
          </a:p>
          <a:p>
            <a:r>
              <a:rPr lang="en-CA" dirty="0"/>
              <a:t>Low-ESG assets (for example Energy XLE) receive near-zero weight at high thresholds</a:t>
            </a:r>
          </a:p>
          <a:p>
            <a:r>
              <a:rPr lang="en-CA" dirty="0"/>
              <a:t>Trade-off chart: </a:t>
            </a:r>
            <a:r>
              <a:rPr lang="en-CA" dirty="0" err="1"/>
              <a:t>ESG</a:t>
            </a:r>
            <a:r>
              <a:rPr lang="en-CA" baseline="-25000" dirty="0" err="1"/>
              <a:t>min</a:t>
            </a:r>
            <a:r>
              <a:rPr lang="en-CA" dirty="0"/>
              <a:t> vs Sharpe ratio quantifies the 'green cost'</a:t>
            </a:r>
          </a:p>
          <a:p>
            <a:r>
              <a:rPr lang="en-CA" dirty="0"/>
              <a:t>For Assignment 3: apply the ESG tilt using two provider vectors, show the divergence impact</a:t>
            </a:r>
          </a:p>
          <a:p>
            <a:r>
              <a:rPr lang="en-CA" dirty="0"/>
              <a:t>Hull Ch. 23 discusses climate transition risk; a low ESG score often proxies transition risk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Assignment 3 - What Session 10 Contributes</a:t>
            </a:r>
            <a:endParaRPr b="1" dirty="0">
              <a:latin typeface="Arial" panose="020B0604020202020204" pitchFamily="34" charset="0"/>
              <a:cs typeface="Arial" panose="020B0604020202020204" pitchFamily="34" charset="0"/>
            </a:endParaRPr>
          </a:p>
        </p:txBody>
      </p:sp>
      <p:sp>
        <p:nvSpPr>
          <p:cNvPr id="4042" name="Content Placeholder"/>
          <p:cNvSpPr>
            <a:spLocks noGrp="1"/>
          </p:cNvSpPr>
          <p:nvPr>
            <p:ph sz="half" idx="2"/>
          </p:nvPr>
        </p:nvSpPr>
        <p:spPr/>
        <p:txBody>
          <a:bodyPr wrap="square">
            <a:normAutofit fontScale="77500" lnSpcReduction="20000"/>
          </a:bodyPr>
          <a:lstStyle/>
          <a:p>
            <a:pPr marL="0" indent="0">
              <a:buNone/>
            </a:pPr>
            <a:r>
              <a:rPr lang="en-CA" b="1" dirty="0"/>
              <a:t>Risk Parity (ERC)</a:t>
            </a:r>
          </a:p>
          <a:p>
            <a:r>
              <a:rPr lang="en-CA" dirty="0"/>
              <a:t>Compute risk contributions for your 3-stock portfolio; implement the ERC optimiser (SLSQP)</a:t>
            </a:r>
          </a:p>
          <a:p>
            <a:r>
              <a:rPr lang="en-CA" dirty="0"/>
              <a:t>Compare ERC weights vs equal-weight vs MV; use Ledoit-Wolf shrinkage for Sigma</a:t>
            </a:r>
          </a:p>
          <a:p>
            <a:pPr marL="0" indent="0">
              <a:buNone/>
            </a:pPr>
            <a:r>
              <a:rPr lang="en-CA" b="1" dirty="0"/>
              <a:t>Black-Litterman</a:t>
            </a:r>
          </a:p>
          <a:p>
            <a:r>
              <a:rPr lang="en-CA" dirty="0"/>
              <a:t>Reverse-optimise equilibrium Pi from Sigma; express at least one absolute or relative view</a:t>
            </a:r>
          </a:p>
          <a:p>
            <a:r>
              <a:rPr lang="en-CA" dirty="0"/>
              <a:t>Compute posterior expected returns and optimise; show how views shift weights</a:t>
            </a:r>
          </a:p>
          <a:p>
            <a:pPr marL="0" indent="0">
              <a:buNone/>
            </a:pPr>
            <a:r>
              <a:rPr lang="en-CA" b="1" dirty="0"/>
              <a:t>ESG Tilt</a:t>
            </a:r>
          </a:p>
          <a:p>
            <a:r>
              <a:rPr lang="en-CA" dirty="0"/>
              <a:t>Obtain ESG scores from two providers; optimise with the ESG_min constraint</a:t>
            </a:r>
          </a:p>
          <a:p>
            <a:r>
              <a:rPr lang="en-CA" dirty="0"/>
              <a:t>Run at three or more threshold levels; compare portfolios across providers</a:t>
            </a:r>
          </a:p>
          <a:p>
            <a:pPr marL="0" indent="0">
              <a:buNone/>
            </a:pPr>
            <a:r>
              <a:rPr lang="en-CA" b="1" dirty="0"/>
              <a:t>Out-of-Sample Test</a:t>
            </a:r>
          </a:p>
          <a:p>
            <a:r>
              <a:rPr lang="en-CA" dirty="0"/>
              <a:t>Train/test split (50% rule); compare ERC, BL, MV, 1/N out-of-sample</a:t>
            </a:r>
          </a:p>
          <a:p>
            <a:r>
              <a:rPr lang="en-CA" dirty="0"/>
              <a:t>Report return, volatility, Sharpe, and max drawdown; interpret which method added value</a:t>
            </a:r>
          </a:p>
          <a:p>
            <a:r>
              <a:rPr lang="en-CA" dirty="0"/>
              <a:t>From Session 10 Lab Section 5 and Session 12 wrap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Required Readings and References</a:t>
            </a:r>
            <a:endParaRPr b="1" dirty="0">
              <a:latin typeface="Arial" panose="020B0604020202020204" pitchFamily="34" charset="0"/>
              <a:cs typeface="Arial" panose="020B0604020202020204" pitchFamily="34" charset="0"/>
            </a:endParaRPr>
          </a:p>
        </p:txBody>
      </p:sp>
      <p:sp>
        <p:nvSpPr>
          <p:cNvPr id="4050" name="Content Placeholder"/>
          <p:cNvSpPr>
            <a:spLocks noGrp="1"/>
          </p:cNvSpPr>
          <p:nvPr>
            <p:ph sz="half" idx="2"/>
          </p:nvPr>
        </p:nvSpPr>
        <p:spPr/>
        <p:txBody>
          <a:bodyPr wrap="square">
            <a:normAutofit fontScale="77500" lnSpcReduction="20000"/>
          </a:bodyPr>
          <a:lstStyle/>
          <a:p>
            <a:pPr marL="0" indent="0">
              <a:buNone/>
            </a:pPr>
            <a:r>
              <a:rPr lang="en-CA" b="1" dirty="0"/>
              <a:t>Required</a:t>
            </a:r>
          </a:p>
          <a:p>
            <a:r>
              <a:rPr lang="en-CA" dirty="0"/>
              <a:t>Hull, J. C. (2023). Risk Management and Financial Institutions, 6e. Ch. 23: Climate Risk, ESG, and Sustainability. Physical, transition, and liability risk; ESG metrics; TCFD; IFRS S1/S2; links to portfolio constraints.</a:t>
            </a:r>
          </a:p>
          <a:p>
            <a:r>
              <a:rPr lang="en-CA" dirty="0"/>
              <a:t>Jorion, P. (2010). Financial Risk Manager Handbook, 6e. Ch. 30: Hedge Fund Risk Management. Exposures, factor models, risk-parity framing; ESG mandates as LPA-level risk constraints.</a:t>
            </a:r>
          </a:p>
          <a:p>
            <a:pPr marL="0" indent="0">
              <a:buNone/>
            </a:pPr>
            <a:r>
              <a:rPr lang="en-CA" b="1" dirty="0"/>
              <a:t>Supplementary</a:t>
            </a:r>
          </a:p>
          <a:p>
            <a:r>
              <a:rPr lang="en-CA" dirty="0"/>
              <a:t>Black, F., and Litterman, R. (1992). Global portfolio optimization. Financial Analysts Journal, 48(5), 28 to 43.</a:t>
            </a:r>
          </a:p>
          <a:p>
            <a:r>
              <a:rPr lang="en-CA" dirty="0"/>
              <a:t>Asness, C., Frazzini, A., and Pedersen, L. H. (2012). Leverage aversion and risk parity. Financial Analysts Journal, 68(1), 47 to 59.</a:t>
            </a:r>
          </a:p>
          <a:p>
            <a:r>
              <a:rPr lang="en-CA" dirty="0"/>
              <a:t>Berg, F., Koelbel, J. F., and Rigobon, R. (2022). Aggregate confusion: the divergence of ESG ratings. Review of Finance, 26(6), 1315 to 1344.</a:t>
            </a:r>
          </a:p>
          <a:p>
            <a:r>
              <a:rPr lang="en-CA" dirty="0"/>
              <a:t>Ledoit, O., and Wolf, M. (2004). Honey, I shrunk the sample covariance matrix. Journal of Portfolio Management, 30(4), 110 to 119.</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b="1" dirty="0">
                <a:latin typeface="Arial" panose="020B0604020202020204" pitchFamily="34" charset="0"/>
                <a:cs typeface="Arial" panose="020B0604020202020204" pitchFamily="34" charset="0"/>
              </a:rPr>
              <a:t>HRP </a:t>
            </a:r>
            <a:r>
              <a:rPr lang="en-US" sz="3600" b="1" dirty="0">
                <a:latin typeface="Arial" panose="020B0604020202020204" pitchFamily="34" charset="0"/>
                <a:cs typeface="Arial" panose="020B0604020202020204" pitchFamily="34" charset="0"/>
              </a:rPr>
              <a:t>Example</a:t>
            </a:r>
            <a:r>
              <a:rPr sz="3600" b="1" dirty="0">
                <a:latin typeface="Arial" panose="020B0604020202020204" pitchFamily="34" charset="0"/>
                <a:cs typeface="Arial" panose="020B0604020202020204" pitchFamily="34" charset="0"/>
              </a:rPr>
              <a:t> (1 of 4): </a:t>
            </a:r>
            <a:r>
              <a:rPr sz="3600" dirty="0"/>
              <a:t>Setup and Distances</a:t>
            </a:r>
          </a:p>
        </p:txBody>
      </p:sp>
      <p:sp>
        <p:nvSpPr>
          <p:cNvPr id="4" name="Rectangle 3"/>
          <p:cNvSpPr/>
          <p:nvPr/>
        </p:nvSpPr>
        <p:spPr>
          <a:xfrm>
            <a:off x="420624" y="1627632"/>
            <a:ext cx="5486400" cy="4892040"/>
          </a:xfrm>
          <a:prstGeom prst="rect">
            <a:avLst/>
          </a:prstGeom>
          <a:solidFill>
            <a:srgbClr val="F2F3F5"/>
          </a:solidFill>
          <a:ln>
            <a:solidFill>
              <a:srgbClr val="F2F3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 name="Rectangle 4"/>
          <p:cNvSpPr/>
          <p:nvPr/>
        </p:nvSpPr>
        <p:spPr>
          <a:xfrm>
            <a:off x="420624" y="1627632"/>
            <a:ext cx="5486400" cy="365760"/>
          </a:xfrm>
          <a:prstGeom prst="rect">
            <a:avLst/>
          </a:prstGeom>
          <a:solidFill>
            <a:srgbClr val="44546A"/>
          </a:solidFill>
          <a:ln>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 name="TextBox 5"/>
          <p:cNvSpPr txBox="1"/>
          <p:nvPr/>
        </p:nvSpPr>
        <p:spPr>
          <a:xfrm>
            <a:off x="548640" y="1664208"/>
            <a:ext cx="4962064" cy="400110"/>
          </a:xfrm>
          <a:prstGeom prst="rect">
            <a:avLst/>
          </a:prstGeom>
          <a:noFill/>
        </p:spPr>
        <p:txBody>
          <a:bodyPr wrap="none">
            <a:spAutoFit/>
          </a:bodyPr>
          <a:lstStyle/>
          <a:p>
            <a:r>
              <a:rPr sz="2000" b="1" i="0" dirty="0">
                <a:solidFill>
                  <a:srgbClr val="FFFFFF"/>
                </a:solidFill>
                <a:latin typeface="Calibri"/>
              </a:rPr>
              <a:t>Assets, volatility, variance (var = vol squared)</a:t>
            </a:r>
          </a:p>
        </p:txBody>
      </p:sp>
      <p:sp>
        <p:nvSpPr>
          <p:cNvPr id="7" name="TextBox 6"/>
          <p:cNvSpPr txBox="1"/>
          <p:nvPr/>
        </p:nvSpPr>
        <p:spPr>
          <a:xfrm>
            <a:off x="566928" y="2066543"/>
            <a:ext cx="5193792" cy="3380413"/>
          </a:xfrm>
          <a:prstGeom prst="rect">
            <a:avLst/>
          </a:prstGeom>
          <a:noFill/>
        </p:spPr>
        <p:txBody>
          <a:bodyPr wrap="square">
            <a:spAutoFit/>
          </a:bodyPr>
          <a:lstStyle/>
          <a:p>
            <a:r>
              <a:rPr b="0" i="0">
                <a:solidFill>
                  <a:srgbClr val="374151"/>
                </a:solidFill>
                <a:latin typeface="Calibri"/>
              </a:rPr>
              <a:t>AAPL   vol 0.30   var 0.30^2 = 0.0900</a:t>
            </a:r>
          </a:p>
          <a:p>
            <a:pPr>
              <a:spcBef>
                <a:spcPts val="400"/>
              </a:spcBef>
            </a:pPr>
            <a:r>
              <a:rPr b="0" i="0">
                <a:solidFill>
                  <a:srgbClr val="374151"/>
                </a:solidFill>
                <a:latin typeface="Calibri"/>
              </a:rPr>
              <a:t>MSFT   vol 0.25   var 0.25^2 = 0.0625</a:t>
            </a:r>
          </a:p>
          <a:p>
            <a:pPr>
              <a:spcBef>
                <a:spcPts val="400"/>
              </a:spcBef>
            </a:pPr>
            <a:r>
              <a:rPr b="0" i="0">
                <a:solidFill>
                  <a:srgbClr val="374151"/>
                </a:solidFill>
                <a:latin typeface="Calibri"/>
              </a:rPr>
              <a:t>GLD    vol 0.15   var 0.15^2 = 0.0225</a:t>
            </a:r>
          </a:p>
          <a:p>
            <a:pPr>
              <a:spcBef>
                <a:spcPts val="400"/>
              </a:spcBef>
            </a:pPr>
            <a:r>
              <a:rPr b="0" i="0">
                <a:solidFill>
                  <a:srgbClr val="374151"/>
                </a:solidFill>
                <a:latin typeface="Calibri"/>
              </a:rPr>
              <a:t>TLT    vol 0.12   var 0.12^2 = 0.0144</a:t>
            </a:r>
          </a:p>
          <a:p>
            <a:pPr>
              <a:spcBef>
                <a:spcPts val="400"/>
              </a:spcBef>
            </a:pPr>
            <a:r>
              <a:rPr b="0" i="0">
                <a:solidFill>
                  <a:srgbClr val="374151"/>
                </a:solidFill>
                <a:latin typeface="Calibri"/>
              </a:rPr>
              <a:t>LQD    vol 0.09   var 0.09^2 = 0.0081</a:t>
            </a:r>
          </a:p>
          <a:p>
            <a:pPr>
              <a:spcBef>
                <a:spcPts val="1000"/>
              </a:spcBef>
            </a:pPr>
            <a:r>
              <a:rPr sz="2000" b="1" i="0">
                <a:solidFill>
                  <a:srgbClr val="44546A"/>
                </a:solidFill>
                <a:latin typeface="Calibri"/>
              </a:rPr>
              <a:t>Correlations that matter</a:t>
            </a:r>
          </a:p>
          <a:p>
            <a:pPr>
              <a:spcBef>
                <a:spcPts val="300"/>
              </a:spcBef>
            </a:pPr>
            <a:r>
              <a:rPr b="0" i="0">
                <a:solidFill>
                  <a:srgbClr val="374151"/>
                </a:solidFill>
                <a:latin typeface="Calibri"/>
              </a:rPr>
              <a:t>Tech pair AAPL-MSFT = 0.85</a:t>
            </a:r>
          </a:p>
          <a:p>
            <a:pPr>
              <a:spcBef>
                <a:spcPts val="300"/>
              </a:spcBef>
            </a:pPr>
            <a:r>
              <a:rPr b="0" i="0">
                <a:solidFill>
                  <a:srgbClr val="374151"/>
                </a:solidFill>
                <a:latin typeface="Calibri"/>
              </a:rPr>
              <a:t>Bonds TLT-LQD = 0.75</a:t>
            </a:r>
          </a:p>
          <a:p>
            <a:pPr>
              <a:spcBef>
                <a:spcPts val="300"/>
              </a:spcBef>
            </a:pPr>
            <a:r>
              <a:rPr b="0" i="0">
                <a:solidFill>
                  <a:srgbClr val="374151"/>
                </a:solidFill>
                <a:latin typeface="Calibri"/>
              </a:rPr>
              <a:t>Gold vs bonds GLD-TLT = 0.30, GLD-LQD = 0.30</a:t>
            </a:r>
          </a:p>
          <a:p>
            <a:pPr>
              <a:spcBef>
                <a:spcPts val="300"/>
              </a:spcBef>
            </a:pPr>
            <a:r>
              <a:rPr b="0" i="0">
                <a:solidFill>
                  <a:srgbClr val="374151"/>
                </a:solidFill>
                <a:latin typeface="Calibri"/>
              </a:rPr>
              <a:t>Tech vs safe assets: about -0.10 to +0.05 (near zero)</a:t>
            </a:r>
          </a:p>
        </p:txBody>
      </p:sp>
      <p:sp>
        <p:nvSpPr>
          <p:cNvPr id="8" name="Rectangle 7"/>
          <p:cNvSpPr/>
          <p:nvPr/>
        </p:nvSpPr>
        <p:spPr>
          <a:xfrm>
            <a:off x="6035040" y="1627632"/>
            <a:ext cx="5733288" cy="4892040"/>
          </a:xfrm>
          <a:prstGeom prst="rect">
            <a:avLst/>
          </a:prstGeom>
          <a:solidFill>
            <a:srgbClr val="F2F3F5"/>
          </a:solidFill>
          <a:ln>
            <a:solidFill>
              <a:srgbClr val="F2F3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9" name="Rectangle 8"/>
          <p:cNvSpPr/>
          <p:nvPr/>
        </p:nvSpPr>
        <p:spPr>
          <a:xfrm>
            <a:off x="6035040" y="1627632"/>
            <a:ext cx="5733288" cy="365760"/>
          </a:xfrm>
          <a:prstGeom prst="rect">
            <a:avLst/>
          </a:prstGeom>
          <a:solidFill>
            <a:srgbClr val="44546A"/>
          </a:solidFill>
          <a:ln>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0" name="TextBox 9"/>
          <p:cNvSpPr txBox="1"/>
          <p:nvPr/>
        </p:nvSpPr>
        <p:spPr>
          <a:xfrm>
            <a:off x="6163055" y="1664208"/>
            <a:ext cx="3555525" cy="400110"/>
          </a:xfrm>
          <a:prstGeom prst="rect">
            <a:avLst/>
          </a:prstGeom>
          <a:noFill/>
        </p:spPr>
        <p:txBody>
          <a:bodyPr wrap="none">
            <a:spAutoFit/>
          </a:bodyPr>
          <a:lstStyle/>
          <a:p>
            <a:r>
              <a:rPr sz="2000" b="1" i="0" dirty="0">
                <a:solidFill>
                  <a:srgbClr val="FFFFFF"/>
                </a:solidFill>
                <a:latin typeface="Calibri"/>
              </a:rPr>
              <a:t>Distance  d = sqrt( (1 - </a:t>
            </a:r>
            <a:r>
              <a:rPr sz="2000" b="1" i="0" dirty="0" err="1">
                <a:solidFill>
                  <a:srgbClr val="FFFFFF"/>
                </a:solidFill>
                <a:latin typeface="Calibri"/>
              </a:rPr>
              <a:t>corr</a:t>
            </a:r>
            <a:r>
              <a:rPr sz="2000" b="1" i="0" dirty="0">
                <a:solidFill>
                  <a:srgbClr val="FFFFFF"/>
                </a:solidFill>
                <a:latin typeface="Calibri"/>
              </a:rPr>
              <a:t>) / 2 )</a:t>
            </a:r>
          </a:p>
        </p:txBody>
      </p:sp>
      <p:sp>
        <p:nvSpPr>
          <p:cNvPr id="11" name="TextBox 10"/>
          <p:cNvSpPr txBox="1"/>
          <p:nvPr/>
        </p:nvSpPr>
        <p:spPr>
          <a:xfrm>
            <a:off x="6181344" y="2066543"/>
            <a:ext cx="5440679" cy="3082895"/>
          </a:xfrm>
          <a:prstGeom prst="rect">
            <a:avLst/>
          </a:prstGeom>
          <a:noFill/>
        </p:spPr>
        <p:txBody>
          <a:bodyPr wrap="square">
            <a:spAutoFit/>
          </a:bodyPr>
          <a:lstStyle/>
          <a:p>
            <a:r>
              <a:rPr b="0" i="1">
                <a:solidFill>
                  <a:srgbClr val="6B7280"/>
                </a:solidFill>
                <a:latin typeface="Calibri"/>
              </a:rPr>
              <a:t>Small distance means the two move together.</a:t>
            </a:r>
          </a:p>
          <a:p>
            <a:pPr>
              <a:spcBef>
                <a:spcPts val="700"/>
              </a:spcBef>
            </a:pPr>
            <a:r>
              <a:rPr sz="2000" b="1" i="0">
                <a:solidFill>
                  <a:srgbClr val="44546A"/>
                </a:solidFill>
                <a:latin typeface="Calibri"/>
              </a:rPr>
              <a:t>Inside the groups (close):</a:t>
            </a:r>
          </a:p>
          <a:p>
            <a:pPr>
              <a:spcBef>
                <a:spcPts val="300"/>
              </a:spcBef>
            </a:pPr>
            <a:r>
              <a:rPr b="0" i="0">
                <a:solidFill>
                  <a:srgbClr val="374151"/>
                </a:solidFill>
                <a:latin typeface="Calibri"/>
              </a:rPr>
              <a:t>AAPL-MSFT: sqrt((1-0.85)/2) = sqrt(0.075) = 0.274</a:t>
            </a:r>
          </a:p>
          <a:p>
            <a:pPr>
              <a:spcBef>
                <a:spcPts val="300"/>
              </a:spcBef>
            </a:pPr>
            <a:r>
              <a:rPr b="0" i="0">
                <a:solidFill>
                  <a:srgbClr val="374151"/>
                </a:solidFill>
                <a:latin typeface="Calibri"/>
              </a:rPr>
              <a:t>TLT-LQD:   sqrt((1-0.75)/2) = sqrt(0.125) = 0.354</a:t>
            </a:r>
          </a:p>
          <a:p>
            <a:pPr>
              <a:spcBef>
                <a:spcPts val="300"/>
              </a:spcBef>
            </a:pPr>
            <a:r>
              <a:rPr b="0" i="0">
                <a:solidFill>
                  <a:srgbClr val="374151"/>
                </a:solidFill>
                <a:latin typeface="Calibri"/>
              </a:rPr>
              <a:t>GLD-TLT:   sqrt(0.350) = 0.592   GLD-LQD: 0.592</a:t>
            </a:r>
          </a:p>
          <a:p>
            <a:pPr>
              <a:spcBef>
                <a:spcPts val="900"/>
              </a:spcBef>
            </a:pPr>
            <a:r>
              <a:rPr sz="2000" b="1" i="0">
                <a:solidFill>
                  <a:srgbClr val="44546A"/>
                </a:solidFill>
                <a:latin typeface="Calibri"/>
              </a:rPr>
              <a:t>Across groups (far):</a:t>
            </a:r>
          </a:p>
          <a:p>
            <a:pPr>
              <a:spcBef>
                <a:spcPts val="300"/>
              </a:spcBef>
            </a:pPr>
            <a:r>
              <a:rPr b="0" i="0">
                <a:solidFill>
                  <a:srgbClr val="374151"/>
                </a:solidFill>
                <a:latin typeface="Calibri"/>
              </a:rPr>
              <a:t>AAPL-GLD = MSFT-GLD = sqrt(0.475) = 0.689</a:t>
            </a:r>
          </a:p>
          <a:p>
            <a:pPr>
              <a:spcBef>
                <a:spcPts val="300"/>
              </a:spcBef>
            </a:pPr>
            <a:r>
              <a:rPr b="0" i="0">
                <a:solidFill>
                  <a:srgbClr val="374151"/>
                </a:solidFill>
                <a:latin typeface="Calibri"/>
              </a:rPr>
              <a:t>AAPL-LQD = MSFT-LQD = sqrt(0.525) = 0.725</a:t>
            </a:r>
          </a:p>
          <a:p>
            <a:pPr>
              <a:spcBef>
                <a:spcPts val="300"/>
              </a:spcBef>
            </a:pPr>
            <a:r>
              <a:rPr b="0" i="0">
                <a:solidFill>
                  <a:srgbClr val="374151"/>
                </a:solidFill>
                <a:latin typeface="Calibri"/>
              </a:rPr>
              <a:t>AAPL-TLT = MSFT-TLT = sqrt(0.550) = 0.742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b="1" dirty="0">
                <a:latin typeface="Arial" panose="020B0604020202020204" pitchFamily="34" charset="0"/>
                <a:cs typeface="Arial" panose="020B0604020202020204" pitchFamily="34" charset="0"/>
              </a:rPr>
              <a:t>HRP Example (2 of 4): </a:t>
            </a:r>
            <a:r>
              <a:rPr dirty="0"/>
              <a:t>Build the Tree, then Reorder</a:t>
            </a:r>
          </a:p>
        </p:txBody>
      </p:sp>
      <p:sp>
        <p:nvSpPr>
          <p:cNvPr id="4" name="Rectangle 3"/>
          <p:cNvSpPr/>
          <p:nvPr/>
        </p:nvSpPr>
        <p:spPr>
          <a:xfrm>
            <a:off x="420624" y="1627632"/>
            <a:ext cx="5852160" cy="4892040"/>
          </a:xfrm>
          <a:prstGeom prst="rect">
            <a:avLst/>
          </a:prstGeom>
          <a:solidFill>
            <a:srgbClr val="F2F3F5"/>
          </a:solidFill>
          <a:ln>
            <a:solidFill>
              <a:srgbClr val="F2F3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20624" y="1627632"/>
            <a:ext cx="5852160" cy="365760"/>
          </a:xfrm>
          <a:prstGeom prst="rect">
            <a:avLst/>
          </a:prstGeom>
          <a:solidFill>
            <a:srgbClr val="44546A"/>
          </a:solidFill>
          <a:ln>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664208"/>
            <a:ext cx="3674917" cy="369332"/>
          </a:xfrm>
          <a:prstGeom prst="rect">
            <a:avLst/>
          </a:prstGeom>
          <a:noFill/>
        </p:spPr>
        <p:txBody>
          <a:bodyPr wrap="none">
            <a:spAutoFit/>
          </a:bodyPr>
          <a:lstStyle/>
          <a:p>
            <a:r>
              <a:rPr b="1" i="0" dirty="0">
                <a:solidFill>
                  <a:srgbClr val="FFFFFF"/>
                </a:solidFill>
                <a:latin typeface="Calibri"/>
              </a:rPr>
              <a:t>Step 1: build the tree (single linkage)</a:t>
            </a:r>
          </a:p>
        </p:txBody>
      </p:sp>
      <p:sp>
        <p:nvSpPr>
          <p:cNvPr id="7" name="TextBox 6"/>
          <p:cNvSpPr txBox="1"/>
          <p:nvPr/>
        </p:nvSpPr>
        <p:spPr>
          <a:xfrm>
            <a:off x="566928" y="2066543"/>
            <a:ext cx="5559552" cy="3067506"/>
          </a:xfrm>
          <a:prstGeom prst="rect">
            <a:avLst/>
          </a:prstGeom>
          <a:noFill/>
        </p:spPr>
        <p:txBody>
          <a:bodyPr wrap="square">
            <a:spAutoFit/>
          </a:bodyPr>
          <a:lstStyle/>
          <a:p>
            <a:r>
              <a:rPr sz="1600" b="0" i="1" dirty="0">
                <a:solidFill>
                  <a:srgbClr val="6B7280"/>
                </a:solidFill>
                <a:latin typeface="Calibri"/>
              </a:rPr>
              <a:t>Repeatedly join the two closest, by smallest distance:</a:t>
            </a:r>
          </a:p>
          <a:p>
            <a:pPr>
              <a:spcBef>
                <a:spcPts val="800"/>
              </a:spcBef>
            </a:pPr>
            <a:r>
              <a:rPr sz="1600" b="1" i="0" dirty="0">
                <a:solidFill>
                  <a:srgbClr val="374151"/>
                </a:solidFill>
                <a:latin typeface="Calibri"/>
              </a:rPr>
              <a:t>1.  AAPL + MSFT</a:t>
            </a:r>
            <a:r>
              <a:rPr sz="1600" b="0" i="0" dirty="0">
                <a:solidFill>
                  <a:srgbClr val="374151"/>
                </a:solidFill>
                <a:latin typeface="Calibri"/>
              </a:rPr>
              <a:t>   at d = 0.274  (closest pair)</a:t>
            </a:r>
          </a:p>
          <a:p>
            <a:pPr>
              <a:spcBef>
                <a:spcPts val="500"/>
              </a:spcBef>
            </a:pPr>
            <a:r>
              <a:rPr sz="1600" b="1" i="0" dirty="0">
                <a:solidFill>
                  <a:srgbClr val="374151"/>
                </a:solidFill>
                <a:latin typeface="Calibri"/>
              </a:rPr>
              <a:t>2.  TLT + LQD</a:t>
            </a:r>
            <a:r>
              <a:rPr sz="1600" b="0" i="0" dirty="0">
                <a:solidFill>
                  <a:srgbClr val="374151"/>
                </a:solidFill>
                <a:latin typeface="Calibri"/>
              </a:rPr>
              <a:t>   at d = 0.354</a:t>
            </a:r>
          </a:p>
          <a:p>
            <a:pPr>
              <a:spcBef>
                <a:spcPts val="500"/>
              </a:spcBef>
            </a:pPr>
            <a:r>
              <a:rPr sz="1600" b="1" i="0" dirty="0">
                <a:solidFill>
                  <a:srgbClr val="374151"/>
                </a:solidFill>
                <a:latin typeface="Calibri"/>
              </a:rPr>
              <a:t>3.  GLD joins {TLT, LQD}</a:t>
            </a:r>
            <a:r>
              <a:rPr sz="1600" b="0" i="0" dirty="0">
                <a:solidFill>
                  <a:srgbClr val="374151"/>
                </a:solidFill>
                <a:latin typeface="Calibri"/>
              </a:rPr>
              <a:t>   at d = 0.592</a:t>
            </a:r>
          </a:p>
          <a:p>
            <a:pPr>
              <a:spcBef>
                <a:spcPts val="500"/>
              </a:spcBef>
            </a:pPr>
            <a:r>
              <a:rPr sz="1600" b="1" i="0" dirty="0">
                <a:solidFill>
                  <a:srgbClr val="374151"/>
                </a:solidFill>
                <a:latin typeface="Calibri"/>
              </a:rPr>
              <a:t>4.  {AAPL, MSFT} joins {GLD, TLT, LQD}</a:t>
            </a:r>
            <a:r>
              <a:rPr sz="1600" b="0" i="0" dirty="0">
                <a:solidFill>
                  <a:srgbClr val="374151"/>
                </a:solidFill>
                <a:latin typeface="Calibri"/>
              </a:rPr>
              <a:t>  at d = 0.689  (root)</a:t>
            </a:r>
          </a:p>
          <a:p>
            <a:pPr>
              <a:spcBef>
                <a:spcPts val="1100"/>
              </a:spcBef>
            </a:pPr>
            <a:r>
              <a:rPr b="1" i="0" dirty="0">
                <a:solidFill>
                  <a:srgbClr val="44546A"/>
                </a:solidFill>
                <a:latin typeface="Calibri"/>
              </a:rPr>
              <a:t>The tree</a:t>
            </a:r>
          </a:p>
          <a:p>
            <a:pPr>
              <a:spcBef>
                <a:spcPts val="300"/>
              </a:spcBef>
            </a:pPr>
            <a:r>
              <a:rPr sz="1600" b="0" i="0" dirty="0">
                <a:solidFill>
                  <a:srgbClr val="374151"/>
                </a:solidFill>
                <a:latin typeface="Calibri"/>
              </a:rPr>
              <a:t>            ( all five )</a:t>
            </a:r>
          </a:p>
          <a:p>
            <a:pPr>
              <a:spcBef>
                <a:spcPts val="100"/>
              </a:spcBef>
            </a:pPr>
            <a:r>
              <a:rPr sz="1600" b="0" i="0" dirty="0">
                <a:solidFill>
                  <a:srgbClr val="374151"/>
                </a:solidFill>
                <a:latin typeface="Calibri"/>
              </a:rPr>
              <a:t>            /          \</a:t>
            </a:r>
          </a:p>
          <a:p>
            <a:pPr>
              <a:spcBef>
                <a:spcPts val="100"/>
              </a:spcBef>
            </a:pPr>
            <a:r>
              <a:rPr sz="1600" b="0" i="0" dirty="0">
                <a:solidFill>
                  <a:srgbClr val="374151"/>
                </a:solidFill>
                <a:latin typeface="Calibri"/>
              </a:rPr>
              <a:t>     [AAPL, MSFT]    [ GLD , (TLT,LQD) ]</a:t>
            </a:r>
          </a:p>
          <a:p>
            <a:pPr>
              <a:spcBef>
                <a:spcPts val="100"/>
              </a:spcBef>
            </a:pPr>
            <a:r>
              <a:rPr sz="1400" b="0" i="1" dirty="0">
                <a:solidFill>
                  <a:srgbClr val="6B7280"/>
                </a:solidFill>
                <a:latin typeface="Calibri"/>
              </a:rPr>
              <a:t>      tech pair        safe trio</a:t>
            </a:r>
          </a:p>
        </p:txBody>
      </p:sp>
      <p:sp>
        <p:nvSpPr>
          <p:cNvPr id="8" name="Rectangle 7"/>
          <p:cNvSpPr/>
          <p:nvPr/>
        </p:nvSpPr>
        <p:spPr>
          <a:xfrm>
            <a:off x="6455664" y="1627632"/>
            <a:ext cx="5312664" cy="4892040"/>
          </a:xfrm>
          <a:prstGeom prst="rect">
            <a:avLst/>
          </a:prstGeom>
          <a:solidFill>
            <a:srgbClr val="F2F3F5"/>
          </a:solidFill>
          <a:ln>
            <a:solidFill>
              <a:srgbClr val="F2F3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55664" y="1627632"/>
            <a:ext cx="5312664" cy="365760"/>
          </a:xfrm>
          <a:prstGeom prst="rect">
            <a:avLst/>
          </a:prstGeom>
          <a:solidFill>
            <a:srgbClr val="44546A"/>
          </a:solidFill>
          <a:ln>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79" y="1664208"/>
            <a:ext cx="3207096" cy="369332"/>
          </a:xfrm>
          <a:prstGeom prst="rect">
            <a:avLst/>
          </a:prstGeom>
          <a:noFill/>
        </p:spPr>
        <p:txBody>
          <a:bodyPr wrap="none">
            <a:spAutoFit/>
          </a:bodyPr>
          <a:lstStyle/>
          <a:p>
            <a:r>
              <a:rPr b="1" i="0" dirty="0">
                <a:solidFill>
                  <a:srgbClr val="FFFFFF"/>
                </a:solidFill>
                <a:latin typeface="Calibri"/>
              </a:rPr>
              <a:t>Step 2: reorder (quasi-diagonal)</a:t>
            </a:r>
          </a:p>
        </p:txBody>
      </p:sp>
      <p:sp>
        <p:nvSpPr>
          <p:cNvPr id="11" name="TextBox 10"/>
          <p:cNvSpPr txBox="1"/>
          <p:nvPr/>
        </p:nvSpPr>
        <p:spPr>
          <a:xfrm>
            <a:off x="6601968" y="2066543"/>
            <a:ext cx="5020055" cy="2698175"/>
          </a:xfrm>
          <a:prstGeom prst="rect">
            <a:avLst/>
          </a:prstGeom>
          <a:noFill/>
        </p:spPr>
        <p:txBody>
          <a:bodyPr wrap="square">
            <a:spAutoFit/>
          </a:bodyPr>
          <a:lstStyle/>
          <a:p>
            <a:r>
              <a:rPr sz="1600" b="0" i="0" dirty="0">
                <a:solidFill>
                  <a:srgbClr val="374151"/>
                </a:solidFill>
                <a:latin typeface="Calibri"/>
              </a:rPr>
              <a:t>Read the leaves left to right so similar assets sit next to each other:</a:t>
            </a:r>
          </a:p>
          <a:p>
            <a:pPr>
              <a:spcBef>
                <a:spcPts val="1000"/>
              </a:spcBef>
            </a:pPr>
            <a:r>
              <a:rPr b="1" i="0" dirty="0">
                <a:solidFill>
                  <a:srgbClr val="44546A"/>
                </a:solidFill>
                <a:latin typeface="Calibri"/>
              </a:rPr>
              <a:t>AAPL   MSFT   |   GLD   |   TLT   LQD</a:t>
            </a:r>
          </a:p>
          <a:p>
            <a:pPr>
              <a:spcBef>
                <a:spcPts val="200"/>
              </a:spcBef>
            </a:pPr>
            <a:r>
              <a:rPr lang="en-US" sz="1400" b="0" i="1" dirty="0">
                <a:solidFill>
                  <a:srgbClr val="6B7280"/>
                </a:solidFill>
                <a:latin typeface="Calibri"/>
              </a:rPr>
              <a:t>      </a:t>
            </a:r>
            <a:r>
              <a:rPr sz="1400" b="0" i="1" dirty="0">
                <a:solidFill>
                  <a:srgbClr val="6B7280"/>
                </a:solidFill>
                <a:latin typeface="Calibri"/>
              </a:rPr>
              <a:t>tech pair       </a:t>
            </a:r>
            <a:r>
              <a:rPr lang="en-US" sz="1400" b="0" i="1" dirty="0">
                <a:solidFill>
                  <a:srgbClr val="6B7280"/>
                </a:solidFill>
                <a:latin typeface="Calibri"/>
              </a:rPr>
              <a:t>             </a:t>
            </a:r>
            <a:r>
              <a:rPr sz="1400" b="0" i="1" dirty="0">
                <a:solidFill>
                  <a:srgbClr val="6B7280"/>
                </a:solidFill>
                <a:latin typeface="Calibri"/>
              </a:rPr>
              <a:t> gold      </a:t>
            </a:r>
            <a:r>
              <a:rPr lang="en-US" sz="1400" b="0" i="1" dirty="0">
                <a:solidFill>
                  <a:srgbClr val="6B7280"/>
                </a:solidFill>
                <a:latin typeface="Calibri"/>
              </a:rPr>
              <a:t>         </a:t>
            </a:r>
            <a:r>
              <a:rPr sz="1400" b="0" i="1" dirty="0">
                <a:solidFill>
                  <a:srgbClr val="6B7280"/>
                </a:solidFill>
                <a:latin typeface="Calibri"/>
              </a:rPr>
              <a:t>bonds</a:t>
            </a:r>
          </a:p>
          <a:p>
            <a:pPr>
              <a:spcBef>
                <a:spcPts val="1200"/>
              </a:spcBef>
            </a:pPr>
            <a:r>
              <a:rPr b="1" i="0" dirty="0">
                <a:solidFill>
                  <a:srgbClr val="44546A"/>
                </a:solidFill>
                <a:latin typeface="Calibri"/>
              </a:rPr>
              <a:t>Why this matters</a:t>
            </a:r>
          </a:p>
          <a:p>
            <a:pPr>
              <a:spcBef>
                <a:spcPts val="400"/>
              </a:spcBef>
            </a:pPr>
            <a:r>
              <a:rPr sz="1600" b="0" i="0" dirty="0">
                <a:solidFill>
                  <a:srgbClr val="374151"/>
                </a:solidFill>
                <a:latin typeface="Calibri"/>
              </a:rPr>
              <a:t>The next step cuts this ordered list in half by position. Because similar assets are now adjacent, that cut falls on a natural line: the two tech names on one side, the three safe assets on the other.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b="1" dirty="0">
                <a:latin typeface="Arial" panose="020B0604020202020204" pitchFamily="34" charset="0"/>
                <a:cs typeface="Arial" panose="020B0604020202020204" pitchFamily="34" charset="0"/>
              </a:rPr>
              <a:t>HRP Example (3 of 4): </a:t>
            </a:r>
            <a:r>
              <a:rPr dirty="0"/>
              <a:t>Risk of Each Branch</a:t>
            </a:r>
          </a:p>
        </p:txBody>
      </p:sp>
      <p:sp>
        <p:nvSpPr>
          <p:cNvPr id="3" name="TextBox 2"/>
          <p:cNvSpPr txBox="1"/>
          <p:nvPr/>
        </p:nvSpPr>
        <p:spPr>
          <a:xfrm>
            <a:off x="420624" y="1225296"/>
            <a:ext cx="11338560" cy="338554"/>
          </a:xfrm>
          <a:prstGeom prst="rect">
            <a:avLst/>
          </a:prstGeom>
          <a:noFill/>
        </p:spPr>
        <p:txBody>
          <a:bodyPr wrap="square">
            <a:spAutoFit/>
          </a:bodyPr>
          <a:lstStyle/>
          <a:p>
            <a:r>
              <a:rPr sz="1600" i="1" dirty="0">
                <a:solidFill>
                  <a:srgbClr val="6B7280"/>
                </a:solidFill>
                <a:latin typeface="Calibri"/>
              </a:rPr>
              <a:t>Each branch's risk = variance of its inverse-variance mini-portfolio. V = sum wi^2 </a:t>
            </a:r>
            <a:r>
              <a:rPr sz="1600" i="1" dirty="0" err="1">
                <a:solidFill>
                  <a:srgbClr val="6B7280"/>
                </a:solidFill>
                <a:latin typeface="Calibri"/>
              </a:rPr>
              <a:t>var_i</a:t>
            </a:r>
            <a:r>
              <a:rPr sz="1600" i="1" dirty="0">
                <a:solidFill>
                  <a:srgbClr val="6B7280"/>
                </a:solidFill>
                <a:latin typeface="Calibri"/>
              </a:rPr>
              <a:t> + 2 sum </a:t>
            </a:r>
            <a:r>
              <a:rPr sz="1600" i="1" dirty="0" err="1">
                <a:solidFill>
                  <a:srgbClr val="6B7280"/>
                </a:solidFill>
                <a:latin typeface="Calibri"/>
              </a:rPr>
              <a:t>wi</a:t>
            </a:r>
            <a:r>
              <a:rPr sz="1600" i="1" dirty="0">
                <a:solidFill>
                  <a:srgbClr val="6B7280"/>
                </a:solidFill>
                <a:latin typeface="Calibri"/>
              </a:rPr>
              <a:t> </a:t>
            </a:r>
            <a:r>
              <a:rPr sz="1600" i="1" dirty="0" err="1">
                <a:solidFill>
                  <a:srgbClr val="6B7280"/>
                </a:solidFill>
                <a:latin typeface="Calibri"/>
              </a:rPr>
              <a:t>wj</a:t>
            </a:r>
            <a:r>
              <a:rPr sz="1600" i="1" dirty="0">
                <a:solidFill>
                  <a:srgbClr val="6B7280"/>
                </a:solidFill>
                <a:latin typeface="Calibri"/>
              </a:rPr>
              <a:t> </a:t>
            </a:r>
            <a:r>
              <a:rPr sz="1600" i="1" dirty="0" err="1">
                <a:solidFill>
                  <a:srgbClr val="6B7280"/>
                </a:solidFill>
                <a:latin typeface="Calibri"/>
              </a:rPr>
              <a:t>corr_ij</a:t>
            </a:r>
            <a:r>
              <a:rPr sz="1600" i="1" dirty="0">
                <a:solidFill>
                  <a:srgbClr val="6B7280"/>
                </a:solidFill>
                <a:latin typeface="Calibri"/>
              </a:rPr>
              <a:t> </a:t>
            </a:r>
            <a:r>
              <a:rPr sz="1600" i="1" dirty="0" err="1">
                <a:solidFill>
                  <a:srgbClr val="6B7280"/>
                </a:solidFill>
                <a:latin typeface="Calibri"/>
              </a:rPr>
              <a:t>vol_i</a:t>
            </a:r>
            <a:r>
              <a:rPr sz="1600" i="1" dirty="0">
                <a:solidFill>
                  <a:srgbClr val="6B7280"/>
                </a:solidFill>
                <a:latin typeface="Calibri"/>
              </a:rPr>
              <a:t> </a:t>
            </a:r>
            <a:r>
              <a:rPr sz="1600" i="1" dirty="0" err="1">
                <a:solidFill>
                  <a:srgbClr val="6B7280"/>
                </a:solidFill>
                <a:latin typeface="Calibri"/>
              </a:rPr>
              <a:t>vol_j</a:t>
            </a:r>
            <a:r>
              <a:rPr sz="1600" i="1" dirty="0">
                <a:solidFill>
                  <a:srgbClr val="6B7280"/>
                </a:solidFill>
                <a:latin typeface="Calibri"/>
              </a:rPr>
              <a:t>.</a:t>
            </a:r>
          </a:p>
        </p:txBody>
      </p:sp>
      <p:sp>
        <p:nvSpPr>
          <p:cNvPr id="4" name="Rectangle 3"/>
          <p:cNvSpPr/>
          <p:nvPr/>
        </p:nvSpPr>
        <p:spPr>
          <a:xfrm>
            <a:off x="420624" y="1627632"/>
            <a:ext cx="5852160" cy="4892040"/>
          </a:xfrm>
          <a:prstGeom prst="rect">
            <a:avLst/>
          </a:prstGeom>
          <a:solidFill>
            <a:srgbClr val="F2F3F5"/>
          </a:solidFill>
          <a:ln>
            <a:solidFill>
              <a:srgbClr val="F2F3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20624" y="1627632"/>
            <a:ext cx="5852160" cy="365760"/>
          </a:xfrm>
          <a:prstGeom prst="rect">
            <a:avLst/>
          </a:prstGeom>
          <a:solidFill>
            <a:srgbClr val="44546A"/>
          </a:solidFill>
          <a:ln>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664208"/>
            <a:ext cx="3083536" cy="369332"/>
          </a:xfrm>
          <a:prstGeom prst="rect">
            <a:avLst/>
          </a:prstGeom>
          <a:noFill/>
        </p:spPr>
        <p:txBody>
          <a:bodyPr wrap="none">
            <a:spAutoFit/>
          </a:bodyPr>
          <a:lstStyle/>
          <a:p>
            <a:r>
              <a:rPr b="1" i="0" dirty="0">
                <a:solidFill>
                  <a:srgbClr val="FFFFFF"/>
                </a:solidFill>
                <a:latin typeface="Calibri"/>
              </a:rPr>
              <a:t>Tech branch and the bond pair</a:t>
            </a:r>
          </a:p>
        </p:txBody>
      </p:sp>
      <p:sp>
        <p:nvSpPr>
          <p:cNvPr id="7" name="TextBox 6"/>
          <p:cNvSpPr txBox="1"/>
          <p:nvPr/>
        </p:nvSpPr>
        <p:spPr>
          <a:xfrm>
            <a:off x="566928" y="2066543"/>
            <a:ext cx="5559552" cy="3277820"/>
          </a:xfrm>
          <a:prstGeom prst="rect">
            <a:avLst/>
          </a:prstGeom>
          <a:noFill/>
        </p:spPr>
        <p:txBody>
          <a:bodyPr wrap="square">
            <a:spAutoFit/>
          </a:bodyPr>
          <a:lstStyle/>
          <a:p>
            <a:r>
              <a:rPr b="1" i="0" dirty="0">
                <a:solidFill>
                  <a:srgbClr val="44546A"/>
                </a:solidFill>
                <a:latin typeface="Calibri"/>
              </a:rPr>
              <a:t>Tech branch {AAPL, MSFT}</a:t>
            </a:r>
          </a:p>
          <a:p>
            <a:pPr>
              <a:spcBef>
                <a:spcPts val="300"/>
              </a:spcBef>
            </a:pPr>
            <a:r>
              <a:rPr sz="1600" b="0" i="0" dirty="0">
                <a:solidFill>
                  <a:srgbClr val="374151"/>
                </a:solidFill>
                <a:latin typeface="Calibri"/>
              </a:rPr>
              <a:t>weights 1/var: 1/0.09=11.11, 1/0.0625=16.00  </a:t>
            </a:r>
            <a:r>
              <a:rPr sz="1600" b="1" i="0" dirty="0">
                <a:solidFill>
                  <a:srgbClr val="374151"/>
                </a:solidFill>
                <a:latin typeface="Calibri"/>
              </a:rPr>
              <a:t>-&gt;  0.410, 0.590</a:t>
            </a:r>
          </a:p>
          <a:p>
            <a:pPr>
              <a:spcBef>
                <a:spcPts val="300"/>
              </a:spcBef>
            </a:pPr>
            <a:r>
              <a:rPr sz="1600" b="0" i="0" dirty="0" err="1">
                <a:solidFill>
                  <a:srgbClr val="374151"/>
                </a:solidFill>
                <a:latin typeface="Calibri"/>
              </a:rPr>
              <a:t>cov</a:t>
            </a:r>
            <a:r>
              <a:rPr sz="1600" b="0" i="0" dirty="0">
                <a:solidFill>
                  <a:srgbClr val="374151"/>
                </a:solidFill>
                <a:latin typeface="Calibri"/>
              </a:rPr>
              <a:t>(AAPL,MSFT)=0.85*0.30*0.25 = 0.06375</a:t>
            </a:r>
          </a:p>
          <a:p>
            <a:pPr>
              <a:spcBef>
                <a:spcPts val="300"/>
              </a:spcBef>
            </a:pPr>
            <a:r>
              <a:rPr sz="1400" b="0" i="0" dirty="0">
                <a:solidFill>
                  <a:srgbClr val="374151"/>
                </a:solidFill>
                <a:latin typeface="Calibri"/>
              </a:rPr>
              <a:t>V = 0.410^2*0.0900 + 0.590^2*0.0625 + 2*0.410*0.590*0.06375</a:t>
            </a:r>
          </a:p>
          <a:p>
            <a:pPr>
              <a:spcBef>
                <a:spcPts val="200"/>
              </a:spcBef>
            </a:pPr>
            <a:r>
              <a:rPr sz="1400" b="0" i="0" dirty="0">
                <a:solidFill>
                  <a:srgbClr val="374151"/>
                </a:solidFill>
                <a:latin typeface="Calibri"/>
              </a:rPr>
              <a:t>  = 0.01512 + 0.02177 + 0.03084 = </a:t>
            </a:r>
            <a:r>
              <a:rPr sz="1600" b="1" i="0" dirty="0">
                <a:solidFill>
                  <a:srgbClr val="038044"/>
                </a:solidFill>
                <a:latin typeface="Calibri"/>
              </a:rPr>
              <a:t>0.0677</a:t>
            </a:r>
          </a:p>
          <a:p>
            <a:pPr>
              <a:spcBef>
                <a:spcPts val="1100"/>
              </a:spcBef>
            </a:pPr>
            <a:r>
              <a:rPr b="1" i="0" dirty="0">
                <a:solidFill>
                  <a:srgbClr val="44546A"/>
                </a:solidFill>
                <a:latin typeface="Calibri"/>
              </a:rPr>
              <a:t>Bond pair {TLT, LQD}</a:t>
            </a:r>
          </a:p>
          <a:p>
            <a:pPr>
              <a:spcBef>
                <a:spcPts val="300"/>
              </a:spcBef>
            </a:pPr>
            <a:r>
              <a:rPr sz="1600" b="0" i="0" dirty="0">
                <a:solidFill>
                  <a:srgbClr val="374151"/>
                </a:solidFill>
                <a:latin typeface="Calibri"/>
              </a:rPr>
              <a:t>weights: 1/0.0144=69.4, 1/0.0081=123.5  </a:t>
            </a:r>
            <a:r>
              <a:rPr sz="1600" b="1" i="0" dirty="0">
                <a:solidFill>
                  <a:srgbClr val="374151"/>
                </a:solidFill>
                <a:latin typeface="Calibri"/>
              </a:rPr>
              <a:t>-&gt;  0.360, 0.640</a:t>
            </a:r>
          </a:p>
          <a:p>
            <a:pPr>
              <a:spcBef>
                <a:spcPts val="300"/>
              </a:spcBef>
            </a:pPr>
            <a:r>
              <a:rPr sz="1600" b="0" i="0" dirty="0" err="1">
                <a:solidFill>
                  <a:srgbClr val="374151"/>
                </a:solidFill>
                <a:latin typeface="Calibri"/>
              </a:rPr>
              <a:t>cov</a:t>
            </a:r>
            <a:r>
              <a:rPr sz="1600" b="0" i="0" dirty="0">
                <a:solidFill>
                  <a:srgbClr val="374151"/>
                </a:solidFill>
                <a:latin typeface="Calibri"/>
              </a:rPr>
              <a:t>(TLT,LQD)=0.75*0.12*0.09 = 0.0081</a:t>
            </a:r>
          </a:p>
          <a:p>
            <a:pPr>
              <a:spcBef>
                <a:spcPts val="300"/>
              </a:spcBef>
            </a:pPr>
            <a:r>
              <a:rPr sz="1400" b="0" i="0" dirty="0">
                <a:solidFill>
                  <a:srgbClr val="374151"/>
                </a:solidFill>
                <a:latin typeface="Calibri"/>
              </a:rPr>
              <a:t>V = 0.360^2*0.0144 + 0.640^2*0.0081 + 2*0.360*0.640*0.0081</a:t>
            </a:r>
          </a:p>
          <a:p>
            <a:pPr>
              <a:spcBef>
                <a:spcPts val="200"/>
              </a:spcBef>
            </a:pPr>
            <a:r>
              <a:rPr sz="1400" b="0" i="0" dirty="0">
                <a:solidFill>
                  <a:srgbClr val="374151"/>
                </a:solidFill>
                <a:latin typeface="Calibri"/>
              </a:rPr>
              <a:t>  = 0.00187 + 0.00332 + 0.00373 = </a:t>
            </a:r>
            <a:r>
              <a:rPr sz="1600" b="1" i="0" dirty="0">
                <a:solidFill>
                  <a:srgbClr val="038044"/>
                </a:solidFill>
                <a:latin typeface="Calibri"/>
              </a:rPr>
              <a:t>0.0089</a:t>
            </a:r>
          </a:p>
          <a:p>
            <a:pPr>
              <a:spcBef>
                <a:spcPts val="900"/>
              </a:spcBef>
            </a:pPr>
            <a:r>
              <a:rPr sz="1400" b="0" i="1" dirty="0">
                <a:solidFill>
                  <a:srgbClr val="6B7280"/>
                </a:solidFill>
                <a:latin typeface="Calibri"/>
              </a:rPr>
              <a:t>A single asset's branch risk is just its own variance.</a:t>
            </a:r>
          </a:p>
        </p:txBody>
      </p:sp>
      <p:sp>
        <p:nvSpPr>
          <p:cNvPr id="8" name="Rectangle 7"/>
          <p:cNvSpPr/>
          <p:nvPr/>
        </p:nvSpPr>
        <p:spPr>
          <a:xfrm>
            <a:off x="6455664" y="1627632"/>
            <a:ext cx="5312664" cy="4892040"/>
          </a:xfrm>
          <a:prstGeom prst="rect">
            <a:avLst/>
          </a:prstGeom>
          <a:solidFill>
            <a:srgbClr val="F2F3F5"/>
          </a:solidFill>
          <a:ln>
            <a:solidFill>
              <a:srgbClr val="F2F3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55664" y="1627632"/>
            <a:ext cx="5312664" cy="365760"/>
          </a:xfrm>
          <a:prstGeom prst="rect">
            <a:avLst/>
          </a:prstGeom>
          <a:solidFill>
            <a:srgbClr val="44546A"/>
          </a:solidFill>
          <a:ln>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79" y="1664208"/>
            <a:ext cx="2494786" cy="369332"/>
          </a:xfrm>
          <a:prstGeom prst="rect">
            <a:avLst/>
          </a:prstGeom>
          <a:noFill/>
        </p:spPr>
        <p:txBody>
          <a:bodyPr wrap="none">
            <a:spAutoFit/>
          </a:bodyPr>
          <a:lstStyle/>
          <a:p>
            <a:r>
              <a:rPr b="1" i="0" dirty="0">
                <a:solidFill>
                  <a:srgbClr val="FFFFFF"/>
                </a:solidFill>
                <a:latin typeface="Calibri"/>
              </a:rPr>
              <a:t>Safe trio {GLD, TLT, LQD}</a:t>
            </a:r>
          </a:p>
        </p:txBody>
      </p:sp>
      <p:sp>
        <p:nvSpPr>
          <p:cNvPr id="11" name="TextBox 10"/>
          <p:cNvSpPr txBox="1"/>
          <p:nvPr/>
        </p:nvSpPr>
        <p:spPr>
          <a:xfrm>
            <a:off x="6601968" y="2066543"/>
            <a:ext cx="5020055" cy="3064942"/>
          </a:xfrm>
          <a:prstGeom prst="rect">
            <a:avLst/>
          </a:prstGeom>
          <a:noFill/>
        </p:spPr>
        <p:txBody>
          <a:bodyPr wrap="square">
            <a:spAutoFit/>
          </a:bodyPr>
          <a:lstStyle/>
          <a:p>
            <a:r>
              <a:rPr sz="1600" b="0" i="0" dirty="0">
                <a:solidFill>
                  <a:srgbClr val="374151"/>
                </a:solidFill>
                <a:latin typeface="Calibri"/>
              </a:rPr>
              <a:t>weights 1/var:</a:t>
            </a:r>
          </a:p>
          <a:p>
            <a:pPr>
              <a:spcBef>
                <a:spcPts val="200"/>
              </a:spcBef>
            </a:pPr>
            <a:r>
              <a:rPr sz="1600" b="0" i="0" dirty="0">
                <a:solidFill>
                  <a:srgbClr val="374151"/>
                </a:solidFill>
                <a:latin typeface="Calibri"/>
              </a:rPr>
              <a:t>1/0.0225=44.4, 1/0.0144=69.4, 1/0.0081=123.5</a:t>
            </a:r>
          </a:p>
          <a:p>
            <a:pPr>
              <a:spcBef>
                <a:spcPts val="200"/>
              </a:spcBef>
            </a:pPr>
            <a:r>
              <a:rPr sz="1600" b="1" i="0" dirty="0">
                <a:solidFill>
                  <a:srgbClr val="374151"/>
                </a:solidFill>
                <a:latin typeface="Calibri"/>
              </a:rPr>
              <a:t>-&gt;  GLD 0.187,  TLT 0.293,  LQD 0.520</a:t>
            </a:r>
          </a:p>
          <a:p>
            <a:pPr>
              <a:spcBef>
                <a:spcPts val="700"/>
              </a:spcBef>
            </a:pPr>
            <a:r>
              <a:rPr sz="1600" b="0" i="0" dirty="0">
                <a:solidFill>
                  <a:srgbClr val="374151"/>
                </a:solidFill>
                <a:latin typeface="Calibri"/>
              </a:rPr>
              <a:t>covariances (</a:t>
            </a:r>
            <a:r>
              <a:rPr sz="1600" b="0" i="0" dirty="0" err="1">
                <a:solidFill>
                  <a:srgbClr val="374151"/>
                </a:solidFill>
                <a:latin typeface="Calibri"/>
              </a:rPr>
              <a:t>corr</a:t>
            </a:r>
            <a:r>
              <a:rPr sz="1600" b="0" i="0" dirty="0">
                <a:solidFill>
                  <a:srgbClr val="374151"/>
                </a:solidFill>
                <a:latin typeface="Calibri"/>
              </a:rPr>
              <a:t>*vol*vol):</a:t>
            </a:r>
          </a:p>
          <a:p>
            <a:pPr>
              <a:spcBef>
                <a:spcPts val="200"/>
              </a:spcBef>
            </a:pPr>
            <a:r>
              <a:rPr sz="1400" b="0" i="0" dirty="0">
                <a:solidFill>
                  <a:srgbClr val="374151"/>
                </a:solidFill>
                <a:latin typeface="Calibri"/>
              </a:rPr>
              <a:t>GLD-TLT=0.0054  GLD-LQD=0.00405  TLT-LQD=0.0081</a:t>
            </a:r>
          </a:p>
          <a:p>
            <a:pPr>
              <a:spcBef>
                <a:spcPts val="700"/>
              </a:spcBef>
            </a:pPr>
            <a:r>
              <a:rPr sz="1400" b="0" i="0" dirty="0">
                <a:solidFill>
                  <a:srgbClr val="374151"/>
                </a:solidFill>
                <a:latin typeface="Calibri"/>
              </a:rPr>
              <a:t>V = 0.187^2*0.0225 + 0.293^2*0.0144 + 0.520^2*0.0081</a:t>
            </a:r>
          </a:p>
          <a:p>
            <a:pPr>
              <a:spcBef>
                <a:spcPts val="100"/>
              </a:spcBef>
            </a:pPr>
            <a:r>
              <a:rPr sz="1400" b="0" i="0" dirty="0">
                <a:solidFill>
                  <a:srgbClr val="374151"/>
                </a:solidFill>
                <a:latin typeface="Calibri"/>
              </a:rPr>
              <a:t>    + 2*0.187*0.293*0.0054 + 2*0.187*0.520*0.00405</a:t>
            </a:r>
          </a:p>
          <a:p>
            <a:pPr>
              <a:spcBef>
                <a:spcPts val="100"/>
              </a:spcBef>
            </a:pPr>
            <a:r>
              <a:rPr sz="1400" b="0" i="0" dirty="0">
                <a:solidFill>
                  <a:srgbClr val="374151"/>
                </a:solidFill>
                <a:latin typeface="Calibri"/>
              </a:rPr>
              <a:t>    + 2*0.293*0.520*0.0081</a:t>
            </a:r>
          </a:p>
          <a:p>
            <a:pPr>
              <a:spcBef>
                <a:spcPts val="200"/>
              </a:spcBef>
            </a:pPr>
            <a:r>
              <a:rPr sz="1400" b="0" i="0" dirty="0">
                <a:solidFill>
                  <a:srgbClr val="374151"/>
                </a:solidFill>
                <a:latin typeface="Calibri"/>
              </a:rPr>
              <a:t>  = 0.00079+0.00123+0.00219+0.00059+0.00079+0.00247</a:t>
            </a:r>
          </a:p>
          <a:p>
            <a:pPr>
              <a:spcBef>
                <a:spcPts val="200"/>
              </a:spcBef>
            </a:pPr>
            <a:r>
              <a:rPr sz="1400" b="0" i="0" dirty="0">
                <a:solidFill>
                  <a:srgbClr val="374151"/>
                </a:solidFill>
                <a:latin typeface="Calibri"/>
              </a:rPr>
              <a:t>  = </a:t>
            </a:r>
            <a:r>
              <a:rPr sz="1600" b="1" i="0" dirty="0">
                <a:solidFill>
                  <a:srgbClr val="038044"/>
                </a:solidFill>
                <a:latin typeface="Calibri"/>
              </a:rPr>
              <a:t>0.0081</a:t>
            </a:r>
          </a:p>
          <a:p>
            <a:pPr>
              <a:spcBef>
                <a:spcPts val="900"/>
              </a:spcBef>
            </a:pPr>
            <a:r>
              <a:rPr sz="1400" b="0" i="1" dirty="0">
                <a:solidFill>
                  <a:srgbClr val="6B7280"/>
                </a:solidFill>
                <a:latin typeface="Calibri"/>
              </a:rPr>
              <a:t>The safe trio is about 8x calmer than the tech branch.</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b="1" dirty="0">
                <a:latin typeface="Arial" panose="020B0604020202020204" pitchFamily="34" charset="0"/>
                <a:cs typeface="Arial" panose="020B0604020202020204" pitchFamily="34" charset="0"/>
              </a:rPr>
              <a:t>HRP Example (1 of 4): </a:t>
            </a:r>
            <a:r>
              <a:rPr dirty="0"/>
              <a:t>Split the Money, Final Weights</a:t>
            </a:r>
          </a:p>
        </p:txBody>
      </p:sp>
      <p:sp>
        <p:nvSpPr>
          <p:cNvPr id="3" name="TextBox 2"/>
          <p:cNvSpPr txBox="1"/>
          <p:nvPr/>
        </p:nvSpPr>
        <p:spPr>
          <a:xfrm>
            <a:off x="420624" y="1225296"/>
            <a:ext cx="11338560" cy="310896"/>
          </a:xfrm>
          <a:prstGeom prst="rect">
            <a:avLst/>
          </a:prstGeom>
          <a:noFill/>
        </p:spPr>
        <p:txBody>
          <a:bodyPr wrap="square">
            <a:spAutoFit/>
          </a:bodyPr>
          <a:lstStyle/>
          <a:p>
            <a:r>
              <a:rPr sz="1400" i="1">
                <a:solidFill>
                  <a:srgbClr val="6B7280"/>
                </a:solidFill>
                <a:latin typeface="Calibri"/>
              </a:rPr>
              <a:t>Cut each branch in half; the calmer side's share = the other side's risk / total risk. Multiply down the tree.</a:t>
            </a:r>
          </a:p>
        </p:txBody>
      </p:sp>
      <p:sp>
        <p:nvSpPr>
          <p:cNvPr id="4" name="Rectangle 3"/>
          <p:cNvSpPr/>
          <p:nvPr/>
        </p:nvSpPr>
        <p:spPr>
          <a:xfrm>
            <a:off x="420624" y="1627632"/>
            <a:ext cx="5943600" cy="4892040"/>
          </a:xfrm>
          <a:prstGeom prst="rect">
            <a:avLst/>
          </a:prstGeom>
          <a:solidFill>
            <a:srgbClr val="F2F3F5"/>
          </a:solidFill>
          <a:ln>
            <a:solidFill>
              <a:srgbClr val="F2F3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 name="Rectangle 4"/>
          <p:cNvSpPr/>
          <p:nvPr/>
        </p:nvSpPr>
        <p:spPr>
          <a:xfrm>
            <a:off x="420624" y="1627632"/>
            <a:ext cx="5943600" cy="365760"/>
          </a:xfrm>
          <a:prstGeom prst="rect">
            <a:avLst/>
          </a:prstGeom>
          <a:solidFill>
            <a:srgbClr val="44546A"/>
          </a:solidFill>
          <a:ln>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 name="TextBox 5"/>
          <p:cNvSpPr txBox="1"/>
          <p:nvPr/>
        </p:nvSpPr>
        <p:spPr>
          <a:xfrm>
            <a:off x="548640" y="1664208"/>
            <a:ext cx="3855414" cy="338554"/>
          </a:xfrm>
          <a:prstGeom prst="rect">
            <a:avLst/>
          </a:prstGeom>
          <a:noFill/>
        </p:spPr>
        <p:txBody>
          <a:bodyPr wrap="none">
            <a:spAutoFit/>
          </a:bodyPr>
          <a:lstStyle/>
          <a:p>
            <a:r>
              <a:rPr sz="1600" b="1" i="0">
                <a:solidFill>
                  <a:srgbClr val="FFFFFF"/>
                </a:solidFill>
                <a:latin typeface="Calibri"/>
              </a:rPr>
              <a:t>Recursive bisection (calmer side gets more)</a:t>
            </a:r>
          </a:p>
        </p:txBody>
      </p:sp>
      <p:sp>
        <p:nvSpPr>
          <p:cNvPr id="7" name="TextBox 6"/>
          <p:cNvSpPr txBox="1"/>
          <p:nvPr/>
        </p:nvSpPr>
        <p:spPr>
          <a:xfrm>
            <a:off x="566928" y="2066543"/>
            <a:ext cx="5650992" cy="2782813"/>
          </a:xfrm>
          <a:prstGeom prst="rect">
            <a:avLst/>
          </a:prstGeom>
          <a:noFill/>
        </p:spPr>
        <p:txBody>
          <a:bodyPr wrap="square">
            <a:spAutoFit/>
          </a:bodyPr>
          <a:lstStyle/>
          <a:p>
            <a:r>
              <a:rPr sz="1600" b="1" i="0" dirty="0">
                <a:solidFill>
                  <a:srgbClr val="374151"/>
                </a:solidFill>
                <a:latin typeface="Calibri"/>
              </a:rPr>
              <a:t>Top:  tech (V=0.0677) vs safe (V=0.0081)</a:t>
            </a:r>
          </a:p>
          <a:p>
            <a:pPr>
              <a:spcBef>
                <a:spcPts val="200"/>
              </a:spcBef>
            </a:pPr>
            <a:r>
              <a:rPr sz="1600" b="0" i="0" dirty="0">
                <a:solidFill>
                  <a:srgbClr val="374151"/>
                </a:solidFill>
                <a:latin typeface="Calibri"/>
              </a:rPr>
              <a:t>tech share = 0.0081/(0.0677+0.0081) = 0.106</a:t>
            </a:r>
          </a:p>
          <a:p>
            <a:pPr>
              <a:spcBef>
                <a:spcPts val="200"/>
              </a:spcBef>
            </a:pPr>
            <a:r>
              <a:rPr sz="1600" b="1" i="0" dirty="0">
                <a:solidFill>
                  <a:srgbClr val="038044"/>
                </a:solidFill>
                <a:latin typeface="Calibri"/>
              </a:rPr>
              <a:t>-&gt;  tech 10.6% ,  safe 89.4%</a:t>
            </a:r>
          </a:p>
          <a:p>
            <a:pPr>
              <a:spcBef>
                <a:spcPts val="900"/>
              </a:spcBef>
            </a:pPr>
            <a:r>
              <a:rPr sz="1600" b="1" i="0" dirty="0">
                <a:solidFill>
                  <a:srgbClr val="374151"/>
                </a:solidFill>
                <a:latin typeface="Calibri"/>
              </a:rPr>
              <a:t>Tech:  AAPL (0.0900) vs MSFT (0.0625)</a:t>
            </a:r>
          </a:p>
          <a:p>
            <a:pPr>
              <a:spcBef>
                <a:spcPts val="200"/>
              </a:spcBef>
            </a:pPr>
            <a:r>
              <a:rPr sz="1600" b="0" i="0" dirty="0">
                <a:solidFill>
                  <a:srgbClr val="374151"/>
                </a:solidFill>
                <a:latin typeface="Calibri"/>
              </a:rPr>
              <a:t>AAPL share = 0.0625/0.1525 = 0.410  -&gt;  41.0% / 59.0%</a:t>
            </a:r>
          </a:p>
          <a:p>
            <a:pPr>
              <a:spcBef>
                <a:spcPts val="900"/>
              </a:spcBef>
            </a:pPr>
            <a:r>
              <a:rPr sz="1600" b="1" i="0" dirty="0">
                <a:solidFill>
                  <a:srgbClr val="374151"/>
                </a:solidFill>
                <a:latin typeface="Calibri"/>
              </a:rPr>
              <a:t>Safe trio:  GLD (0.0225) vs bonds (0.0089)</a:t>
            </a:r>
          </a:p>
          <a:p>
            <a:pPr>
              <a:spcBef>
                <a:spcPts val="200"/>
              </a:spcBef>
            </a:pPr>
            <a:r>
              <a:rPr sz="1600" b="0" i="0" dirty="0">
                <a:solidFill>
                  <a:srgbClr val="374151"/>
                </a:solidFill>
                <a:latin typeface="Calibri"/>
              </a:rPr>
              <a:t>GLD share = 0.0089/0.0314 = 0.284  -&gt;  28.4% / 71.6%</a:t>
            </a:r>
          </a:p>
          <a:p>
            <a:pPr>
              <a:spcBef>
                <a:spcPts val="900"/>
              </a:spcBef>
            </a:pPr>
            <a:r>
              <a:rPr sz="1600" b="1" i="0" dirty="0">
                <a:solidFill>
                  <a:srgbClr val="374151"/>
                </a:solidFill>
                <a:latin typeface="Calibri"/>
              </a:rPr>
              <a:t>Bonds:  TLT (0.0144) vs LQD (0.0081)</a:t>
            </a:r>
          </a:p>
          <a:p>
            <a:pPr>
              <a:spcBef>
                <a:spcPts val="200"/>
              </a:spcBef>
            </a:pPr>
            <a:r>
              <a:rPr sz="1600" b="0" i="0" dirty="0">
                <a:solidFill>
                  <a:srgbClr val="374151"/>
                </a:solidFill>
                <a:latin typeface="Calibri"/>
              </a:rPr>
              <a:t>TLT share = 0.0081/0.0225 = 0.360  -&gt;  36.0% / 64.0%</a:t>
            </a:r>
          </a:p>
        </p:txBody>
      </p:sp>
      <p:sp>
        <p:nvSpPr>
          <p:cNvPr id="8" name="Rectangle 7"/>
          <p:cNvSpPr/>
          <p:nvPr/>
        </p:nvSpPr>
        <p:spPr>
          <a:xfrm>
            <a:off x="6547104" y="1627632"/>
            <a:ext cx="5221224" cy="3063240"/>
          </a:xfrm>
          <a:prstGeom prst="rect">
            <a:avLst/>
          </a:prstGeom>
          <a:solidFill>
            <a:srgbClr val="F2F3F5"/>
          </a:solidFill>
          <a:ln>
            <a:solidFill>
              <a:srgbClr val="F2F3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 name="Rectangle 8"/>
          <p:cNvSpPr/>
          <p:nvPr/>
        </p:nvSpPr>
        <p:spPr>
          <a:xfrm>
            <a:off x="6547104" y="1627632"/>
            <a:ext cx="5221224" cy="365760"/>
          </a:xfrm>
          <a:prstGeom prst="rect">
            <a:avLst/>
          </a:prstGeom>
          <a:solidFill>
            <a:srgbClr val="44546A"/>
          </a:solidFill>
          <a:ln>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 name="TextBox 9"/>
          <p:cNvSpPr txBox="1"/>
          <p:nvPr/>
        </p:nvSpPr>
        <p:spPr>
          <a:xfrm>
            <a:off x="6675120" y="1664208"/>
            <a:ext cx="3432543" cy="338554"/>
          </a:xfrm>
          <a:prstGeom prst="rect">
            <a:avLst/>
          </a:prstGeom>
          <a:noFill/>
        </p:spPr>
        <p:txBody>
          <a:bodyPr wrap="none">
            <a:spAutoFit/>
          </a:bodyPr>
          <a:lstStyle/>
          <a:p>
            <a:r>
              <a:rPr sz="1600" b="1" i="0">
                <a:solidFill>
                  <a:srgbClr val="FFFFFF"/>
                </a:solidFill>
                <a:latin typeface="Calibri"/>
              </a:rPr>
              <a:t>Final weights (multiply down the tree)</a:t>
            </a:r>
          </a:p>
        </p:txBody>
      </p:sp>
      <p:sp>
        <p:nvSpPr>
          <p:cNvPr id="11" name="TextBox 10"/>
          <p:cNvSpPr txBox="1"/>
          <p:nvPr/>
        </p:nvSpPr>
        <p:spPr>
          <a:xfrm>
            <a:off x="6693408" y="2066543"/>
            <a:ext cx="4928616" cy="1756891"/>
          </a:xfrm>
          <a:prstGeom prst="rect">
            <a:avLst/>
          </a:prstGeom>
          <a:noFill/>
        </p:spPr>
        <p:txBody>
          <a:bodyPr wrap="square">
            <a:spAutoFit/>
          </a:bodyPr>
          <a:lstStyle/>
          <a:p>
            <a:r>
              <a:rPr sz="1600" b="0" i="0" dirty="0">
                <a:solidFill>
                  <a:srgbClr val="374151"/>
                </a:solidFill>
                <a:latin typeface="Calibri"/>
              </a:rPr>
              <a:t>AAPL = 0.106 x 0.410 = </a:t>
            </a:r>
            <a:r>
              <a:rPr sz="1600" b="1" i="0" dirty="0">
                <a:solidFill>
                  <a:srgbClr val="038044"/>
                </a:solidFill>
                <a:latin typeface="Calibri"/>
              </a:rPr>
              <a:t>4.4%</a:t>
            </a:r>
          </a:p>
          <a:p>
            <a:pPr>
              <a:spcBef>
                <a:spcPts val="300"/>
              </a:spcBef>
            </a:pPr>
            <a:r>
              <a:rPr sz="1600" b="0" i="0" dirty="0">
                <a:solidFill>
                  <a:srgbClr val="374151"/>
                </a:solidFill>
                <a:latin typeface="Calibri"/>
              </a:rPr>
              <a:t>MSFT = 0.106 x 0.590 = </a:t>
            </a:r>
            <a:r>
              <a:rPr sz="1600" b="1" i="0" dirty="0">
                <a:solidFill>
                  <a:srgbClr val="038044"/>
                </a:solidFill>
                <a:latin typeface="Calibri"/>
              </a:rPr>
              <a:t>6.3%</a:t>
            </a:r>
          </a:p>
          <a:p>
            <a:pPr>
              <a:spcBef>
                <a:spcPts val="300"/>
              </a:spcBef>
            </a:pPr>
            <a:r>
              <a:rPr sz="1600" b="0" i="0" dirty="0">
                <a:solidFill>
                  <a:srgbClr val="374151"/>
                </a:solidFill>
                <a:latin typeface="Calibri"/>
              </a:rPr>
              <a:t>GLD  = 0.894 x 0.284 = </a:t>
            </a:r>
            <a:r>
              <a:rPr sz="1600" b="1" i="0" dirty="0">
                <a:solidFill>
                  <a:srgbClr val="038044"/>
                </a:solidFill>
                <a:latin typeface="Calibri"/>
              </a:rPr>
              <a:t>25.4%</a:t>
            </a:r>
          </a:p>
          <a:p>
            <a:pPr>
              <a:spcBef>
                <a:spcPts val="300"/>
              </a:spcBef>
            </a:pPr>
            <a:r>
              <a:rPr sz="1600" b="0" i="0" dirty="0">
                <a:solidFill>
                  <a:srgbClr val="374151"/>
                </a:solidFill>
                <a:latin typeface="Calibri"/>
              </a:rPr>
              <a:t>TLT  = 0.894 x 0.716 x 0.360 = </a:t>
            </a:r>
            <a:r>
              <a:rPr sz="1600" b="1" i="0" dirty="0">
                <a:solidFill>
                  <a:srgbClr val="038044"/>
                </a:solidFill>
                <a:latin typeface="Calibri"/>
              </a:rPr>
              <a:t>23.0%</a:t>
            </a:r>
          </a:p>
          <a:p>
            <a:pPr>
              <a:spcBef>
                <a:spcPts val="300"/>
              </a:spcBef>
            </a:pPr>
            <a:r>
              <a:rPr sz="1600" b="0" i="0" dirty="0">
                <a:solidFill>
                  <a:srgbClr val="374151"/>
                </a:solidFill>
                <a:latin typeface="Calibri"/>
              </a:rPr>
              <a:t>LQD  = 0.894 x 0.716 x 0.640 = </a:t>
            </a:r>
            <a:r>
              <a:rPr sz="1600" b="1" i="0" dirty="0">
                <a:solidFill>
                  <a:srgbClr val="038044"/>
                </a:solidFill>
                <a:latin typeface="Calibri"/>
              </a:rPr>
              <a:t>41.0%</a:t>
            </a:r>
          </a:p>
          <a:p>
            <a:pPr>
              <a:spcBef>
                <a:spcPts val="500"/>
              </a:spcBef>
            </a:pPr>
            <a:r>
              <a:rPr sz="1400" b="0" i="1" dirty="0">
                <a:solidFill>
                  <a:srgbClr val="6B7280"/>
                </a:solidFill>
                <a:latin typeface="Calibri"/>
              </a:rPr>
              <a:t>Sum = 100%.  Matches </a:t>
            </a:r>
            <a:r>
              <a:rPr sz="1400" b="0" i="1" dirty="0" err="1">
                <a:solidFill>
                  <a:srgbClr val="6B7280"/>
                </a:solidFill>
                <a:latin typeface="Calibri"/>
              </a:rPr>
              <a:t>PyPortfolioOpt</a:t>
            </a:r>
            <a:r>
              <a:rPr sz="1400" b="0" i="1" dirty="0">
                <a:solidFill>
                  <a:srgbClr val="6B7280"/>
                </a:solidFill>
                <a:latin typeface="Calibri"/>
              </a:rPr>
              <a:t> </a:t>
            </a:r>
            <a:r>
              <a:rPr sz="1400" b="0" i="1" dirty="0" err="1">
                <a:solidFill>
                  <a:srgbClr val="6B7280"/>
                </a:solidFill>
                <a:latin typeface="Calibri"/>
              </a:rPr>
              <a:t>HRPOpt</a:t>
            </a:r>
            <a:r>
              <a:rPr sz="1400" b="0" i="1" dirty="0">
                <a:solidFill>
                  <a:srgbClr val="6B7280"/>
                </a:solidFill>
                <a:latin typeface="Calibri"/>
              </a:rPr>
              <a:t> exactly.</a:t>
            </a:r>
          </a:p>
        </p:txBody>
      </p:sp>
      <p:sp>
        <p:nvSpPr>
          <p:cNvPr id="12" name="Rectangle 11"/>
          <p:cNvSpPr/>
          <p:nvPr/>
        </p:nvSpPr>
        <p:spPr>
          <a:xfrm>
            <a:off x="6547104" y="4828032"/>
            <a:ext cx="5221224" cy="1691639"/>
          </a:xfrm>
          <a:prstGeom prst="rect">
            <a:avLst/>
          </a:prstGeom>
          <a:solidFill>
            <a:schemeClr val="bg2"/>
          </a:solidFill>
          <a:ln>
            <a:solidFill>
              <a:srgbClr val="0380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p>
        </p:txBody>
      </p:sp>
      <p:sp>
        <p:nvSpPr>
          <p:cNvPr id="13" name="TextBox 12"/>
          <p:cNvSpPr txBox="1"/>
          <p:nvPr/>
        </p:nvSpPr>
        <p:spPr>
          <a:xfrm>
            <a:off x="6693408" y="4901184"/>
            <a:ext cx="4937760" cy="715581"/>
          </a:xfrm>
          <a:prstGeom prst="rect">
            <a:avLst/>
          </a:prstGeom>
          <a:noFill/>
        </p:spPr>
        <p:txBody>
          <a:bodyPr wrap="square">
            <a:spAutoFit/>
          </a:bodyPr>
          <a:lstStyle/>
          <a:p>
            <a:r>
              <a:rPr sz="1400" b="1" i="0" dirty="0">
                <a:latin typeface="Calibri"/>
              </a:rPr>
              <a:t>Takeaway</a:t>
            </a:r>
          </a:p>
          <a:p>
            <a:pPr>
              <a:spcBef>
                <a:spcPts val="300"/>
              </a:spcBef>
            </a:pPr>
            <a:r>
              <a:rPr sz="1200" b="0" i="0" dirty="0">
                <a:latin typeface="Calibri"/>
              </a:rPr>
              <a:t>The calmest asset, LQD (9% vol), gets the most (41%). The two tech names get under 11% combined. No covariance matrix was ever inverted.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Ledoit-Wolf by Hand (1 of 3): Data and Sample Covariance</a:t>
            </a:r>
          </a:p>
        </p:txBody>
      </p:sp>
      <p:sp>
        <p:nvSpPr>
          <p:cNvPr id="3" name="TextBox 2"/>
          <p:cNvSpPr txBox="1"/>
          <p:nvPr/>
        </p:nvSpPr>
        <p:spPr>
          <a:xfrm>
            <a:off x="420624" y="1225296"/>
            <a:ext cx="11338560" cy="310896"/>
          </a:xfrm>
          <a:prstGeom prst="rect">
            <a:avLst/>
          </a:prstGeom>
          <a:noFill/>
        </p:spPr>
        <p:txBody>
          <a:bodyPr wrap="square">
            <a:spAutoFit/>
          </a:bodyPr>
          <a:lstStyle/>
          <a:p>
            <a:r>
              <a:rPr sz="1350" i="1">
                <a:solidFill>
                  <a:srgbClr val="6B7280"/>
                </a:solidFill>
                <a:latin typeface="Calibri"/>
              </a:rPr>
              <a:t>Three assets, five periods (returns in percent). Center the returns, then form the sample covariance.</a:t>
            </a:r>
          </a:p>
        </p:txBody>
      </p:sp>
      <p:sp>
        <p:nvSpPr>
          <p:cNvPr id="4" name="Rectangle 3"/>
          <p:cNvSpPr/>
          <p:nvPr/>
        </p:nvSpPr>
        <p:spPr>
          <a:xfrm>
            <a:off x="420624" y="1627632"/>
            <a:ext cx="5760720" cy="4892040"/>
          </a:xfrm>
          <a:prstGeom prst="rect">
            <a:avLst/>
          </a:prstGeom>
          <a:solidFill>
            <a:srgbClr val="F2F3F5"/>
          </a:solidFill>
          <a:ln>
            <a:solidFill>
              <a:srgbClr val="F2F3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0624" y="1627632"/>
            <a:ext cx="5760720" cy="365760"/>
          </a:xfrm>
          <a:prstGeom prst="rect">
            <a:avLst/>
          </a:prstGeom>
          <a:solidFill>
            <a:srgbClr val="44546A"/>
          </a:solidFill>
          <a:ln>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64208"/>
            <a:ext cx="5504688" cy="292608"/>
          </a:xfrm>
          <a:prstGeom prst="rect">
            <a:avLst/>
          </a:prstGeom>
          <a:noFill/>
        </p:spPr>
        <p:txBody>
          <a:bodyPr wrap="none">
            <a:spAutoFit/>
          </a:bodyPr>
          <a:lstStyle/>
          <a:p>
            <a:r>
              <a:rPr sz="1400" b="1" i="0">
                <a:solidFill>
                  <a:srgbClr val="FFFFFF"/>
                </a:solidFill>
                <a:latin typeface="Calibri"/>
              </a:rPr>
              <a:t>The data: returns and centering</a:t>
            </a:r>
          </a:p>
        </p:txBody>
      </p:sp>
      <p:sp>
        <p:nvSpPr>
          <p:cNvPr id="7" name="TextBox 6"/>
          <p:cNvSpPr txBox="1"/>
          <p:nvPr/>
        </p:nvSpPr>
        <p:spPr>
          <a:xfrm>
            <a:off x="566928" y="2066543"/>
            <a:ext cx="5468112" cy="4361688"/>
          </a:xfrm>
          <a:prstGeom prst="rect">
            <a:avLst/>
          </a:prstGeom>
          <a:noFill/>
        </p:spPr>
        <p:txBody>
          <a:bodyPr wrap="square">
            <a:spAutoFit/>
          </a:bodyPr>
          <a:lstStyle/>
          <a:p>
            <a:r>
              <a:rPr sz="1100" b="0" i="0">
                <a:solidFill>
                  <a:srgbClr val="374151"/>
                </a:solidFill>
                <a:latin typeface="Calibri"/>
              </a:rPr>
              <a:t>Returns (percent):</a:t>
            </a:r>
          </a:p>
          <a:p>
            <a:pPr>
              <a:spcBef>
                <a:spcPts val="200"/>
              </a:spcBef>
            </a:pPr>
            <a:r>
              <a:rPr sz="1050" b="0" i="0">
                <a:solidFill>
                  <a:srgbClr val="1F2A3A"/>
                </a:solidFill>
                <a:latin typeface="Courier New"/>
              </a:rPr>
              <a:t>      A    B    C</a:t>
            </a:r>
          </a:p>
          <a:p>
            <a:r>
              <a:rPr sz="1050" b="0" i="0">
                <a:solidFill>
                  <a:srgbClr val="1F2A3A"/>
                </a:solidFill>
                <a:latin typeface="Courier New"/>
              </a:rPr>
              <a:t>t1    3    2   -1</a:t>
            </a:r>
          </a:p>
          <a:p>
            <a:r>
              <a:rPr sz="1050" b="0" i="0">
                <a:solidFill>
                  <a:srgbClr val="1F2A3A"/>
                </a:solidFill>
                <a:latin typeface="Courier New"/>
              </a:rPr>
              <a:t>t2   -2   -1    0</a:t>
            </a:r>
          </a:p>
          <a:p>
            <a:r>
              <a:rPr sz="1050" b="0" i="0">
                <a:solidFill>
                  <a:srgbClr val="1F2A3A"/>
                </a:solidFill>
                <a:latin typeface="Courier New"/>
              </a:rPr>
              <a:t>t3    4    3    1</a:t>
            </a:r>
          </a:p>
          <a:p>
            <a:r>
              <a:rPr sz="1050" b="0" i="0">
                <a:solidFill>
                  <a:srgbClr val="1F2A3A"/>
                </a:solidFill>
                <a:latin typeface="Courier New"/>
              </a:rPr>
              <a:t>t4   -1    0    2</a:t>
            </a:r>
          </a:p>
          <a:p>
            <a:r>
              <a:rPr sz="1050" b="0" i="0">
                <a:solidFill>
                  <a:srgbClr val="1F2A3A"/>
                </a:solidFill>
                <a:latin typeface="Courier New"/>
              </a:rPr>
              <a:t>t5    1    1   -2</a:t>
            </a:r>
          </a:p>
          <a:p>
            <a:pPr>
              <a:spcBef>
                <a:spcPts val="500"/>
              </a:spcBef>
            </a:pPr>
            <a:r>
              <a:rPr sz="1100" b="1" i="0">
                <a:solidFill>
                  <a:srgbClr val="374151"/>
                </a:solidFill>
                <a:latin typeface="Calibri"/>
              </a:rPr>
              <a:t>Means:  A = 1,  B = 1,  C = 0</a:t>
            </a:r>
          </a:p>
          <a:p>
            <a:pPr>
              <a:spcBef>
                <a:spcPts val="600"/>
              </a:spcBef>
            </a:pPr>
            <a:r>
              <a:rPr sz="1100" b="0" i="0">
                <a:solidFill>
                  <a:srgbClr val="374151"/>
                </a:solidFill>
                <a:latin typeface="Calibri"/>
              </a:rPr>
              <a:t>Centered (subtract each mean):</a:t>
            </a:r>
          </a:p>
          <a:p>
            <a:pPr>
              <a:spcBef>
                <a:spcPts val="200"/>
              </a:spcBef>
            </a:pPr>
            <a:r>
              <a:rPr sz="1050" b="0" i="0">
                <a:solidFill>
                  <a:srgbClr val="1F2A3A"/>
                </a:solidFill>
                <a:latin typeface="Courier New"/>
              </a:rPr>
              <a:t>      A    B    C</a:t>
            </a:r>
          </a:p>
          <a:p>
            <a:r>
              <a:rPr sz="1050" b="0" i="0">
                <a:solidFill>
                  <a:srgbClr val="1F2A3A"/>
                </a:solidFill>
                <a:latin typeface="Courier New"/>
              </a:rPr>
              <a:t>t1    2    1   -1</a:t>
            </a:r>
          </a:p>
          <a:p>
            <a:r>
              <a:rPr sz="1050" b="0" i="0">
                <a:solidFill>
                  <a:srgbClr val="1F2A3A"/>
                </a:solidFill>
                <a:latin typeface="Courier New"/>
              </a:rPr>
              <a:t>t2   -3   -2    0</a:t>
            </a:r>
          </a:p>
          <a:p>
            <a:r>
              <a:rPr sz="1050" b="0" i="0">
                <a:solidFill>
                  <a:srgbClr val="1F2A3A"/>
                </a:solidFill>
                <a:latin typeface="Courier New"/>
              </a:rPr>
              <a:t>t3    3    2    1</a:t>
            </a:r>
          </a:p>
          <a:p>
            <a:r>
              <a:rPr sz="1050" b="0" i="0">
                <a:solidFill>
                  <a:srgbClr val="1F2A3A"/>
                </a:solidFill>
                <a:latin typeface="Courier New"/>
              </a:rPr>
              <a:t>t4   -2   -1    2</a:t>
            </a:r>
          </a:p>
          <a:p>
            <a:r>
              <a:rPr sz="1050" b="0" i="0">
                <a:solidFill>
                  <a:srgbClr val="1F2A3A"/>
                </a:solidFill>
                <a:latin typeface="Courier New"/>
              </a:rPr>
              <a:t>t5    0    0   -2</a:t>
            </a:r>
          </a:p>
        </p:txBody>
      </p:sp>
      <p:sp>
        <p:nvSpPr>
          <p:cNvPr id="8" name="Rectangle 7"/>
          <p:cNvSpPr/>
          <p:nvPr/>
        </p:nvSpPr>
        <p:spPr>
          <a:xfrm>
            <a:off x="6309360" y="1627632"/>
            <a:ext cx="5458968" cy="4892040"/>
          </a:xfrm>
          <a:prstGeom prst="rect">
            <a:avLst/>
          </a:prstGeom>
          <a:solidFill>
            <a:srgbClr val="F2F3F5"/>
          </a:solidFill>
          <a:ln>
            <a:solidFill>
              <a:srgbClr val="F2F3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09360" y="1627632"/>
            <a:ext cx="5458968" cy="365760"/>
          </a:xfrm>
          <a:prstGeom prst="rect">
            <a:avLst/>
          </a:prstGeom>
          <a:solidFill>
            <a:srgbClr val="44546A"/>
          </a:solidFill>
          <a:ln>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7376" y="1664208"/>
            <a:ext cx="5202936" cy="292608"/>
          </a:xfrm>
          <a:prstGeom prst="rect">
            <a:avLst/>
          </a:prstGeom>
          <a:noFill/>
        </p:spPr>
        <p:txBody>
          <a:bodyPr wrap="none">
            <a:spAutoFit/>
          </a:bodyPr>
          <a:lstStyle/>
          <a:p>
            <a:r>
              <a:rPr sz="1400" b="1" i="0">
                <a:solidFill>
                  <a:srgbClr val="FFFFFF"/>
                </a:solidFill>
                <a:latin typeface="Calibri"/>
              </a:rPr>
              <a:t>Sample covariance  S = (1/5) . (Xc)^T . Xc</a:t>
            </a:r>
          </a:p>
        </p:txBody>
      </p:sp>
      <p:sp>
        <p:nvSpPr>
          <p:cNvPr id="11" name="TextBox 10"/>
          <p:cNvSpPr txBox="1"/>
          <p:nvPr/>
        </p:nvSpPr>
        <p:spPr>
          <a:xfrm>
            <a:off x="6455664" y="2066543"/>
            <a:ext cx="5166359" cy="4361688"/>
          </a:xfrm>
          <a:prstGeom prst="rect">
            <a:avLst/>
          </a:prstGeom>
          <a:noFill/>
        </p:spPr>
        <p:txBody>
          <a:bodyPr wrap="square">
            <a:spAutoFit/>
          </a:bodyPr>
          <a:lstStyle/>
          <a:p>
            <a:r>
              <a:rPr sz="1100" b="0" i="1">
                <a:solidFill>
                  <a:srgbClr val="6B7280"/>
                </a:solidFill>
                <a:latin typeface="Calibri"/>
              </a:rPr>
              <a:t>Each entry is the average product of two centered columns.</a:t>
            </a:r>
          </a:p>
          <a:p>
            <a:pPr>
              <a:spcBef>
                <a:spcPts val="800"/>
              </a:spcBef>
            </a:pPr>
            <a:r>
              <a:rPr sz="1050" b="0" i="0">
                <a:solidFill>
                  <a:srgbClr val="1F2A3A"/>
                </a:solidFill>
                <a:latin typeface="Courier New"/>
              </a:rPr>
              <a:t>S_AA = (2^2+(-3)^2+3^2+(-2)^2+0^2)/5</a:t>
            </a:r>
          </a:p>
          <a:p>
            <a:r>
              <a:rPr sz="1050" b="0" i="0">
                <a:solidFill>
                  <a:srgbClr val="1F2A3A"/>
                </a:solidFill>
                <a:latin typeface="Courier New"/>
              </a:rPr>
              <a:t>     = 26/5 = 5.2</a:t>
            </a:r>
          </a:p>
          <a:p>
            <a:pPr>
              <a:spcBef>
                <a:spcPts val="400"/>
              </a:spcBef>
            </a:pPr>
            <a:r>
              <a:rPr sz="1050" b="0" i="0">
                <a:solidFill>
                  <a:srgbClr val="1F2A3A"/>
                </a:solidFill>
                <a:latin typeface="Courier New"/>
              </a:rPr>
              <a:t>S_AB = (2*1+(-3)(-2)+3*2+(-2)(-1)+0)/5</a:t>
            </a:r>
          </a:p>
          <a:p>
            <a:r>
              <a:rPr sz="1050" b="0" i="0">
                <a:solidFill>
                  <a:srgbClr val="1F2A3A"/>
                </a:solidFill>
                <a:latin typeface="Courier New"/>
              </a:rPr>
              <a:t>     = 16/5 = 3.2</a:t>
            </a:r>
          </a:p>
          <a:p>
            <a:pPr>
              <a:spcBef>
                <a:spcPts val="600"/>
              </a:spcBef>
            </a:pPr>
            <a:r>
              <a:rPr sz="1100" b="0" i="0">
                <a:solidFill>
                  <a:srgbClr val="374151"/>
                </a:solidFill>
                <a:latin typeface="Calibri"/>
              </a:rPr>
              <a:t>The other four entries the same way give:</a:t>
            </a:r>
          </a:p>
          <a:p>
            <a:pPr>
              <a:spcBef>
                <a:spcPts val="400"/>
              </a:spcBef>
            </a:pPr>
            <a:r>
              <a:rPr sz="1050" b="0" i="0">
                <a:solidFill>
                  <a:srgbClr val="1F2A3A"/>
                </a:solidFill>
                <a:latin typeface="Courier New"/>
              </a:rPr>
              <a:t>        A      B      C</a:t>
            </a:r>
          </a:p>
          <a:p>
            <a:r>
              <a:rPr sz="1050" b="0" i="0">
                <a:solidFill>
                  <a:srgbClr val="1F2A3A"/>
                </a:solidFill>
                <a:latin typeface="Courier New"/>
              </a:rPr>
              <a:t>A     5.2    3.2   -0.6</a:t>
            </a:r>
          </a:p>
          <a:p>
            <a:r>
              <a:rPr sz="1050" b="0" i="0">
                <a:solidFill>
                  <a:srgbClr val="1F2A3A"/>
                </a:solidFill>
                <a:latin typeface="Courier New"/>
              </a:rPr>
              <a:t>B     3.2    2.0   -0.2</a:t>
            </a:r>
          </a:p>
          <a:p>
            <a:r>
              <a:rPr sz="1050" b="0" i="0">
                <a:solidFill>
                  <a:srgbClr val="1F2A3A"/>
                </a:solidFill>
                <a:latin typeface="Courier New"/>
              </a:rPr>
              <a:t>C    -0.6   -0.2    2.0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Ledoit-Wolf by Hand (2 of 3): Target and the Two Ingredients</a:t>
            </a:r>
          </a:p>
        </p:txBody>
      </p:sp>
      <p:sp>
        <p:nvSpPr>
          <p:cNvPr id="3" name="TextBox 2"/>
          <p:cNvSpPr txBox="1"/>
          <p:nvPr/>
        </p:nvSpPr>
        <p:spPr>
          <a:xfrm>
            <a:off x="420624" y="1225296"/>
            <a:ext cx="11338560" cy="310896"/>
          </a:xfrm>
          <a:prstGeom prst="rect">
            <a:avLst/>
          </a:prstGeom>
          <a:noFill/>
        </p:spPr>
        <p:txBody>
          <a:bodyPr wrap="square">
            <a:spAutoFit/>
          </a:bodyPr>
          <a:lstStyle/>
          <a:p>
            <a:r>
              <a:rPr sz="1350" i="1">
                <a:solidFill>
                  <a:srgbClr val="6B7280"/>
                </a:solidFill>
                <a:latin typeface="Calibri"/>
              </a:rPr>
              <a:t>Estimator Sigma* = delta.F + (1-delta).S. Build the target F, then measure d-squared and b-squared.</a:t>
            </a:r>
          </a:p>
        </p:txBody>
      </p:sp>
      <p:sp>
        <p:nvSpPr>
          <p:cNvPr id="4" name="Rectangle 3"/>
          <p:cNvSpPr/>
          <p:nvPr/>
        </p:nvSpPr>
        <p:spPr>
          <a:xfrm>
            <a:off x="420624" y="1627632"/>
            <a:ext cx="5760720" cy="4892040"/>
          </a:xfrm>
          <a:prstGeom prst="rect">
            <a:avLst/>
          </a:prstGeom>
          <a:solidFill>
            <a:srgbClr val="F2F3F5"/>
          </a:solidFill>
          <a:ln>
            <a:solidFill>
              <a:srgbClr val="F2F3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0624" y="1627632"/>
            <a:ext cx="5760720" cy="365760"/>
          </a:xfrm>
          <a:prstGeom prst="rect">
            <a:avLst/>
          </a:prstGeom>
          <a:solidFill>
            <a:srgbClr val="44546A"/>
          </a:solidFill>
          <a:ln>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64208"/>
            <a:ext cx="5504688" cy="292608"/>
          </a:xfrm>
          <a:prstGeom prst="rect">
            <a:avLst/>
          </a:prstGeom>
          <a:noFill/>
        </p:spPr>
        <p:txBody>
          <a:bodyPr wrap="none">
            <a:spAutoFit/>
          </a:bodyPr>
          <a:lstStyle/>
          <a:p>
            <a:r>
              <a:rPr sz="1400" b="1" i="0">
                <a:solidFill>
                  <a:srgbClr val="FFFFFF"/>
                </a:solidFill>
                <a:latin typeface="Calibri"/>
              </a:rPr>
              <a:t>Target F and d-squared (how wrong the target is)</a:t>
            </a:r>
          </a:p>
        </p:txBody>
      </p:sp>
      <p:sp>
        <p:nvSpPr>
          <p:cNvPr id="7" name="TextBox 6"/>
          <p:cNvSpPr txBox="1"/>
          <p:nvPr/>
        </p:nvSpPr>
        <p:spPr>
          <a:xfrm>
            <a:off x="566928" y="2066543"/>
            <a:ext cx="5468112" cy="4361688"/>
          </a:xfrm>
          <a:prstGeom prst="rect">
            <a:avLst/>
          </a:prstGeom>
          <a:noFill/>
        </p:spPr>
        <p:txBody>
          <a:bodyPr wrap="square">
            <a:spAutoFit/>
          </a:bodyPr>
          <a:lstStyle/>
          <a:p>
            <a:r>
              <a:rPr sz="1100" b="0" i="0">
                <a:solidFill>
                  <a:srgbClr val="374151"/>
                </a:solidFill>
                <a:latin typeface="Calibri"/>
              </a:rPr>
              <a:t>Target F = m . I, with m = average variance = trace(S)/3</a:t>
            </a:r>
          </a:p>
          <a:p>
            <a:pPr>
              <a:spcBef>
                <a:spcPts val="300"/>
              </a:spcBef>
            </a:pPr>
            <a:r>
              <a:rPr sz="1050" b="0" i="0">
                <a:solidFill>
                  <a:srgbClr val="1F2A3A"/>
                </a:solidFill>
                <a:latin typeface="Courier New"/>
              </a:rPr>
              <a:t>m = (5.2 + 2.0 + 2.0)/3 = 9.2/3 = 3.067</a:t>
            </a:r>
          </a:p>
          <a:p>
            <a:pPr>
              <a:spcBef>
                <a:spcPts val="300"/>
              </a:spcBef>
            </a:pPr>
            <a:r>
              <a:rPr sz="1100" b="0" i="1">
                <a:solidFill>
                  <a:srgbClr val="6B7280"/>
                </a:solidFill>
                <a:latin typeface="Calibri"/>
              </a:rPr>
              <a:t>So F has 3.067 on the diagonal and 0 off it.</a:t>
            </a:r>
          </a:p>
          <a:p>
            <a:pPr>
              <a:spcBef>
                <a:spcPts val="800"/>
              </a:spcBef>
            </a:pPr>
            <a:r>
              <a:rPr sz="1100" b="0" i="0">
                <a:solidFill>
                  <a:srgbClr val="374151"/>
                </a:solidFill>
                <a:latin typeface="Calibri"/>
              </a:rPr>
              <a:t>d-squared = (1/3) . sum of squared entries of (S - mI):</a:t>
            </a:r>
          </a:p>
          <a:p>
            <a:pPr>
              <a:spcBef>
                <a:spcPts val="300"/>
              </a:spcBef>
            </a:pPr>
            <a:r>
              <a:rPr sz="1050" b="0" i="0">
                <a:solidFill>
                  <a:srgbClr val="1F2A3A"/>
                </a:solidFill>
                <a:latin typeface="Courier New"/>
              </a:rPr>
              <a:t>diag:(5.2-3.067)^2+(2-3.067)^2+(2-3.067)^2</a:t>
            </a:r>
          </a:p>
          <a:p>
            <a:r>
              <a:rPr sz="1050" b="0" i="0">
                <a:solidFill>
                  <a:srgbClr val="1F2A3A"/>
                </a:solidFill>
                <a:latin typeface="Courier New"/>
              </a:rPr>
              <a:t>    = 4.551 + 1.138 + 1.138 = 6.827</a:t>
            </a:r>
          </a:p>
          <a:p>
            <a:pPr>
              <a:spcBef>
                <a:spcPts val="300"/>
              </a:spcBef>
            </a:pPr>
            <a:r>
              <a:rPr sz="1050" b="0" i="0">
                <a:solidFill>
                  <a:srgbClr val="1F2A3A"/>
                </a:solidFill>
                <a:latin typeface="Courier New"/>
              </a:rPr>
              <a:t>off : 2*(3.2^2 + 0.6^2 + 0.2^2)</a:t>
            </a:r>
          </a:p>
          <a:p>
            <a:r>
              <a:rPr sz="1050" b="0" i="0">
                <a:solidFill>
                  <a:srgbClr val="1F2A3A"/>
                </a:solidFill>
                <a:latin typeface="Courier New"/>
              </a:rPr>
              <a:t>    = 2*(10.24+0.36+0.04) = 21.28</a:t>
            </a:r>
          </a:p>
          <a:p>
            <a:pPr>
              <a:spcBef>
                <a:spcPts val="400"/>
              </a:spcBef>
            </a:pPr>
            <a:r>
              <a:rPr sz="1050" b="0" i="0">
                <a:solidFill>
                  <a:srgbClr val="1F2A3A"/>
                </a:solidFill>
                <a:latin typeface="Courier New"/>
              </a:rPr>
              <a:t>total = 28.107  -&gt;  d2 = 28.107/3 = </a:t>
            </a:r>
            <a:r>
              <a:rPr sz="1100" b="1" i="0">
                <a:solidFill>
                  <a:srgbClr val="038044"/>
                </a:solidFill>
                <a:latin typeface="Courier New"/>
              </a:rPr>
              <a:t>9.369</a:t>
            </a:r>
          </a:p>
        </p:txBody>
      </p:sp>
      <p:sp>
        <p:nvSpPr>
          <p:cNvPr id="8" name="Rectangle 7"/>
          <p:cNvSpPr/>
          <p:nvPr/>
        </p:nvSpPr>
        <p:spPr>
          <a:xfrm>
            <a:off x="6309360" y="1627632"/>
            <a:ext cx="5458968" cy="4892040"/>
          </a:xfrm>
          <a:prstGeom prst="rect">
            <a:avLst/>
          </a:prstGeom>
          <a:solidFill>
            <a:srgbClr val="F2F3F5"/>
          </a:solidFill>
          <a:ln>
            <a:solidFill>
              <a:srgbClr val="F2F3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09360" y="1627632"/>
            <a:ext cx="5458968" cy="365760"/>
          </a:xfrm>
          <a:prstGeom prst="rect">
            <a:avLst/>
          </a:prstGeom>
          <a:solidFill>
            <a:srgbClr val="44546A"/>
          </a:solidFill>
          <a:ln>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7376" y="1664208"/>
            <a:ext cx="5202936" cy="292608"/>
          </a:xfrm>
          <a:prstGeom prst="rect">
            <a:avLst/>
          </a:prstGeom>
          <a:noFill/>
        </p:spPr>
        <p:txBody>
          <a:bodyPr wrap="none">
            <a:spAutoFit/>
          </a:bodyPr>
          <a:lstStyle/>
          <a:p>
            <a:r>
              <a:rPr sz="1400" b="1" i="0">
                <a:solidFill>
                  <a:srgbClr val="FFFFFF"/>
                </a:solidFill>
                <a:latin typeface="Calibri"/>
              </a:rPr>
              <a:t>b-squared (how noisy S is)</a:t>
            </a:r>
          </a:p>
        </p:txBody>
      </p:sp>
      <p:sp>
        <p:nvSpPr>
          <p:cNvPr id="11" name="TextBox 10"/>
          <p:cNvSpPr txBox="1"/>
          <p:nvPr/>
        </p:nvSpPr>
        <p:spPr>
          <a:xfrm>
            <a:off x="6455664" y="2066543"/>
            <a:ext cx="5166359" cy="4361688"/>
          </a:xfrm>
          <a:prstGeom prst="rect">
            <a:avLst/>
          </a:prstGeom>
          <a:noFill/>
        </p:spPr>
        <p:txBody>
          <a:bodyPr wrap="square">
            <a:spAutoFit/>
          </a:bodyPr>
          <a:lstStyle/>
          <a:p>
            <a:r>
              <a:rPr sz="1100" b="0" i="0">
                <a:solidFill>
                  <a:srgbClr val="374151"/>
                </a:solidFill>
                <a:latin typeface="Calibri"/>
              </a:rPr>
              <a:t>Average, over the 5 periods, of how far each period's own guess x.x^T is from S:</a:t>
            </a:r>
          </a:p>
          <a:p>
            <a:pPr>
              <a:spcBef>
                <a:spcPts val="300"/>
              </a:spcBef>
            </a:pPr>
            <a:r>
              <a:rPr sz="1050" b="0" i="0">
                <a:solidFill>
                  <a:srgbClr val="1F2A3A"/>
                </a:solidFill>
                <a:latin typeface="Courier New"/>
              </a:rPr>
              <a:t>b2 = 1/(p.n^2) . sum_t || x_t x_t^T - S ||^2</a:t>
            </a:r>
          </a:p>
          <a:p>
            <a:pPr>
              <a:spcBef>
                <a:spcPts val="700"/>
              </a:spcBef>
            </a:pPr>
            <a:r>
              <a:rPr sz="1100" b="1" i="0">
                <a:solidFill>
                  <a:srgbClr val="374151"/>
                </a:solidFill>
                <a:latin typeface="Calibri"/>
              </a:rPr>
              <a:t>Period t1, centered x = (2, 1, -1):</a:t>
            </a:r>
          </a:p>
          <a:p>
            <a:pPr>
              <a:spcBef>
                <a:spcPts val="300"/>
              </a:spcBef>
            </a:pPr>
            <a:r>
              <a:rPr sz="1050" b="0" i="0">
                <a:solidFill>
                  <a:srgbClr val="1F2A3A"/>
                </a:solidFill>
                <a:latin typeface="Courier New"/>
              </a:rPr>
              <a:t>x x^T = [ 4   2  -2 ]</a:t>
            </a:r>
          </a:p>
          <a:p>
            <a:r>
              <a:rPr sz="1050" b="0" i="0">
                <a:solidFill>
                  <a:srgbClr val="1F2A3A"/>
                </a:solidFill>
                <a:latin typeface="Courier New"/>
              </a:rPr>
              <a:t>        [ 2   1  -1 ]</a:t>
            </a:r>
          </a:p>
          <a:p>
            <a:r>
              <a:rPr sz="1050" b="0" i="0">
                <a:solidFill>
                  <a:srgbClr val="1F2A3A"/>
                </a:solidFill>
                <a:latin typeface="Courier New"/>
              </a:rPr>
              <a:t>        [-2  -1   1 ]</a:t>
            </a:r>
          </a:p>
          <a:p>
            <a:pPr>
              <a:spcBef>
                <a:spcPts val="200"/>
              </a:spcBef>
            </a:pPr>
            <a:r>
              <a:rPr sz="1050" b="0" i="0">
                <a:solidFill>
                  <a:srgbClr val="1F2A3A"/>
                </a:solidFill>
                <a:latin typeface="Courier New"/>
              </a:rPr>
              <a:t>minus S, square all 9 entries, sum = 11.52</a:t>
            </a:r>
          </a:p>
          <a:p>
            <a:pPr>
              <a:spcBef>
                <a:spcPts val="600"/>
              </a:spcBef>
            </a:pPr>
            <a:r>
              <a:rPr sz="1100" b="1" i="0">
                <a:solidFill>
                  <a:srgbClr val="374151"/>
                </a:solidFill>
                <a:latin typeface="Calibri"/>
              </a:rPr>
              <a:t>All five periods:</a:t>
            </a:r>
          </a:p>
          <a:p>
            <a:pPr>
              <a:spcBef>
                <a:spcPts val="200"/>
              </a:spcBef>
            </a:pPr>
            <a:r>
              <a:rPr sz="1050" b="0" i="0">
                <a:solidFill>
                  <a:srgbClr val="1F2A3A"/>
                </a:solidFill>
                <a:latin typeface="Courier New"/>
              </a:rPr>
              <a:t>11.52, 38.92, 70.72, 38.92, 56.32 -&gt; 216.4</a:t>
            </a:r>
          </a:p>
          <a:p>
            <a:pPr>
              <a:spcBef>
                <a:spcPts val="300"/>
              </a:spcBef>
            </a:pPr>
            <a:r>
              <a:rPr sz="1050" b="0" i="0">
                <a:solidFill>
                  <a:srgbClr val="1F2A3A"/>
                </a:solidFill>
                <a:latin typeface="Courier New"/>
              </a:rPr>
              <a:t>b2 = 216.4/(3*25) = 216.4/75 = </a:t>
            </a:r>
            <a:r>
              <a:rPr sz="1100" b="1" i="0">
                <a:solidFill>
                  <a:srgbClr val="038044"/>
                </a:solidFill>
                <a:latin typeface="Courier New"/>
              </a:rPr>
              <a:t>2.885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Ledoit-Wolf by Hand (3 of 3): Shrinkage and Result</a:t>
            </a:r>
          </a:p>
        </p:txBody>
      </p:sp>
      <p:sp>
        <p:nvSpPr>
          <p:cNvPr id="3" name="TextBox 2"/>
          <p:cNvSpPr txBox="1"/>
          <p:nvPr/>
        </p:nvSpPr>
        <p:spPr>
          <a:xfrm>
            <a:off x="420624" y="1225296"/>
            <a:ext cx="11338560" cy="310896"/>
          </a:xfrm>
          <a:prstGeom prst="rect">
            <a:avLst/>
          </a:prstGeom>
          <a:noFill/>
        </p:spPr>
        <p:txBody>
          <a:bodyPr wrap="square">
            <a:spAutoFit/>
          </a:bodyPr>
          <a:lstStyle/>
          <a:p>
            <a:r>
              <a:rPr sz="1350" i="1">
                <a:solidFill>
                  <a:srgbClr val="6B7280"/>
                </a:solidFill>
                <a:latin typeface="Calibri"/>
              </a:rPr>
              <a:t>delta = b-squared / d-squared. Blend the sample covariance toward the target.</a:t>
            </a:r>
          </a:p>
        </p:txBody>
      </p:sp>
      <p:sp>
        <p:nvSpPr>
          <p:cNvPr id="4" name="Rectangle 3"/>
          <p:cNvSpPr/>
          <p:nvPr/>
        </p:nvSpPr>
        <p:spPr>
          <a:xfrm>
            <a:off x="420624" y="1627632"/>
            <a:ext cx="5760720" cy="4892040"/>
          </a:xfrm>
          <a:prstGeom prst="rect">
            <a:avLst/>
          </a:prstGeom>
          <a:solidFill>
            <a:srgbClr val="F2F3F5"/>
          </a:solidFill>
          <a:ln>
            <a:solidFill>
              <a:srgbClr val="F2F3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0624" y="1627632"/>
            <a:ext cx="5760720" cy="365760"/>
          </a:xfrm>
          <a:prstGeom prst="rect">
            <a:avLst/>
          </a:prstGeom>
          <a:solidFill>
            <a:srgbClr val="44546A"/>
          </a:solidFill>
          <a:ln>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64208"/>
            <a:ext cx="5504688" cy="292608"/>
          </a:xfrm>
          <a:prstGeom prst="rect">
            <a:avLst/>
          </a:prstGeom>
          <a:noFill/>
        </p:spPr>
        <p:txBody>
          <a:bodyPr wrap="none">
            <a:spAutoFit/>
          </a:bodyPr>
          <a:lstStyle/>
          <a:p>
            <a:r>
              <a:rPr sz="1400" b="1" i="0">
                <a:solidFill>
                  <a:srgbClr val="FFFFFF"/>
                </a:solidFill>
                <a:latin typeface="Calibri"/>
              </a:rPr>
              <a:t>Shrinkage intensity  delta</a:t>
            </a:r>
          </a:p>
        </p:txBody>
      </p:sp>
      <p:sp>
        <p:nvSpPr>
          <p:cNvPr id="7" name="TextBox 6"/>
          <p:cNvSpPr txBox="1"/>
          <p:nvPr/>
        </p:nvSpPr>
        <p:spPr>
          <a:xfrm>
            <a:off x="566928" y="2066543"/>
            <a:ext cx="5468112" cy="4361688"/>
          </a:xfrm>
          <a:prstGeom prst="rect">
            <a:avLst/>
          </a:prstGeom>
          <a:noFill/>
        </p:spPr>
        <p:txBody>
          <a:bodyPr wrap="square">
            <a:spAutoFit/>
          </a:bodyPr>
          <a:lstStyle/>
          <a:p>
            <a:r>
              <a:rPr sz="1100" b="0" i="0">
                <a:solidFill>
                  <a:srgbClr val="1F2A3A"/>
                </a:solidFill>
                <a:latin typeface="Courier New"/>
              </a:rPr>
              <a:t>delta = b2 / d2 = 2.885 / 9.369 = </a:t>
            </a:r>
            <a:r>
              <a:rPr sz="1200" b="1" i="0">
                <a:solidFill>
                  <a:srgbClr val="038044"/>
                </a:solidFill>
                <a:latin typeface="Courier New"/>
              </a:rPr>
              <a:t>0.308</a:t>
            </a:r>
          </a:p>
          <a:p>
            <a:pPr>
              <a:spcBef>
                <a:spcPts val="100"/>
              </a:spcBef>
            </a:pPr>
            <a:r>
              <a:rPr sz="1050" b="0" i="1">
                <a:solidFill>
                  <a:srgbClr val="6B7280"/>
                </a:solidFill>
                <a:latin typeface="Calibri"/>
              </a:rPr>
              <a:t>(kept within 0 and 1)</a:t>
            </a:r>
          </a:p>
          <a:p>
            <a:pPr>
              <a:spcBef>
                <a:spcPts val="900"/>
              </a:spcBef>
            </a:pPr>
            <a:r>
              <a:rPr sz="1250" b="1" i="0">
                <a:solidFill>
                  <a:srgbClr val="44546A"/>
                </a:solidFill>
                <a:latin typeface="Calibri"/>
              </a:rPr>
              <a:t>How to read it</a:t>
            </a:r>
          </a:p>
          <a:p>
            <a:pPr>
              <a:spcBef>
                <a:spcPts val="300"/>
              </a:spcBef>
            </a:pPr>
            <a:r>
              <a:rPr sz="1100" b="0" i="0">
                <a:solidFill>
                  <a:srgbClr val="374151"/>
                </a:solidFill>
                <a:latin typeface="Calibri"/>
              </a:rPr>
              <a:t>S is noisy (b-squared) relative to the real structure it shows away from the target (d-squared), so shrink about 31% of the way toward F.</a:t>
            </a:r>
          </a:p>
          <a:p>
            <a:pPr>
              <a:spcBef>
                <a:spcPts val="700"/>
              </a:spcBef>
            </a:pPr>
            <a:r>
              <a:rPr sz="1100" b="0" i="0">
                <a:solidFill>
                  <a:srgbClr val="374151"/>
                </a:solidFill>
                <a:latin typeface="Calibri"/>
              </a:rPr>
              <a:t>More periods would lower b-squared and pull delta toward 0. Here n = 5 is tiny, so delta is sizeable.</a:t>
            </a:r>
          </a:p>
          <a:p>
            <a:pPr>
              <a:spcBef>
                <a:spcPts val="700"/>
              </a:spcBef>
            </a:pPr>
            <a:r>
              <a:rPr sz="1100" b="1" i="0">
                <a:solidFill>
                  <a:srgbClr val="374151"/>
                </a:solidFill>
                <a:latin typeface="Calibri"/>
              </a:rPr>
              <a:t>Rule: shrink more when data is scarce or noisy; shrink less when the target is clearly wrong.</a:t>
            </a:r>
          </a:p>
        </p:txBody>
      </p:sp>
      <p:sp>
        <p:nvSpPr>
          <p:cNvPr id="8" name="Rectangle 7"/>
          <p:cNvSpPr/>
          <p:nvPr/>
        </p:nvSpPr>
        <p:spPr>
          <a:xfrm>
            <a:off x="6309360" y="1627632"/>
            <a:ext cx="5458968" cy="3017520"/>
          </a:xfrm>
          <a:prstGeom prst="rect">
            <a:avLst/>
          </a:prstGeom>
          <a:solidFill>
            <a:srgbClr val="F2F3F5"/>
          </a:solidFill>
          <a:ln>
            <a:solidFill>
              <a:srgbClr val="F2F3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09360" y="1627632"/>
            <a:ext cx="5458968" cy="365760"/>
          </a:xfrm>
          <a:prstGeom prst="rect">
            <a:avLst/>
          </a:prstGeom>
          <a:solidFill>
            <a:srgbClr val="44546A"/>
          </a:solidFill>
          <a:ln>
            <a:solidFill>
              <a:srgbClr val="445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7376" y="1664208"/>
            <a:ext cx="5202936" cy="292608"/>
          </a:xfrm>
          <a:prstGeom prst="rect">
            <a:avLst/>
          </a:prstGeom>
          <a:noFill/>
        </p:spPr>
        <p:txBody>
          <a:bodyPr wrap="none">
            <a:spAutoFit/>
          </a:bodyPr>
          <a:lstStyle/>
          <a:p>
            <a:r>
              <a:rPr sz="1400" b="1" i="0">
                <a:solidFill>
                  <a:srgbClr val="FFFFFF"/>
                </a:solidFill>
                <a:latin typeface="Calibri"/>
              </a:rPr>
              <a:t>The shrunk covariance  Sigma*</a:t>
            </a:r>
          </a:p>
        </p:txBody>
      </p:sp>
      <p:sp>
        <p:nvSpPr>
          <p:cNvPr id="11" name="TextBox 10"/>
          <p:cNvSpPr txBox="1"/>
          <p:nvPr/>
        </p:nvSpPr>
        <p:spPr>
          <a:xfrm>
            <a:off x="6455664" y="2066543"/>
            <a:ext cx="5166359" cy="2487168"/>
          </a:xfrm>
          <a:prstGeom prst="rect">
            <a:avLst/>
          </a:prstGeom>
          <a:noFill/>
        </p:spPr>
        <p:txBody>
          <a:bodyPr wrap="square">
            <a:spAutoFit/>
          </a:bodyPr>
          <a:lstStyle/>
          <a:p>
            <a:r>
              <a:rPr sz="1050" b="0" i="0">
                <a:solidFill>
                  <a:srgbClr val="1F2A3A"/>
                </a:solidFill>
                <a:latin typeface="Courier New"/>
              </a:rPr>
              <a:t>Sigma* = delta.m.I + (1-delta).S</a:t>
            </a:r>
          </a:p>
          <a:p>
            <a:pPr>
              <a:spcBef>
                <a:spcPts val="100"/>
              </a:spcBef>
            </a:pPr>
            <a:r>
              <a:rPr sz="1050" b="0" i="0">
                <a:solidFill>
                  <a:srgbClr val="1F2A3A"/>
                </a:solidFill>
                <a:latin typeface="Courier New"/>
              </a:rPr>
              <a:t>       = 0.308*(3.067 I) + 0.692*S</a:t>
            </a:r>
          </a:p>
          <a:p>
            <a:pPr>
              <a:spcBef>
                <a:spcPts val="300"/>
              </a:spcBef>
            </a:pPr>
            <a:r>
              <a:rPr sz="1050" b="0" i="0">
                <a:solidFill>
                  <a:srgbClr val="1F2A3A"/>
                </a:solidFill>
                <a:latin typeface="Courier New"/>
              </a:rPr>
              <a:t>diagonal add: 0.308*3.067 = 0.944</a:t>
            </a:r>
          </a:p>
          <a:p>
            <a:pPr>
              <a:spcBef>
                <a:spcPts val="300"/>
              </a:spcBef>
            </a:pPr>
            <a:r>
              <a:rPr sz="1050" b="0" i="0">
                <a:solidFill>
                  <a:srgbClr val="1F2A3A"/>
                </a:solidFill>
                <a:latin typeface="Courier New"/>
              </a:rPr>
              <a:t>AA: 0.944 + 0.692*5.2 = 4.543</a:t>
            </a:r>
          </a:p>
          <a:p>
            <a:r>
              <a:rPr sz="1050" b="0" i="0">
                <a:solidFill>
                  <a:srgbClr val="1F2A3A"/>
                </a:solidFill>
                <a:latin typeface="Courier New"/>
              </a:rPr>
              <a:t>BB = CC: 0.944 + 0.692*2.0 = 2.328</a:t>
            </a:r>
          </a:p>
          <a:p>
            <a:r>
              <a:rPr sz="1050" b="0" i="0">
                <a:solidFill>
                  <a:srgbClr val="1F2A3A"/>
                </a:solidFill>
                <a:latin typeface="Courier New"/>
              </a:rPr>
              <a:t>AB: 0.692*3.2 = 2.214</a:t>
            </a:r>
          </a:p>
          <a:p>
            <a:r>
              <a:rPr sz="1050" b="0" i="0">
                <a:solidFill>
                  <a:srgbClr val="1F2A3A"/>
                </a:solidFill>
                <a:latin typeface="Courier New"/>
              </a:rPr>
              <a:t>AC: 0.692*(-0.6) = -0.415  BC: -0.138</a:t>
            </a:r>
          </a:p>
          <a:p>
            <a:pPr>
              <a:spcBef>
                <a:spcPts val="400"/>
              </a:spcBef>
            </a:pPr>
            <a:r>
              <a:rPr sz="1050" b="0" i="0">
                <a:solidFill>
                  <a:srgbClr val="1F2A3A"/>
                </a:solidFill>
                <a:latin typeface="Courier New"/>
              </a:rPr>
              <a:t>        A       B       C</a:t>
            </a:r>
          </a:p>
          <a:p>
            <a:r>
              <a:rPr sz="1050" b="0" i="0">
                <a:solidFill>
                  <a:srgbClr val="1F2A3A"/>
                </a:solidFill>
                <a:latin typeface="Courier New"/>
              </a:rPr>
              <a:t>A    4.543   2.214  -0.415</a:t>
            </a:r>
          </a:p>
          <a:p>
            <a:r>
              <a:rPr sz="1050" b="0" i="0">
                <a:solidFill>
                  <a:srgbClr val="1F2A3A"/>
                </a:solidFill>
                <a:latin typeface="Courier New"/>
              </a:rPr>
              <a:t>B    2.214   2.328  -0.138</a:t>
            </a:r>
          </a:p>
          <a:p>
            <a:r>
              <a:rPr sz="1050" b="0" i="0">
                <a:solidFill>
                  <a:srgbClr val="1F2A3A"/>
                </a:solidFill>
                <a:latin typeface="Courier New"/>
              </a:rPr>
              <a:t>C   -0.415  -0.138   2.328</a:t>
            </a:r>
          </a:p>
        </p:txBody>
      </p:sp>
      <p:sp>
        <p:nvSpPr>
          <p:cNvPr id="12" name="Rectangle 11"/>
          <p:cNvSpPr/>
          <p:nvPr/>
        </p:nvSpPr>
        <p:spPr>
          <a:xfrm>
            <a:off x="6309360" y="4782312"/>
            <a:ext cx="5458968" cy="1737359"/>
          </a:xfrm>
          <a:prstGeom prst="rect">
            <a:avLst/>
          </a:prstGeom>
          <a:solidFill>
            <a:srgbClr val="038044"/>
          </a:solidFill>
          <a:ln>
            <a:solidFill>
              <a:srgbClr val="0380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5664" y="4855464"/>
            <a:ext cx="5148072" cy="1664207"/>
          </a:xfrm>
          <a:prstGeom prst="rect">
            <a:avLst/>
          </a:prstGeom>
          <a:noFill/>
        </p:spPr>
        <p:txBody>
          <a:bodyPr wrap="square">
            <a:spAutoFit/>
          </a:bodyPr>
          <a:lstStyle/>
          <a:p>
            <a:r>
              <a:rPr sz="1250" b="1" i="0">
                <a:solidFill>
                  <a:srgbClr val="FFFFFF"/>
                </a:solidFill>
                <a:latin typeface="Calibri"/>
              </a:rPr>
              <a:t>Takeaway</a:t>
            </a:r>
          </a:p>
          <a:p>
            <a:pPr>
              <a:spcBef>
                <a:spcPts val="300"/>
              </a:spcBef>
            </a:pPr>
            <a:r>
              <a:rPr sz="1150" b="0" i="0">
                <a:solidFill>
                  <a:srgbClr val="FFFFFF"/>
                </a:solidFill>
                <a:latin typeface="Calibri"/>
              </a:rPr>
              <a:t>The big variance 5.2 is pulled toward the average 3.07, the small ones pushed up, and covariances shrink toward zero. delta and Sigma* match sklearn / pypfopt ledoit_wolf exactly.</a:t>
            </a:r>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2159</TotalTime>
  <Words>5627</Words>
  <Application>Microsoft Macintosh PowerPoint</Application>
  <PresentationFormat>Widescreen</PresentationFormat>
  <Paragraphs>404</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Cambria Math</vt:lpstr>
      <vt:lpstr>Office 2013 - 2022 Theme</vt:lpstr>
      <vt:lpstr>FINANCIAL RISK MANAGEMENT AND ENGINEERING  Session 10: Portfolio Risk &amp; Optimization II: Risk Parity &amp; Black-Litterman</vt:lpstr>
      <vt:lpstr>Learning Objectives</vt:lpstr>
      <vt:lpstr>Mean-Variance Optimisation - Where It Breaks Down</vt:lpstr>
      <vt:lpstr>Covariance Estimation — The Most Important Input</vt:lpstr>
      <vt:lpstr>The Risk-Based Allocation Family: Dropping Noisy Inputs</vt:lpstr>
      <vt:lpstr>Comparing Portfolio Construction Strategies</vt:lpstr>
      <vt:lpstr>Real-World Portfolio Constraints (PyPortfolioOpt code)</vt:lpstr>
      <vt:lpstr>Covariance Estimation: Sample vs Shrinkage</vt:lpstr>
      <vt:lpstr>Ledoit-Wolf Shrinkage</vt:lpstr>
      <vt:lpstr>Risk Parity - Intuition and Motivation</vt:lpstr>
      <vt:lpstr>Risk Contribution and Equal-Risk-Contribution (ERC)</vt:lpstr>
      <vt:lpstr>Risk Parity vs Alternatives - A Structured Comparison</vt:lpstr>
      <vt:lpstr>Black-Litterman - Framework and Intuition</vt:lpstr>
      <vt:lpstr>Black-Litterman Posterior Expected Returns</vt:lpstr>
      <vt:lpstr>Constructing Investor Views in Practice</vt:lpstr>
      <vt:lpstr>BL vs Equilibrium - Portfolio Implications</vt:lpstr>
      <vt:lpstr>ESG Ratings and the Divergence Problem</vt:lpstr>
      <vt:lpstr>Berg, Koelbel and Rigobon (2022) - Aggregate Confusion</vt:lpstr>
      <vt:lpstr>ESG-Constrained Portfolio Optimisation</vt:lpstr>
      <vt:lpstr>Assignment 3 - What Session 10 Contributes</vt:lpstr>
      <vt:lpstr>Required Readings and References</vt:lpstr>
      <vt:lpstr>HRP Example (1 of 4): Setup and Distances</vt:lpstr>
      <vt:lpstr>HRP Example (2 of 4): Build the Tree, then Reorder</vt:lpstr>
      <vt:lpstr>HRP Example (3 of 4): Risk of Each Branch</vt:lpstr>
      <vt:lpstr>HRP Example (1 of 4): Split the Money, Final Weights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Hull RMFI 6e - Chapters 1-4</dc:title>
  <dc:subject>Options, Futures, and Other Derivatives, 11e</dc:subject>
  <dc:creator/>
  <cp:keywords>Chapter1</cp:keywords>
  <dc:description>Copyright 2021 by John C. Hull. All Rights Reserved. Published 2021</dc:description>
  <cp:lastModifiedBy>Yuriy Zabolotnyuk</cp:lastModifiedBy>
  <cp:revision>115</cp:revision>
  <dcterms:created xsi:type="dcterms:W3CDTF">2008-05-28T22:27:59Z</dcterms:created>
  <dcterms:modified xsi:type="dcterms:W3CDTF">2026-07-19T18:16:44Z</dcterms:modified>
</cp:coreProperties>
</file>