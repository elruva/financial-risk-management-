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7" r:id="rId1"/>
  </p:sldMasterIdLst>
  <p:notesMasterIdLst>
    <p:notesMasterId r:id="rId51"/>
  </p:notesMasterIdLst>
  <p:sldIdLst>
    <p:sldId id="256" r:id="rId2"/>
    <p:sldId id="258" r:id="rId3"/>
    <p:sldId id="281" r:id="rId4"/>
    <p:sldId id="259" r:id="rId5"/>
    <p:sldId id="283" r:id="rId6"/>
    <p:sldId id="285" r:id="rId7"/>
    <p:sldId id="260" r:id="rId8"/>
    <p:sldId id="286" r:id="rId9"/>
    <p:sldId id="290" r:id="rId10"/>
    <p:sldId id="293" r:id="rId11"/>
    <p:sldId id="295" r:id="rId12"/>
    <p:sldId id="297" r:id="rId13"/>
    <p:sldId id="298" r:id="rId14"/>
    <p:sldId id="278" r:id="rId15"/>
    <p:sldId id="301" r:id="rId16"/>
    <p:sldId id="262" r:id="rId17"/>
    <p:sldId id="302" r:id="rId18"/>
    <p:sldId id="304" r:id="rId19"/>
    <p:sldId id="287" r:id="rId20"/>
    <p:sldId id="288" r:id="rId21"/>
    <p:sldId id="263" r:id="rId22"/>
    <p:sldId id="257" r:id="rId23"/>
    <p:sldId id="264" r:id="rId24"/>
    <p:sldId id="409" r:id="rId25"/>
    <p:sldId id="320" r:id="rId26"/>
    <p:sldId id="325" r:id="rId27"/>
    <p:sldId id="330" r:id="rId28"/>
    <p:sldId id="265" r:id="rId29"/>
    <p:sldId id="266" r:id="rId30"/>
    <p:sldId id="355" r:id="rId31"/>
    <p:sldId id="357" r:id="rId32"/>
    <p:sldId id="268" r:id="rId33"/>
    <p:sldId id="410" r:id="rId34"/>
    <p:sldId id="392" r:id="rId35"/>
    <p:sldId id="393" r:id="rId36"/>
    <p:sldId id="396" r:id="rId37"/>
    <p:sldId id="397" r:id="rId38"/>
    <p:sldId id="398" r:id="rId39"/>
    <p:sldId id="401" r:id="rId40"/>
    <p:sldId id="402" r:id="rId41"/>
    <p:sldId id="403" r:id="rId42"/>
    <p:sldId id="404" r:id="rId43"/>
    <p:sldId id="406" r:id="rId44"/>
    <p:sldId id="407" r:id="rId45"/>
    <p:sldId id="408" r:id="rId46"/>
    <p:sldId id="272" r:id="rId47"/>
    <p:sldId id="273" r:id="rId48"/>
    <p:sldId id="274" r:id="rId49"/>
    <p:sldId id="279"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539500-3737-F445-9BFE-3E5512651490}" v="59" dt="2026-07-20T19:29:36.0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263"/>
    <p:restoredTop sz="72971"/>
  </p:normalViewPr>
  <p:slideViewPr>
    <p:cSldViewPr>
      <p:cViewPr varScale="1">
        <p:scale>
          <a:sx n="85" d="100"/>
          <a:sy n="85" d="100"/>
        </p:scale>
        <p:origin x="1016" y="17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D3E168-E06C-4270-93A1-BA6F395C0456}" type="datetimeFigureOut">
              <a:rPr lang="en-US"/>
              <a:pPr>
                <a:defRPr/>
              </a:pPr>
              <a:t>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0D07607-43F6-4AEA-9890-00BBE9F451C8}" type="slidenum">
              <a:rPr lang="en-US" altLang="en-US"/>
              <a:pPr/>
              <a:t>‹#›</a:t>
            </a:fld>
            <a:endParaRPr lang="en-US" altLang="en-US"/>
          </a:p>
        </p:txBody>
      </p:sp>
    </p:spTree>
    <p:extLst>
      <p:ext uri="{BB962C8B-B14F-4D97-AF65-F5344CB8AC3E}">
        <p14:creationId xmlns:p14="http://schemas.microsoft.com/office/powerpoint/2010/main" val="3093439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Today we trace the Basel capital framework from 1988 to the present, then build a macro scenario stress test</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267619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1: regulatory history. Basel I's genius was simplicity, a single global number. Basel II's genius was risk-sensitivity via IRB; its flaw was procyclicality and inadequate treatment of trading-book and off-balance-sheet risk, both exposed by the GFC.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7117078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628399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through the arithmetic: a bank with 1 billion USD in corporate loans (100% weight) needs 80M USD in capital. A bank with 1 billion USD in OECD government bonds needs zero. That created a massive incentive to hold government paper and </a:t>
            </a:r>
            <a:r>
              <a:rPr dirty="0" err="1"/>
              <a:t>securitise</a:t>
            </a:r>
            <a:r>
              <a:rPr dirty="0"/>
              <a:t> corporate loans into AAA tranches that attracted low weights. Mention Solvency II briefly, same spirit, different calibration for insurance. Hull Ch. 25 is the primary reference.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87686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136686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286226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1378097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868125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03542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0768085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66979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9214533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Vasicek Asymptotic Single-Factor model underneath every IRB engine. Stress the 99.9% confidence, much tighter than the trading-book 99% </a:t>
            </a:r>
            <a:r>
              <a:rPr dirty="0" err="1"/>
              <a:t>VaR.</a:t>
            </a:r>
            <a:r>
              <a:rPr dirty="0"/>
              <a:t> The formula links directly to the Gaussian-copula Credit </a:t>
            </a:r>
            <a:r>
              <a:rPr dirty="0" err="1"/>
              <a:t>VaR.</a:t>
            </a:r>
            <a:r>
              <a:rPr dirty="0"/>
              <a:t> Note that the maturity adjustment was added in Basel II.5 discussions. Keep it conceptual; students need to </a:t>
            </a:r>
            <a:r>
              <a:rPr dirty="0" err="1"/>
              <a:t>recognise</a:t>
            </a:r>
            <a:r>
              <a:rPr dirty="0"/>
              <a:t> the structure, not derive it from scratch.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223580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341942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2370926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954773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Block 2: the post-GFC reforms. Basel II.5 patched the most glaring holes in the trading book (stressed VaR, IRC). Basel III rebuilt the capital quality and introduced liquidity standards. FRTB (Basel IV's trading book) switches market risk measurement from VaR to ES. Hull Ch. 26 is the primary reference for this block.</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1E895FB-5AE9-4DDF-BB8F-173A7050815A}" type="slidenum">
              <a:rPr lang="en-US" altLang="en-US"/>
              <a:pPr>
                <a:spcBef>
                  <a:spcPct val="0"/>
                </a:spcBef>
              </a:pPr>
              <a:t>22</a:t>
            </a:fld>
            <a:endParaRPr lang="en-US" altLang="en-US"/>
          </a:p>
        </p:txBody>
      </p:sp>
    </p:spTree>
    <p:extLst>
      <p:ext uri="{BB962C8B-B14F-4D97-AF65-F5344CB8AC3E}">
        <p14:creationId xmlns:p14="http://schemas.microsoft.com/office/powerpoint/2010/main" val="4806322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insight of Basel II.5: banking regulators learned that calm-market VaR dramatically understates crisis losses. The fix was to run a second VaR on a deliberately bad historical window. Ask students: what 12-month window would you pick today as the stress period? (COVID March 2020, or the 2022 rate shock might qualify.) The assignment uses a stressed VaR concept in the stress-test cell.</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8C665-414D-BD0D-8800-79AD57AF8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0C70D-145F-8A44-EEB2-ADD81F07DAC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B549C22-4EDB-50A7-09D0-D3C61AB707B1}"/>
              </a:ext>
            </a:extLst>
          </p:cNvPr>
          <p:cNvSpPr>
            <a:spLocks noGrp="1"/>
          </p:cNvSpPr>
          <p:nvPr>
            <p:ph type="body" sz="quarter" idx="3"/>
          </p:nvPr>
        </p:nvSpPr>
        <p:spPr/>
        <p:txBody>
          <a:bodyPr/>
          <a:lstStyle/>
          <a:p>
            <a:r>
              <a:t>Point out the design philosophy of Basel III: (1) capital quality, CET1 is the real absorber of losses; (2) capital quantity, buffers above the hard minimum so capital does not fall below the minimum the instant losses occur; (3) liquidity, fills the gap Basel II left completely open; (4) leverage, a blunt backstop so no bank can lever up sovereign bonds to infinity. Ask which reform was most important for preventing 2008.</a:t>
            </a:r>
          </a:p>
        </p:txBody>
      </p:sp>
      <p:sp>
        <p:nvSpPr>
          <p:cNvPr id="4" name="Slide Number Placeholder 3">
            <a:extLst>
              <a:ext uri="{FF2B5EF4-FFF2-40B4-BE49-F238E27FC236}">
                <a16:creationId xmlns:a16="http://schemas.microsoft.com/office/drawing/2014/main" id="{52951E67-8934-0FE2-3CD9-1DEB9CCF6926}"/>
              </a:ext>
            </a:extLst>
          </p:cNvPr>
          <p:cNvSpPr>
            <a:spLocks noGrp="1"/>
          </p:cNvSpPr>
          <p:nvPr>
            <p:ph type="sldNum" sz="quarter" idx="5"/>
          </p:nvPr>
        </p:nvSpPr>
        <p:spPr/>
      </p:sp>
    </p:spTree>
    <p:extLst>
      <p:ext uri="{BB962C8B-B14F-4D97-AF65-F5344CB8AC3E}">
        <p14:creationId xmlns:p14="http://schemas.microsoft.com/office/powerpoint/2010/main" val="20735079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D939F7C-C6D3-4870-88CB-18F35426A72E}" type="slidenum">
              <a:rPr lang="en-US" altLang="en-US"/>
              <a:pPr>
                <a:spcBef>
                  <a:spcPct val="0"/>
                </a:spcBef>
              </a:pPr>
              <a:t>25</a:t>
            </a:fld>
            <a:endParaRPr lang="en-US" altLang="en-US"/>
          </a:p>
        </p:txBody>
      </p:sp>
    </p:spTree>
    <p:extLst>
      <p:ext uri="{BB962C8B-B14F-4D97-AF65-F5344CB8AC3E}">
        <p14:creationId xmlns:p14="http://schemas.microsoft.com/office/powerpoint/2010/main" val="446909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p>
        </p:txBody>
      </p:sp>
      <p:sp>
        <p:nvSpPr>
          <p:cNvPr id="358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E529BEA-4778-4B4B-96AA-FEB22BD26FFA}" type="slidenum">
              <a:rPr lang="en-US" altLang="en-US"/>
              <a:pPr>
                <a:spcBef>
                  <a:spcPct val="0"/>
                </a:spcBef>
              </a:pPr>
              <a:t>27</a:t>
            </a:fld>
            <a:endParaRPr lang="en-US" altLang="en-US"/>
          </a:p>
        </p:txBody>
      </p:sp>
    </p:spTree>
    <p:extLst>
      <p:ext uri="{BB962C8B-B14F-4D97-AF65-F5344CB8AC3E}">
        <p14:creationId xmlns:p14="http://schemas.microsoft.com/office/powerpoint/2010/main" val="4143377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Point out the design philosophy of Basel III: (1) capital quality, CET1 is the real absorber of losses; (2) capital quantity, buffers above the hard minimum so capital does not fall below the minimum the instant losses occur; (3) liquidity, fills the gap Basel II left completely open; (4) leverage, a blunt backstop so no bank can lever up sovereign bonds to infinity. Ask which reform was most important for preventing 2008.</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Run through a numerical example: a bank has CET1 = 45Bn USD, RWA = 285Bn USD, total exposure 950Bn USD. CET1 ratio = 45/285 = 15.8%; leverage = 45/950 = 4.7%. Both above minimums. Now, after a severely adverse stress, capital falls to 20Bn USD: CET1 = 7.0%, leverage = 2.1%, the leverage ratio fails. This is exactly the stress-test computation in the lab. Students replicate this logic in their Assignment 3 stress-test cell.</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four-panel is the core summary of Blocks 1 and 2 together. Spend 3 to 4 minutes here. Key narrative: each accord was a response to a failure, Basel I to 1980s bank crises, Basel II to the Barings-era model improvements, Basel II.5 to the GFC trading-book losses, Basel III to the GFC capital quality and liquidity gaps. FRTB responds to the realisation that 99% VaR is inadequate even in Basel II.5; the shift to 97.5% ES is a methodological upgrade that aligns with what students computed in Sessions 3 and 4.</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2E78-9D9F-CA36-3418-29C1C13EC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15360-D14A-23D1-F994-82EC9568190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5CA6525-9BF4-2FE4-EF2D-FB11F72E743B}"/>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E6EE83A-7737-1049-F4D3-864AA28021FD}"/>
              </a:ext>
            </a:extLst>
          </p:cNvPr>
          <p:cNvSpPr>
            <a:spLocks noGrp="1"/>
          </p:cNvSpPr>
          <p:nvPr>
            <p:ph type="sldNum" sz="quarter" idx="5"/>
          </p:nvPr>
        </p:nvSpPr>
        <p:spPr/>
      </p:sp>
    </p:spTree>
    <p:extLst>
      <p:ext uri="{BB962C8B-B14F-4D97-AF65-F5344CB8AC3E}">
        <p14:creationId xmlns:p14="http://schemas.microsoft.com/office/powerpoint/2010/main" val="7065906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which type of risk drove the GFC, market, credit, or liquidity? Answer: all at once, amplified by contagion. That is systemic risk. Connect to Jorion Ch. 27's firmwide perspective: the chief risk officer must see the whole system, not just their institution.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2007 to 2009 crisis combined both channels: repo market (direct, Gorton and Metrick) and fire sales of mortgage-backed securities (indirect). Note: Adrian and Brunnermeier's CoVaR was developed explicitly to capture the indirect channel.</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quantile regression intuition: we ask what the system's tail looks like conditional on one firm being in its tail. The difference from the normal conditional gives the incremental risk contribution. Show the formula in the notebook and point to the CoVaR results table.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 is simple: the average return of a stock on days when the market falls more than 2%. SRISK adds balance sheet size. The key insight: large, highly leveraged institutions contribute most to system risk even if their individual VaR looks fine. Lab Section 3 implements both with the six US banks.</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Delta CoVaR and MES are research-based market measures; SRISK bridges market and balance-sheet; the G-SIB score is the regulatory standard. They often agree on ranking but diverge in magnitude, a good discussion point. Question: do they agree on who is most systemic?</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Danielsson (2002) is a supplementary reading, concise and provocative. Key idea: if banks use similar models, regulation makes them more fragile, not less. Connect to the systemic risk block: model homogeneity amplifies contagion.</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 through each panel with a concrete course example: specification = normal VaR (S3) underestimates tails we saw in fat-tail tests; estimation = GARCH calibrated on 2005 to 2007 data misses 2008; implementation = a wrong formula sign in the SRISK spreadsheet. SR 11-7 is the Fed's model risk management guidance, required reading for any US bank risk role.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LTCM was first introduced in Session 1. Here we revisit it through the model-risk lens. Stress that LTCM is not unique: the same pattern repeats, the GFC correlation spike, the COVID vol spike, the March 2020 bond/equity correlation flip. Every model-risk failure follows the specification/estimation/implementation taxonomy.</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SR 11-7 (supervisory guidance on model risk management) is the de facto standard globally, adopted by regulators beyond the US. The three-lines structure mirrors the operational risk governance in Session 7. Point to Assignment 3: students are expected to write a brief model-risk critique of their Delta CoVaR estimate.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Connect to Session 11 stress testing: the NGFS scenarios are increasingly used alongside CCAR/DFAST macro scenarios. Key point: climate risk is long-horizon (30 years) while most risk models look 1 to 10 years. That mismatch is itself a model risk.</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Berg, Koelbel, Rigobon (2022) in Review of Finance is the key ESG-disagreement paper. For Assignment 3, students should note that any ESG tilt depends on which provider they use; that dependency is itself part of the model-risk critique they must write.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Green Swan paper is freely available from BIS. </a:t>
            </a:r>
            <a:r>
              <a:rPr lang="en-US" dirty="0"/>
              <a:t>It is </a:t>
            </a:r>
            <a:r>
              <a:rPr dirty="0"/>
              <a:t>93 pages but conceptually important. Ask students: how would you model a risk with no historical precedent? This connects back to model risk; climate risk is the ultimate model-risk challenge.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shock grid quickly. Stress that each scenario must be internally consistent: a severely adverse scenario with GDP minus 4% and spreads plus 200bp but equities up would be incoherent. The beta mapping (portfolio sensitivity times shock) is exactly what the lab computes. Note the climate transition scenario, a new scenario type that is increasingly included alongside the traditional macro scenarios per NGFS guidance.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395980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Reverse stress testing was barely </a:t>
            </a:r>
            <a:r>
              <a:rPr dirty="0" err="1"/>
              <a:t>practised</a:t>
            </a:r>
            <a:r>
              <a:rPr dirty="0"/>
              <a:t> before the GFC; now it is a regulatory requirement in the UK (PRA), EU (SSM), and is endorsed by BCBS. </a:t>
            </a:r>
            <a:r>
              <a:rPr lang="en-US" dirty="0"/>
              <a:t>S</a:t>
            </a:r>
            <a:r>
              <a:rPr dirty="0"/>
              <a:t>tudents have a capital ratio and a simulated stressed capital ratio. They can work backwards from the minimum (7%) to ask 'how bad does GDP need to fall to breach my buffer?' This is a natural extension exercise for the stress-test cell.</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253975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US CCAR/DFAST framework is the world's most visible stress-testing programme, results are published annually and are market-moving. Remind students that after the GFC, banks that failed the 2009 SCAP (the CCAR predecessor) had to raise capital or accept TARP. Today, failing CCAR blocks dividend payments. The EU equivalent is the EBA stress test, which uses a similar three-scenario structure but is published less frequently (every two years). Hanson, Kashyap and Stein (2011) is the academic foundation.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0320178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Hull Ch. 16 (stress testing) and Ch. 26 (Basel III / FRTB) are the most directly tested readings</a:t>
            </a:r>
            <a:r>
              <a:rPr lang="en-US" dirty="0"/>
              <a:t>.</a:t>
            </a:r>
            <a:r>
              <a:rPr dirty="0"/>
              <a:t> Jorion Ch. 28 provides the practitioner FRM perspective on the Basel accords. Hanson et al. (2011) is the academic foundation for macroprudential regulation (highly readable, 25 pages). BCBS d450 is worth skimming: the 14 principles are the standard against which real stress-testing </a:t>
            </a:r>
            <a:r>
              <a:rPr dirty="0" err="1"/>
              <a:t>programmes</a:t>
            </a:r>
            <a:r>
              <a:rPr dirty="0"/>
              <a:t> are audited.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043363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1570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5096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33015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5976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Aarhus University Summer School 2026</a:t>
            </a:r>
          </a:p>
        </p:txBody>
      </p:sp>
      <p:sp>
        <p:nvSpPr>
          <p:cNvPr id="9" name="Slide Number Placeholder 8"/>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453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Aarhus University Summer School 2026</a:t>
            </a:r>
          </a:p>
        </p:txBody>
      </p:sp>
      <p:sp>
        <p:nvSpPr>
          <p:cNvPr id="5" name="Slide Number Placeholder 4"/>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96518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Aarhus University Summer School 2026</a:t>
            </a:r>
          </a:p>
        </p:txBody>
      </p:sp>
      <p:sp>
        <p:nvSpPr>
          <p:cNvPr id="4" name="Slide Number Placeholder 3"/>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000429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1798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196803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1853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18477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5"/>
            <a:ext cx="11345799" cy="1325563"/>
          </a:xfrm>
        </p:spPr>
        <p:txBody>
          <a:bodyPr lIns="0" tIns="0" rIns="0" bIns="0" anchor="t">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423101" y="1681163"/>
            <a:ext cx="6438105" cy="823912"/>
          </a:xfrm>
        </p:spPr>
        <p:txBody>
          <a:bodyPr lIns="0" tIns="0" rIns="0" bIns="0" anchor="t"/>
          <a:lstStyle>
            <a:lvl1pPr marL="0" indent="0">
              <a:buNone/>
              <a:defRPr sz="2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23101" y="2671763"/>
            <a:ext cx="6438105" cy="3684588"/>
          </a:xfrm>
        </p:spPr>
        <p:txBody>
          <a:bodyPr lIns="0" tIns="0" rIns="0" bIns="0">
            <a:normAutofit/>
          </a:bodyPr>
          <a:lstStyle>
            <a:lvl1pPr marL="0" indent="0">
              <a:buFontTx/>
              <a:buNone/>
              <a:defRPr sz="2133"/>
            </a:lvl1pPr>
            <a:lvl2pPr marL="457189" indent="0">
              <a:buFontTx/>
              <a:buNone/>
              <a:defRPr sz="2400"/>
            </a:lvl2pPr>
            <a:lvl3pPr marL="914377" indent="0">
              <a:buFontTx/>
              <a:buNone/>
              <a:defRPr sz="2400"/>
            </a:lvl3pPr>
            <a:lvl4pPr marL="1371566" indent="0">
              <a:buFontTx/>
              <a:buNone/>
              <a:defRPr sz="2400"/>
            </a:lvl4pPr>
            <a:lvl5pPr marL="1828754" indent="0">
              <a:buFontTx/>
              <a:buNone/>
              <a:defRPr sz="2400"/>
            </a:lvl5pPr>
          </a:lstStyle>
          <a:p>
            <a:pPr lvl="0"/>
            <a:r>
              <a:rPr lang="en-US"/>
              <a:t>Click to edit Master text styles</a:t>
            </a:r>
          </a:p>
        </p:txBody>
      </p:sp>
      <p:sp>
        <p:nvSpPr>
          <p:cNvPr id="6" name="Content Placeholder 5"/>
          <p:cNvSpPr>
            <a:spLocks noGrp="1"/>
          </p:cNvSpPr>
          <p:nvPr>
            <p:ph sz="quarter" idx="4"/>
          </p:nvPr>
        </p:nvSpPr>
        <p:spPr>
          <a:xfrm>
            <a:off x="7299767" y="1723424"/>
            <a:ext cx="4453672" cy="3168811"/>
          </a:xfrm>
          <a:solidFill>
            <a:schemeClr val="tx1"/>
          </a:solidFill>
        </p:spPr>
        <p:txBody>
          <a:bodyPr lIns="360000" tIns="360000" rIns="360000" bIns="360000" anchor="ctr"/>
          <a:lstStyle>
            <a:lvl1pPr marL="0" indent="0" algn="l">
              <a:buFontTx/>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2050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New Title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6"/>
            <a:ext cx="11345799" cy="10768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535723"/>
            <a:ext cx="11345797" cy="4501661"/>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0382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New Title Content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CCE42D8-5361-9940-B797-FFC03759880E}"/>
              </a:ext>
            </a:extLst>
          </p:cNvPr>
          <p:cNvPicPr>
            <a:picLocks noChangeAspect="1"/>
          </p:cNvPicPr>
          <p:nvPr/>
        </p:nvPicPr>
        <p:blipFill>
          <a:blip r:embed="rId2"/>
          <a:srcRect/>
          <a:stretch/>
        </p:blipFill>
        <p:spPr>
          <a:xfrm>
            <a:off x="0" y="1"/>
            <a:ext cx="12192000" cy="6858000"/>
          </a:xfrm>
          <a:prstGeom prst="rect">
            <a:avLst/>
          </a:prstGeom>
        </p:spPr>
      </p:pic>
      <p:sp>
        <p:nvSpPr>
          <p:cNvPr id="2" name="Title 1"/>
          <p:cNvSpPr>
            <a:spLocks noGrp="1"/>
          </p:cNvSpPr>
          <p:nvPr>
            <p:ph type="title"/>
          </p:nvPr>
        </p:nvSpPr>
        <p:spPr>
          <a:xfrm>
            <a:off x="423099" y="365126"/>
            <a:ext cx="11345799" cy="9244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383323"/>
            <a:ext cx="11345797" cy="4380169"/>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423224AA-A183-CA4A-BDDA-A7ED236E648B}"/>
              </a:ext>
            </a:extLst>
          </p:cNvPr>
          <p:cNvPicPr>
            <a:picLocks noChangeAspect="1"/>
          </p:cNvPicPr>
          <p:nvPr/>
        </p:nvPicPr>
        <p:blipFill>
          <a:blip r:embed="rId3"/>
          <a:srcRect/>
          <a:stretch/>
        </p:blipFill>
        <p:spPr>
          <a:xfrm>
            <a:off x="8875618" y="5748384"/>
            <a:ext cx="3316380" cy="1109616"/>
          </a:xfrm>
          <a:prstGeom prst="rect">
            <a:avLst/>
          </a:prstGeom>
        </p:spPr>
      </p:pic>
    </p:spTree>
    <p:extLst>
      <p:ext uri="{BB962C8B-B14F-4D97-AF65-F5344CB8AC3E}">
        <p14:creationId xmlns:p14="http://schemas.microsoft.com/office/powerpoint/2010/main" val="263116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14D-F56C-2D2F-97D9-F1714A9861D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9986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Aarhus University Summer School 2026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77878-5A46-4A4D-987F-065558C472F5}" type="slidenum">
              <a:rPr lang="en-US" smtClean="0"/>
              <a:t>‹#›</a:t>
            </a:fld>
            <a:endParaRPr lang="en-US"/>
          </a:p>
        </p:txBody>
      </p:sp>
    </p:spTree>
    <p:extLst>
      <p:ext uri="{BB962C8B-B14F-4D97-AF65-F5344CB8AC3E}">
        <p14:creationId xmlns:p14="http://schemas.microsoft.com/office/powerpoint/2010/main" val="2450784130"/>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 id="2147484129" r:id="rId12"/>
    <p:sldLayoutId id="2147484130" r:id="rId13"/>
    <p:sldLayoutId id="2147484059" r:id="rId14"/>
    <p:sldLayoutId id="2147484017" r:id="rId1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6.bin"/><Relationship Id="rId4" Type="http://schemas.openxmlformats.org/officeDocument/2006/relationships/image" Target="../media/image11.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8.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9.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26.png"/><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hyperlink" Target="https://www.youtube.com/@volatilityandriskinstitute5671" TargetMode="External"/><Relationship Id="rId7" Type="http://schemas.openxmlformats.org/officeDocument/2006/relationships/hyperlink" Target="https://vlab.stern.nyu.edu/" TargetMode="External"/><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099" y="2112962"/>
            <a:ext cx="7273101" cy="2306638"/>
          </a:xfrm>
        </p:spPr>
        <p:txBody>
          <a:bodyPr anchor="t">
            <a:normAutofit/>
          </a:bodyPr>
          <a:lstStyle/>
          <a:p>
            <a:r>
              <a:rPr lang="en-US" dirty="0"/>
              <a:t>FINANCIAL RISK MANAGEMENT AND ENGINEERING</a:t>
            </a:r>
            <a:br>
              <a:rPr lang="en-US" dirty="0"/>
            </a:br>
            <a:br>
              <a:rPr lang="en-US" dirty="0"/>
            </a:br>
            <a:r>
              <a:rPr lang="en-US" dirty="0"/>
              <a:t>Session 11: Regulatory Risk &amp; Stress Testing</a:t>
            </a:r>
          </a:p>
        </p:txBody>
      </p:sp>
      <p:pic>
        <p:nvPicPr>
          <p:cNvPr id="4" name="Picture 3" descr="New guidelines for the logo structure and university seal">
            <a:extLst>
              <a:ext uri="{FF2B5EF4-FFF2-40B4-BE49-F238E27FC236}">
                <a16:creationId xmlns:a16="http://schemas.microsoft.com/office/drawing/2014/main" id="{D6F9100D-02AF-EE22-EDE3-68F783F22630}"/>
              </a:ext>
            </a:extLst>
          </p:cNvPr>
          <p:cNvPicPr>
            <a:picLocks noChangeAspect="1"/>
          </p:cNvPicPr>
          <p:nvPr/>
        </p:nvPicPr>
        <p:blipFill>
          <a:blip r:embed="rId3"/>
          <a:srcRect t="42767" r="4" b="4"/>
          <a:stretch>
            <a:fillRect/>
          </a:stretch>
        </p:blipFill>
        <p:spPr>
          <a:xfrm>
            <a:off x="423101" y="2671763"/>
            <a:ext cx="6438105" cy="3684588"/>
          </a:xfrm>
          <a:prstGeom prst="rect">
            <a:avLst/>
          </a:prstGeom>
          <a:noFill/>
        </p:spPr>
      </p:pic>
      <p:pic>
        <p:nvPicPr>
          <p:cNvPr id="6" name="Picture 5" descr="AU's segl">
            <a:extLst>
              <a:ext uri="{FF2B5EF4-FFF2-40B4-BE49-F238E27FC236}">
                <a16:creationId xmlns:a16="http://schemas.microsoft.com/office/drawing/2014/main" id="{49BE1E43-6F81-3C41-C30C-E25204F4EEF2}"/>
              </a:ext>
            </a:extLst>
          </p:cNvPr>
          <p:cNvPicPr>
            <a:picLocks noChangeAspect="1"/>
          </p:cNvPicPr>
          <p:nvPr/>
        </p:nvPicPr>
        <p:blipFill>
          <a:blip r:embed="rId4"/>
          <a:stretch>
            <a:fillRect/>
          </a:stretch>
        </p:blipFill>
        <p:spPr>
          <a:xfrm>
            <a:off x="8153400" y="1905000"/>
            <a:ext cx="304800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Learning Objectives</a:t>
            </a:r>
            <a:endParaRPr b="1" dirty="0">
              <a:latin typeface="Arial" panose="020B0604020202020204" pitchFamily="34" charset="0"/>
              <a:cs typeface="Arial" panose="020B0604020202020204" pitchFamily="34" charset="0"/>
            </a:endParaRPr>
          </a:p>
        </p:txBody>
      </p:sp>
      <p:sp>
        <p:nvSpPr>
          <p:cNvPr id="4004" name="Content Placeholder"/>
          <p:cNvSpPr>
            <a:spLocks noGrp="1"/>
          </p:cNvSpPr>
          <p:nvPr>
            <p:ph sz="half" idx="2"/>
          </p:nvPr>
        </p:nvSpPr>
        <p:spPr/>
        <p:txBody>
          <a:bodyPr wrap="square">
            <a:normAutofit fontScale="92500" lnSpcReduction="10000"/>
          </a:bodyPr>
          <a:lstStyle/>
          <a:p>
            <a:pPr marL="0" indent="0">
              <a:buNone/>
            </a:pPr>
            <a:r>
              <a:rPr lang="en-CA" b="1" dirty="0"/>
              <a:t>By the end of this session,  you will be able to:</a:t>
            </a:r>
          </a:p>
          <a:p>
            <a:pPr marL="514350" indent="-514350">
              <a:buFont typeface="+mj-lt"/>
              <a:buAutoNum type="arabicPeriod"/>
            </a:pPr>
            <a:r>
              <a:rPr lang="en-CA" dirty="0"/>
              <a:t>Trace the Basel capital framework from Basel I (1988) through Basel III and FRTB, explaining the motivation for and main differences in each evolution</a:t>
            </a:r>
          </a:p>
          <a:p>
            <a:pPr marL="514350" indent="-514350">
              <a:buFont typeface="+mj-lt"/>
              <a:buAutoNum type="arabicPeriod"/>
            </a:pPr>
            <a:r>
              <a:rPr lang="en-CA" dirty="0"/>
              <a:t>Define systemic risk, explain contagion mechanisms, and identify G-SIBs and G-SIIs</a:t>
            </a:r>
          </a:p>
          <a:p>
            <a:pPr marL="514350" indent="-514350">
              <a:buFont typeface="+mj-lt"/>
              <a:buAutoNum type="arabicPeriod"/>
            </a:pPr>
            <a:r>
              <a:rPr lang="en-CA" dirty="0"/>
              <a:t>Compute CoVaR, Delta CoVaR, MES, and SRISK using Python quantile regression</a:t>
            </a:r>
          </a:p>
          <a:p>
            <a:pPr marL="514350" indent="-514350">
              <a:buFont typeface="+mj-lt"/>
              <a:buAutoNum type="arabicPeriod"/>
            </a:pPr>
            <a:r>
              <a:rPr lang="en-CA" dirty="0"/>
              <a:t>Categorise model risk using the specification / estimation / implementation taxonomy and describe a formal validation framework</a:t>
            </a:r>
          </a:p>
          <a:p>
            <a:pPr marL="514350" indent="-514350">
              <a:buFont typeface="+mj-lt"/>
              <a:buAutoNum type="arabicPeriod"/>
            </a:pPr>
            <a:r>
              <a:rPr lang="en-CA" dirty="0"/>
              <a:t>Articulate climate risk categories (physical, transition, liability) and the Green Swan argument about non-</a:t>
            </a:r>
            <a:r>
              <a:rPr lang="en-CA" dirty="0" err="1"/>
              <a:t>modellability</a:t>
            </a:r>
            <a:endParaRPr lang="en-CA" dirty="0"/>
          </a:p>
          <a:p>
            <a:pPr marL="514350" indent="-514350">
              <a:buFont typeface="+mj-lt"/>
              <a:buAutoNum type="arabicPeriod"/>
            </a:pPr>
            <a:r>
              <a:rPr lang="en-CA" dirty="0"/>
              <a:t>Design and execute a macro scenario stress test that projects bank capital under adverse, severely adverse, and climate scenarios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0F110C3-AA90-4E10-9DF4-D19CE333AC3C}" type="slidenum">
              <a:rPr lang="en-US" altLang="en-US" sz="1800"/>
              <a:pPr>
                <a:spcBef>
                  <a:spcPct val="0"/>
                </a:spcBef>
                <a:buClrTx/>
                <a:buSzTx/>
                <a:buFontTx/>
                <a:buNone/>
              </a:pPr>
              <a:t>3</a:t>
            </a:fld>
            <a:endParaRPr lang="en-US" altLang="en-US" sz="1800"/>
          </a:p>
        </p:txBody>
      </p:sp>
      <p:pic>
        <p:nvPicPr>
          <p:cNvPr id="3" name="Picture 2">
            <a:extLst>
              <a:ext uri="{FF2B5EF4-FFF2-40B4-BE49-F238E27FC236}">
                <a16:creationId xmlns:a16="http://schemas.microsoft.com/office/drawing/2014/main" id="{1868ACB5-106F-C765-A671-969C53DFE2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617" y="8743"/>
            <a:ext cx="11921315" cy="6712731"/>
          </a:xfrm>
          <a:prstGeom prst="rect">
            <a:avLst/>
          </a:prstGeom>
        </p:spPr>
      </p:pic>
    </p:spTree>
    <p:extLst>
      <p:ext uri="{BB962C8B-B14F-4D97-AF65-F5344CB8AC3E}">
        <p14:creationId xmlns:p14="http://schemas.microsoft.com/office/powerpoint/2010/main" val="2192914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Basel I and II - The Capital Framework Begins</a:t>
            </a:r>
            <a:endParaRPr b="1" dirty="0">
              <a:latin typeface="Arial" panose="020B0604020202020204" pitchFamily="34" charset="0"/>
              <a:cs typeface="Arial" panose="020B0604020202020204" pitchFamily="34" charset="0"/>
            </a:endParaRPr>
          </a:p>
        </p:txBody>
      </p:sp>
      <p:sp>
        <p:nvSpPr>
          <p:cNvPr id="4006" name="Content Placeholder"/>
          <p:cNvSpPr>
            <a:spLocks noGrp="1"/>
          </p:cNvSpPr>
          <p:nvPr>
            <p:ph sz="half" idx="2"/>
          </p:nvPr>
        </p:nvSpPr>
        <p:spPr>
          <a:xfrm>
            <a:off x="423100" y="1066801"/>
            <a:ext cx="11345797" cy="4970584"/>
          </a:xfrm>
        </p:spPr>
        <p:txBody>
          <a:bodyPr wrap="square">
            <a:noAutofit/>
          </a:bodyPr>
          <a:lstStyle/>
          <a:p>
            <a:pPr marL="0" indent="0">
              <a:buNone/>
            </a:pPr>
            <a:r>
              <a:rPr lang="en-CA" sz="2200" b="1" dirty="0"/>
              <a:t>Pre-1988</a:t>
            </a:r>
          </a:p>
          <a:p>
            <a:r>
              <a:rPr lang="en-US" altLang="en-US" sz="2200" dirty="0">
                <a:cs typeface="Arial" panose="020B0604020202020204" pitchFamily="34" charset="0"/>
              </a:rPr>
              <a:t>Banks were regulated using balance sheet measures such as the ratio of capital to assets</a:t>
            </a:r>
          </a:p>
          <a:p>
            <a:r>
              <a:rPr lang="en-US" altLang="en-US" sz="2200" dirty="0">
                <a:cs typeface="Arial" panose="020B0604020202020204" pitchFamily="34" charset="0"/>
              </a:rPr>
              <a:t>Definitions and required ratios varied from country to country</a:t>
            </a:r>
          </a:p>
          <a:p>
            <a:r>
              <a:rPr lang="en-US" altLang="en-US" sz="2200" dirty="0">
                <a:cs typeface="Arial" panose="020B0604020202020204" pitchFamily="34" charset="0"/>
              </a:rPr>
              <a:t>Enforcement of regulations varied from country to country</a:t>
            </a:r>
          </a:p>
          <a:p>
            <a:r>
              <a:rPr lang="en-US" altLang="en-US" sz="2200" dirty="0">
                <a:cs typeface="Arial" panose="020B0604020202020204" pitchFamily="34" charset="0"/>
              </a:rPr>
              <a:t>Bank leverage increased in 1980s</a:t>
            </a:r>
          </a:p>
          <a:p>
            <a:r>
              <a:rPr lang="en-US" altLang="en-US" sz="2200" dirty="0">
                <a:cs typeface="Arial" panose="020B0604020202020204" pitchFamily="34" charset="0"/>
              </a:rPr>
              <a:t>Off-balance sheet derivatives trading increased</a:t>
            </a:r>
          </a:p>
          <a:p>
            <a:r>
              <a:rPr lang="en-US" altLang="en-US" sz="2200" dirty="0">
                <a:cs typeface="Arial" panose="020B0604020202020204" pitchFamily="34" charset="0"/>
              </a:rPr>
              <a:t>Developing countries debt was a major problem </a:t>
            </a:r>
            <a:endParaRPr lang="en-CA" sz="2200" b="1" dirty="0"/>
          </a:p>
          <a:p>
            <a:pPr marL="0" indent="0">
              <a:buNone/>
            </a:pPr>
            <a:r>
              <a:rPr lang="en-CA" sz="2200" b="1" dirty="0"/>
              <a:t>From the 1988 Accord to the Three-Pillar structure</a:t>
            </a:r>
          </a:p>
          <a:p>
            <a:r>
              <a:rPr lang="en-CA" sz="2200" dirty="0"/>
              <a:t>Basel I's genius was simplicity: a single globally agreed capital number</a:t>
            </a:r>
          </a:p>
          <a:p>
            <a:pPr lvl="1"/>
            <a:r>
              <a:rPr lang="en-CA" sz="2200" dirty="0"/>
              <a:t>Before Basel I, it was % of total (non-weighted) assets</a:t>
            </a:r>
          </a:p>
          <a:p>
            <a:r>
              <a:rPr lang="en-CA" sz="2200" dirty="0"/>
              <a:t>Basel II's genius was risk-sensitivity via IRB models</a:t>
            </a:r>
          </a:p>
          <a:p>
            <a:r>
              <a:rPr lang="en-CA" sz="2200" dirty="0"/>
              <a:t>Basel II's flaw was procyclicality and weak treatment of trading-book and off-balance-sheet risk, both exposed by the GFC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algn="ctr" eaLnBrk="1" hangingPunct="1"/>
            <a:r>
              <a:rPr lang="en-US" altLang="en-US" sz="3200" b="1" dirty="0">
                <a:latin typeface="+mn-lt"/>
                <a:cs typeface="Arial" panose="020B0604020202020204" pitchFamily="34" charset="0"/>
              </a:rPr>
              <a:t>1988</a:t>
            </a:r>
            <a:r>
              <a:rPr lang="en-US" altLang="en-US" sz="3200" b="1" dirty="0">
                <a:latin typeface="+mn-lt"/>
              </a:rPr>
              <a:t>: BIS Accord (aka Basel I)</a:t>
            </a:r>
          </a:p>
        </p:txBody>
      </p:sp>
      <p:sp>
        <p:nvSpPr>
          <p:cNvPr id="18435" name="Rectangle 3"/>
          <p:cNvSpPr>
            <a:spLocks noGrp="1" noChangeArrowheads="1"/>
          </p:cNvSpPr>
          <p:nvPr>
            <p:ph idx="1"/>
          </p:nvPr>
        </p:nvSpPr>
        <p:spPr/>
        <p:txBody>
          <a:bodyPr/>
          <a:lstStyle/>
          <a:p>
            <a:pPr marL="0" indent="0">
              <a:buNone/>
              <a:defRPr/>
            </a:pPr>
            <a:r>
              <a:rPr lang="en-US" altLang="en-US" sz="2400" dirty="0">
                <a:cs typeface="Arial" charset="0"/>
              </a:rPr>
              <a:t>Main Provisions:</a:t>
            </a:r>
          </a:p>
          <a:p>
            <a:pPr eaLnBrk="1" hangingPunct="1">
              <a:defRPr/>
            </a:pPr>
            <a:r>
              <a:rPr lang="en-US" altLang="en-US" sz="2400" dirty="0">
                <a:cs typeface="Arial" charset="0"/>
              </a:rPr>
              <a:t>Capital must be 8% of </a:t>
            </a:r>
            <a:r>
              <a:rPr lang="en-US" altLang="en-US" sz="2400" u="sng" dirty="0">
                <a:cs typeface="Arial" charset="0"/>
              </a:rPr>
              <a:t>risk weighted amount</a:t>
            </a:r>
            <a:r>
              <a:rPr lang="en-US" altLang="en-US" sz="2400" dirty="0">
                <a:cs typeface="Arial" charset="0"/>
              </a:rPr>
              <a:t>. </a:t>
            </a:r>
          </a:p>
          <a:p>
            <a:pPr eaLnBrk="1" hangingPunct="1">
              <a:defRPr/>
            </a:pPr>
            <a:r>
              <a:rPr lang="en-US" altLang="en-US" sz="2400" dirty="0">
                <a:cs typeface="Arial" charset="0"/>
              </a:rPr>
              <a:t>At least 50% of capital must be Tier 1</a:t>
            </a:r>
          </a:p>
          <a:p>
            <a:r>
              <a:rPr lang="en-US" altLang="en-US" sz="2400" b="1" dirty="0">
                <a:cs typeface="Arial" panose="020B0604020202020204" pitchFamily="34" charset="0"/>
              </a:rPr>
              <a:t>Tier 1 Capital</a:t>
            </a:r>
            <a:r>
              <a:rPr lang="en-US" altLang="en-US" sz="2400" dirty="0">
                <a:cs typeface="Arial" panose="020B0604020202020204" pitchFamily="34" charset="0"/>
              </a:rPr>
              <a:t>: common equity, non-cumulative perpetual preferred shares</a:t>
            </a:r>
          </a:p>
          <a:p>
            <a:r>
              <a:rPr lang="en-US" altLang="en-US" sz="2400" dirty="0">
                <a:cs typeface="Arial" panose="020B0604020202020204" pitchFamily="34" charset="0"/>
              </a:rPr>
              <a:t> </a:t>
            </a:r>
            <a:r>
              <a:rPr lang="en-US" altLang="en-US" sz="2400" b="1" dirty="0">
                <a:cs typeface="Arial" panose="020B0604020202020204" pitchFamily="34" charset="0"/>
              </a:rPr>
              <a:t>Tier 2 Capital:</a:t>
            </a:r>
            <a:r>
              <a:rPr lang="en-US" altLang="en-US" sz="2400" dirty="0">
                <a:cs typeface="Arial" panose="020B0604020202020204" pitchFamily="34" charset="0"/>
              </a:rPr>
              <a:t> cumulative preferred stock, certain types of 99-year debentures, subordinated debt with an original life of more than 5 years</a:t>
            </a:r>
            <a:endParaRPr lang="en-US" altLang="en-US" sz="2400" b="1" dirty="0">
              <a:cs typeface="Arial" panose="020B0604020202020204" pitchFamily="34" charset="0"/>
            </a:endParaRPr>
          </a:p>
          <a:p>
            <a:pPr eaLnBrk="1" hangingPunct="1">
              <a:defRPr/>
            </a:pPr>
            <a:endParaRPr lang="en-US" altLang="en-US" dirty="0">
              <a:cs typeface="Arial" charset="0"/>
            </a:endParaRPr>
          </a:p>
        </p:txBody>
      </p:sp>
      <p:sp>
        <p:nvSpPr>
          <p:cNvPr id="2253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A2C52A0-BC18-4E99-8820-AA146F0DFD75}" type="slidenum">
              <a:rPr lang="en-US" altLang="en-US" sz="1800"/>
              <a:pPr>
                <a:spcBef>
                  <a:spcPct val="0"/>
                </a:spcBef>
                <a:buClrTx/>
                <a:buSzTx/>
                <a:buFontTx/>
                <a:buNone/>
              </a:pPr>
              <a:t>5</a:t>
            </a:fld>
            <a:endParaRPr lang="en-US" altLang="en-US" sz="1800"/>
          </a:p>
        </p:txBody>
      </p:sp>
    </p:spTree>
    <p:extLst>
      <p:ext uri="{BB962C8B-B14F-4D97-AF65-F5344CB8AC3E}">
        <p14:creationId xmlns:p14="http://schemas.microsoft.com/office/powerpoint/2010/main" val="2560489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838200" y="365125"/>
            <a:ext cx="10515600" cy="701675"/>
          </a:xfrm>
        </p:spPr>
        <p:txBody>
          <a:bodyPr>
            <a:normAutofit/>
          </a:bodyPr>
          <a:lstStyle/>
          <a:p>
            <a:pPr algn="ctr" eaLnBrk="1" hangingPunct="1"/>
            <a:r>
              <a:rPr lang="en-US" altLang="en-US" sz="3200" b="1" dirty="0">
                <a:latin typeface="+mn-lt"/>
              </a:rPr>
              <a:t>Risk-Weighted Capital</a:t>
            </a:r>
          </a:p>
        </p:txBody>
      </p:sp>
      <p:sp>
        <p:nvSpPr>
          <p:cNvPr id="26627" name="Rectangle 3"/>
          <p:cNvSpPr>
            <a:spLocks noGrp="1" noChangeArrowheads="1"/>
          </p:cNvSpPr>
          <p:nvPr>
            <p:ph idx="1"/>
          </p:nvPr>
        </p:nvSpPr>
        <p:spPr>
          <a:xfrm>
            <a:off x="990600" y="1066800"/>
            <a:ext cx="8845550" cy="4967289"/>
          </a:xfrm>
        </p:spPr>
        <p:txBody>
          <a:bodyPr/>
          <a:lstStyle/>
          <a:p>
            <a:pPr eaLnBrk="1" hangingPunct="1">
              <a:lnSpc>
                <a:spcPct val="90000"/>
              </a:lnSpc>
            </a:pPr>
            <a:r>
              <a:rPr lang="en-US" altLang="en-US" sz="2400" dirty="0">
                <a:cs typeface="Arial" panose="020B0604020202020204" pitchFamily="34" charset="0"/>
              </a:rPr>
              <a:t>A  risk weight is applied to each on-balance- sheet asset according to its risk (e.g. 0% to cash and govt bonds; 20% to claims on OECD banks; 50% to residential mortgages; 100% to corporate loans, corporate bonds, etc.)</a:t>
            </a:r>
          </a:p>
          <a:p>
            <a:pPr eaLnBrk="1" hangingPunct="1">
              <a:lnSpc>
                <a:spcPct val="90000"/>
              </a:lnSpc>
            </a:pPr>
            <a:r>
              <a:rPr lang="en-US" altLang="en-US" sz="2400" dirty="0">
                <a:cs typeface="Arial" panose="020B0604020202020204" pitchFamily="34" charset="0"/>
              </a:rPr>
              <a:t>For bilateral OTC derivatives and off-balance sheet commitments, first calculate a credit equivalent amount is calculated and then a risk weight is applied</a:t>
            </a:r>
          </a:p>
          <a:p>
            <a:pPr eaLnBrk="1" hangingPunct="1">
              <a:lnSpc>
                <a:spcPct val="90000"/>
              </a:lnSpc>
            </a:pPr>
            <a:r>
              <a:rPr lang="en-US" altLang="en-US" sz="2400" dirty="0">
                <a:cs typeface="Arial" panose="020B0604020202020204" pitchFamily="34" charset="0"/>
              </a:rPr>
              <a:t>Risk weighted amount (RWA) consists of</a:t>
            </a:r>
          </a:p>
          <a:p>
            <a:pPr lvl="1" eaLnBrk="1" hangingPunct="1">
              <a:lnSpc>
                <a:spcPct val="90000"/>
              </a:lnSpc>
            </a:pPr>
            <a:r>
              <a:rPr lang="en-US" altLang="en-US" sz="2000" dirty="0">
                <a:cs typeface="Arial" panose="020B0604020202020204" pitchFamily="34" charset="0"/>
              </a:rPr>
              <a:t>Sum of products of risk weight times asset amount for on-balance sheet items</a:t>
            </a:r>
          </a:p>
          <a:p>
            <a:pPr lvl="1" eaLnBrk="1" hangingPunct="1">
              <a:lnSpc>
                <a:spcPct val="90000"/>
              </a:lnSpc>
            </a:pPr>
            <a:r>
              <a:rPr lang="en-US" altLang="en-US" sz="2000" dirty="0">
                <a:cs typeface="Arial" panose="020B0604020202020204" pitchFamily="34" charset="0"/>
              </a:rPr>
              <a:t>Sum of products of risk weight times credit equivalent amount for derivatives and off-balance sheet commitments</a:t>
            </a:r>
            <a:endParaRPr lang="en-US" altLang="en-US" dirty="0">
              <a:cs typeface="Arial" panose="020B0604020202020204" pitchFamily="34" charset="0"/>
            </a:endParaRPr>
          </a:p>
          <a:p>
            <a:pPr lvl="1" eaLnBrk="1" hangingPunct="1">
              <a:lnSpc>
                <a:spcPct val="90000"/>
              </a:lnSpc>
              <a:buFont typeface="Wingdings" panose="05000000000000000000" pitchFamily="2" charset="2"/>
              <a:buNone/>
            </a:pPr>
            <a:endParaRPr lang="en-US" altLang="en-US" dirty="0">
              <a:cs typeface="Arial" panose="020B0604020202020204" pitchFamily="34" charset="0"/>
            </a:endParaRPr>
          </a:p>
        </p:txBody>
      </p:sp>
      <p:sp>
        <p:nvSpPr>
          <p:cNvPr id="2662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417FA42-4BF3-4188-8095-5CB40C07F9BE}" type="slidenum">
              <a:rPr lang="en-US" altLang="en-US" sz="1800"/>
              <a:pPr>
                <a:spcBef>
                  <a:spcPct val="0"/>
                </a:spcBef>
                <a:buClrTx/>
                <a:buSzTx/>
                <a:buFontTx/>
                <a:buNone/>
              </a:pPr>
              <a:t>6</a:t>
            </a:fld>
            <a:endParaRPr lang="en-US" altLang="en-US" sz="1800"/>
          </a:p>
        </p:txBody>
      </p:sp>
    </p:spTree>
    <p:extLst>
      <p:ext uri="{BB962C8B-B14F-4D97-AF65-F5344CB8AC3E}">
        <p14:creationId xmlns:p14="http://schemas.microsoft.com/office/powerpoint/2010/main" val="829535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Basel I: Risk-Weighted Assets</a:t>
            </a:r>
            <a:endParaRPr b="1" dirty="0">
              <a:latin typeface="Arial" panose="020B0604020202020204" pitchFamily="34" charset="0"/>
              <a:cs typeface="Arial" panose="020B0604020202020204" pitchFamily="34" charset="0"/>
            </a:endParaRPr>
          </a:p>
        </p:txBody>
      </p:sp>
      <p:pic>
        <p:nvPicPr>
          <p:cNvPr id="4008" name="Picture 4007" descr="f_baseli.png"/>
          <p:cNvPicPr>
            <a:picLocks noChangeAspect="1"/>
          </p:cNvPicPr>
          <p:nvPr/>
        </p:nvPicPr>
        <p:blipFill>
          <a:blip r:embed="rId3"/>
          <a:stretch>
            <a:fillRect/>
          </a:stretch>
        </p:blipFill>
        <p:spPr>
          <a:xfrm>
            <a:off x="3334407" y="838200"/>
            <a:ext cx="5428593" cy="685800"/>
          </a:xfrm>
          <a:prstGeom prst="rect">
            <a:avLst/>
          </a:prstGeom>
        </p:spPr>
      </p:pic>
      <p:sp>
        <p:nvSpPr>
          <p:cNvPr id="2" name="Content Placeholder"/>
          <p:cNvSpPr>
            <a:spLocks noGrp="1"/>
          </p:cNvSpPr>
          <p:nvPr>
            <p:ph sz="half" idx="2"/>
          </p:nvPr>
        </p:nvSpPr>
        <p:spPr>
          <a:xfrm>
            <a:off x="420624" y="1676400"/>
            <a:ext cx="11347704" cy="4376928"/>
          </a:xfrm>
        </p:spPr>
        <p:txBody>
          <a:bodyPr wrap="square">
            <a:normAutofit fontScale="85000" lnSpcReduction="20000"/>
          </a:bodyPr>
          <a:lstStyle/>
          <a:p>
            <a:pPr marL="0" indent="0">
              <a:buNone/>
            </a:pPr>
            <a:r>
              <a:rPr lang="en-CA" b="1" dirty="0"/>
              <a:t>Risk weights (Standardised Approach)</a:t>
            </a:r>
          </a:p>
          <a:p>
            <a:r>
              <a:rPr lang="en-CA" dirty="0"/>
              <a:t>0%   government OECD</a:t>
            </a:r>
          </a:p>
          <a:p>
            <a:r>
              <a:rPr lang="en-CA" dirty="0"/>
              <a:t>20%   banks / interbank</a:t>
            </a:r>
          </a:p>
          <a:p>
            <a:r>
              <a:rPr lang="en-CA" dirty="0"/>
              <a:t>50%   mortgage loans</a:t>
            </a:r>
          </a:p>
          <a:p>
            <a:r>
              <a:rPr lang="en-CA" dirty="0"/>
              <a:t>100%   corporate / other</a:t>
            </a:r>
          </a:p>
          <a:p>
            <a:r>
              <a:rPr lang="en-CA" dirty="0"/>
              <a:t>150%   sub-investment-grade</a:t>
            </a:r>
          </a:p>
          <a:p>
            <a:pPr marL="0" indent="0">
              <a:buNone/>
            </a:pPr>
            <a:r>
              <a:rPr lang="en-CA" b="1" dirty="0"/>
              <a:t>Interpretation</a:t>
            </a:r>
          </a:p>
          <a:p>
            <a:r>
              <a:rPr lang="en-CA" dirty="0"/>
              <a:t>Basel I (1988): first globally agreed minimum, 8% of RWA</a:t>
            </a:r>
          </a:p>
          <a:p>
            <a:r>
              <a:rPr lang="en-CA" dirty="0"/>
              <a:t>Tier 1 must cover at least 4%; total (T1 + T2) at least 8%</a:t>
            </a:r>
          </a:p>
          <a:p>
            <a:r>
              <a:rPr lang="en-CA" dirty="0"/>
              <a:t>Risk weights are crude but transparent and internationally comparable</a:t>
            </a:r>
          </a:p>
          <a:p>
            <a:r>
              <a:rPr lang="en-CA" dirty="0"/>
              <a:t>No distinction by credit quality within the corporate bucket</a:t>
            </a:r>
          </a:p>
          <a:p>
            <a:r>
              <a:rPr lang="en-CA" dirty="0"/>
              <a:t>Led to regulatory arbitrage: banks shifted exposures to 0% and 20% buckets</a:t>
            </a:r>
          </a:p>
        </p:txBody>
      </p:sp>
    </p:spTree>
    <p:extLst>
      <p:ext uri="{BB962C8B-B14F-4D97-AF65-F5344CB8AC3E}">
        <p14:creationId xmlns:p14="http://schemas.microsoft.com/office/powerpoint/2010/main" val="3581961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a:bodyPr>
          <a:lstStyle/>
          <a:p>
            <a:pPr algn="ctr" eaLnBrk="1" hangingPunct="1"/>
            <a:r>
              <a:rPr lang="en-US" altLang="en-US" sz="3200" b="1" dirty="0">
                <a:latin typeface="+mn-lt"/>
              </a:rPr>
              <a:t>Credit Equivalent Amount for Derivatives</a:t>
            </a:r>
          </a:p>
        </p:txBody>
      </p:sp>
      <p:sp>
        <p:nvSpPr>
          <p:cNvPr id="28675" name="Rectangle 3"/>
          <p:cNvSpPr>
            <a:spLocks noGrp="1" noChangeArrowheads="1"/>
          </p:cNvSpPr>
          <p:nvPr>
            <p:ph idx="1"/>
          </p:nvPr>
        </p:nvSpPr>
        <p:spPr>
          <a:xfrm>
            <a:off x="838200" y="1440930"/>
            <a:ext cx="10515600" cy="4736033"/>
          </a:xfrm>
        </p:spPr>
        <p:txBody>
          <a:bodyPr>
            <a:normAutofit lnSpcReduction="10000"/>
          </a:bodyPr>
          <a:lstStyle/>
          <a:p>
            <a:pPr eaLnBrk="1" hangingPunct="1"/>
            <a:r>
              <a:rPr lang="en-US" altLang="en-US" sz="2200" dirty="0">
                <a:cs typeface="Arial" panose="020B0604020202020204" pitchFamily="34" charset="0"/>
              </a:rPr>
              <a:t>The credit equivalent amount is calculated as the current replacement cost (zero if negative) plus an add on factor. (This is known as the current exposure method, CEM)</a:t>
            </a:r>
          </a:p>
          <a:p>
            <a:pPr eaLnBrk="1" hangingPunct="1"/>
            <a:r>
              <a:rPr lang="en-US" altLang="en-US" sz="2200" dirty="0">
                <a:cs typeface="Arial" panose="020B0604020202020204" pitchFamily="34" charset="0"/>
              </a:rPr>
              <a:t>The add on amount varies from instrument to instrument (e.g. 0.5% for a 1-5 year interest rate swap; 5.0% for a 1-5 year foreign currency swap)</a:t>
            </a:r>
          </a:p>
          <a:p>
            <a:pPr eaLnBrk="1" hangingPunct="1"/>
            <a:endParaRPr lang="en-US" altLang="en-US" sz="2200" dirty="0">
              <a:cs typeface="Arial" panose="020B0604020202020204" pitchFamily="34" charset="0"/>
            </a:endParaRPr>
          </a:p>
          <a:p>
            <a:pPr eaLnBrk="1" hangingPunct="1"/>
            <a:endParaRPr lang="en-US" altLang="en-US" sz="2200" dirty="0">
              <a:cs typeface="Arial" panose="020B0604020202020204" pitchFamily="34" charset="0"/>
            </a:endParaRPr>
          </a:p>
          <a:p>
            <a:pPr eaLnBrk="1" hangingPunct="1"/>
            <a:endParaRPr lang="en-US" altLang="en-US" sz="2200" dirty="0">
              <a:cs typeface="Arial" panose="020B0604020202020204" pitchFamily="34" charset="0"/>
            </a:endParaRPr>
          </a:p>
          <a:p>
            <a:pPr eaLnBrk="1" hangingPunct="1"/>
            <a:endParaRPr lang="en-US" altLang="en-US" sz="2200" dirty="0">
              <a:cs typeface="Arial" panose="020B0604020202020204" pitchFamily="34" charset="0"/>
            </a:endParaRPr>
          </a:p>
          <a:p>
            <a:pPr eaLnBrk="1" hangingPunct="1"/>
            <a:endParaRPr lang="en-US" altLang="en-US" sz="2200" dirty="0">
              <a:cs typeface="Arial" panose="020B0604020202020204" pitchFamily="34" charset="0"/>
            </a:endParaRPr>
          </a:p>
          <a:p>
            <a:endParaRPr lang="en-US" altLang="en-US" sz="2400" dirty="0"/>
          </a:p>
          <a:p>
            <a:r>
              <a:rPr lang="en-US" altLang="en-US" sz="2400" dirty="0"/>
              <a:t>Example: A $100 million swap with 3 years to maturity worth $5 million would have a credit equivalent amount of $5.5 million</a:t>
            </a:r>
          </a:p>
          <a:p>
            <a:pPr eaLnBrk="1" hangingPunct="1"/>
            <a:endParaRPr lang="en-US" altLang="en-US" sz="2200" dirty="0">
              <a:cs typeface="Arial" panose="020B0604020202020204" pitchFamily="34" charset="0"/>
            </a:endParaRPr>
          </a:p>
          <a:p>
            <a:pPr eaLnBrk="1" hangingPunct="1">
              <a:buFont typeface="Wingdings" panose="05000000000000000000" pitchFamily="2" charset="2"/>
              <a:buNone/>
            </a:pPr>
            <a:endParaRPr lang="en-US" altLang="en-US" dirty="0">
              <a:cs typeface="Arial" panose="020B0604020202020204" pitchFamily="34" charset="0"/>
            </a:endParaRPr>
          </a:p>
        </p:txBody>
      </p:sp>
      <p:sp>
        <p:nvSpPr>
          <p:cNvPr id="28677"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9406AB2-7991-4541-92C8-9289182C03DB}" type="slidenum">
              <a:rPr lang="en-US" altLang="en-US" sz="1800"/>
              <a:pPr>
                <a:spcBef>
                  <a:spcPct val="0"/>
                </a:spcBef>
                <a:buClrTx/>
                <a:buSzTx/>
                <a:buFontTx/>
                <a:buNone/>
              </a:pPr>
              <a:t>8</a:t>
            </a:fld>
            <a:endParaRPr lang="en-US" altLang="en-US" sz="1800"/>
          </a:p>
        </p:txBody>
      </p:sp>
      <p:graphicFrame>
        <p:nvGraphicFramePr>
          <p:cNvPr id="2" name="Group 72">
            <a:extLst>
              <a:ext uri="{FF2B5EF4-FFF2-40B4-BE49-F238E27FC236}">
                <a16:creationId xmlns:a16="http://schemas.microsoft.com/office/drawing/2014/main" id="{29BF2C45-ABBE-C712-2CEA-58DDF0E5DF9A}"/>
              </a:ext>
            </a:extLst>
          </p:cNvPr>
          <p:cNvGraphicFramePr>
            <a:graphicFrameLocks noGrp="1"/>
          </p:cNvGraphicFramePr>
          <p:nvPr>
            <p:extLst>
              <p:ext uri="{D42A27DB-BD31-4B8C-83A1-F6EECF244321}">
                <p14:modId xmlns:p14="http://schemas.microsoft.com/office/powerpoint/2010/main" val="3574829726"/>
              </p:ext>
            </p:extLst>
          </p:nvPr>
        </p:nvGraphicFramePr>
        <p:xfrm>
          <a:off x="1828800" y="2867677"/>
          <a:ext cx="7929562" cy="2019300"/>
        </p:xfrm>
        <a:graphic>
          <a:graphicData uri="http://schemas.openxmlformats.org/drawingml/2006/table">
            <a:tbl>
              <a:tblPr/>
              <a:tblGrid>
                <a:gridCol w="1583576">
                  <a:extLst>
                    <a:ext uri="{9D8B030D-6E8A-4147-A177-3AD203B41FA5}">
                      <a16:colId xmlns:a16="http://schemas.microsoft.com/office/drawing/2014/main" val="20000"/>
                    </a:ext>
                  </a:extLst>
                </a:gridCol>
                <a:gridCol w="1059611">
                  <a:extLst>
                    <a:ext uri="{9D8B030D-6E8A-4147-A177-3AD203B41FA5}">
                      <a16:colId xmlns:a16="http://schemas.microsoft.com/office/drawing/2014/main" val="20001"/>
                    </a:ext>
                  </a:extLst>
                </a:gridCol>
                <a:gridCol w="1281546">
                  <a:extLst>
                    <a:ext uri="{9D8B030D-6E8A-4147-A177-3AD203B41FA5}">
                      <a16:colId xmlns:a16="http://schemas.microsoft.com/office/drawing/2014/main" val="20002"/>
                    </a:ext>
                  </a:extLst>
                </a:gridCol>
                <a:gridCol w="881062">
                  <a:extLst>
                    <a:ext uri="{9D8B030D-6E8A-4147-A177-3AD203B41FA5}">
                      <a16:colId xmlns:a16="http://schemas.microsoft.com/office/drawing/2014/main" val="20003"/>
                    </a:ext>
                  </a:extLst>
                </a:gridCol>
                <a:gridCol w="1521836">
                  <a:extLst>
                    <a:ext uri="{9D8B030D-6E8A-4147-A177-3AD203B41FA5}">
                      <a16:colId xmlns:a16="http://schemas.microsoft.com/office/drawing/2014/main" val="20004"/>
                    </a:ext>
                  </a:extLst>
                </a:gridCol>
                <a:gridCol w="1601931">
                  <a:extLst>
                    <a:ext uri="{9D8B030D-6E8A-4147-A177-3AD203B41FA5}">
                      <a16:colId xmlns:a16="http://schemas.microsoft.com/office/drawing/2014/main" val="20005"/>
                    </a:ext>
                  </a:extLst>
                </a:gridCol>
              </a:tblGrid>
              <a:tr h="915319">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Remaining Maturity (yrs)</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Interest rate</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Exch Rate and Gold</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Equity</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Precious Metals except gold</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Other Commodities</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70963">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&lt;1</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0.0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6.0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7.0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10.0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6650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 to 5</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0.5</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5.0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8.0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7.0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12.0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66509">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&gt;5</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1.5</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7.5</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10.0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6.0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CA" sz="1800" b="0" i="0" u="none" strike="noStrike" cap="none" normalizeH="0" baseline="0" dirty="0">
                          <a:ln>
                            <a:noFill/>
                          </a:ln>
                          <a:solidFill>
                            <a:schemeClr val="tx1"/>
                          </a:solidFill>
                          <a:effectLst/>
                          <a:latin typeface="Arial" charset="0"/>
                        </a:rPr>
                        <a:t>15.0</a:t>
                      </a:r>
                      <a:endParaRPr kumimoji="0" lang="en-US" sz="1800" b="0" i="0" u="none" strike="noStrike" cap="none" normalizeH="0" baseline="0" dirty="0">
                        <a:ln>
                          <a:noFill/>
                        </a:ln>
                        <a:solidFill>
                          <a:schemeClr val="tx1"/>
                        </a:solidFill>
                        <a:effectLst/>
                        <a:latin typeface="Arial" charset="0"/>
                      </a:endParaRPr>
                    </a:p>
                  </a:txBody>
                  <a:tcPr marL="92074" marR="92074" marT="46052" marB="46052"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1200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normAutofit/>
          </a:bodyPr>
          <a:lstStyle/>
          <a:p>
            <a:pPr algn="ctr" eaLnBrk="1" hangingPunct="1"/>
            <a:r>
              <a:rPr lang="en-CA" altLang="en-US" sz="3200" b="1" dirty="0">
                <a:latin typeface="+mn-lt"/>
              </a:rPr>
              <a:t>The Risk-Weighted Assets Math</a:t>
            </a:r>
            <a:endParaRPr lang="en-US" altLang="en-US" sz="3200" b="1" dirty="0">
              <a:latin typeface="+mn-lt"/>
            </a:endParaRPr>
          </a:p>
        </p:txBody>
      </p:sp>
      <p:sp>
        <p:nvSpPr>
          <p:cNvPr id="32771" name="Rectangle 3"/>
          <p:cNvSpPr>
            <a:spLocks noGrp="1" noChangeArrowheads="1"/>
          </p:cNvSpPr>
          <p:nvPr>
            <p:ph idx="1"/>
          </p:nvPr>
        </p:nvSpPr>
        <p:spPr>
          <a:xfrm>
            <a:off x="1219200" y="1825625"/>
            <a:ext cx="10134600" cy="4270375"/>
          </a:xfrm>
        </p:spPr>
        <p:txBody>
          <a:bodyPr/>
          <a:lstStyle/>
          <a:p>
            <a:pPr eaLnBrk="1" hangingPunct="1"/>
            <a:endParaRPr lang="en-CA" altLang="en-US" dirty="0">
              <a:cs typeface="Arial" panose="020B0604020202020204" pitchFamily="34" charset="0"/>
            </a:endParaRPr>
          </a:p>
          <a:p>
            <a:pPr eaLnBrk="1" hangingPunct="1">
              <a:buFont typeface="Wingdings" panose="05000000000000000000" pitchFamily="2" charset="2"/>
              <a:buNone/>
            </a:pPr>
            <a:endParaRPr lang="en-US" altLang="en-US" dirty="0">
              <a:cs typeface="Arial" panose="020B0604020202020204" pitchFamily="34" charset="0"/>
            </a:endParaRPr>
          </a:p>
        </p:txBody>
      </p:sp>
      <p:graphicFrame>
        <p:nvGraphicFramePr>
          <p:cNvPr id="32773" name="Object 4"/>
          <p:cNvGraphicFramePr>
            <a:graphicFrameLocks noChangeAspect="1"/>
          </p:cNvGraphicFramePr>
          <p:nvPr/>
        </p:nvGraphicFramePr>
        <p:xfrm>
          <a:off x="2895600" y="1601789"/>
          <a:ext cx="6400800" cy="1958975"/>
        </p:xfrm>
        <a:graphic>
          <a:graphicData uri="http://schemas.openxmlformats.org/presentationml/2006/ole">
            <mc:AlternateContent xmlns:mc="http://schemas.openxmlformats.org/markup-compatibility/2006">
              <mc:Choice xmlns:v="urn:schemas-microsoft-com:vml" Requires="v">
                <p:oleObj name="Equation" r:id="rId3" imgW="1574117" imgH="634725" progId="Equation.3">
                  <p:embed/>
                </p:oleObj>
              </mc:Choice>
              <mc:Fallback>
                <p:oleObj name="Equation" r:id="rId3" imgW="1574117" imgH="634725" progId="Equation.3">
                  <p:embed/>
                  <p:pic>
                    <p:nvPicPr>
                      <p:cNvPr id="32773"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601789"/>
                        <a:ext cx="6400800" cy="195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4" name="Text Box 5"/>
          <p:cNvSpPr txBox="1">
            <a:spLocks noChangeArrowheads="1"/>
          </p:cNvSpPr>
          <p:nvPr/>
        </p:nvSpPr>
        <p:spPr bwMode="auto">
          <a:xfrm>
            <a:off x="2971800" y="3352800"/>
            <a:ext cx="2438400"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CA" altLang="en-US" sz="2400">
                <a:latin typeface="Times New Roman" panose="02020603050405020304" pitchFamily="18" charset="0"/>
              </a:rPr>
              <a:t>On-balance sheet assets: principal times risk weight</a:t>
            </a:r>
            <a:endParaRPr lang="en-US" altLang="en-US" sz="2400">
              <a:latin typeface="Times New Roman" panose="02020603050405020304" pitchFamily="18" charset="0"/>
            </a:endParaRPr>
          </a:p>
        </p:txBody>
      </p:sp>
      <p:sp>
        <p:nvSpPr>
          <p:cNvPr id="32775" name="Text Box 6"/>
          <p:cNvSpPr txBox="1">
            <a:spLocks noChangeArrowheads="1"/>
          </p:cNvSpPr>
          <p:nvPr/>
        </p:nvSpPr>
        <p:spPr bwMode="auto">
          <a:xfrm>
            <a:off x="6888163" y="3352800"/>
            <a:ext cx="360045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CA" altLang="en-US" sz="2400">
                <a:latin typeface="Times New Roman" panose="02020603050405020304" pitchFamily="18" charset="0"/>
              </a:rPr>
              <a:t>Derivatives and off-balance sheet commitments: credit equivalent amount times risk weight</a:t>
            </a:r>
            <a:endParaRPr lang="en-US" altLang="en-US" sz="2400">
              <a:latin typeface="Times New Roman" panose="02020603050405020304" pitchFamily="18" charset="0"/>
            </a:endParaRPr>
          </a:p>
        </p:txBody>
      </p:sp>
      <p:sp>
        <p:nvSpPr>
          <p:cNvPr id="32776" name="Line 7"/>
          <p:cNvSpPr>
            <a:spLocks noChangeShapeType="1"/>
          </p:cNvSpPr>
          <p:nvPr/>
        </p:nvSpPr>
        <p:spPr bwMode="auto">
          <a:xfrm flipV="1">
            <a:off x="4876800" y="2819400"/>
            <a:ext cx="762000" cy="4572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
        <p:nvSpPr>
          <p:cNvPr id="32777" name="Line 8"/>
          <p:cNvSpPr>
            <a:spLocks noChangeShapeType="1"/>
          </p:cNvSpPr>
          <p:nvPr/>
        </p:nvSpPr>
        <p:spPr bwMode="auto">
          <a:xfrm flipV="1">
            <a:off x="8001000" y="2743200"/>
            <a:ext cx="76200" cy="685800"/>
          </a:xfrm>
          <a:prstGeom prst="line">
            <a:avLst/>
          </a:prstGeom>
          <a:noFill/>
          <a:ln w="127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
        <p:nvSpPr>
          <p:cNvPr id="32778" name="Text Box 9"/>
          <p:cNvSpPr txBox="1">
            <a:spLocks noChangeArrowheads="1"/>
          </p:cNvSpPr>
          <p:nvPr/>
        </p:nvSpPr>
        <p:spPr bwMode="auto">
          <a:xfrm>
            <a:off x="2743200" y="5105400"/>
            <a:ext cx="6934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CA" altLang="en-US" sz="2400">
                <a:latin typeface="Times New Roman" panose="02020603050405020304" pitchFamily="18" charset="0"/>
              </a:rPr>
              <a:t>For a derivative </a:t>
            </a:r>
            <a:r>
              <a:rPr lang="en-CA" altLang="en-US" sz="2400" i="1">
                <a:latin typeface="Times New Roman" panose="02020603050405020304" pitchFamily="18" charset="0"/>
              </a:rPr>
              <a:t>C</a:t>
            </a:r>
            <a:r>
              <a:rPr lang="en-CA" altLang="en-US" sz="2400" i="1" baseline="-25000">
                <a:latin typeface="Times New Roman" panose="02020603050405020304" pitchFamily="18" charset="0"/>
              </a:rPr>
              <a:t>j</a:t>
            </a:r>
            <a:r>
              <a:rPr lang="en-CA" altLang="en-US" sz="2400" baseline="-25000">
                <a:latin typeface="Times New Roman" panose="02020603050405020304" pitchFamily="18" charset="0"/>
              </a:rPr>
              <a:t> </a:t>
            </a:r>
            <a:r>
              <a:rPr lang="en-CA" altLang="en-US" sz="2400">
                <a:latin typeface="Times New Roman" panose="02020603050405020304" pitchFamily="18" charset="0"/>
              </a:rPr>
              <a:t>=  max(</a:t>
            </a:r>
            <a:r>
              <a:rPr lang="en-CA" altLang="en-US" sz="2400" i="1">
                <a:latin typeface="Times New Roman" panose="02020603050405020304" pitchFamily="18" charset="0"/>
              </a:rPr>
              <a:t>V</a:t>
            </a:r>
            <a:r>
              <a:rPr lang="en-CA" altLang="en-US" sz="2400" i="1" baseline="-25000">
                <a:latin typeface="Times New Roman" panose="02020603050405020304" pitchFamily="18" charset="0"/>
              </a:rPr>
              <a:t>j</a:t>
            </a:r>
            <a:r>
              <a:rPr lang="en-CA" altLang="en-US" sz="2400">
                <a:latin typeface="Times New Roman" panose="02020603050405020304" pitchFamily="18" charset="0"/>
              </a:rPr>
              <a:t>,0) + </a:t>
            </a:r>
            <a:r>
              <a:rPr lang="en-CA" altLang="en-US" sz="2400" i="1">
                <a:latin typeface="Times New Roman" panose="02020603050405020304" pitchFamily="18" charset="0"/>
              </a:rPr>
              <a:t>a</a:t>
            </a:r>
            <a:r>
              <a:rPr lang="en-CA" altLang="en-US" sz="2400" i="1" baseline="-25000">
                <a:latin typeface="Times New Roman" panose="02020603050405020304" pitchFamily="18" charset="0"/>
              </a:rPr>
              <a:t>j</a:t>
            </a:r>
            <a:r>
              <a:rPr lang="en-CA" altLang="en-US" sz="2400" i="1">
                <a:latin typeface="Times New Roman" panose="02020603050405020304" pitchFamily="18" charset="0"/>
              </a:rPr>
              <a:t>L</a:t>
            </a:r>
            <a:r>
              <a:rPr lang="en-CA" altLang="en-US" sz="2400" i="1" baseline="-25000">
                <a:latin typeface="Times New Roman" panose="02020603050405020304" pitchFamily="18" charset="0"/>
              </a:rPr>
              <a:t>j</a:t>
            </a:r>
            <a:r>
              <a:rPr lang="en-CA" altLang="en-US" sz="2400" i="1">
                <a:latin typeface="Times New Roman" panose="02020603050405020304" pitchFamily="18" charset="0"/>
              </a:rPr>
              <a:t> </a:t>
            </a:r>
            <a:r>
              <a:rPr lang="en-CA" altLang="en-US" sz="2400">
                <a:latin typeface="Times New Roman" panose="02020603050405020304" pitchFamily="18" charset="0"/>
              </a:rPr>
              <a:t>where </a:t>
            </a:r>
            <a:r>
              <a:rPr lang="en-CA" altLang="en-US" sz="2400" i="1">
                <a:latin typeface="Times New Roman" panose="02020603050405020304" pitchFamily="18" charset="0"/>
              </a:rPr>
              <a:t>V</a:t>
            </a:r>
            <a:r>
              <a:rPr lang="en-CA" altLang="en-US" sz="2400" i="1" baseline="-25000">
                <a:latin typeface="Times New Roman" panose="02020603050405020304" pitchFamily="18" charset="0"/>
              </a:rPr>
              <a:t>j</a:t>
            </a:r>
            <a:r>
              <a:rPr lang="en-CA" altLang="en-US" sz="2400">
                <a:latin typeface="Times New Roman" panose="02020603050405020304" pitchFamily="18" charset="0"/>
              </a:rPr>
              <a:t> is value, </a:t>
            </a:r>
            <a:r>
              <a:rPr lang="en-CA" altLang="en-US" sz="2400" i="1">
                <a:latin typeface="Times New Roman" panose="02020603050405020304" pitchFamily="18" charset="0"/>
              </a:rPr>
              <a:t>L</a:t>
            </a:r>
            <a:r>
              <a:rPr lang="en-CA" altLang="en-US" sz="2400" i="1" baseline="-25000">
                <a:latin typeface="Times New Roman" panose="02020603050405020304" pitchFamily="18" charset="0"/>
              </a:rPr>
              <a:t>j</a:t>
            </a:r>
            <a:r>
              <a:rPr lang="en-CA" altLang="en-US" sz="2400">
                <a:latin typeface="Times New Roman" panose="02020603050405020304" pitchFamily="18" charset="0"/>
              </a:rPr>
              <a:t> is principal and </a:t>
            </a:r>
            <a:r>
              <a:rPr lang="en-CA" altLang="en-US" sz="2400" i="1">
                <a:latin typeface="Times New Roman" panose="02020603050405020304" pitchFamily="18" charset="0"/>
              </a:rPr>
              <a:t>a</a:t>
            </a:r>
            <a:r>
              <a:rPr lang="en-CA" altLang="en-US" sz="2400" i="1" baseline="-25000">
                <a:latin typeface="Times New Roman" panose="02020603050405020304" pitchFamily="18" charset="0"/>
              </a:rPr>
              <a:t>j</a:t>
            </a:r>
            <a:r>
              <a:rPr lang="en-CA" altLang="en-US" sz="2400">
                <a:latin typeface="Times New Roman" panose="02020603050405020304" pitchFamily="18" charset="0"/>
              </a:rPr>
              <a:t> is add-on factor</a:t>
            </a:r>
            <a:endParaRPr lang="en-US" altLang="en-US" sz="2400" i="1">
              <a:latin typeface="Times New Roman" panose="02020603050405020304" pitchFamily="18" charset="0"/>
            </a:endParaRPr>
          </a:p>
        </p:txBody>
      </p:sp>
      <p:sp>
        <p:nvSpPr>
          <p:cNvPr id="32779" name="Slide Number Placeholder 10"/>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959A26D-96CE-4856-8292-B4F7859FAC71}" type="slidenum">
              <a:rPr lang="en-US" altLang="en-US" sz="1800"/>
              <a:pPr>
                <a:spcBef>
                  <a:spcPct val="0"/>
                </a:spcBef>
                <a:buClrTx/>
                <a:buSzTx/>
                <a:buFontTx/>
                <a:buNone/>
              </a:pPr>
              <a:t>9</a:t>
            </a:fld>
            <a:endParaRPr lang="en-US" altLang="en-US" sz="1800"/>
          </a:p>
        </p:txBody>
      </p:sp>
    </p:spTree>
    <p:extLst>
      <p:ext uri="{BB962C8B-B14F-4D97-AF65-F5344CB8AC3E}">
        <p14:creationId xmlns:p14="http://schemas.microsoft.com/office/powerpoint/2010/main" val="3636767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pPr algn="ctr" eaLnBrk="1" hangingPunct="1"/>
            <a:r>
              <a:rPr lang="en-US" altLang="en-US" sz="3200" b="1" dirty="0">
                <a:latin typeface="+mn-lt"/>
              </a:rPr>
              <a:t>Netting</a:t>
            </a:r>
          </a:p>
        </p:txBody>
      </p:sp>
      <p:sp>
        <p:nvSpPr>
          <p:cNvPr id="36867" name="Rectangle 3"/>
          <p:cNvSpPr>
            <a:spLocks noGrp="1" noChangeArrowheads="1"/>
          </p:cNvSpPr>
          <p:nvPr>
            <p:ph idx="1"/>
          </p:nvPr>
        </p:nvSpPr>
        <p:spPr>
          <a:xfrm>
            <a:off x="838200" y="1371600"/>
            <a:ext cx="10668000" cy="4884739"/>
          </a:xfrm>
        </p:spPr>
        <p:txBody>
          <a:bodyPr>
            <a:normAutofit/>
          </a:bodyPr>
          <a:lstStyle/>
          <a:p>
            <a:pPr eaLnBrk="1" hangingPunct="1"/>
            <a:r>
              <a:rPr lang="en-US" altLang="en-US" sz="2400" dirty="0">
                <a:cs typeface="Arial" panose="020B0604020202020204" pitchFamily="34" charset="0"/>
              </a:rPr>
              <a:t>Netting refers to a clause in Master Agreements, which states that all OTC derivatives with a counterparty are treated as a single transaction in the event of a default</a:t>
            </a:r>
          </a:p>
          <a:p>
            <a:pPr eaLnBrk="1" hangingPunct="1"/>
            <a:r>
              <a:rPr lang="en-US" altLang="en-US" sz="2400" dirty="0">
                <a:cs typeface="Arial" panose="020B0604020202020204" pitchFamily="34" charset="0"/>
              </a:rPr>
              <a:t>In 1995 the 1988 accord was modified to allow banks to reduce their credit equivalent totals when bilateral netting agreements were in place</a:t>
            </a:r>
          </a:p>
          <a:p>
            <a:r>
              <a:rPr lang="en-CA" altLang="en-US" sz="2400" dirty="0">
                <a:cs typeface="Arial" panose="020B0604020202020204" pitchFamily="34" charset="0"/>
              </a:rPr>
              <a:t>Without netting exposure is </a:t>
            </a:r>
          </a:p>
          <a:p>
            <a:pPr marL="0" indent="0">
              <a:buNone/>
            </a:pPr>
            <a:endParaRPr lang="en-CA" altLang="en-US" sz="2400" dirty="0">
              <a:cs typeface="Arial" panose="020B0604020202020204" pitchFamily="34" charset="0"/>
            </a:endParaRPr>
          </a:p>
          <a:p>
            <a:r>
              <a:rPr lang="en-CA" altLang="en-US" sz="2400" dirty="0">
                <a:cs typeface="Arial" panose="020B0604020202020204" pitchFamily="34" charset="0"/>
              </a:rPr>
              <a:t>With netting exposure is </a:t>
            </a:r>
          </a:p>
          <a:p>
            <a:endParaRPr lang="en-CA" altLang="en-US" sz="2400" dirty="0">
              <a:cs typeface="Arial" panose="020B0604020202020204" pitchFamily="34" charset="0"/>
            </a:endParaRPr>
          </a:p>
          <a:p>
            <a:endParaRPr lang="en-CA" altLang="en-US" sz="2400" dirty="0">
              <a:cs typeface="Arial" panose="020B0604020202020204" pitchFamily="34" charset="0"/>
            </a:endParaRPr>
          </a:p>
          <a:p>
            <a:endParaRPr lang="en-CA" altLang="en-US" sz="2400" dirty="0">
              <a:cs typeface="Arial" panose="020B0604020202020204" pitchFamily="34" charset="0"/>
            </a:endParaRPr>
          </a:p>
          <a:p>
            <a:pPr eaLnBrk="1" hangingPunct="1"/>
            <a:endParaRPr lang="en-US" altLang="en-US" sz="2400" dirty="0">
              <a:cs typeface="Arial" panose="020B0604020202020204" pitchFamily="34" charset="0"/>
            </a:endParaRPr>
          </a:p>
        </p:txBody>
      </p:sp>
      <p:sp>
        <p:nvSpPr>
          <p:cNvPr id="3686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597050E-69FE-4FE5-A135-273219DFEA3F}" type="slidenum">
              <a:rPr lang="en-US" altLang="en-US" sz="1800"/>
              <a:pPr>
                <a:spcBef>
                  <a:spcPct val="0"/>
                </a:spcBef>
                <a:buClrTx/>
                <a:buSzTx/>
                <a:buFontTx/>
                <a:buNone/>
              </a:pPr>
              <a:t>10</a:t>
            </a:fld>
            <a:endParaRPr lang="en-US" altLang="en-US" sz="1800"/>
          </a:p>
        </p:txBody>
      </p:sp>
      <p:graphicFrame>
        <p:nvGraphicFramePr>
          <p:cNvPr id="2" name="Object 4">
            <a:extLst>
              <a:ext uri="{FF2B5EF4-FFF2-40B4-BE49-F238E27FC236}">
                <a16:creationId xmlns:a16="http://schemas.microsoft.com/office/drawing/2014/main" id="{F6AC66C5-980E-C8DB-D6A9-84543DD71509}"/>
              </a:ext>
            </a:extLst>
          </p:cNvPr>
          <p:cNvGraphicFramePr>
            <a:graphicFrameLocks noChangeAspect="1"/>
          </p:cNvGraphicFramePr>
          <p:nvPr>
            <p:extLst>
              <p:ext uri="{D42A27DB-BD31-4B8C-83A1-F6EECF244321}">
                <p14:modId xmlns:p14="http://schemas.microsoft.com/office/powerpoint/2010/main" val="1255905759"/>
              </p:ext>
            </p:extLst>
          </p:nvPr>
        </p:nvGraphicFramePr>
        <p:xfrm>
          <a:off x="4851400" y="3109913"/>
          <a:ext cx="1649412" cy="863600"/>
        </p:xfrm>
        <a:graphic>
          <a:graphicData uri="http://schemas.openxmlformats.org/presentationml/2006/ole">
            <mc:AlternateContent xmlns:mc="http://schemas.openxmlformats.org/markup-compatibility/2006">
              <mc:Choice xmlns:v="urn:schemas-microsoft-com:vml" Requires="v">
                <p:oleObj name="Equation" r:id="rId3" imgW="850531" imgH="444307" progId="Equation.3">
                  <p:embed/>
                </p:oleObj>
              </mc:Choice>
              <mc:Fallback>
                <p:oleObj name="Equation" r:id="rId3" imgW="850531" imgH="444307" progId="Equation.3">
                  <p:embed/>
                  <p:pic>
                    <p:nvPicPr>
                      <p:cNvPr id="2" name="Object 4">
                        <a:extLst>
                          <a:ext uri="{FF2B5EF4-FFF2-40B4-BE49-F238E27FC236}">
                            <a16:creationId xmlns:a16="http://schemas.microsoft.com/office/drawing/2014/main" id="{F6AC66C5-980E-C8DB-D6A9-84543DD715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1400" y="3109913"/>
                        <a:ext cx="164941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5">
            <a:extLst>
              <a:ext uri="{FF2B5EF4-FFF2-40B4-BE49-F238E27FC236}">
                <a16:creationId xmlns:a16="http://schemas.microsoft.com/office/drawing/2014/main" id="{098D72C2-DEC0-882F-B00F-BDD900387212}"/>
              </a:ext>
            </a:extLst>
          </p:cNvPr>
          <p:cNvGraphicFramePr>
            <a:graphicFrameLocks noChangeAspect="1"/>
          </p:cNvGraphicFramePr>
          <p:nvPr>
            <p:extLst>
              <p:ext uri="{D42A27DB-BD31-4B8C-83A1-F6EECF244321}">
                <p14:modId xmlns:p14="http://schemas.microsoft.com/office/powerpoint/2010/main" val="4009770486"/>
              </p:ext>
            </p:extLst>
          </p:nvPr>
        </p:nvGraphicFramePr>
        <p:xfrm>
          <a:off x="4500719" y="3973513"/>
          <a:ext cx="1700212" cy="798512"/>
        </p:xfrm>
        <a:graphic>
          <a:graphicData uri="http://schemas.openxmlformats.org/presentationml/2006/ole">
            <mc:AlternateContent xmlns:mc="http://schemas.openxmlformats.org/markup-compatibility/2006">
              <mc:Choice xmlns:v="urn:schemas-microsoft-com:vml" Requires="v">
                <p:oleObj name="Equation" r:id="rId5" imgW="888614" imgH="482391" progId="Equation.3">
                  <p:embed/>
                </p:oleObj>
              </mc:Choice>
              <mc:Fallback>
                <p:oleObj name="Equation" r:id="rId5" imgW="888614" imgH="482391" progId="Equation.3">
                  <p:embed/>
                  <p:pic>
                    <p:nvPicPr>
                      <p:cNvPr id="3" name="Object 5">
                        <a:extLst>
                          <a:ext uri="{FF2B5EF4-FFF2-40B4-BE49-F238E27FC236}">
                            <a16:creationId xmlns:a16="http://schemas.microsoft.com/office/drawing/2014/main" id="{098D72C2-DEC0-882F-B00F-BDD9003872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719" y="3973513"/>
                        <a:ext cx="1700212" cy="79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7">
            <a:extLst>
              <a:ext uri="{FF2B5EF4-FFF2-40B4-BE49-F238E27FC236}">
                <a16:creationId xmlns:a16="http://schemas.microsoft.com/office/drawing/2014/main" id="{7A9B9E4D-F6D5-8DDD-DDB7-5D7E30789C76}"/>
              </a:ext>
            </a:extLst>
          </p:cNvPr>
          <p:cNvGraphicFramePr>
            <a:graphicFrameLocks noChangeAspect="1"/>
          </p:cNvGraphicFramePr>
          <p:nvPr>
            <p:extLst>
              <p:ext uri="{D42A27DB-BD31-4B8C-83A1-F6EECF244321}">
                <p14:modId xmlns:p14="http://schemas.microsoft.com/office/powerpoint/2010/main" val="2783872749"/>
              </p:ext>
            </p:extLst>
          </p:nvPr>
        </p:nvGraphicFramePr>
        <p:xfrm>
          <a:off x="3886200" y="5135562"/>
          <a:ext cx="3276600" cy="642938"/>
        </p:xfrm>
        <a:graphic>
          <a:graphicData uri="http://schemas.openxmlformats.org/presentationml/2006/ole">
            <mc:AlternateContent xmlns:mc="http://schemas.openxmlformats.org/markup-compatibility/2006">
              <mc:Choice xmlns:v="urn:schemas-microsoft-com:vml" Requires="v">
                <p:oleObj name="Equation" r:id="rId7" imgW="2133600" imgH="419100" progId="Equation.3">
                  <p:embed/>
                </p:oleObj>
              </mc:Choice>
              <mc:Fallback>
                <p:oleObj name="Equation" r:id="rId7" imgW="2133600" imgH="419100" progId="Equation.3">
                  <p:embed/>
                  <p:pic>
                    <p:nvPicPr>
                      <p:cNvPr id="4" name="Object 7">
                        <a:extLst>
                          <a:ext uri="{FF2B5EF4-FFF2-40B4-BE49-F238E27FC236}">
                            <a16:creationId xmlns:a16="http://schemas.microsoft.com/office/drawing/2014/main" id="{7A9B9E4D-F6D5-8DDD-DDB7-5D7E30789C7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86200" y="5135562"/>
                        <a:ext cx="32766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099030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a:bodyPr>
          <a:lstStyle/>
          <a:p>
            <a:pPr algn="ctr" eaLnBrk="1" hangingPunct="1"/>
            <a:r>
              <a:rPr lang="en-CA" altLang="en-US" sz="3200" b="1" dirty="0">
                <a:latin typeface="+mn-lt"/>
              </a:rPr>
              <a:t>Netting Calculations</a:t>
            </a:r>
            <a:endParaRPr lang="en-US" altLang="en-US" sz="3200" b="1" dirty="0">
              <a:latin typeface="+mn-lt"/>
            </a:endParaRPr>
          </a:p>
        </p:txBody>
      </p:sp>
      <p:sp>
        <p:nvSpPr>
          <p:cNvPr id="27651" name="Rectangle 3"/>
          <p:cNvSpPr>
            <a:spLocks noGrp="1" noChangeArrowheads="1"/>
          </p:cNvSpPr>
          <p:nvPr>
            <p:ph idx="1"/>
          </p:nvPr>
        </p:nvSpPr>
        <p:spPr/>
        <p:txBody>
          <a:bodyPr>
            <a:normAutofit/>
          </a:bodyPr>
          <a:lstStyle/>
          <a:p>
            <a:pPr marL="0" indent="0">
              <a:buNone/>
              <a:defRPr/>
            </a:pPr>
            <a:r>
              <a:rPr lang="en-CA" altLang="en-US" sz="2400" dirty="0">
                <a:cs typeface="Arial" charset="0"/>
              </a:rPr>
              <a:t>   Credit equivalent amount modified from</a:t>
            </a:r>
          </a:p>
          <a:p>
            <a:pPr eaLnBrk="1" hangingPunct="1">
              <a:defRPr/>
            </a:pPr>
            <a:endParaRPr lang="en-CA" altLang="en-US" sz="2400" dirty="0">
              <a:cs typeface="Arial" charset="0"/>
            </a:endParaRPr>
          </a:p>
          <a:p>
            <a:pPr eaLnBrk="1" hangingPunct="1">
              <a:defRPr/>
            </a:pPr>
            <a:endParaRPr lang="en-CA" altLang="en-US" sz="2400" dirty="0">
              <a:cs typeface="Arial" charset="0"/>
            </a:endParaRPr>
          </a:p>
          <a:p>
            <a:pPr marL="0" indent="0">
              <a:buNone/>
              <a:defRPr/>
            </a:pPr>
            <a:r>
              <a:rPr lang="en-CA" altLang="en-US" sz="2400" dirty="0">
                <a:cs typeface="Arial" charset="0"/>
              </a:rPr>
              <a:t>  </a:t>
            </a:r>
          </a:p>
          <a:p>
            <a:pPr marL="0" indent="0">
              <a:buNone/>
              <a:defRPr/>
            </a:pPr>
            <a:endParaRPr lang="en-CA" altLang="en-US" sz="2400" dirty="0">
              <a:cs typeface="Arial" charset="0"/>
            </a:endParaRPr>
          </a:p>
          <a:p>
            <a:pPr marL="0" indent="0">
              <a:buNone/>
              <a:defRPr/>
            </a:pPr>
            <a:endParaRPr lang="en-CA" altLang="en-US" sz="2400" dirty="0">
              <a:cs typeface="Arial" charset="0"/>
            </a:endParaRPr>
          </a:p>
          <a:p>
            <a:pPr marL="0" indent="0">
              <a:buNone/>
              <a:defRPr/>
            </a:pPr>
            <a:r>
              <a:rPr lang="en-CA" altLang="en-US" sz="2400" dirty="0">
                <a:cs typeface="Arial" charset="0"/>
              </a:rPr>
              <a:t> to</a:t>
            </a:r>
          </a:p>
          <a:p>
            <a:pPr eaLnBrk="1" hangingPunct="1">
              <a:defRPr/>
            </a:pPr>
            <a:endParaRPr lang="en-US" altLang="en-US" sz="2400" dirty="0">
              <a:cs typeface="Arial" charset="0"/>
            </a:endParaRPr>
          </a:p>
        </p:txBody>
      </p:sp>
      <p:graphicFrame>
        <p:nvGraphicFramePr>
          <p:cNvPr id="40965" name="Object 4"/>
          <p:cNvGraphicFramePr>
            <a:graphicFrameLocks noChangeAspect="1"/>
          </p:cNvGraphicFramePr>
          <p:nvPr/>
        </p:nvGraphicFramePr>
        <p:xfrm>
          <a:off x="4151313" y="2349501"/>
          <a:ext cx="2735262" cy="904875"/>
        </p:xfrm>
        <a:graphic>
          <a:graphicData uri="http://schemas.openxmlformats.org/presentationml/2006/ole">
            <mc:AlternateContent xmlns:mc="http://schemas.openxmlformats.org/markup-compatibility/2006">
              <mc:Choice xmlns:v="urn:schemas-microsoft-com:vml" Requires="v">
                <p:oleObj name="Equation" r:id="rId3" imgW="1345616" imgH="444307" progId="Equation.3">
                  <p:embed/>
                </p:oleObj>
              </mc:Choice>
              <mc:Fallback>
                <p:oleObj name="Equation" r:id="rId3" imgW="1345616" imgH="444307" progId="Equation.3">
                  <p:embed/>
                  <p:pic>
                    <p:nvPicPr>
                      <p:cNvPr id="4096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51313" y="2349501"/>
                        <a:ext cx="2735262"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0966" name="Object 5"/>
          <p:cNvGraphicFramePr>
            <a:graphicFrameLocks noChangeAspect="1"/>
          </p:cNvGraphicFramePr>
          <p:nvPr/>
        </p:nvGraphicFramePr>
        <p:xfrm>
          <a:off x="3062288" y="4349751"/>
          <a:ext cx="6069012" cy="1071563"/>
        </p:xfrm>
        <a:graphic>
          <a:graphicData uri="http://schemas.openxmlformats.org/presentationml/2006/ole">
            <mc:AlternateContent xmlns:mc="http://schemas.openxmlformats.org/markup-compatibility/2006">
              <mc:Choice xmlns:v="urn:schemas-microsoft-com:vml" Requires="v">
                <p:oleObj name="Equation" r:id="rId5" imgW="2514600" imgH="444500" progId="Equation.3">
                  <p:embed/>
                </p:oleObj>
              </mc:Choice>
              <mc:Fallback>
                <p:oleObj name="Equation" r:id="rId5" imgW="2514600" imgH="444500" progId="Equation.3">
                  <p:embed/>
                  <p:pic>
                    <p:nvPicPr>
                      <p:cNvPr id="40966"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2288" y="4349751"/>
                        <a:ext cx="6069012"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7"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6E81E88-CCC2-462E-90DE-5CD5CFE7B729}" type="slidenum">
              <a:rPr lang="en-US" altLang="en-US" sz="1800"/>
              <a:pPr>
                <a:spcBef>
                  <a:spcPct val="0"/>
                </a:spcBef>
                <a:buClrTx/>
                <a:buSzTx/>
                <a:buFontTx/>
                <a:buNone/>
              </a:pPr>
              <a:t>11</a:t>
            </a:fld>
            <a:endParaRPr lang="en-US" altLang="en-US" sz="1800"/>
          </a:p>
        </p:txBody>
      </p:sp>
    </p:spTree>
    <p:extLst>
      <p:ext uri="{BB962C8B-B14F-4D97-AF65-F5344CB8AC3E}">
        <p14:creationId xmlns:p14="http://schemas.microsoft.com/office/powerpoint/2010/main" val="1141576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type="title"/>
          </p:nvPr>
        </p:nvSpPr>
        <p:spPr/>
        <p:txBody>
          <a:bodyPr>
            <a:normAutofit/>
          </a:bodyPr>
          <a:lstStyle/>
          <a:p>
            <a:pPr algn="ctr" eaLnBrk="1" hangingPunct="1"/>
            <a:r>
              <a:rPr lang="en-CA" altLang="en-US" sz="3200" b="1" dirty="0">
                <a:latin typeface="+mn-lt"/>
              </a:rPr>
              <a:t>1996 Amendment: The Market Risk Capital</a:t>
            </a:r>
            <a:endParaRPr lang="en-US" altLang="en-US" sz="3200" b="1" dirty="0">
              <a:latin typeface="+mn-lt"/>
            </a:endParaRPr>
          </a:p>
        </p:txBody>
      </p:sp>
      <p:sp>
        <p:nvSpPr>
          <p:cNvPr id="4100" name="Rectangle 6"/>
          <p:cNvSpPr>
            <a:spLocks noGrp="1" noChangeArrowheads="1"/>
          </p:cNvSpPr>
          <p:nvPr>
            <p:ph idx="1"/>
          </p:nvPr>
        </p:nvSpPr>
        <p:spPr/>
        <p:txBody>
          <a:bodyPr>
            <a:normAutofit/>
          </a:bodyPr>
          <a:lstStyle/>
          <a:p>
            <a:r>
              <a:rPr lang="en-US" altLang="en-US" sz="2200" dirty="0">
                <a:cs typeface="Arial" panose="020B0604020202020204" pitchFamily="34" charset="0"/>
              </a:rPr>
              <a:t>Implemented in 1998</a:t>
            </a:r>
          </a:p>
          <a:p>
            <a:r>
              <a:rPr lang="en-US" altLang="en-US" sz="2200" dirty="0">
                <a:cs typeface="Arial" panose="020B0604020202020204" pitchFamily="34" charset="0"/>
              </a:rPr>
              <a:t>Requires banks to hold capital for market risk for all instruments in the trading book including those off-balance sheet (This is in addition to the Basel I credit risk capital)</a:t>
            </a:r>
            <a:endParaRPr lang="en-CA" sz="2200" dirty="0">
              <a:cs typeface="Arial" charset="0"/>
            </a:endParaRPr>
          </a:p>
          <a:p>
            <a:pPr eaLnBrk="1" hangingPunct="1">
              <a:defRPr/>
            </a:pPr>
            <a:r>
              <a:rPr lang="en-CA" sz="2200" dirty="0">
                <a:cs typeface="Arial" charset="0"/>
              </a:rPr>
              <a:t>The capital requirement is</a:t>
            </a:r>
          </a:p>
          <a:p>
            <a:pPr eaLnBrk="1" hangingPunct="1">
              <a:defRPr/>
            </a:pPr>
            <a:endParaRPr lang="en-CA" sz="2200" dirty="0">
              <a:cs typeface="Arial" charset="0"/>
            </a:endParaRPr>
          </a:p>
          <a:p>
            <a:pPr eaLnBrk="1" hangingPunct="1">
              <a:defRPr/>
            </a:pPr>
            <a:endParaRPr lang="en-CA" sz="2200" dirty="0">
              <a:cs typeface="Arial" charset="0"/>
            </a:endParaRPr>
          </a:p>
          <a:p>
            <a:pPr marL="0" indent="0">
              <a:buNone/>
              <a:defRPr/>
            </a:pPr>
            <a:r>
              <a:rPr lang="en-CA" sz="2200" dirty="0">
                <a:cs typeface="Arial" charset="0"/>
              </a:rPr>
              <a:t>where </a:t>
            </a:r>
            <a:r>
              <a:rPr lang="en-CA" sz="2200" i="1" dirty="0">
                <a:latin typeface="Times New Roman" pitchFamily="18" charset="0"/>
                <a:cs typeface="Arial" charset="0"/>
              </a:rPr>
              <a:t>m</a:t>
            </a:r>
            <a:r>
              <a:rPr lang="en-CA" sz="2200" i="1" baseline="-25000" dirty="0">
                <a:latin typeface="Times New Roman" pitchFamily="18" charset="0"/>
                <a:cs typeface="Arial" charset="0"/>
              </a:rPr>
              <a:t>c</a:t>
            </a:r>
            <a:r>
              <a:rPr lang="en-CA" sz="2200" dirty="0">
                <a:cs typeface="Arial" charset="0"/>
              </a:rPr>
              <a:t> is a multiplicative factor chosen by regulators (at least 3), </a:t>
            </a:r>
            <a:r>
              <a:rPr lang="en-CA" sz="2200" dirty="0" err="1">
                <a:cs typeface="Arial" charset="0"/>
              </a:rPr>
              <a:t>VaR</a:t>
            </a:r>
            <a:r>
              <a:rPr lang="en-CA" sz="2200" dirty="0">
                <a:cs typeface="Arial" charset="0"/>
              </a:rPr>
              <a:t> is the 99% 10-day value at risk, and SRC is the specific risk charge for idiosyncratic risk related to specific companies. VaR</a:t>
            </a:r>
            <a:r>
              <a:rPr lang="en-CA" sz="2200" i="1" baseline="-25000" dirty="0">
                <a:cs typeface="Arial" charset="0"/>
              </a:rPr>
              <a:t>t</a:t>
            </a:r>
            <a:r>
              <a:rPr lang="en-CA" sz="2200" baseline="-25000" dirty="0">
                <a:cs typeface="Arial" charset="0"/>
              </a:rPr>
              <a:t>-1</a:t>
            </a:r>
            <a:r>
              <a:rPr lang="en-CA" sz="2200" dirty="0">
                <a:cs typeface="Arial" charset="0"/>
              </a:rPr>
              <a:t> is the most recently calculated </a:t>
            </a:r>
            <a:r>
              <a:rPr lang="en-CA" sz="2200" dirty="0" err="1">
                <a:cs typeface="Arial" charset="0"/>
              </a:rPr>
              <a:t>VaR</a:t>
            </a:r>
            <a:r>
              <a:rPr lang="en-CA" sz="2200" dirty="0">
                <a:cs typeface="Arial" charset="0"/>
              </a:rPr>
              <a:t> and </a:t>
            </a:r>
            <a:r>
              <a:rPr lang="en-CA" sz="2200" dirty="0" err="1">
                <a:cs typeface="Arial" charset="0"/>
              </a:rPr>
              <a:t>VaR</a:t>
            </a:r>
            <a:r>
              <a:rPr lang="en-CA" sz="2200" baseline="-25000" dirty="0" err="1">
                <a:cs typeface="Arial" charset="0"/>
              </a:rPr>
              <a:t>avg</a:t>
            </a:r>
            <a:r>
              <a:rPr lang="en-CA" sz="2200" dirty="0">
                <a:cs typeface="Arial" charset="0"/>
              </a:rPr>
              <a:t> is the average </a:t>
            </a:r>
            <a:r>
              <a:rPr lang="en-CA" sz="2200" dirty="0" err="1">
                <a:cs typeface="Arial" charset="0"/>
              </a:rPr>
              <a:t>VaR</a:t>
            </a:r>
            <a:r>
              <a:rPr lang="en-CA" sz="2200" dirty="0">
                <a:cs typeface="Arial" charset="0"/>
              </a:rPr>
              <a:t> over the last 60 days</a:t>
            </a:r>
            <a:endParaRPr lang="en-US" sz="2200" dirty="0">
              <a:cs typeface="Arial" charset="0"/>
            </a:endParaRPr>
          </a:p>
        </p:txBody>
      </p:sp>
      <p:graphicFrame>
        <p:nvGraphicFramePr>
          <p:cNvPr id="45061" name="Object 4"/>
          <p:cNvGraphicFramePr>
            <a:graphicFrameLocks noChangeAspect="1"/>
          </p:cNvGraphicFramePr>
          <p:nvPr>
            <p:extLst>
              <p:ext uri="{D42A27DB-BD31-4B8C-83A1-F6EECF244321}">
                <p14:modId xmlns:p14="http://schemas.microsoft.com/office/powerpoint/2010/main" val="2154491952"/>
              </p:ext>
            </p:extLst>
          </p:nvPr>
        </p:nvGraphicFramePr>
        <p:xfrm>
          <a:off x="4724400" y="3457901"/>
          <a:ext cx="4702175" cy="568325"/>
        </p:xfrm>
        <a:graphic>
          <a:graphicData uri="http://schemas.openxmlformats.org/presentationml/2006/ole">
            <mc:AlternateContent xmlns:mc="http://schemas.openxmlformats.org/markup-compatibility/2006">
              <mc:Choice xmlns:v="urn:schemas-microsoft-com:vml" Requires="v">
                <p:oleObj name="Equation" r:id="rId3" imgW="2006600" imgH="241300" progId="Equation.3">
                  <p:embed/>
                </p:oleObj>
              </mc:Choice>
              <mc:Fallback>
                <p:oleObj name="Equation" r:id="rId3" imgW="2006600" imgH="241300" progId="Equation.3">
                  <p:embed/>
                  <p:pic>
                    <p:nvPicPr>
                      <p:cNvPr id="45061"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3457901"/>
                        <a:ext cx="4702175"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3B210B5-1DC7-40C3-9272-A8EFBCEF4EFB}" type="slidenum">
              <a:rPr lang="en-US" altLang="en-US" sz="1800"/>
              <a:pPr>
                <a:spcBef>
                  <a:spcPct val="0"/>
                </a:spcBef>
                <a:buClrTx/>
                <a:buSzTx/>
                <a:buFontTx/>
                <a:buNone/>
              </a:pPr>
              <a:t>12</a:t>
            </a:fld>
            <a:endParaRPr lang="en-US" altLang="en-US" sz="1800"/>
          </a:p>
        </p:txBody>
      </p:sp>
    </p:spTree>
    <p:extLst>
      <p:ext uri="{BB962C8B-B14F-4D97-AF65-F5344CB8AC3E}">
        <p14:creationId xmlns:p14="http://schemas.microsoft.com/office/powerpoint/2010/main" val="3488339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a:bodyPr>
          <a:lstStyle/>
          <a:p>
            <a:pPr algn="ctr" eaLnBrk="1" hangingPunct="1"/>
            <a:r>
              <a:rPr lang="en-US" altLang="en-US" sz="3200" b="1" dirty="0">
                <a:latin typeface="+mn-lt"/>
              </a:rPr>
              <a:t>Basel II</a:t>
            </a:r>
          </a:p>
        </p:txBody>
      </p:sp>
      <p:sp>
        <p:nvSpPr>
          <p:cNvPr id="47107" name="Rectangle 3"/>
          <p:cNvSpPr>
            <a:spLocks noGrp="1" noChangeArrowheads="1"/>
          </p:cNvSpPr>
          <p:nvPr>
            <p:ph idx="1"/>
          </p:nvPr>
        </p:nvSpPr>
        <p:spPr/>
        <p:txBody>
          <a:bodyPr>
            <a:normAutofit/>
          </a:bodyPr>
          <a:lstStyle/>
          <a:p>
            <a:pPr eaLnBrk="1" hangingPunct="1"/>
            <a:r>
              <a:rPr lang="en-US" altLang="en-US" sz="2200" dirty="0">
                <a:cs typeface="Arial" panose="020B0604020202020204" pitchFamily="34" charset="0"/>
              </a:rPr>
              <a:t>Implemented in 2007 </a:t>
            </a:r>
          </a:p>
          <a:p>
            <a:pPr eaLnBrk="1" hangingPunct="1"/>
            <a:r>
              <a:rPr lang="en-US" altLang="en-US" sz="2200" dirty="0">
                <a:cs typeface="Arial" panose="020B0604020202020204" pitchFamily="34" charset="0"/>
              </a:rPr>
              <a:t>Three pillars</a:t>
            </a:r>
          </a:p>
          <a:p>
            <a:pPr lvl="1" eaLnBrk="1" hangingPunct="1"/>
            <a:r>
              <a:rPr lang="en-US" altLang="en-US" sz="2200" dirty="0">
                <a:cs typeface="Arial" panose="020B0604020202020204" pitchFamily="34" charset="0"/>
              </a:rPr>
              <a:t>New minimum capital requirements for credit and operational risk </a:t>
            </a:r>
          </a:p>
          <a:p>
            <a:pPr lvl="1" eaLnBrk="1" hangingPunct="1"/>
            <a:r>
              <a:rPr lang="en-US" altLang="en-US" sz="2200" dirty="0">
                <a:cs typeface="Arial" panose="020B0604020202020204" pitchFamily="34" charset="0"/>
              </a:rPr>
              <a:t>Supervisory review: more thorough and uniform</a:t>
            </a:r>
          </a:p>
          <a:p>
            <a:pPr lvl="1" eaLnBrk="1" hangingPunct="1"/>
            <a:r>
              <a:rPr lang="en-US" altLang="en-US" sz="2200" dirty="0">
                <a:cs typeface="Arial" panose="020B0604020202020204" pitchFamily="34" charset="0"/>
              </a:rPr>
              <a:t>Market discipline: more disclosure</a:t>
            </a:r>
          </a:p>
          <a:p>
            <a:pPr marL="0" lvl="1" indent="0">
              <a:lnSpc>
                <a:spcPct val="100000"/>
              </a:lnSpc>
              <a:spcBef>
                <a:spcPts val="1000"/>
              </a:spcBef>
              <a:buNone/>
            </a:pPr>
            <a:r>
              <a:rPr lang="en-US" altLang="en-US" sz="2200" dirty="0">
                <a:cs typeface="Arial" panose="020B0604020202020204" pitchFamily="34" charset="0"/>
              </a:rPr>
              <a:t>New capital requirements:</a:t>
            </a:r>
          </a:p>
          <a:p>
            <a:pPr lvl="1"/>
            <a:r>
              <a:rPr lang="en-US" altLang="en-US" sz="2200" dirty="0">
                <a:cs typeface="Arial" panose="020B0604020202020204" pitchFamily="34" charset="0"/>
              </a:rPr>
              <a:t>Risk weights based on either external credit rating (standardized approach) or a bank’s own internal credit ratings (IRB approach)</a:t>
            </a:r>
          </a:p>
          <a:p>
            <a:pPr lvl="1"/>
            <a:r>
              <a:rPr lang="en-US" altLang="en-US" sz="2200" dirty="0">
                <a:cs typeface="Arial" panose="020B0604020202020204" pitchFamily="34" charset="0"/>
              </a:rPr>
              <a:t>Recognition of credit risk mitigants</a:t>
            </a:r>
          </a:p>
          <a:p>
            <a:pPr lvl="1"/>
            <a:r>
              <a:rPr lang="en-US" altLang="en-US" sz="2200" dirty="0">
                <a:cs typeface="Arial" panose="020B0604020202020204" pitchFamily="34" charset="0"/>
              </a:rPr>
              <a:t>Separate capital charge for operational risk</a:t>
            </a:r>
          </a:p>
          <a:p>
            <a:pPr marL="457200" lvl="1" indent="0" eaLnBrk="1" hangingPunct="1">
              <a:buNone/>
            </a:pPr>
            <a:endParaRPr lang="en-US" altLang="en-US" sz="2200" dirty="0">
              <a:cs typeface="Arial" panose="020B0604020202020204" pitchFamily="34" charset="0"/>
            </a:endParaRPr>
          </a:p>
        </p:txBody>
      </p:sp>
      <p:sp>
        <p:nvSpPr>
          <p:cNvPr id="471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209BECA-1185-4499-BD24-61CBA6801518}" type="slidenum">
              <a:rPr lang="en-US" altLang="en-US" sz="1800"/>
              <a:pPr>
                <a:spcBef>
                  <a:spcPct val="0"/>
                </a:spcBef>
                <a:buClrTx/>
                <a:buSzTx/>
                <a:buFontTx/>
                <a:buNone/>
              </a:pPr>
              <a:t>13</a:t>
            </a:fld>
            <a:endParaRPr lang="en-US" altLang="en-US" sz="1800"/>
          </a:p>
        </p:txBody>
      </p:sp>
    </p:spTree>
    <p:extLst>
      <p:ext uri="{BB962C8B-B14F-4D97-AF65-F5344CB8AC3E}">
        <p14:creationId xmlns:p14="http://schemas.microsoft.com/office/powerpoint/2010/main" val="2837969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normAutofit/>
          </a:bodyPr>
          <a:lstStyle/>
          <a:p>
            <a:pPr algn="ctr" eaLnBrk="1" hangingPunct="1"/>
            <a:r>
              <a:rPr lang="en-US" altLang="en-US" sz="3200" b="1" dirty="0">
                <a:latin typeface="+mn-lt"/>
              </a:rPr>
              <a:t>Basel II New Capital Requirements</a:t>
            </a:r>
          </a:p>
        </p:txBody>
      </p:sp>
      <p:sp>
        <p:nvSpPr>
          <p:cNvPr id="53251" name="Rectangle 3"/>
          <p:cNvSpPr>
            <a:spLocks noGrp="1" noChangeArrowheads="1"/>
          </p:cNvSpPr>
          <p:nvPr>
            <p:ph idx="1"/>
          </p:nvPr>
        </p:nvSpPr>
        <p:spPr/>
        <p:txBody>
          <a:bodyPr/>
          <a:lstStyle/>
          <a:p>
            <a:pPr eaLnBrk="1" hangingPunct="1">
              <a:lnSpc>
                <a:spcPct val="90000"/>
              </a:lnSpc>
              <a:buFont typeface="Wingdings" panose="05000000000000000000" pitchFamily="2" charset="2"/>
              <a:buNone/>
            </a:pPr>
            <a:r>
              <a:rPr lang="en-US" altLang="en-US" sz="2200" dirty="0">
                <a:cs typeface="Arial" panose="020B0604020202020204" pitchFamily="34" charset="0"/>
              </a:rPr>
              <a:t>	Bank and corporations treated similarly (unlike Basel I)</a:t>
            </a:r>
          </a:p>
          <a:p>
            <a:pPr eaLnBrk="1" hangingPunct="1">
              <a:lnSpc>
                <a:spcPct val="90000"/>
              </a:lnSpc>
              <a:buFont typeface="Wingdings" panose="05000000000000000000" pitchFamily="2" charset="2"/>
              <a:buNone/>
            </a:pPr>
            <a:r>
              <a:rPr lang="en-US" altLang="en-US" dirty="0">
                <a:cs typeface="Arial" panose="020B0604020202020204" pitchFamily="34" charset="0"/>
              </a:rPr>
              <a:t> </a:t>
            </a:r>
          </a:p>
          <a:p>
            <a:pPr eaLnBrk="1" hangingPunct="1">
              <a:lnSpc>
                <a:spcPct val="90000"/>
              </a:lnSpc>
              <a:buFontTx/>
              <a:buChar char="•"/>
            </a:pPr>
            <a:endParaRPr lang="en-US" altLang="en-US" dirty="0">
              <a:cs typeface="Arial" panose="020B0604020202020204" pitchFamily="34" charset="0"/>
            </a:endParaRPr>
          </a:p>
          <a:p>
            <a:pPr eaLnBrk="1" hangingPunct="1">
              <a:lnSpc>
                <a:spcPct val="90000"/>
              </a:lnSpc>
              <a:buFontTx/>
              <a:buChar char="•"/>
            </a:pPr>
            <a:endParaRPr lang="en-US" altLang="en-US" dirty="0">
              <a:cs typeface="Arial" panose="020B0604020202020204" pitchFamily="34" charset="0"/>
            </a:endParaRPr>
          </a:p>
          <a:p>
            <a:pPr eaLnBrk="1" hangingPunct="1">
              <a:lnSpc>
                <a:spcPct val="90000"/>
              </a:lnSpc>
              <a:buFontTx/>
              <a:buChar char="•"/>
            </a:pPr>
            <a:endParaRPr lang="en-US" altLang="en-US" dirty="0">
              <a:cs typeface="Arial" panose="020B0604020202020204" pitchFamily="34" charset="0"/>
            </a:endParaRPr>
          </a:p>
          <a:p>
            <a:pPr eaLnBrk="1" hangingPunct="1">
              <a:lnSpc>
                <a:spcPct val="90000"/>
              </a:lnSpc>
              <a:buFontTx/>
              <a:buChar char="•"/>
            </a:pPr>
            <a:endParaRPr lang="en-US" altLang="en-US" dirty="0">
              <a:cs typeface="Arial" panose="020B0604020202020204" pitchFamily="34" charset="0"/>
            </a:endParaRPr>
          </a:p>
        </p:txBody>
      </p:sp>
      <p:graphicFrame>
        <p:nvGraphicFramePr>
          <p:cNvPr id="34916" name="Group 100"/>
          <p:cNvGraphicFramePr>
            <a:graphicFrameLocks noGrp="1"/>
          </p:cNvGraphicFramePr>
          <p:nvPr/>
        </p:nvGraphicFramePr>
        <p:xfrm>
          <a:off x="2024064" y="2643188"/>
          <a:ext cx="8032377" cy="3430586"/>
        </p:xfrm>
        <a:graphic>
          <a:graphicData uri="http://schemas.openxmlformats.org/drawingml/2006/table">
            <a:tbl>
              <a:tblPr/>
              <a:tblGrid>
                <a:gridCol w="1345049">
                  <a:extLst>
                    <a:ext uri="{9D8B030D-6E8A-4147-A177-3AD203B41FA5}">
                      <a16:colId xmlns:a16="http://schemas.microsoft.com/office/drawing/2014/main" val="20000"/>
                    </a:ext>
                  </a:extLst>
                </a:gridCol>
                <a:gridCol w="782143">
                  <a:extLst>
                    <a:ext uri="{9D8B030D-6E8A-4147-A177-3AD203B41FA5}">
                      <a16:colId xmlns:a16="http://schemas.microsoft.com/office/drawing/2014/main" val="20001"/>
                    </a:ext>
                  </a:extLst>
                </a:gridCol>
                <a:gridCol w="967309">
                  <a:extLst>
                    <a:ext uri="{9D8B030D-6E8A-4147-A177-3AD203B41FA5}">
                      <a16:colId xmlns:a16="http://schemas.microsoft.com/office/drawing/2014/main" val="20002"/>
                    </a:ext>
                  </a:extLst>
                </a:gridCol>
                <a:gridCol w="967308">
                  <a:extLst>
                    <a:ext uri="{9D8B030D-6E8A-4147-A177-3AD203B41FA5}">
                      <a16:colId xmlns:a16="http://schemas.microsoft.com/office/drawing/2014/main" val="20003"/>
                    </a:ext>
                  </a:extLst>
                </a:gridCol>
                <a:gridCol w="965826">
                  <a:extLst>
                    <a:ext uri="{9D8B030D-6E8A-4147-A177-3AD203B41FA5}">
                      <a16:colId xmlns:a16="http://schemas.microsoft.com/office/drawing/2014/main" val="20004"/>
                    </a:ext>
                  </a:extLst>
                </a:gridCol>
                <a:gridCol w="967309">
                  <a:extLst>
                    <a:ext uri="{9D8B030D-6E8A-4147-A177-3AD203B41FA5}">
                      <a16:colId xmlns:a16="http://schemas.microsoft.com/office/drawing/2014/main" val="20005"/>
                    </a:ext>
                  </a:extLst>
                </a:gridCol>
                <a:gridCol w="993973">
                  <a:extLst>
                    <a:ext uri="{9D8B030D-6E8A-4147-A177-3AD203B41FA5}">
                      <a16:colId xmlns:a16="http://schemas.microsoft.com/office/drawing/2014/main" val="20006"/>
                    </a:ext>
                  </a:extLst>
                </a:gridCol>
                <a:gridCol w="1043460">
                  <a:extLst>
                    <a:ext uri="{9D8B030D-6E8A-4147-A177-3AD203B41FA5}">
                      <a16:colId xmlns:a16="http://schemas.microsoft.com/office/drawing/2014/main" val="20007"/>
                    </a:ext>
                  </a:extLst>
                </a:gridCol>
              </a:tblGrid>
              <a:tr h="1055302">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Rating</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AAA to AA-</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A+ to A-</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BBB+ to BBB-</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BB+ to BB-</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B+ to B-</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Below B-</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Unrated</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83411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Country</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20%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774321">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Banks</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20%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766848">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Corporates</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20%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150%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1800" b="0" i="0" u="none" strike="noStrike" cap="none" normalizeH="0" baseline="0" dirty="0">
                          <a:ln>
                            <a:noFill/>
                          </a:ln>
                          <a:solidFill>
                            <a:schemeClr val="tx1"/>
                          </a:solidFill>
                          <a:effectLst/>
                          <a:latin typeface="Arial" charset="0"/>
                        </a:rPr>
                        <a:t>100%</a:t>
                      </a:r>
                    </a:p>
                  </a:txBody>
                  <a:tcPr marL="92074" marR="92074"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330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AEE0871-4799-4642-AD14-DCBE6D7D0377}" type="slidenum">
              <a:rPr lang="en-US" altLang="en-US" sz="1800"/>
              <a:pPr>
                <a:spcBef>
                  <a:spcPct val="0"/>
                </a:spcBef>
                <a:buClrTx/>
                <a:buSzTx/>
                <a:buFontTx/>
                <a:buNone/>
              </a:pPr>
              <a:t>14</a:t>
            </a:fld>
            <a:endParaRPr lang="en-US" altLang="en-US" sz="1800"/>
          </a:p>
        </p:txBody>
      </p:sp>
    </p:spTree>
    <p:extLst>
      <p:ext uri="{BB962C8B-B14F-4D97-AF65-F5344CB8AC3E}">
        <p14:creationId xmlns:p14="http://schemas.microsoft.com/office/powerpoint/2010/main" val="3312108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algn="ctr" eaLnBrk="1" hangingPunct="1"/>
            <a:r>
              <a:rPr lang="en-US" altLang="en-US" sz="3200" b="1" dirty="0">
                <a:latin typeface="+mn-lt"/>
              </a:rPr>
              <a:t>Internal Rating-Based (IRB) Approach</a:t>
            </a:r>
            <a:br>
              <a:rPr lang="en-US" altLang="en-US" dirty="0">
                <a:latin typeface="+mn-lt"/>
              </a:rPr>
            </a:br>
            <a:r>
              <a:rPr lang="en-US" altLang="en-US" sz="2600" dirty="0">
                <a:latin typeface="+mn-lt"/>
              </a:rPr>
              <a:t>For corporate, banks and sovereign exposures</a:t>
            </a:r>
          </a:p>
        </p:txBody>
      </p:sp>
      <p:sp>
        <p:nvSpPr>
          <p:cNvPr id="55299" name="Rectangle 3"/>
          <p:cNvSpPr>
            <a:spLocks noGrp="1" noChangeArrowheads="1"/>
          </p:cNvSpPr>
          <p:nvPr>
            <p:ph idx="1"/>
          </p:nvPr>
        </p:nvSpPr>
        <p:spPr/>
        <p:txBody>
          <a:bodyPr>
            <a:normAutofit/>
          </a:bodyPr>
          <a:lstStyle/>
          <a:p>
            <a:pPr eaLnBrk="1" hangingPunct="1"/>
            <a:r>
              <a:rPr lang="en-US" altLang="en-US" sz="2200" dirty="0">
                <a:cs typeface="Arial" panose="020B0604020202020204" pitchFamily="34" charset="0"/>
              </a:rPr>
              <a:t>Basel II provides a formula for translating PD (probability of default), LGD (loss given default), EAD (exposure at default), and M (effective maturity) into a risk weight</a:t>
            </a:r>
          </a:p>
          <a:p>
            <a:r>
              <a:rPr lang="en-US" altLang="en-US" sz="2200" dirty="0">
                <a:cs typeface="Arial" panose="020B0604020202020204" pitchFamily="34" charset="0"/>
              </a:rPr>
              <a:t>Under the Foundation IRB approach banks estimate only PD and the Basel II guidelines (e.g., regulators) determine the other variables for the formula</a:t>
            </a:r>
          </a:p>
          <a:p>
            <a:pPr eaLnBrk="1" hangingPunct="1"/>
            <a:r>
              <a:rPr lang="en-US" altLang="en-US" sz="2200" dirty="0">
                <a:cs typeface="Arial" panose="020B0604020202020204" pitchFamily="34" charset="0"/>
              </a:rPr>
              <a:t>Under the Advanced IRB approach banks estimate PD, LGD, EAD, and M</a:t>
            </a:r>
          </a:p>
        </p:txBody>
      </p:sp>
      <p:sp>
        <p:nvSpPr>
          <p:cNvPr id="553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6BB144C-0823-4B64-B1C2-153F368252E2}" type="slidenum">
              <a:rPr lang="en-US" altLang="en-US" sz="1800"/>
              <a:pPr>
                <a:spcBef>
                  <a:spcPct val="0"/>
                </a:spcBef>
                <a:buClrTx/>
                <a:buSzTx/>
                <a:buFontTx/>
                <a:buNone/>
              </a:pPr>
              <a:t>15</a:t>
            </a:fld>
            <a:endParaRPr lang="en-US" altLang="en-US" sz="1800"/>
          </a:p>
        </p:txBody>
      </p:sp>
    </p:spTree>
    <p:extLst>
      <p:ext uri="{BB962C8B-B14F-4D97-AF65-F5344CB8AC3E}">
        <p14:creationId xmlns:p14="http://schemas.microsoft.com/office/powerpoint/2010/main" val="2339684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Basel II: IRB Capital Formula</a:t>
            </a:r>
            <a:endParaRPr b="1" dirty="0">
              <a:latin typeface="Arial" panose="020B0604020202020204" pitchFamily="34" charset="0"/>
              <a:cs typeface="Arial" panose="020B0604020202020204" pitchFamily="34" charset="0"/>
            </a:endParaRPr>
          </a:p>
        </p:txBody>
      </p:sp>
      <p:pic>
        <p:nvPicPr>
          <p:cNvPr id="4012" name="Picture 4011" descr="f_irb.png"/>
          <p:cNvPicPr>
            <a:picLocks noChangeAspect="1"/>
          </p:cNvPicPr>
          <p:nvPr/>
        </p:nvPicPr>
        <p:blipFill>
          <a:blip r:embed="rId3"/>
          <a:stretch>
            <a:fillRect/>
          </a:stretch>
        </p:blipFill>
        <p:spPr>
          <a:xfrm>
            <a:off x="3380709" y="1133406"/>
            <a:ext cx="5187510" cy="694944"/>
          </a:xfrm>
          <a:prstGeom prst="rect">
            <a:avLst/>
          </a:prstGeom>
        </p:spPr>
      </p:pic>
      <p:pic>
        <p:nvPicPr>
          <p:cNvPr id="4013" name="Picture 4012" descr="f_irb_rwa.png"/>
          <p:cNvPicPr>
            <a:picLocks noChangeAspect="1"/>
          </p:cNvPicPr>
          <p:nvPr/>
        </p:nvPicPr>
        <p:blipFill>
          <a:blip r:embed="rId4"/>
          <a:stretch>
            <a:fillRect/>
          </a:stretch>
        </p:blipFill>
        <p:spPr>
          <a:xfrm>
            <a:off x="4419600" y="2046868"/>
            <a:ext cx="3083945" cy="326701"/>
          </a:xfrm>
          <a:prstGeom prst="rect">
            <a:avLst/>
          </a:prstGeom>
        </p:spPr>
      </p:pic>
      <p:sp>
        <p:nvSpPr>
          <p:cNvPr id="2" name="Content Placeholder"/>
          <p:cNvSpPr>
            <a:spLocks noGrp="1"/>
          </p:cNvSpPr>
          <p:nvPr>
            <p:ph sz="half" idx="2"/>
          </p:nvPr>
        </p:nvSpPr>
        <p:spPr>
          <a:xfrm>
            <a:off x="420624" y="2889504"/>
            <a:ext cx="11347704" cy="3163824"/>
          </a:xfrm>
        </p:spPr>
        <p:txBody>
          <a:bodyPr wrap="square">
            <a:noAutofit/>
          </a:bodyPr>
          <a:lstStyle/>
          <a:p>
            <a:pPr marL="0" indent="0">
              <a:buNone/>
            </a:pPr>
            <a:r>
              <a:rPr lang="en-CA" sz="2200" b="1" dirty="0"/>
              <a:t>Asset correlation and maturity adjustment</a:t>
            </a:r>
          </a:p>
          <a:p>
            <a:r>
              <a:rPr lang="en-CA" sz="2200" dirty="0"/>
              <a:t>Correlation rho: corporate 0.12 to 0.24</a:t>
            </a:r>
          </a:p>
          <a:p>
            <a:r>
              <a:rPr lang="en-CA" sz="2200" dirty="0"/>
              <a:t>Retail mortgage 0.15; revolving retail 0.04</a:t>
            </a:r>
          </a:p>
          <a:p>
            <a:pPr marL="0" indent="0">
              <a:buNone/>
            </a:pPr>
            <a:r>
              <a:rPr lang="en-CA" sz="2200" b="1" dirty="0"/>
              <a:t>Interpretation (Vasicek single-factor model</a:t>
            </a:r>
          </a:p>
          <a:p>
            <a:r>
              <a:rPr lang="en-CA" sz="2200" dirty="0"/>
              <a:t>K is the capital requirement per unit of exposure (99.9% confidence, 1-year horizon)</a:t>
            </a:r>
          </a:p>
          <a:p>
            <a:r>
              <a:rPr lang="en-CA" sz="2200" dirty="0"/>
              <a:t>LGD: loss given default; EAD: exposure at default</a:t>
            </a:r>
          </a:p>
          <a:p>
            <a:r>
              <a:rPr lang="en-CA" sz="2200" dirty="0"/>
              <a:t>rho: asset correlation captures common-factor sensitivity</a:t>
            </a:r>
          </a:p>
          <a:p>
            <a:r>
              <a:rPr lang="en-CA" sz="2200" dirty="0"/>
              <a:t>As PD approaches 0 and rho is moderate, K approaches the unexpected loss (UL = WCL minus 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normAutofit/>
          </a:bodyPr>
          <a:lstStyle/>
          <a:p>
            <a:pPr algn="ctr" eaLnBrk="1" hangingPunct="1"/>
            <a:r>
              <a:rPr lang="en-US" altLang="en-US" sz="3200" b="1" dirty="0">
                <a:latin typeface="+mn-lt"/>
              </a:rPr>
              <a:t>The Model used by Regulators</a:t>
            </a:r>
            <a:endParaRPr lang="en-CA" altLang="en-US" sz="3200" b="1" dirty="0">
              <a:latin typeface="+mn-lt"/>
            </a:endParaRPr>
          </a:p>
        </p:txBody>
      </p:sp>
      <p:sp>
        <p:nvSpPr>
          <p:cNvPr id="57347" name="Rectangle 6"/>
          <p:cNvSpPr>
            <a:spLocks noGrp="1" noChangeArrowheads="1"/>
          </p:cNvSpPr>
          <p:nvPr>
            <p:ph idx="1"/>
          </p:nvPr>
        </p:nvSpPr>
        <p:spPr>
          <a:xfrm>
            <a:off x="838200" y="1825625"/>
            <a:ext cx="5355678" cy="4351338"/>
          </a:xfrm>
        </p:spPr>
        <p:txBody>
          <a:bodyPr/>
          <a:lstStyle/>
          <a:p>
            <a:pPr eaLnBrk="1" hangingPunct="1">
              <a:buFont typeface="Wingdings" panose="05000000000000000000" pitchFamily="2" charset="2"/>
              <a:buNone/>
            </a:pPr>
            <a:r>
              <a:rPr lang="en-US" altLang="en-US">
                <a:cs typeface="Arial" panose="020B0604020202020204" pitchFamily="34" charset="0"/>
              </a:rPr>
              <a:t> </a:t>
            </a:r>
            <a:endParaRPr lang="en-CA" altLang="en-US">
              <a:cs typeface="Arial" panose="020B0604020202020204" pitchFamily="34" charset="0"/>
            </a:endParaRPr>
          </a:p>
        </p:txBody>
      </p:sp>
      <p:sp>
        <p:nvSpPr>
          <p:cNvPr id="5734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B2A82C3-FCE4-4584-8FC9-4639DB249A13}" type="slidenum">
              <a:rPr lang="en-US" altLang="en-US" sz="1800"/>
              <a:pPr>
                <a:spcBef>
                  <a:spcPct val="0"/>
                </a:spcBef>
                <a:buClrTx/>
                <a:buSzTx/>
                <a:buFontTx/>
                <a:buNone/>
              </a:pPr>
              <a:t>17</a:t>
            </a:fld>
            <a:endParaRPr lang="en-US" altLang="en-US" sz="1800"/>
          </a:p>
        </p:txBody>
      </p:sp>
      <p:pic>
        <p:nvPicPr>
          <p:cNvPr id="2" name="Picture 1"/>
          <p:cNvPicPr>
            <a:picLocks noChangeAspect="1"/>
          </p:cNvPicPr>
          <p:nvPr/>
        </p:nvPicPr>
        <p:blipFill>
          <a:blip r:embed="rId3"/>
          <a:stretch>
            <a:fillRect/>
          </a:stretch>
        </p:blipFill>
        <p:spPr>
          <a:xfrm>
            <a:off x="152400" y="1610012"/>
            <a:ext cx="5812878" cy="3800188"/>
          </a:xfrm>
          <a:prstGeom prst="rect">
            <a:avLst/>
          </a:prstGeom>
        </p:spPr>
      </p:pic>
      <p:graphicFrame>
        <p:nvGraphicFramePr>
          <p:cNvPr id="3" name="Object 4">
            <a:extLst>
              <a:ext uri="{FF2B5EF4-FFF2-40B4-BE49-F238E27FC236}">
                <a16:creationId xmlns:a16="http://schemas.microsoft.com/office/drawing/2014/main" id="{A7631C65-31BD-308C-D158-BC69F517F8A3}"/>
              </a:ext>
            </a:extLst>
          </p:cNvPr>
          <p:cNvGraphicFramePr>
            <a:graphicFrameLocks noChangeAspect="1"/>
          </p:cNvGraphicFramePr>
          <p:nvPr>
            <p:extLst>
              <p:ext uri="{D42A27DB-BD31-4B8C-83A1-F6EECF244321}">
                <p14:modId xmlns:p14="http://schemas.microsoft.com/office/powerpoint/2010/main" val="2162929898"/>
              </p:ext>
            </p:extLst>
          </p:nvPr>
        </p:nvGraphicFramePr>
        <p:xfrm>
          <a:off x="6347154" y="3624590"/>
          <a:ext cx="5320970" cy="1480810"/>
        </p:xfrm>
        <a:graphic>
          <a:graphicData uri="http://schemas.openxmlformats.org/presentationml/2006/ole">
            <mc:AlternateContent xmlns:mc="http://schemas.openxmlformats.org/markup-compatibility/2006">
              <mc:Choice xmlns:v="urn:schemas-microsoft-com:vml" Requires="v">
                <p:oleObj name="Equation" r:id="rId4" imgW="2578100" imgH="685800" progId="Equation.3">
                  <p:embed/>
                </p:oleObj>
              </mc:Choice>
              <mc:Fallback>
                <p:oleObj name="Equation" r:id="rId4" imgW="2578100" imgH="685800" progId="Equation.3">
                  <p:embed/>
                  <p:pic>
                    <p:nvPicPr>
                      <p:cNvPr id="3" name="Object 4">
                        <a:extLst>
                          <a:ext uri="{FF2B5EF4-FFF2-40B4-BE49-F238E27FC236}">
                            <a16:creationId xmlns:a16="http://schemas.microsoft.com/office/drawing/2014/main" id="{A7631C65-31BD-308C-D158-BC69F517F8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47154" y="3624590"/>
                        <a:ext cx="5320970" cy="1480810"/>
                      </a:xfrm>
                      <a:prstGeom prst="rect">
                        <a:avLst/>
                      </a:prstGeom>
                      <a:noFill/>
                      <a:ln>
                        <a:noFill/>
                      </a:ln>
                    </p:spPr>
                  </p:pic>
                </p:oleObj>
              </mc:Fallback>
            </mc:AlternateContent>
          </a:graphicData>
        </a:graphic>
      </p:graphicFrame>
      <p:sp>
        <p:nvSpPr>
          <p:cNvPr id="5" name="TextBox 4">
            <a:extLst>
              <a:ext uri="{FF2B5EF4-FFF2-40B4-BE49-F238E27FC236}">
                <a16:creationId xmlns:a16="http://schemas.microsoft.com/office/drawing/2014/main" id="{A8E8DC92-7E2D-323B-8BDC-C9039452CE66}"/>
              </a:ext>
            </a:extLst>
          </p:cNvPr>
          <p:cNvSpPr txBox="1"/>
          <p:nvPr/>
        </p:nvSpPr>
        <p:spPr>
          <a:xfrm>
            <a:off x="6347154" y="2199323"/>
            <a:ext cx="5320970" cy="830997"/>
          </a:xfrm>
          <a:prstGeom prst="rect">
            <a:avLst/>
          </a:prstGeom>
          <a:noFill/>
        </p:spPr>
        <p:txBody>
          <a:bodyPr wrap="square">
            <a:spAutoFit/>
          </a:bodyPr>
          <a:lstStyle/>
          <a:p>
            <a:pPr marL="0" indent="0">
              <a:buNone/>
              <a:defRPr/>
            </a:pPr>
            <a:r>
              <a:rPr lang="en-US" sz="2400" dirty="0">
                <a:cs typeface="Arial" charset="0"/>
              </a:rPr>
              <a:t>The 99.9% worst case default rate (WCDR) is based on Vasicek’s model:</a:t>
            </a:r>
          </a:p>
        </p:txBody>
      </p:sp>
    </p:spTree>
    <p:extLst>
      <p:ext uri="{BB962C8B-B14F-4D97-AF65-F5344CB8AC3E}">
        <p14:creationId xmlns:p14="http://schemas.microsoft.com/office/powerpoint/2010/main" val="4291728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normAutofit/>
          </a:bodyPr>
          <a:lstStyle/>
          <a:p>
            <a:pPr algn="ctr" eaLnBrk="1" hangingPunct="1"/>
            <a:r>
              <a:rPr lang="en-US" altLang="en-US" sz="3200" b="1" dirty="0">
                <a:latin typeface="+mn-lt"/>
              </a:rPr>
              <a:t>Numerical Results for WCDR</a:t>
            </a:r>
          </a:p>
        </p:txBody>
      </p:sp>
      <p:sp>
        <p:nvSpPr>
          <p:cNvPr id="61443" name="Rectangle 3"/>
          <p:cNvSpPr>
            <a:spLocks noGrp="1" noChangeArrowheads="1"/>
          </p:cNvSpPr>
          <p:nvPr>
            <p:ph idx="1"/>
          </p:nvPr>
        </p:nvSpPr>
        <p:spPr/>
        <p:txBody>
          <a:bodyPr/>
          <a:lstStyle/>
          <a:p>
            <a:pPr eaLnBrk="1" hangingPunct="1">
              <a:buFont typeface="Wingdings" panose="05000000000000000000" pitchFamily="2" charset="2"/>
              <a:buNone/>
            </a:pPr>
            <a:r>
              <a:rPr lang="en-US" altLang="en-US">
                <a:cs typeface="Arial" panose="020B0604020202020204" pitchFamily="34" charset="0"/>
              </a:rPr>
              <a:t> </a:t>
            </a:r>
          </a:p>
        </p:txBody>
      </p:sp>
      <p:graphicFrame>
        <p:nvGraphicFramePr>
          <p:cNvPr id="38985" name="Group 73"/>
          <p:cNvGraphicFramePr>
            <a:graphicFrameLocks noGrp="1"/>
          </p:cNvGraphicFramePr>
          <p:nvPr/>
        </p:nvGraphicFramePr>
        <p:xfrm>
          <a:off x="1828800" y="2209800"/>
          <a:ext cx="8153400" cy="3276600"/>
        </p:xfrm>
        <a:graphic>
          <a:graphicData uri="http://schemas.openxmlformats.org/drawingml/2006/table">
            <a:tbl>
              <a:tblPr/>
              <a:tblGrid>
                <a:gridCol w="9906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479550">
                  <a:extLst>
                    <a:ext uri="{9D8B030D-6E8A-4147-A177-3AD203B41FA5}">
                      <a16:colId xmlns:a16="http://schemas.microsoft.com/office/drawing/2014/main" val="20004"/>
                    </a:ext>
                  </a:extLst>
                </a:gridCol>
                <a:gridCol w="1339850">
                  <a:extLst>
                    <a:ext uri="{9D8B030D-6E8A-4147-A177-3AD203B41FA5}">
                      <a16:colId xmlns:a16="http://schemas.microsoft.com/office/drawing/2014/main" val="20005"/>
                    </a:ext>
                  </a:extLst>
                </a:gridCol>
              </a:tblGrid>
              <a:tr h="54292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endParaRPr kumimoji="0" lang="en-CA" sz="2800" b="0" i="0" u="none" strike="noStrike" cap="none" normalizeH="0" baseline="0" dirty="0">
                        <a:ln>
                          <a:noFill/>
                        </a:ln>
                        <a:solidFill>
                          <a:schemeClr val="tx1"/>
                        </a:solidFill>
                        <a:effectLst/>
                        <a:latin typeface="Arial" charset="0"/>
                      </a:endParaRP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rPr>
                        <a:t>PD</a:t>
                      </a:r>
                      <a:r>
                        <a:rPr kumimoji="0" lang="en-US" sz="2400" b="0" i="0" u="none" strike="noStrike" cap="none" normalizeH="0" baseline="0" dirty="0">
                          <a:ln>
                            <a:noFill/>
                          </a:ln>
                          <a:solidFill>
                            <a:schemeClr val="tx1"/>
                          </a:solidFill>
                          <a:effectLst/>
                          <a:latin typeface="Arial" charset="0"/>
                        </a:rPr>
                        <a:t>=0.1%</a:t>
                      </a:r>
                      <a:endParaRPr kumimoji="0" lang="en-CA" sz="2400" b="0" i="0" u="none" strike="noStrike" cap="none" normalizeH="0" baseline="0" dirty="0">
                        <a:ln>
                          <a:noFill/>
                        </a:ln>
                        <a:solidFill>
                          <a:schemeClr val="tx1"/>
                        </a:solidFill>
                        <a:effectLst/>
                        <a:latin typeface="Arial" charset="0"/>
                      </a:endParaRP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rPr>
                        <a:t>PD</a:t>
                      </a:r>
                      <a:r>
                        <a:rPr kumimoji="0" lang="en-US" sz="2400" b="0" i="0" u="none" strike="noStrike" cap="none" normalizeH="0" baseline="0" dirty="0">
                          <a:ln>
                            <a:noFill/>
                          </a:ln>
                          <a:solidFill>
                            <a:schemeClr val="tx1"/>
                          </a:solidFill>
                          <a:effectLst/>
                          <a:latin typeface="Arial" charset="0"/>
                        </a:rPr>
                        <a:t>=0.5%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rPr>
                        <a:t>PD</a:t>
                      </a:r>
                      <a:r>
                        <a:rPr kumimoji="0" lang="en-US" sz="2400" b="0" i="0" u="none" strike="noStrike" cap="none" normalizeH="0" baseline="0" dirty="0">
                          <a:ln>
                            <a:noFill/>
                          </a:ln>
                          <a:solidFill>
                            <a:schemeClr val="tx1"/>
                          </a:solidFill>
                          <a:effectLst/>
                          <a:latin typeface="Arial" charset="0"/>
                        </a:rPr>
                        <a:t>=1%</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rPr>
                        <a:t>PD</a:t>
                      </a:r>
                      <a:r>
                        <a:rPr kumimoji="0" lang="en-US" sz="2400" b="0" i="0" u="none" strike="noStrike" cap="none" normalizeH="0" baseline="0" dirty="0">
                          <a:ln>
                            <a:noFill/>
                          </a:ln>
                          <a:solidFill>
                            <a:schemeClr val="tx1"/>
                          </a:solidFill>
                          <a:effectLst/>
                          <a:latin typeface="Arial" charset="0"/>
                        </a:rPr>
                        <a:t>=1.5%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Times New Roman" pitchFamily="18" charset="0"/>
                        </a:rPr>
                        <a:t>PD</a:t>
                      </a:r>
                      <a:r>
                        <a:rPr kumimoji="0" lang="en-US" sz="2400" b="0" i="0" u="none" strike="noStrike" cap="none" normalizeH="0" baseline="0" dirty="0">
                          <a:ln>
                            <a:noFill/>
                          </a:ln>
                          <a:solidFill>
                            <a:schemeClr val="tx1"/>
                          </a:solidFill>
                          <a:effectLst/>
                          <a:latin typeface="Arial" charset="0"/>
                        </a:rPr>
                        <a:t>=2%</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539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Symbol" pitchFamily="18" charset="2"/>
                        </a:rPr>
                        <a:t>r</a:t>
                      </a:r>
                      <a:r>
                        <a:rPr kumimoji="0" lang="en-US" sz="2400" b="0" i="0" u="none" strike="noStrike" cap="none" normalizeH="0" baseline="0" dirty="0">
                          <a:ln>
                            <a:noFill/>
                          </a:ln>
                          <a:solidFill>
                            <a:schemeClr val="tx1"/>
                          </a:solidFill>
                          <a:effectLst/>
                          <a:latin typeface="Arial" charset="0"/>
                        </a:rPr>
                        <a:t>=0.0</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0.1%           </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0.5%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1.0%</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1.5%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2.0%</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56832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Symbol" pitchFamily="18" charset="2"/>
                        </a:rPr>
                        <a:t>r</a:t>
                      </a:r>
                      <a:r>
                        <a:rPr kumimoji="0" lang="en-US" sz="2400" b="0" i="0" u="none" strike="noStrike" cap="none" normalizeH="0" baseline="0" dirty="0">
                          <a:ln>
                            <a:noFill/>
                          </a:ln>
                          <a:solidFill>
                            <a:schemeClr val="tx1"/>
                          </a:solidFill>
                          <a:effectLst/>
                          <a:latin typeface="Arial" charset="0"/>
                        </a:rPr>
                        <a:t>=0.2</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2.8%</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9.1%</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14.6%</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18.9%</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22.6%</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54292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Symbol" pitchFamily="18" charset="2"/>
                        </a:rPr>
                        <a:t>r</a:t>
                      </a:r>
                      <a:r>
                        <a:rPr kumimoji="0" lang="en-US" sz="2400" b="0" i="0" u="none" strike="noStrike" cap="none" normalizeH="0" baseline="0" dirty="0">
                          <a:ln>
                            <a:noFill/>
                          </a:ln>
                          <a:solidFill>
                            <a:schemeClr val="tx1"/>
                          </a:solidFill>
                          <a:effectLst/>
                          <a:latin typeface="Arial" charset="0"/>
                        </a:rPr>
                        <a:t>=0.4</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7.1%</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21.1%</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31.6%</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39.0%</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44.9%</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53975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Symbol" pitchFamily="18" charset="2"/>
                        </a:rPr>
                        <a:t>r</a:t>
                      </a:r>
                      <a:r>
                        <a:rPr kumimoji="0" lang="en-US" sz="2400" b="0" i="0" u="none" strike="noStrike" cap="none" normalizeH="0" baseline="0" dirty="0">
                          <a:ln>
                            <a:noFill/>
                          </a:ln>
                          <a:solidFill>
                            <a:schemeClr val="tx1"/>
                          </a:solidFill>
                          <a:effectLst/>
                          <a:latin typeface="Arial" charset="0"/>
                        </a:rPr>
                        <a:t>=0.6</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13.5%</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38.7%</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54.2%</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63.8%</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70.5%</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542925">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1" u="none" strike="noStrike" cap="none" normalizeH="0" baseline="0" dirty="0">
                          <a:ln>
                            <a:noFill/>
                          </a:ln>
                          <a:solidFill>
                            <a:schemeClr val="tx1"/>
                          </a:solidFill>
                          <a:effectLst/>
                          <a:latin typeface="Symbol" pitchFamily="18" charset="2"/>
                        </a:rPr>
                        <a:t>r</a:t>
                      </a:r>
                      <a:r>
                        <a:rPr kumimoji="0" lang="en-US" sz="2400" b="0" i="0" u="none" strike="noStrike" cap="none" normalizeH="0" baseline="0" dirty="0">
                          <a:ln>
                            <a:noFill/>
                          </a:ln>
                          <a:solidFill>
                            <a:schemeClr val="tx1"/>
                          </a:solidFill>
                          <a:effectLst/>
                          <a:latin typeface="Arial" charset="0"/>
                        </a:rPr>
                        <a:t>=0.8</a:t>
                      </a:r>
                    </a:p>
                  </a:txBody>
                  <a:tcPr marL="92075" marR="92075" marT="46038" marB="46038"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 23.3%</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66.3%</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83.6%</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90.8%</a:t>
                      </a:r>
                    </a:p>
                  </a:txBody>
                  <a:tcPr marL="92075" marR="92075" marT="46038" marB="46038"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70000"/>
                        <a:buFont typeface="Wingdings" pitchFamily="2" charset="2"/>
                        <a:buNone/>
                        <a:tabLst/>
                      </a:pPr>
                      <a:r>
                        <a:rPr kumimoji="0" lang="en-US" sz="2400" b="0" i="0" u="none" strike="noStrike" cap="none" normalizeH="0" baseline="0" dirty="0">
                          <a:ln>
                            <a:noFill/>
                          </a:ln>
                          <a:solidFill>
                            <a:schemeClr val="tx1"/>
                          </a:solidFill>
                          <a:effectLst/>
                          <a:latin typeface="Arial" charset="0"/>
                        </a:rPr>
                        <a:t>94.4%</a:t>
                      </a:r>
                    </a:p>
                  </a:txBody>
                  <a:tcPr marL="92075" marR="92075" marT="46038" marB="46038"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149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A472FAC-94CF-4328-936F-ADF8074ADC3D}" type="slidenum">
              <a:rPr lang="en-US" altLang="en-US" sz="1800"/>
              <a:pPr>
                <a:spcBef>
                  <a:spcPct val="0"/>
                </a:spcBef>
                <a:buClrTx/>
                <a:buSzTx/>
                <a:buFontTx/>
                <a:buNone/>
              </a:pPr>
              <a:t>18</a:t>
            </a:fld>
            <a:endParaRPr lang="en-US" altLang="en-US" sz="1800"/>
          </a:p>
        </p:txBody>
      </p:sp>
    </p:spTree>
    <p:extLst>
      <p:ext uri="{BB962C8B-B14F-4D97-AF65-F5344CB8AC3E}">
        <p14:creationId xmlns:p14="http://schemas.microsoft.com/office/powerpoint/2010/main" val="42594755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normAutofit/>
          </a:bodyPr>
          <a:lstStyle/>
          <a:p>
            <a:pPr algn="ctr" eaLnBrk="1" hangingPunct="1"/>
            <a:r>
              <a:rPr lang="en-US" altLang="en-US" sz="3200" b="1" dirty="0">
                <a:latin typeface="+mn-lt"/>
              </a:rPr>
              <a:t>Operational Risk Capital</a:t>
            </a:r>
          </a:p>
        </p:txBody>
      </p:sp>
      <p:sp>
        <p:nvSpPr>
          <p:cNvPr id="76803" name="Rectangle 3"/>
          <p:cNvSpPr>
            <a:spLocks noGrp="1" noChangeArrowheads="1"/>
          </p:cNvSpPr>
          <p:nvPr>
            <p:ph idx="1"/>
          </p:nvPr>
        </p:nvSpPr>
        <p:spPr/>
        <p:txBody>
          <a:bodyPr>
            <a:normAutofit/>
          </a:bodyPr>
          <a:lstStyle/>
          <a:p>
            <a:pPr eaLnBrk="1" hangingPunct="1"/>
            <a:r>
              <a:rPr lang="en-US" altLang="en-US" sz="2200" dirty="0">
                <a:cs typeface="Arial" panose="020B0604020202020204" pitchFamily="34" charset="0"/>
              </a:rPr>
              <a:t>Basic Indicator Approach: 15% of gross income</a:t>
            </a:r>
          </a:p>
          <a:p>
            <a:pPr eaLnBrk="1" hangingPunct="1"/>
            <a:r>
              <a:rPr lang="en-US" altLang="en-US" sz="2200" dirty="0">
                <a:cs typeface="Arial" panose="020B0604020202020204" pitchFamily="34" charset="0"/>
              </a:rPr>
              <a:t>Standardized Approach: different multiplicative factor for gross income arising from each business line</a:t>
            </a:r>
          </a:p>
          <a:p>
            <a:pPr eaLnBrk="1" hangingPunct="1"/>
            <a:r>
              <a:rPr lang="en-US" altLang="en-US" sz="2200" dirty="0">
                <a:cs typeface="Arial" panose="020B0604020202020204" pitchFamily="34" charset="0"/>
              </a:rPr>
              <a:t>Internal Measurement Approach: capital equals one-year 99.9% </a:t>
            </a:r>
            <a:r>
              <a:rPr lang="en-US" altLang="en-US" sz="2200" dirty="0" err="1">
                <a:cs typeface="Arial" panose="020B0604020202020204" pitchFamily="34" charset="0"/>
              </a:rPr>
              <a:t>VaR</a:t>
            </a:r>
            <a:r>
              <a:rPr lang="en-US" altLang="en-US" sz="2200" dirty="0">
                <a:cs typeface="Arial" panose="020B0604020202020204" pitchFamily="34" charset="0"/>
              </a:rPr>
              <a:t> loss minus expected one year loss</a:t>
            </a:r>
          </a:p>
        </p:txBody>
      </p:sp>
      <p:sp>
        <p:nvSpPr>
          <p:cNvPr id="7680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834DF21-858C-4087-88C4-2DE00F9F08EE}" type="slidenum">
              <a:rPr lang="en-US" altLang="en-US" sz="1800"/>
              <a:pPr>
                <a:spcBef>
                  <a:spcPct val="0"/>
                </a:spcBef>
                <a:buClrTx/>
                <a:buSzTx/>
                <a:buFontTx/>
                <a:buNone/>
              </a:pPr>
              <a:t>19</a:t>
            </a:fld>
            <a:endParaRPr lang="en-US" altLang="en-US" sz="1800"/>
          </a:p>
        </p:txBody>
      </p:sp>
    </p:spTree>
    <p:extLst>
      <p:ext uri="{BB962C8B-B14F-4D97-AF65-F5344CB8AC3E}">
        <p14:creationId xmlns:p14="http://schemas.microsoft.com/office/powerpoint/2010/main" val="3035626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normAutofit/>
          </a:bodyPr>
          <a:lstStyle/>
          <a:p>
            <a:pPr algn="ctr" eaLnBrk="1" hangingPunct="1"/>
            <a:r>
              <a:rPr lang="en-US" altLang="en-US" sz="3200" b="1" dirty="0">
                <a:latin typeface="+mn-lt"/>
              </a:rPr>
              <a:t>Supervisory Review and Market Discipline </a:t>
            </a:r>
            <a:br>
              <a:rPr lang="en-US" altLang="en-US" sz="3200" b="1" dirty="0">
                <a:latin typeface="+mn-lt"/>
              </a:rPr>
            </a:br>
            <a:endParaRPr lang="en-US" altLang="en-US" sz="3200" b="1" dirty="0">
              <a:latin typeface="+mn-lt"/>
            </a:endParaRPr>
          </a:p>
        </p:txBody>
      </p:sp>
      <p:sp>
        <p:nvSpPr>
          <p:cNvPr id="78851" name="Rectangle 3"/>
          <p:cNvSpPr>
            <a:spLocks noGrp="1" noChangeArrowheads="1"/>
          </p:cNvSpPr>
          <p:nvPr>
            <p:ph idx="1"/>
          </p:nvPr>
        </p:nvSpPr>
        <p:spPr/>
        <p:txBody>
          <a:bodyPr>
            <a:normAutofit/>
          </a:bodyPr>
          <a:lstStyle/>
          <a:p>
            <a:pPr eaLnBrk="1" hangingPunct="1"/>
            <a:r>
              <a:rPr lang="en-US" altLang="en-US" sz="2200" dirty="0">
                <a:cs typeface="Arial" panose="020B0604020202020204" pitchFamily="34" charset="0"/>
              </a:rPr>
              <a:t>Similar amount of thoroughness in different countries</a:t>
            </a:r>
          </a:p>
          <a:p>
            <a:pPr eaLnBrk="1" hangingPunct="1"/>
            <a:r>
              <a:rPr lang="en-US" altLang="en-US" sz="2200" dirty="0">
                <a:cs typeface="Arial" panose="020B0604020202020204" pitchFamily="34" charset="0"/>
              </a:rPr>
              <a:t>Local regulators can adjust parameters to suit local conditions</a:t>
            </a:r>
          </a:p>
          <a:p>
            <a:pPr eaLnBrk="1" hangingPunct="1"/>
            <a:r>
              <a:rPr lang="en-US" altLang="en-US" sz="2200" dirty="0">
                <a:cs typeface="Arial" panose="020B0604020202020204" pitchFamily="34" charset="0"/>
              </a:rPr>
              <a:t>Importance of early intervention stressed</a:t>
            </a:r>
          </a:p>
          <a:p>
            <a:r>
              <a:rPr lang="en-US" altLang="en-US" sz="2200" dirty="0">
                <a:cs typeface="Arial" panose="020B0604020202020204" pitchFamily="34" charset="0"/>
              </a:rPr>
              <a:t>Banks will be required to disclose </a:t>
            </a:r>
          </a:p>
          <a:p>
            <a:pPr lvl="1"/>
            <a:r>
              <a:rPr lang="en-US" altLang="en-US" sz="2200" dirty="0">
                <a:cs typeface="Arial" panose="020B0604020202020204" pitchFamily="34" charset="0"/>
              </a:rPr>
              <a:t>Scope and application of Basel framework</a:t>
            </a:r>
          </a:p>
          <a:p>
            <a:pPr lvl="1"/>
            <a:r>
              <a:rPr lang="en-US" altLang="en-US" sz="2200" dirty="0">
                <a:cs typeface="Arial" panose="020B0604020202020204" pitchFamily="34" charset="0"/>
              </a:rPr>
              <a:t>Nature of capital held</a:t>
            </a:r>
          </a:p>
          <a:p>
            <a:pPr lvl="1"/>
            <a:r>
              <a:rPr lang="en-US" altLang="en-US" sz="2200" dirty="0">
                <a:cs typeface="Arial" panose="020B0604020202020204" pitchFamily="34" charset="0"/>
              </a:rPr>
              <a:t>Regulatory capital requirements</a:t>
            </a:r>
          </a:p>
          <a:p>
            <a:pPr lvl="1"/>
            <a:r>
              <a:rPr lang="en-US" altLang="en-US" sz="2200" dirty="0">
                <a:cs typeface="Arial" panose="020B0604020202020204" pitchFamily="34" charset="0"/>
              </a:rPr>
              <a:t>Nature of institution’s risk exposures</a:t>
            </a:r>
          </a:p>
          <a:p>
            <a:pPr eaLnBrk="1" hangingPunct="1"/>
            <a:endParaRPr lang="en-US" altLang="en-US" sz="2200" dirty="0">
              <a:cs typeface="Arial" panose="020B0604020202020204" pitchFamily="34" charset="0"/>
            </a:endParaRPr>
          </a:p>
          <a:p>
            <a:pPr eaLnBrk="1" hangingPunct="1"/>
            <a:endParaRPr lang="en-US" altLang="en-US" sz="2200" dirty="0">
              <a:cs typeface="Arial" panose="020B0604020202020204" pitchFamily="34" charset="0"/>
            </a:endParaRPr>
          </a:p>
        </p:txBody>
      </p:sp>
      <p:sp>
        <p:nvSpPr>
          <p:cNvPr id="78853"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1F59EBD-1E7C-47B6-8FD4-E36C2331BA08}" type="slidenum">
              <a:rPr lang="en-US" altLang="en-US" sz="1800"/>
              <a:pPr>
                <a:spcBef>
                  <a:spcPct val="0"/>
                </a:spcBef>
                <a:buClrTx/>
                <a:buSzTx/>
                <a:buFontTx/>
                <a:buNone/>
              </a:pPr>
              <a:t>20</a:t>
            </a:fld>
            <a:endParaRPr lang="en-US" altLang="en-US" sz="1800"/>
          </a:p>
        </p:txBody>
      </p:sp>
    </p:spTree>
    <p:extLst>
      <p:ext uri="{BB962C8B-B14F-4D97-AF65-F5344CB8AC3E}">
        <p14:creationId xmlns:p14="http://schemas.microsoft.com/office/powerpoint/2010/main" val="4092013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Basel II.5, III and Post-Crisis Architecture</a:t>
            </a:r>
            <a:endParaRPr b="1" dirty="0">
              <a:latin typeface="Arial" panose="020B0604020202020204" pitchFamily="34" charset="0"/>
              <a:cs typeface="Arial" panose="020B0604020202020204" pitchFamily="34" charset="0"/>
            </a:endParaRPr>
          </a:p>
        </p:txBody>
      </p:sp>
      <p:sp>
        <p:nvSpPr>
          <p:cNvPr id="4014" name="Content Placeholder"/>
          <p:cNvSpPr>
            <a:spLocks noGrp="1"/>
          </p:cNvSpPr>
          <p:nvPr>
            <p:ph sz="half" idx="2"/>
          </p:nvPr>
        </p:nvSpPr>
        <p:spPr/>
        <p:txBody>
          <a:bodyPr wrap="square">
            <a:normAutofit/>
          </a:bodyPr>
          <a:lstStyle/>
          <a:p>
            <a:pPr marL="0" indent="0">
              <a:buNone/>
            </a:pPr>
            <a:r>
              <a:rPr lang="en-CA" sz="2200" b="1" dirty="0"/>
              <a:t>From the GFC response to today's FRTB framework</a:t>
            </a:r>
          </a:p>
          <a:p>
            <a:r>
              <a:rPr lang="en-CA" sz="2200" dirty="0"/>
              <a:t>Basel II.5 patched the trading book with stressed VaR and the Incremental Risk Charge</a:t>
            </a:r>
          </a:p>
          <a:p>
            <a:r>
              <a:rPr lang="en-CA" sz="2200" dirty="0"/>
              <a:t>Basel III rebuilt capital quality and introduced liquidity standards</a:t>
            </a:r>
          </a:p>
          <a:p>
            <a:r>
              <a:rPr lang="en-CA" sz="2200" dirty="0"/>
              <a:t>FRTB switches market-risk measurement from VaR to Expected Shortfall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normAutofit/>
          </a:bodyPr>
          <a:lstStyle/>
          <a:p>
            <a:pPr algn="ctr" eaLnBrk="1" hangingPunct="1"/>
            <a:r>
              <a:rPr lang="en-CA" altLang="en-US" sz="3200" b="1" dirty="0">
                <a:latin typeface="+mn-lt"/>
              </a:rPr>
              <a:t>Basel II.5</a:t>
            </a:r>
            <a:br>
              <a:rPr lang="en-CA" altLang="en-US" sz="3200" b="1" dirty="0">
                <a:latin typeface="+mn-lt"/>
              </a:rPr>
            </a:br>
            <a:endParaRPr lang="en-US" altLang="en-US" sz="3200" dirty="0">
              <a:latin typeface="+mn-lt"/>
            </a:endParaRPr>
          </a:p>
        </p:txBody>
      </p:sp>
      <p:sp>
        <p:nvSpPr>
          <p:cNvPr id="3" name="Content Placeholder 2"/>
          <p:cNvSpPr>
            <a:spLocks noGrp="1"/>
          </p:cNvSpPr>
          <p:nvPr>
            <p:ph idx="1"/>
          </p:nvPr>
        </p:nvSpPr>
        <p:spPr/>
        <p:txBody>
          <a:bodyPr rtlCol="0">
            <a:normAutofit/>
          </a:bodyPr>
          <a:lstStyle/>
          <a:p>
            <a:pPr>
              <a:defRPr/>
            </a:pPr>
            <a:r>
              <a:rPr lang="en-CA" altLang="en-US" sz="2400" dirty="0"/>
              <a:t>Implemented Dec 31, 2011</a:t>
            </a:r>
            <a:endParaRPr lang="en-CA" sz="2200" dirty="0"/>
          </a:p>
          <a:p>
            <a:pPr>
              <a:defRPr/>
            </a:pPr>
            <a:r>
              <a:rPr lang="en-CA" sz="2200" dirty="0"/>
              <a:t>Stressed VaR for market risk</a:t>
            </a:r>
          </a:p>
          <a:p>
            <a:pPr lvl="1">
              <a:buFont typeface="Arial" pitchFamily="34" charset="0"/>
              <a:buChar char="–"/>
              <a:defRPr/>
            </a:pPr>
            <a:r>
              <a:rPr lang="en-CA" sz="2200" dirty="0"/>
              <a:t>Calculated over one year period of stressed market conditions</a:t>
            </a:r>
          </a:p>
          <a:p>
            <a:pPr lvl="1">
              <a:buFont typeface="Arial" pitchFamily="34" charset="0"/>
              <a:buChar char="–"/>
              <a:defRPr/>
            </a:pPr>
            <a:r>
              <a:rPr lang="en-CA" sz="2200" dirty="0"/>
              <a:t>Capital = max(VaR</a:t>
            </a:r>
            <a:r>
              <a:rPr lang="en-CA" sz="2200" baseline="-25000" dirty="0"/>
              <a:t>t-1</a:t>
            </a:r>
            <a:r>
              <a:rPr lang="en-CA" sz="2200" dirty="0"/>
              <a:t>,m</a:t>
            </a:r>
            <a:r>
              <a:rPr lang="en-CA" sz="2200" baseline="-25000" dirty="0"/>
              <a:t>c</a:t>
            </a:r>
            <a:r>
              <a:rPr lang="en-CA" sz="2200" dirty="0"/>
              <a:t> </a:t>
            </a:r>
            <a:r>
              <a:rPr lang="en-CA" sz="2200" dirty="0">
                <a:cs typeface="Arial"/>
              </a:rPr>
              <a:t>× </a:t>
            </a:r>
            <a:r>
              <a:rPr lang="en-CA" sz="2200" dirty="0" err="1">
                <a:cs typeface="Arial"/>
              </a:rPr>
              <a:t>VaR</a:t>
            </a:r>
            <a:r>
              <a:rPr lang="en-CA" sz="2200" baseline="-25000" dirty="0" err="1">
                <a:cs typeface="Arial"/>
              </a:rPr>
              <a:t>avg</a:t>
            </a:r>
            <a:r>
              <a:rPr lang="en-CA" sz="2200" dirty="0">
                <a:cs typeface="Arial"/>
              </a:rPr>
              <a:t>) +max(sVaR</a:t>
            </a:r>
            <a:r>
              <a:rPr lang="en-CA" sz="2200" baseline="-25000" dirty="0">
                <a:cs typeface="Arial"/>
              </a:rPr>
              <a:t>t-1</a:t>
            </a:r>
            <a:r>
              <a:rPr lang="en-CA" sz="2200" dirty="0">
                <a:cs typeface="Arial"/>
              </a:rPr>
              <a:t>,</a:t>
            </a:r>
            <a:r>
              <a:rPr lang="en-CA" sz="2200" dirty="0"/>
              <a:t> </a:t>
            </a:r>
            <a:r>
              <a:rPr lang="en-CA" sz="2200" dirty="0" err="1"/>
              <a:t>m</a:t>
            </a:r>
            <a:r>
              <a:rPr lang="en-CA" sz="2200" baseline="-25000" dirty="0" err="1"/>
              <a:t>s</a:t>
            </a:r>
            <a:r>
              <a:rPr lang="en-CA" sz="2200" dirty="0"/>
              <a:t> </a:t>
            </a:r>
            <a:r>
              <a:rPr lang="en-CA" sz="2200" dirty="0">
                <a:cs typeface="Arial"/>
              </a:rPr>
              <a:t>× </a:t>
            </a:r>
            <a:r>
              <a:rPr lang="en-CA" sz="2200" dirty="0" err="1">
                <a:cs typeface="Arial"/>
              </a:rPr>
              <a:t>sVaR</a:t>
            </a:r>
            <a:r>
              <a:rPr lang="en-CA" sz="2200" baseline="-25000" dirty="0" err="1">
                <a:cs typeface="Arial"/>
              </a:rPr>
              <a:t>avg</a:t>
            </a:r>
            <a:r>
              <a:rPr lang="en-CA" sz="2200" dirty="0">
                <a:cs typeface="Arial"/>
              </a:rPr>
              <a:t>)</a:t>
            </a:r>
          </a:p>
          <a:p>
            <a:pPr>
              <a:defRPr/>
            </a:pPr>
            <a:r>
              <a:rPr lang="en-CA" sz="2200" dirty="0"/>
              <a:t>Incremental Risk Charge</a:t>
            </a:r>
          </a:p>
          <a:p>
            <a:pPr lvl="1">
              <a:buFont typeface="Arial" pitchFamily="34" charset="0"/>
              <a:buChar char="–"/>
              <a:defRPr/>
            </a:pPr>
            <a:r>
              <a:rPr lang="en-CA" sz="2200" dirty="0"/>
              <a:t>Ensures that products such as bonds and credit derivatives in the trading book have the same capital requirement that they would if they were in the banking book</a:t>
            </a:r>
          </a:p>
          <a:p>
            <a:pPr>
              <a:buNone/>
              <a:defRPr/>
            </a:pPr>
            <a:endParaRPr lang="en-CA" sz="2200" dirty="0"/>
          </a:p>
          <a:p>
            <a:pPr lvl="1">
              <a:buNone/>
              <a:defRPr/>
            </a:pPr>
            <a:endParaRPr lang="en-CA" sz="2200" dirty="0">
              <a:cs typeface="Arial"/>
            </a:endParaRPr>
          </a:p>
          <a:p>
            <a:pPr lvl="1">
              <a:buNone/>
              <a:defRPr/>
            </a:pPr>
            <a:endParaRPr lang="en-US" sz="2200" dirty="0"/>
          </a:p>
        </p:txBody>
      </p:sp>
      <p:sp>
        <p:nvSpPr>
          <p:cNvPr id="4101"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4CC75BB-22B6-4064-BBFF-EC67031DEC92}" type="slidenum">
              <a:rPr lang="en-US" altLang="en-US" sz="1800"/>
              <a:pPr>
                <a:spcBef>
                  <a:spcPct val="0"/>
                </a:spcBef>
                <a:buClrTx/>
                <a:buSzTx/>
                <a:buFontTx/>
                <a:buNone/>
              </a:pPr>
              <a:t>22</a:t>
            </a:fld>
            <a:endParaRPr lang="en-US" altLang="en-US" sz="1800"/>
          </a:p>
        </p:txBody>
      </p:sp>
    </p:spTree>
    <p:extLst>
      <p:ext uri="{BB962C8B-B14F-4D97-AF65-F5344CB8AC3E}">
        <p14:creationId xmlns:p14="http://schemas.microsoft.com/office/powerpoint/2010/main" val="1768694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Basel II.5: Stressed VaR and Incremental Risk</a:t>
            </a:r>
            <a:endParaRPr b="1" dirty="0">
              <a:latin typeface="Arial" panose="020B0604020202020204" pitchFamily="34" charset="0"/>
              <a:cs typeface="Arial" panose="020B0604020202020204" pitchFamily="34" charset="0"/>
            </a:endParaRPr>
          </a:p>
        </p:txBody>
      </p:sp>
      <p:pic>
        <p:nvPicPr>
          <p:cNvPr id="4016" name="Picture 4015" descr="f_basel25.png"/>
          <p:cNvPicPr>
            <a:picLocks noChangeAspect="1"/>
          </p:cNvPicPr>
          <p:nvPr/>
        </p:nvPicPr>
        <p:blipFill>
          <a:blip r:embed="rId3"/>
          <a:stretch>
            <a:fillRect/>
          </a:stretch>
        </p:blipFill>
        <p:spPr>
          <a:xfrm>
            <a:off x="745236" y="1158984"/>
            <a:ext cx="10698480" cy="444356"/>
          </a:xfrm>
          <a:prstGeom prst="rect">
            <a:avLst/>
          </a:prstGeom>
        </p:spPr>
      </p:pic>
      <p:sp>
        <p:nvSpPr>
          <p:cNvPr id="2" name="Content Placeholder"/>
          <p:cNvSpPr>
            <a:spLocks noGrp="1"/>
          </p:cNvSpPr>
          <p:nvPr>
            <p:ph sz="half" idx="2"/>
          </p:nvPr>
        </p:nvSpPr>
        <p:spPr>
          <a:xfrm>
            <a:off x="420624" y="1828800"/>
            <a:ext cx="11347704" cy="3816747"/>
          </a:xfrm>
        </p:spPr>
        <p:txBody>
          <a:bodyPr wrap="square">
            <a:noAutofit/>
          </a:bodyPr>
          <a:lstStyle/>
          <a:p>
            <a:pPr marL="0" indent="0">
              <a:buNone/>
            </a:pPr>
            <a:r>
              <a:rPr lang="en-CA" sz="2200" b="1" dirty="0"/>
              <a:t>Measures and calibration</a:t>
            </a:r>
          </a:p>
          <a:p>
            <a:r>
              <a:rPr lang="en-CA" sz="2200" dirty="0"/>
              <a:t>VaR: 99%, 10-day holding period, 1-year look-back</a:t>
            </a:r>
          </a:p>
          <a:p>
            <a:r>
              <a:rPr lang="en-CA" sz="2200" dirty="0"/>
              <a:t>sVaR: 99%, 10-day, calibrated to a 12-month stress period (e.g. Aug 2007 to Mar 2009 for banks with significant credit exposure)</a:t>
            </a:r>
          </a:p>
          <a:p>
            <a:r>
              <a:rPr lang="en-CA" sz="2200" dirty="0"/>
              <a:t>IRC: 99.9%, 1-year, for migration and default risk in the trading book</a:t>
            </a:r>
          </a:p>
          <a:p>
            <a:r>
              <a:rPr lang="en-CA" sz="2200" dirty="0"/>
              <a:t>Multiplier m: at least 3 (plus an add-on for backtesting exceptions)</a:t>
            </a:r>
          </a:p>
          <a:p>
            <a:pPr marL="0" indent="0">
              <a:buNone/>
            </a:pPr>
            <a:r>
              <a:rPr lang="en-CA" sz="2200" b="1" dirty="0"/>
              <a:t>Interpretation</a:t>
            </a:r>
          </a:p>
          <a:p>
            <a:r>
              <a:rPr lang="en-CA" sz="2200" dirty="0"/>
              <a:t>Introduced 2009 to address GFC trading-book losses not captured by 2006 VaR</a:t>
            </a:r>
          </a:p>
          <a:p>
            <a:r>
              <a:rPr lang="en-CA" sz="2200" dirty="0"/>
              <a:t>Stressed VaR (sVaR): re-run the VaR model on a severe historical window</a:t>
            </a:r>
          </a:p>
          <a:p>
            <a:r>
              <a:rPr lang="en-CA" sz="2200" dirty="0"/>
              <a:t>Effectively doubles the trading-book capital charge during calm markets</a:t>
            </a:r>
          </a:p>
          <a:p>
            <a:r>
              <a:rPr lang="en-CA" sz="2200" dirty="0"/>
              <a:t>FRTB (2016 / 2019) eventually supersedes this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3FAFF-A3C3-E2EF-69B8-9625717C5499}"/>
            </a:ext>
          </a:extLst>
        </p:cNvPr>
        <p:cNvGrpSpPr/>
        <p:nvPr/>
      </p:nvGrpSpPr>
      <p:grpSpPr>
        <a:xfrm>
          <a:off x="0" y="0"/>
          <a:ext cx="0" cy="0"/>
          <a:chOff x="0" y="0"/>
          <a:chExt cx="0" cy="0"/>
        </a:xfrm>
      </p:grpSpPr>
      <p:sp>
        <p:nvSpPr>
          <p:cNvPr id="4017" name="Title">
            <a:extLst>
              <a:ext uri="{FF2B5EF4-FFF2-40B4-BE49-F238E27FC236}">
                <a16:creationId xmlns:a16="http://schemas.microsoft.com/office/drawing/2014/main" id="{2F216B17-DDB3-5CD4-CA9B-D3AB2A5FB7FE}"/>
              </a:ext>
            </a:extLst>
          </p:cNvPr>
          <p:cNvSpPr>
            <a:spLocks noGrp="1"/>
          </p:cNvSpPr>
          <p:nvPr>
            <p:ph type="title"/>
          </p:nvPr>
        </p:nvSpPr>
        <p:spPr/>
        <p:txBody>
          <a:bodyPr/>
          <a:lstStyle/>
          <a:p>
            <a:r>
              <a:rPr lang="en-CA" b="1" dirty="0">
                <a:latin typeface="Arial" panose="020B0604020202020204" pitchFamily="34" charset="0"/>
                <a:cs typeface="Arial" panose="020B0604020202020204" pitchFamily="34" charset="0"/>
              </a:rPr>
              <a:t>Basel III: The Post-Crisis Architecture</a:t>
            </a:r>
            <a:endParaRPr b="1" dirty="0">
              <a:latin typeface="Arial" panose="020B0604020202020204" pitchFamily="34" charset="0"/>
              <a:cs typeface="Arial" panose="020B0604020202020204" pitchFamily="34" charset="0"/>
            </a:endParaRPr>
          </a:p>
        </p:txBody>
      </p:sp>
      <p:sp>
        <p:nvSpPr>
          <p:cNvPr id="4018" name="Content Placeholder">
            <a:extLst>
              <a:ext uri="{FF2B5EF4-FFF2-40B4-BE49-F238E27FC236}">
                <a16:creationId xmlns:a16="http://schemas.microsoft.com/office/drawing/2014/main" id="{7D97044B-5B97-8CF3-0EEE-2743CAFB2842}"/>
              </a:ext>
            </a:extLst>
          </p:cNvPr>
          <p:cNvSpPr>
            <a:spLocks noGrp="1"/>
          </p:cNvSpPr>
          <p:nvPr>
            <p:ph sz="half" idx="2"/>
          </p:nvPr>
        </p:nvSpPr>
        <p:spPr>
          <a:xfrm>
            <a:off x="423100" y="1066801"/>
            <a:ext cx="11345797" cy="4970584"/>
          </a:xfrm>
        </p:spPr>
        <p:txBody>
          <a:bodyPr wrap="square">
            <a:normAutofit/>
          </a:bodyPr>
          <a:lstStyle/>
          <a:p>
            <a:pPr marL="0" indent="0">
              <a:buNone/>
            </a:pPr>
            <a:r>
              <a:rPr lang="en-CA" sz="2200" b="1" dirty="0"/>
              <a:t>Capital Quality</a:t>
            </a:r>
          </a:p>
          <a:p>
            <a:r>
              <a:rPr lang="en-CA" sz="2200" dirty="0"/>
              <a:t>Common Equity Tier 1 (CET1) at least 4.5% of RWA</a:t>
            </a:r>
          </a:p>
          <a:p>
            <a:r>
              <a:rPr lang="en-CA" sz="2200" dirty="0"/>
              <a:t>Tier 1 (CET1 + Additional Tier 1) at least 6.0% of RWA</a:t>
            </a:r>
          </a:p>
          <a:p>
            <a:r>
              <a:rPr lang="en-CA" sz="2200" dirty="0"/>
              <a:t>Total Capital (T1 + T2) at least 8.0% of RWA</a:t>
            </a:r>
          </a:p>
          <a:p>
            <a:r>
              <a:rPr lang="en-CA" sz="2200" dirty="0"/>
              <a:t>Conservation buffer: plus 2.5%, so CET1 at least 7% (</a:t>
            </a:r>
            <a:r>
              <a:rPr lang="en-CA" altLang="en-US" sz="2200" dirty="0"/>
              <a:t>If total common equity is less than 7%  (=4.5%+2.5%) dividends are restricted</a:t>
            </a:r>
            <a:endParaRPr lang="en-CA" sz="2200" dirty="0"/>
          </a:p>
          <a:p>
            <a:r>
              <a:rPr lang="en-CA" sz="2200" dirty="0"/>
              <a:t>Countercyclical buffer: 0 to 2.5% (national discretion)</a:t>
            </a:r>
          </a:p>
          <a:p>
            <a:pPr marL="0" indent="0">
              <a:buNone/>
            </a:pPr>
            <a:r>
              <a:rPr lang="en-CA" sz="2200" b="1" dirty="0"/>
              <a:t>G-SIB Surcharge</a:t>
            </a:r>
          </a:p>
          <a:p>
            <a:r>
              <a:rPr lang="en-CA" sz="2200" dirty="0"/>
              <a:t>1.0% to 3.5% additional CET1 for systemically important banks</a:t>
            </a:r>
          </a:p>
          <a:p>
            <a:r>
              <a:rPr lang="en-CA" sz="2200" dirty="0"/>
              <a:t>Based on size, interconnectedness, complexity, cross-jurisdiction</a:t>
            </a:r>
          </a:p>
          <a:p>
            <a:r>
              <a:rPr lang="en-CA" sz="2200" dirty="0"/>
              <a:t>JPMorgan, HSBC, Citi in the 2.5% bucket (2024)</a:t>
            </a:r>
          </a:p>
          <a:p>
            <a:r>
              <a:rPr lang="en-CA" sz="2200" dirty="0"/>
              <a:t>Reduces systemic risk from too-big-to-fail banks</a:t>
            </a:r>
          </a:p>
        </p:txBody>
      </p:sp>
    </p:spTree>
    <p:extLst>
      <p:ext uri="{BB962C8B-B14F-4D97-AF65-F5344CB8AC3E}">
        <p14:creationId xmlns:p14="http://schemas.microsoft.com/office/powerpoint/2010/main" val="33926798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981200" y="-152400"/>
            <a:ext cx="7543800" cy="1295400"/>
          </a:xfrm>
        </p:spPr>
        <p:txBody>
          <a:bodyPr>
            <a:normAutofit/>
          </a:bodyPr>
          <a:lstStyle/>
          <a:p>
            <a:pPr algn="ctr" eaLnBrk="1" hangingPunct="1"/>
            <a:r>
              <a:rPr lang="en-CA" altLang="en-US" sz="3200" b="1" dirty="0">
                <a:latin typeface="+mn-lt"/>
              </a:rPr>
              <a:t>Leverage Ratio</a:t>
            </a:r>
            <a:endParaRPr lang="en-US" altLang="en-US" sz="3200" b="1" dirty="0">
              <a:latin typeface="+mn-lt"/>
            </a:endParaRPr>
          </a:p>
        </p:txBody>
      </p:sp>
      <p:sp>
        <p:nvSpPr>
          <p:cNvPr id="10243" name="Content Placeholder 2"/>
          <p:cNvSpPr>
            <a:spLocks noGrp="1"/>
          </p:cNvSpPr>
          <p:nvPr>
            <p:ph idx="1"/>
          </p:nvPr>
        </p:nvSpPr>
        <p:spPr>
          <a:xfrm>
            <a:off x="609600" y="838201"/>
            <a:ext cx="11353800" cy="1600200"/>
          </a:xfrm>
        </p:spPr>
        <p:txBody>
          <a:bodyPr>
            <a:normAutofit/>
          </a:bodyPr>
          <a:lstStyle/>
          <a:p>
            <a:pPr eaLnBrk="1" hangingPunct="1"/>
            <a:r>
              <a:rPr lang="en-CA" altLang="en-US" sz="2200" dirty="0"/>
              <a:t>Ratio of Tier 1 capital to total exposure (not risk weighted) must be greater than 3% (Higher in U.S., U.K., and China)</a:t>
            </a:r>
          </a:p>
          <a:p>
            <a:pPr eaLnBrk="1" hangingPunct="1"/>
            <a:r>
              <a:rPr lang="en-CA" altLang="en-US" sz="2200" dirty="0"/>
              <a:t>Exposure includes all items on balance sheet, derivatives exposures (calculated as in Basel I), securities financing exposures, and some off-balance sheet items</a:t>
            </a:r>
          </a:p>
        </p:txBody>
      </p:sp>
      <p:graphicFrame>
        <p:nvGraphicFramePr>
          <p:cNvPr id="2" name="Object 5">
            <a:extLst>
              <a:ext uri="{FF2B5EF4-FFF2-40B4-BE49-F238E27FC236}">
                <a16:creationId xmlns:a16="http://schemas.microsoft.com/office/drawing/2014/main" id="{8D0FBCF2-FB62-5497-15ED-BC3F061AA0C3}"/>
              </a:ext>
            </a:extLst>
          </p:cNvPr>
          <p:cNvGraphicFramePr>
            <a:graphicFrameLocks noChangeAspect="1"/>
          </p:cNvGraphicFramePr>
          <p:nvPr>
            <p:extLst>
              <p:ext uri="{D42A27DB-BD31-4B8C-83A1-F6EECF244321}">
                <p14:modId xmlns:p14="http://schemas.microsoft.com/office/powerpoint/2010/main" val="187838851"/>
              </p:ext>
            </p:extLst>
          </p:nvPr>
        </p:nvGraphicFramePr>
        <p:xfrm>
          <a:off x="1981200" y="2925136"/>
          <a:ext cx="7940675" cy="3132138"/>
        </p:xfrm>
        <a:graphic>
          <a:graphicData uri="http://schemas.openxmlformats.org/presentationml/2006/ole">
            <mc:AlternateContent xmlns:mc="http://schemas.openxmlformats.org/markup-compatibility/2006">
              <mc:Choice xmlns:v="urn:schemas-microsoft-com:vml" Requires="v">
                <p:oleObj name="Equation" r:id="rId3" imgW="5461000" imgH="2286000" progId="Equation.DSMT4">
                  <p:embed/>
                </p:oleObj>
              </mc:Choice>
              <mc:Fallback>
                <p:oleObj name="Equation" r:id="rId3" imgW="5461000" imgH="2286000" progId="Equation.DSMT4">
                  <p:embed/>
                  <p:pic>
                    <p:nvPicPr>
                      <p:cNvPr id="2" name="Object 5">
                        <a:extLst>
                          <a:ext uri="{FF2B5EF4-FFF2-40B4-BE49-F238E27FC236}">
                            <a16:creationId xmlns:a16="http://schemas.microsoft.com/office/drawing/2014/main" id="{8D0FBCF2-FB62-5497-15ED-BC3F061AA0C3}"/>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925136"/>
                        <a:ext cx="7940675" cy="313213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033187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931988" y="304800"/>
            <a:ext cx="7543800" cy="914400"/>
          </a:xfrm>
        </p:spPr>
        <p:txBody>
          <a:bodyPr>
            <a:normAutofit/>
          </a:bodyPr>
          <a:lstStyle/>
          <a:p>
            <a:pPr algn="ctr"/>
            <a:r>
              <a:rPr lang="en-CA" altLang="en-US" sz="3200" b="1" dirty="0">
                <a:latin typeface="+mn-lt"/>
              </a:rPr>
              <a:t>G-SIBs and D-SIBs</a:t>
            </a:r>
            <a:endParaRPr lang="en-US" altLang="en-US" sz="3200" b="1" dirty="0">
              <a:latin typeface="+mn-lt"/>
            </a:endParaRPr>
          </a:p>
        </p:txBody>
      </p:sp>
      <p:sp>
        <p:nvSpPr>
          <p:cNvPr id="15363" name="Content Placeholder 2"/>
          <p:cNvSpPr>
            <a:spLocks noGrp="1"/>
          </p:cNvSpPr>
          <p:nvPr>
            <p:ph idx="1"/>
          </p:nvPr>
        </p:nvSpPr>
        <p:spPr>
          <a:xfrm>
            <a:off x="838200" y="1524000"/>
            <a:ext cx="10210800" cy="4724400"/>
          </a:xfrm>
        </p:spPr>
        <p:txBody>
          <a:bodyPr>
            <a:normAutofit/>
          </a:bodyPr>
          <a:lstStyle/>
          <a:p>
            <a:r>
              <a:rPr lang="en-CA" altLang="en-US" sz="2200" dirty="0"/>
              <a:t>G-SIBs are Global Systemically Important Banks</a:t>
            </a:r>
          </a:p>
          <a:p>
            <a:r>
              <a:rPr lang="en-CA" altLang="en-US" sz="2200" dirty="0"/>
              <a:t>These are required to hold extra Tier 1 equity capital between 1% and 3.5% of risk-weighted assets</a:t>
            </a:r>
          </a:p>
          <a:p>
            <a:r>
              <a:rPr lang="en-CA" altLang="en-US" sz="2200" dirty="0"/>
              <a:t>For banks in the 2.5% category Tier 1 equity capital is the basic 4.5% plus the 2.5% capital conservation buffer plus 2.5% for being G-SIBs plus any extra required from national regulator. </a:t>
            </a:r>
          </a:p>
          <a:p>
            <a:r>
              <a:rPr lang="en-CA" altLang="en-US" sz="2200" dirty="0"/>
              <a:t>There are also proposals from the FSB and Basel Committee concerning the total loss absorbing capacity (TLAC) of G-SIBs. This consists of all instruments that protect depositors (including subordinated long-term debt)</a:t>
            </a:r>
          </a:p>
          <a:p>
            <a:r>
              <a:rPr lang="en-CA" altLang="en-US" sz="2200" dirty="0"/>
              <a:t>D-SIBs are Domestic Systemically Important Banks.</a:t>
            </a:r>
          </a:p>
          <a:p>
            <a:r>
              <a:rPr lang="en-CA" altLang="en-US" sz="2200" dirty="0"/>
              <a:t>These banks may be subject to additional capital, extra disclosure, and stress tests.</a:t>
            </a:r>
          </a:p>
          <a:p>
            <a:r>
              <a:rPr lang="en-CA" altLang="en-US" sz="2200" dirty="0"/>
              <a:t>In the United States, banks with assets over $50 billion are classified as D-SIBs. </a:t>
            </a:r>
          </a:p>
          <a:p>
            <a:endParaRPr lang="en-US" altLang="en-US" sz="2200" dirty="0"/>
          </a:p>
        </p:txBody>
      </p:sp>
    </p:spTree>
    <p:extLst>
      <p:ext uri="{BB962C8B-B14F-4D97-AF65-F5344CB8AC3E}">
        <p14:creationId xmlns:p14="http://schemas.microsoft.com/office/powerpoint/2010/main" val="20013319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normAutofit/>
          </a:bodyPr>
          <a:lstStyle/>
          <a:p>
            <a:pPr algn="ctr" eaLnBrk="1" hangingPunct="1"/>
            <a:r>
              <a:rPr lang="en-US" altLang="en-US" sz="3200" b="1" dirty="0">
                <a:latin typeface="+mn-lt"/>
              </a:rPr>
              <a:t>Dodd-Frank Act</a:t>
            </a:r>
          </a:p>
        </p:txBody>
      </p:sp>
      <p:sp>
        <p:nvSpPr>
          <p:cNvPr id="18435" name="Content Placeholder 2"/>
          <p:cNvSpPr>
            <a:spLocks noGrp="1"/>
          </p:cNvSpPr>
          <p:nvPr>
            <p:ph idx="1"/>
          </p:nvPr>
        </p:nvSpPr>
        <p:spPr/>
        <p:txBody>
          <a:bodyPr>
            <a:normAutofit/>
          </a:bodyPr>
          <a:lstStyle/>
          <a:p>
            <a:pPr eaLnBrk="1" hangingPunct="1"/>
            <a:r>
              <a:rPr lang="en-US" altLang="en-US" sz="2200" dirty="0"/>
              <a:t>New bodies to monitor systemic risk (FSOC and OFR)</a:t>
            </a:r>
          </a:p>
          <a:p>
            <a:pPr eaLnBrk="1" hangingPunct="1"/>
            <a:r>
              <a:rPr lang="en-US" altLang="en-US" sz="2200" dirty="0"/>
              <a:t>Central clearing for OTC derivatives</a:t>
            </a:r>
          </a:p>
          <a:p>
            <a:pPr eaLnBrk="1" hangingPunct="1"/>
            <a:r>
              <a:rPr lang="en-CA" altLang="en-US" sz="2200" dirty="0"/>
              <a:t>Living wills</a:t>
            </a:r>
          </a:p>
          <a:p>
            <a:pPr eaLnBrk="1" hangingPunct="1"/>
            <a:r>
              <a:rPr lang="en-CA" altLang="en-US" sz="2200" dirty="0"/>
              <a:t>More capital for SIFIs</a:t>
            </a:r>
          </a:p>
          <a:p>
            <a:pPr eaLnBrk="1" hangingPunct="1"/>
            <a:r>
              <a:rPr lang="en-CA" altLang="en-US" sz="2200" dirty="0"/>
              <a:t>No use of external ratings</a:t>
            </a:r>
          </a:p>
          <a:p>
            <a:pPr eaLnBrk="1" hangingPunct="1"/>
            <a:r>
              <a:rPr lang="en-CA" altLang="en-US" sz="2200" dirty="0"/>
              <a:t>Oversight of rating agencies</a:t>
            </a:r>
          </a:p>
          <a:p>
            <a:pPr eaLnBrk="1" hangingPunct="1"/>
            <a:r>
              <a:rPr lang="en-CA" altLang="en-US" sz="2200" dirty="0"/>
              <a:t>Originators of asset backed securities must keep “skin in the game”</a:t>
            </a:r>
            <a:endParaRPr lang="en-US" altLang="en-US" sz="2200" dirty="0"/>
          </a:p>
          <a:p>
            <a:pPr eaLnBrk="1" hangingPunct="1"/>
            <a:r>
              <a:rPr lang="en-CA" altLang="en-US" sz="2200" dirty="0"/>
              <a:t>Separately capitalized affiliates for more risky business</a:t>
            </a:r>
          </a:p>
          <a:p>
            <a:pPr eaLnBrk="1" hangingPunct="1"/>
            <a:r>
              <a:rPr lang="en-CA" altLang="en-US" sz="2200" dirty="0"/>
              <a:t>All trades reported to a central agency</a:t>
            </a:r>
          </a:p>
          <a:p>
            <a:pPr marL="0" indent="0" eaLnBrk="1" hangingPunct="1">
              <a:buNone/>
            </a:pPr>
            <a:endParaRPr lang="en-CA" altLang="en-US" sz="2200" dirty="0"/>
          </a:p>
          <a:p>
            <a:pPr eaLnBrk="1" hangingPunct="1"/>
            <a:endParaRPr lang="en-US" altLang="en-US" sz="2200" dirty="0"/>
          </a:p>
        </p:txBody>
      </p:sp>
    </p:spTree>
    <p:extLst>
      <p:ext uri="{BB962C8B-B14F-4D97-AF65-F5344CB8AC3E}">
        <p14:creationId xmlns:p14="http://schemas.microsoft.com/office/powerpoint/2010/main" val="41087433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Basel III: The Post-Crisis Architecture</a:t>
            </a:r>
            <a:endParaRPr b="1" dirty="0">
              <a:latin typeface="Arial" panose="020B0604020202020204" pitchFamily="34" charset="0"/>
              <a:cs typeface="Arial" panose="020B0604020202020204" pitchFamily="34" charset="0"/>
            </a:endParaRPr>
          </a:p>
        </p:txBody>
      </p:sp>
      <p:sp>
        <p:nvSpPr>
          <p:cNvPr id="4018" name="Content Placeholder"/>
          <p:cNvSpPr>
            <a:spLocks noGrp="1"/>
          </p:cNvSpPr>
          <p:nvPr>
            <p:ph sz="half" idx="2"/>
          </p:nvPr>
        </p:nvSpPr>
        <p:spPr>
          <a:xfrm>
            <a:off x="423100" y="1066801"/>
            <a:ext cx="11345797" cy="4970584"/>
          </a:xfrm>
        </p:spPr>
        <p:txBody>
          <a:bodyPr wrap="square">
            <a:noAutofit/>
          </a:bodyPr>
          <a:lstStyle/>
          <a:p>
            <a:pPr marL="0" indent="0">
              <a:buNone/>
            </a:pPr>
            <a:r>
              <a:rPr lang="en-CA" sz="2200" b="1" dirty="0"/>
              <a:t>Liquidity Standards</a:t>
            </a:r>
          </a:p>
          <a:p>
            <a:r>
              <a:rPr lang="en-CA" sz="2200" dirty="0"/>
              <a:t>LCR: Liquidity Coverage Ratio at least 100%</a:t>
            </a:r>
          </a:p>
          <a:p>
            <a:r>
              <a:rPr lang="en-CA" sz="2200" dirty="0"/>
              <a:t>High-quality liquid assets / 30-day net outflows</a:t>
            </a:r>
          </a:p>
          <a:p>
            <a:r>
              <a:rPr lang="en-CA" sz="2200" dirty="0"/>
              <a:t>NSFR: Net Stable Funding Ratio at least 100%</a:t>
            </a:r>
          </a:p>
          <a:p>
            <a:r>
              <a:rPr lang="en-CA" sz="2200" dirty="0"/>
              <a:t>Available stable funding / Required stable funding</a:t>
            </a:r>
          </a:p>
          <a:p>
            <a:r>
              <a:rPr lang="en-CA" sz="2200" dirty="0"/>
              <a:t>LCR: short-term shock buffer; NSFR: structural funding risk</a:t>
            </a:r>
          </a:p>
          <a:p>
            <a:pPr marL="0" indent="0">
              <a:buNone/>
            </a:pPr>
            <a:r>
              <a:rPr lang="en-CA" sz="2200" b="1" dirty="0"/>
              <a:t>Leverage Ratio (Basel Committee, 2010)</a:t>
            </a:r>
          </a:p>
          <a:p>
            <a:r>
              <a:rPr lang="en-CA" sz="2200" dirty="0"/>
              <a:t>Tier 1 Capital / Total Exposure at least 3%</a:t>
            </a:r>
          </a:p>
          <a:p>
            <a:r>
              <a:rPr lang="en-CA" sz="2200" dirty="0"/>
              <a:t>Total exposure = on-balance-sheet + off-balance-sheet + derivatives</a:t>
            </a:r>
          </a:p>
          <a:p>
            <a:r>
              <a:rPr lang="en-CA" sz="2200" dirty="0"/>
              <a:t>Simple non-risk-based backstop, prevents excessive leverage</a:t>
            </a:r>
          </a:p>
          <a:p>
            <a:r>
              <a:rPr lang="en-CA" sz="2200" dirty="0"/>
              <a:t>G-SIBs: additional 50% of the G-SIB surcharge added to the leverage ratio</a:t>
            </a:r>
          </a:p>
          <a:p>
            <a:r>
              <a:rPr lang="en-CA" sz="2200" dirty="0"/>
              <a:t>Captures what risk weights miss (e.g. zero-weight sovereign exposure)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Capital Ratios: Definitions and Minimums</a:t>
            </a:r>
            <a:endParaRPr b="1" dirty="0">
              <a:latin typeface="Arial" panose="020B0604020202020204" pitchFamily="34" charset="0"/>
              <a:cs typeface="Arial" panose="020B0604020202020204" pitchFamily="34" charset="0"/>
            </a:endParaRPr>
          </a:p>
        </p:txBody>
      </p:sp>
      <p:pic>
        <p:nvPicPr>
          <p:cNvPr id="4020" name="Picture 4019" descr="f_ratios1.png"/>
          <p:cNvPicPr>
            <a:picLocks noChangeAspect="1"/>
          </p:cNvPicPr>
          <p:nvPr/>
        </p:nvPicPr>
        <p:blipFill>
          <a:blip r:embed="rId3"/>
          <a:stretch>
            <a:fillRect/>
          </a:stretch>
        </p:blipFill>
        <p:spPr>
          <a:xfrm>
            <a:off x="1905000" y="1039546"/>
            <a:ext cx="8841058" cy="694944"/>
          </a:xfrm>
          <a:prstGeom prst="rect">
            <a:avLst/>
          </a:prstGeom>
        </p:spPr>
      </p:pic>
      <p:pic>
        <p:nvPicPr>
          <p:cNvPr id="4021" name="Picture 4020" descr="f_ratios2.png"/>
          <p:cNvPicPr>
            <a:picLocks noChangeAspect="1"/>
          </p:cNvPicPr>
          <p:nvPr/>
        </p:nvPicPr>
        <p:blipFill>
          <a:blip r:embed="rId4"/>
          <a:stretch>
            <a:fillRect/>
          </a:stretch>
        </p:blipFill>
        <p:spPr>
          <a:xfrm>
            <a:off x="1873114" y="1993392"/>
            <a:ext cx="8872944" cy="694944"/>
          </a:xfrm>
          <a:prstGeom prst="rect">
            <a:avLst/>
          </a:prstGeom>
        </p:spPr>
      </p:pic>
      <p:sp>
        <p:nvSpPr>
          <p:cNvPr id="2" name="Content Placeholder"/>
          <p:cNvSpPr>
            <a:spLocks noGrp="1"/>
          </p:cNvSpPr>
          <p:nvPr>
            <p:ph sz="half" idx="2"/>
          </p:nvPr>
        </p:nvSpPr>
        <p:spPr>
          <a:xfrm>
            <a:off x="420624" y="2889504"/>
            <a:ext cx="11347704" cy="3163824"/>
          </a:xfrm>
        </p:spPr>
        <p:txBody>
          <a:bodyPr wrap="square">
            <a:noAutofit/>
          </a:bodyPr>
          <a:lstStyle/>
          <a:p>
            <a:pPr marL="0" indent="0">
              <a:buNone/>
            </a:pPr>
            <a:r>
              <a:rPr lang="en-CA" sz="2000" b="1" dirty="0"/>
              <a:t>Output floor (Basel IV)</a:t>
            </a:r>
          </a:p>
          <a:p>
            <a:r>
              <a:rPr lang="en-CA" sz="2000" dirty="0"/>
              <a:t>Model RWA must be at least 72.5% of Standardised RWA</a:t>
            </a:r>
          </a:p>
          <a:p>
            <a:pPr marL="0" indent="0">
              <a:buNone/>
            </a:pPr>
            <a:r>
              <a:rPr lang="en-CA" sz="2000" b="1" dirty="0"/>
              <a:t>Interpretation (Basel III minimums | Hull 2023 Ch. 26)</a:t>
            </a:r>
          </a:p>
          <a:p>
            <a:r>
              <a:rPr lang="en-CA" sz="2000" dirty="0"/>
              <a:t>CET1 = common shares + retained earnings minus regulatory deductions</a:t>
            </a:r>
          </a:p>
          <a:p>
            <a:r>
              <a:rPr lang="en-CA" sz="2000" dirty="0"/>
              <a:t>AT1 (Additional Tier 1) = contingent convertibles (CoCos), perpetual bonds</a:t>
            </a:r>
          </a:p>
          <a:p>
            <a:r>
              <a:rPr lang="en-CA" sz="2000" dirty="0"/>
              <a:t>Tier 2 = subordinated debt (at least 5-year maturity) + general provisions</a:t>
            </a:r>
          </a:p>
          <a:p>
            <a:r>
              <a:rPr lang="en-CA" sz="2000" dirty="0"/>
              <a:t>RWA aggregates credit, market, and operational risk charges</a:t>
            </a:r>
          </a:p>
          <a:p>
            <a:r>
              <a:rPr lang="en-CA" sz="2000" dirty="0"/>
              <a:t>Total exposure (leverage) adds off-balance-sheet and derivatives at gross</a:t>
            </a:r>
          </a:p>
          <a:p>
            <a:r>
              <a:rPr lang="en-CA" sz="2000" dirty="0"/>
              <a:t>Output floor (Basel IV, phased in 2023 to 2030): limits the benefit of internal models</a:t>
            </a:r>
          </a:p>
          <a:p>
            <a:r>
              <a:rPr lang="en-CA" sz="2000" dirty="0"/>
              <a:t>Violation of the conservation buffer: restrictions on dividends and buybacks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p:txBody>
          <a:bodyPr>
            <a:normAutofit/>
          </a:bodyPr>
          <a:lstStyle/>
          <a:p>
            <a:pPr algn="ctr"/>
            <a:r>
              <a:rPr lang="en-CA" altLang="en-US" sz="3200" b="1" dirty="0">
                <a:latin typeface="+mn-lt"/>
              </a:rPr>
              <a:t>FRTB and Use of Expected Shortfall</a:t>
            </a:r>
          </a:p>
        </p:txBody>
      </p:sp>
      <p:sp>
        <p:nvSpPr>
          <p:cNvPr id="96259" name="Content Placeholder 2"/>
          <p:cNvSpPr>
            <a:spLocks noGrp="1"/>
          </p:cNvSpPr>
          <p:nvPr>
            <p:ph idx="1"/>
          </p:nvPr>
        </p:nvSpPr>
        <p:spPr>
          <a:xfrm>
            <a:off x="838200" y="1600200"/>
            <a:ext cx="10515600" cy="4351338"/>
          </a:xfrm>
        </p:spPr>
        <p:txBody>
          <a:bodyPr>
            <a:normAutofit/>
          </a:bodyPr>
          <a:lstStyle/>
          <a:p>
            <a:r>
              <a:rPr lang="en-CA" altLang="en-US" sz="2200" dirty="0"/>
              <a:t>FRTB: Fundamental Review of Trading Book</a:t>
            </a:r>
          </a:p>
          <a:p>
            <a:pPr lvl="1"/>
            <a:r>
              <a:rPr lang="en-CA" altLang="en-US" sz="2200" dirty="0"/>
              <a:t>First proposed in 2012</a:t>
            </a:r>
          </a:p>
          <a:p>
            <a:pPr lvl="1"/>
            <a:r>
              <a:rPr lang="en-CA" altLang="en-US" sz="2200" dirty="0"/>
              <a:t>Final rules published in 2019</a:t>
            </a:r>
          </a:p>
          <a:p>
            <a:pPr lvl="1"/>
            <a:r>
              <a:rPr lang="en-CA" altLang="en-US" sz="2200" dirty="0"/>
              <a:t>Implementation starting in 2023</a:t>
            </a:r>
          </a:p>
          <a:p>
            <a:r>
              <a:rPr lang="en-CA" altLang="en-US" sz="2200" dirty="0"/>
              <a:t>VaR with a 99% confidence level is being replaced by ES with a 97.5% confidence level</a:t>
            </a:r>
          </a:p>
          <a:p>
            <a:r>
              <a:rPr lang="en-CA" altLang="en-US" sz="2200" dirty="0"/>
              <a:t>The two measures are almost exactly the same when applied to normal distributions, but the second measure is higher for distributions with heavier tails than the normal distribution</a:t>
            </a:r>
          </a:p>
          <a:p>
            <a:r>
              <a:rPr lang="en-CA" altLang="en-US" sz="2200" dirty="0"/>
              <a:t>ES (97.5% confidence) to be based on a stressed period of 250 days</a:t>
            </a:r>
          </a:p>
          <a:p>
            <a:endParaRPr lang="en-CA" altLang="en-US" sz="2200" dirty="0"/>
          </a:p>
        </p:txBody>
      </p:sp>
    </p:spTree>
    <p:extLst>
      <p:ext uri="{BB962C8B-B14F-4D97-AF65-F5344CB8AC3E}">
        <p14:creationId xmlns:p14="http://schemas.microsoft.com/office/powerpoint/2010/main" val="25388708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p:cNvSpPr>
          <p:nvPr>
            <p:ph type="title"/>
          </p:nvPr>
        </p:nvSpPr>
        <p:spPr/>
        <p:txBody>
          <a:bodyPr>
            <a:normAutofit/>
          </a:bodyPr>
          <a:lstStyle/>
          <a:p>
            <a:pPr algn="ctr"/>
            <a:r>
              <a:rPr lang="en-CA" altLang="en-US" sz="3200" b="1" dirty="0">
                <a:latin typeface="+mn-lt"/>
              </a:rPr>
              <a:t>The Shocks to Market Variables</a:t>
            </a:r>
          </a:p>
        </p:txBody>
      </p:sp>
      <p:sp>
        <p:nvSpPr>
          <p:cNvPr id="98307" name="Content Placeholder 2"/>
          <p:cNvSpPr>
            <a:spLocks noGrp="1"/>
          </p:cNvSpPr>
          <p:nvPr>
            <p:ph idx="1"/>
          </p:nvPr>
        </p:nvSpPr>
        <p:spPr>
          <a:xfrm>
            <a:off x="838200" y="1825625"/>
            <a:ext cx="4343400" cy="4351338"/>
          </a:xfrm>
        </p:spPr>
        <p:txBody>
          <a:bodyPr>
            <a:normAutofit/>
          </a:bodyPr>
          <a:lstStyle/>
          <a:p>
            <a:r>
              <a:rPr lang="en-CA" altLang="en-US" sz="2200" dirty="0"/>
              <a:t>The 10-day time horizon used for </a:t>
            </a:r>
            <a:r>
              <a:rPr lang="en-CA" altLang="en-US" sz="2200" dirty="0" err="1"/>
              <a:t>VaR</a:t>
            </a:r>
            <a:r>
              <a:rPr lang="en-CA" altLang="en-US" sz="2200" dirty="0"/>
              <a:t> in Basel I and Basel II.5 is being replaced by a calculation where the time horizon used for a market variable (risk factor) in ES calculations depends on its liquidity</a:t>
            </a:r>
          </a:p>
          <a:p>
            <a:r>
              <a:rPr lang="en-CA" altLang="en-US" sz="2200" dirty="0"/>
              <a:t>Time horizons of 10, 20, 40, 60, and 120 days are used</a:t>
            </a:r>
          </a:p>
        </p:txBody>
      </p:sp>
      <p:sp>
        <p:nvSpPr>
          <p:cNvPr id="98309"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Blip>
                <a:blip r:embed="rId2"/>
              </a:buBlip>
              <a:defRPr sz="2800">
                <a:solidFill>
                  <a:schemeClr val="tx1"/>
                </a:solidFill>
                <a:latin typeface="Arial" panose="020B0604020202020204" pitchFamily="34" charset="0"/>
                <a:cs typeface="Arial" panose="020B0604020202020204" pitchFamily="34" charset="0"/>
              </a:defRPr>
            </a:lvl1pPr>
            <a:lvl2pPr marL="742950" indent="-285750">
              <a:spcBef>
                <a:spcPct val="20000"/>
              </a:spcBef>
              <a:buSzPct val="75000"/>
              <a:buBlip>
                <a:blip r:embed="rId3"/>
              </a:buBlip>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har char="–"/>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tx2"/>
              </a:buClr>
              <a:buChar char="–"/>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panose="020B0604030504040204" pitchFamily="34" charset="0"/>
                <a:cs typeface="Arial" panose="020B0604020202020204" pitchFamily="34" charset="0"/>
              </a:defRPr>
            </a:lvl9pPr>
          </a:lstStyle>
          <a:p>
            <a:pPr>
              <a:spcBef>
                <a:spcPct val="0"/>
              </a:spcBef>
              <a:buFontTx/>
              <a:buNone/>
            </a:pPr>
            <a:fld id="{F16B5105-DA80-4C29-A5FB-E005160DECA6}" type="slidenum">
              <a:rPr lang="en-US" altLang="en-US" sz="1800"/>
              <a:pPr>
                <a:spcBef>
                  <a:spcPct val="0"/>
                </a:spcBef>
                <a:buFontTx/>
                <a:buNone/>
              </a:pPr>
              <a:t>31</a:t>
            </a:fld>
            <a:endParaRPr lang="en-US" altLang="en-US" sz="1800"/>
          </a:p>
        </p:txBody>
      </p:sp>
      <p:graphicFrame>
        <p:nvGraphicFramePr>
          <p:cNvPr id="2" name="Content Placeholder 5">
            <a:extLst>
              <a:ext uri="{FF2B5EF4-FFF2-40B4-BE49-F238E27FC236}">
                <a16:creationId xmlns:a16="http://schemas.microsoft.com/office/drawing/2014/main" id="{9406B174-1913-A9EE-29FC-48278C873F86}"/>
              </a:ext>
            </a:extLst>
          </p:cNvPr>
          <p:cNvGraphicFramePr>
            <a:graphicFrameLocks/>
          </p:cNvGraphicFramePr>
          <p:nvPr/>
        </p:nvGraphicFramePr>
        <p:xfrm>
          <a:off x="5767475" y="1690688"/>
          <a:ext cx="5575082" cy="4240118"/>
        </p:xfrm>
        <a:graphic>
          <a:graphicData uri="http://schemas.openxmlformats.org/drawingml/2006/table">
            <a:tbl>
              <a:tblPr firstRow="1" bandRow="1">
                <a:tableStyleId>{5940675A-B579-460E-94D1-54222C63F5DA}</a:tableStyleId>
              </a:tblPr>
              <a:tblGrid>
                <a:gridCol w="2787541">
                  <a:extLst>
                    <a:ext uri="{9D8B030D-6E8A-4147-A177-3AD203B41FA5}">
                      <a16:colId xmlns:a16="http://schemas.microsoft.com/office/drawing/2014/main" val="20000"/>
                    </a:ext>
                  </a:extLst>
                </a:gridCol>
                <a:gridCol w="2787541">
                  <a:extLst>
                    <a:ext uri="{9D8B030D-6E8A-4147-A177-3AD203B41FA5}">
                      <a16:colId xmlns:a16="http://schemas.microsoft.com/office/drawing/2014/main" val="20001"/>
                    </a:ext>
                  </a:extLst>
                </a:gridCol>
              </a:tblGrid>
              <a:tr h="548954">
                <a:tc>
                  <a:txBody>
                    <a:bodyPr/>
                    <a:lstStyle/>
                    <a:p>
                      <a:r>
                        <a:rPr lang="en-CA" sz="2000" b="1" dirty="0"/>
                        <a:t>Risk Factor</a:t>
                      </a:r>
                    </a:p>
                  </a:txBody>
                  <a:tcPr marL="48578" marR="48578" marT="34310" marB="34310"/>
                </a:tc>
                <a:tc>
                  <a:txBody>
                    <a:bodyPr/>
                    <a:lstStyle/>
                    <a:p>
                      <a:pPr algn="ctr"/>
                      <a:r>
                        <a:rPr lang="en-CA" sz="2000" b="1" dirty="0"/>
                        <a:t>Time Horizon</a:t>
                      </a:r>
                    </a:p>
                  </a:txBody>
                  <a:tcPr marL="48578" marR="48578" marT="34310" marB="34310"/>
                </a:tc>
                <a:extLst>
                  <a:ext uri="{0D108BD9-81ED-4DB2-BD59-A6C34878D82A}">
                    <a16:rowId xmlns:a16="http://schemas.microsoft.com/office/drawing/2014/main" val="10000"/>
                  </a:ext>
                </a:extLst>
              </a:tr>
              <a:tr h="548954">
                <a:tc>
                  <a:txBody>
                    <a:bodyPr/>
                    <a:lstStyle/>
                    <a:p>
                      <a:r>
                        <a:rPr lang="en-CA" sz="2000" dirty="0"/>
                        <a:t>Equity price (large cap)</a:t>
                      </a:r>
                    </a:p>
                  </a:txBody>
                  <a:tcPr marL="48578" marR="48578" marT="34310" marB="34310"/>
                </a:tc>
                <a:tc>
                  <a:txBody>
                    <a:bodyPr/>
                    <a:lstStyle/>
                    <a:p>
                      <a:pPr algn="ctr"/>
                      <a:r>
                        <a:rPr lang="en-CA" sz="2000" dirty="0"/>
                        <a:t>10 days</a:t>
                      </a:r>
                    </a:p>
                  </a:txBody>
                  <a:tcPr marL="48578" marR="48578" marT="34310" marB="34310"/>
                </a:tc>
                <a:extLst>
                  <a:ext uri="{0D108BD9-81ED-4DB2-BD59-A6C34878D82A}">
                    <a16:rowId xmlns:a16="http://schemas.microsoft.com/office/drawing/2014/main" val="10001"/>
                  </a:ext>
                </a:extLst>
              </a:tr>
              <a:tr h="548954">
                <a:tc>
                  <a:txBody>
                    <a:bodyPr/>
                    <a:lstStyle/>
                    <a:p>
                      <a:r>
                        <a:rPr lang="en-CA" sz="2000" dirty="0"/>
                        <a:t>Precious metal</a:t>
                      </a:r>
                      <a:r>
                        <a:rPr lang="en-CA" sz="2000" baseline="0" dirty="0"/>
                        <a:t> price</a:t>
                      </a:r>
                      <a:endParaRPr lang="en-CA" sz="2000" dirty="0"/>
                    </a:p>
                  </a:txBody>
                  <a:tcPr marL="48578" marR="48578" marT="34310" marB="34310"/>
                </a:tc>
                <a:tc>
                  <a:txBody>
                    <a:bodyPr/>
                    <a:lstStyle/>
                    <a:p>
                      <a:pPr algn="ctr"/>
                      <a:r>
                        <a:rPr lang="en-CA" sz="2000" dirty="0"/>
                        <a:t>20 days</a:t>
                      </a:r>
                    </a:p>
                  </a:txBody>
                  <a:tcPr marL="48578" marR="48578" marT="34310" marB="34310"/>
                </a:tc>
                <a:extLst>
                  <a:ext uri="{0D108BD9-81ED-4DB2-BD59-A6C34878D82A}">
                    <a16:rowId xmlns:a16="http://schemas.microsoft.com/office/drawing/2014/main" val="10002"/>
                  </a:ext>
                </a:extLst>
              </a:tr>
              <a:tr h="1258750">
                <a:tc>
                  <a:txBody>
                    <a:bodyPr/>
                    <a:lstStyle/>
                    <a:p>
                      <a:r>
                        <a:rPr lang="en-CA" sz="2000" dirty="0"/>
                        <a:t>Credit</a:t>
                      </a:r>
                      <a:r>
                        <a:rPr lang="en-CA" sz="2000" baseline="0" dirty="0"/>
                        <a:t> spread corporate (investment grade)</a:t>
                      </a:r>
                      <a:endParaRPr lang="en-CA" sz="2000" dirty="0"/>
                    </a:p>
                  </a:txBody>
                  <a:tcPr marL="48578" marR="48578" marT="34310" marB="34310"/>
                </a:tc>
                <a:tc>
                  <a:txBody>
                    <a:bodyPr/>
                    <a:lstStyle/>
                    <a:p>
                      <a:pPr algn="ctr"/>
                      <a:r>
                        <a:rPr lang="en-CA" sz="2000" dirty="0"/>
                        <a:t>40 days</a:t>
                      </a:r>
                    </a:p>
                  </a:txBody>
                  <a:tcPr marL="48578" marR="48578" marT="34310" marB="34310"/>
                </a:tc>
                <a:extLst>
                  <a:ext uri="{0D108BD9-81ED-4DB2-BD59-A6C34878D82A}">
                    <a16:rowId xmlns:a16="http://schemas.microsoft.com/office/drawing/2014/main" val="10003"/>
                  </a:ext>
                </a:extLst>
              </a:tr>
              <a:tr h="548954">
                <a:tc>
                  <a:txBody>
                    <a:bodyPr/>
                    <a:lstStyle/>
                    <a:p>
                      <a:r>
                        <a:rPr lang="en-CA" sz="2000" dirty="0"/>
                        <a:t>Interest rate volatility</a:t>
                      </a:r>
                    </a:p>
                  </a:txBody>
                  <a:tcPr marL="48578" marR="48578" marT="34310" marB="34310"/>
                </a:tc>
                <a:tc>
                  <a:txBody>
                    <a:bodyPr/>
                    <a:lstStyle/>
                    <a:p>
                      <a:pPr algn="ctr"/>
                      <a:r>
                        <a:rPr lang="en-CA" sz="2000" dirty="0"/>
                        <a:t>60 days</a:t>
                      </a:r>
                    </a:p>
                  </a:txBody>
                  <a:tcPr marL="48578" marR="48578" marT="34310" marB="34310"/>
                </a:tc>
                <a:extLst>
                  <a:ext uri="{0D108BD9-81ED-4DB2-BD59-A6C34878D82A}">
                    <a16:rowId xmlns:a16="http://schemas.microsoft.com/office/drawing/2014/main" val="10004"/>
                  </a:ext>
                </a:extLst>
              </a:tr>
              <a:tr h="785552">
                <a:tc>
                  <a:txBody>
                    <a:bodyPr/>
                    <a:lstStyle/>
                    <a:p>
                      <a:r>
                        <a:rPr lang="en-CA" sz="2000" dirty="0"/>
                        <a:t>Credit spread volatility</a:t>
                      </a:r>
                    </a:p>
                  </a:txBody>
                  <a:tcPr marL="48578" marR="48578" marT="34310" marB="34310"/>
                </a:tc>
                <a:tc>
                  <a:txBody>
                    <a:bodyPr/>
                    <a:lstStyle/>
                    <a:p>
                      <a:pPr algn="ctr"/>
                      <a:r>
                        <a:rPr lang="en-CA" sz="2000" dirty="0"/>
                        <a:t>120 days</a:t>
                      </a:r>
                    </a:p>
                  </a:txBody>
                  <a:tcPr marL="48578" marR="48578" marT="34310" marB="3431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158374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The Basel Timeline: Evolution at a Glance</a:t>
            </a:r>
            <a:endParaRPr b="1" dirty="0">
              <a:latin typeface="Arial" panose="020B0604020202020204" pitchFamily="34" charset="0"/>
              <a:cs typeface="Arial" panose="020B0604020202020204" pitchFamily="34" charset="0"/>
            </a:endParaRPr>
          </a:p>
        </p:txBody>
      </p:sp>
      <p:sp>
        <p:nvSpPr>
          <p:cNvPr id="4024" name="Content Placeholder"/>
          <p:cNvSpPr>
            <a:spLocks noGrp="1"/>
          </p:cNvSpPr>
          <p:nvPr>
            <p:ph sz="half" idx="2"/>
          </p:nvPr>
        </p:nvSpPr>
        <p:spPr>
          <a:xfrm>
            <a:off x="423100" y="914400"/>
            <a:ext cx="11345797" cy="5578473"/>
          </a:xfrm>
        </p:spPr>
        <p:txBody>
          <a:bodyPr wrap="square">
            <a:normAutofit/>
          </a:bodyPr>
          <a:lstStyle/>
          <a:p>
            <a:pPr marL="0" indent="0">
              <a:buNone/>
            </a:pPr>
            <a:r>
              <a:rPr lang="en-CA" sz="2200" b="1" dirty="0"/>
              <a:t>Basel I: 1988</a:t>
            </a:r>
          </a:p>
          <a:p>
            <a:r>
              <a:rPr lang="en-CA" sz="2200" dirty="0"/>
              <a:t>8% minimum capital ratio</a:t>
            </a:r>
          </a:p>
          <a:p>
            <a:r>
              <a:rPr lang="en-CA" sz="2200" dirty="0"/>
              <a:t>Four crude risk-weight buckets: 0 / 20 / 50 / 100%</a:t>
            </a:r>
          </a:p>
          <a:p>
            <a:r>
              <a:rPr lang="en-CA" sz="2200" dirty="0"/>
              <a:t>Tier 1 at least 4%; Tier 1 + Tier 2 at least 8%</a:t>
            </a:r>
          </a:p>
          <a:p>
            <a:r>
              <a:rPr lang="en-CA" sz="2200" dirty="0"/>
              <a:t>No credit quality differentiation; no market or operational risk charges</a:t>
            </a:r>
          </a:p>
          <a:p>
            <a:r>
              <a:rPr lang="en-CA" sz="2200" dirty="0"/>
              <a:t>Strength: simple, globally adopted. Weakness: regulatory arbitrage via securitisation</a:t>
            </a:r>
          </a:p>
          <a:p>
            <a:pPr marL="0" indent="0">
              <a:buNone/>
            </a:pPr>
            <a:r>
              <a:rPr lang="en-CA" sz="2200" b="1" dirty="0"/>
              <a:t>Basel II: 2004</a:t>
            </a:r>
          </a:p>
          <a:p>
            <a:r>
              <a:rPr lang="en-CA" sz="2200" dirty="0"/>
              <a:t>Three Pillars: minimum capital / supervision / disclosure</a:t>
            </a:r>
          </a:p>
          <a:p>
            <a:r>
              <a:rPr lang="en-CA" sz="2200" dirty="0"/>
              <a:t>Credit: Standardised or IRB (PD, LGD, EAD)</a:t>
            </a:r>
          </a:p>
          <a:p>
            <a:r>
              <a:rPr lang="en-CA" sz="2200" dirty="0"/>
              <a:t>Market: internal VaR (99%, 10-day) times 3; Operational: BIA / TSA / AMA</a:t>
            </a:r>
          </a:p>
          <a:p>
            <a:r>
              <a:rPr lang="en-CA" sz="2200" dirty="0"/>
              <a:t>More risk-sensitive, therefore procyclical</a:t>
            </a:r>
          </a:p>
          <a:p>
            <a:r>
              <a:rPr lang="en-CA" sz="2200" dirty="0"/>
              <a:t>Failed to capture trading-book and securitisation risk; in force 2007, just in time for the GFC</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183FC-5A9B-B1E4-AB25-51E7B9F1E897}"/>
            </a:ext>
          </a:extLst>
        </p:cNvPr>
        <p:cNvGrpSpPr/>
        <p:nvPr/>
      </p:nvGrpSpPr>
      <p:grpSpPr>
        <a:xfrm>
          <a:off x="0" y="0"/>
          <a:ext cx="0" cy="0"/>
          <a:chOff x="0" y="0"/>
          <a:chExt cx="0" cy="0"/>
        </a:xfrm>
      </p:grpSpPr>
      <p:sp>
        <p:nvSpPr>
          <p:cNvPr id="4023" name="Title">
            <a:extLst>
              <a:ext uri="{FF2B5EF4-FFF2-40B4-BE49-F238E27FC236}">
                <a16:creationId xmlns:a16="http://schemas.microsoft.com/office/drawing/2014/main" id="{8C495EE8-D3A8-9FB6-C477-2C994BD11C39}"/>
              </a:ext>
            </a:extLst>
          </p:cNvPr>
          <p:cNvSpPr>
            <a:spLocks noGrp="1"/>
          </p:cNvSpPr>
          <p:nvPr>
            <p:ph type="title"/>
          </p:nvPr>
        </p:nvSpPr>
        <p:spPr/>
        <p:txBody>
          <a:bodyPr/>
          <a:lstStyle/>
          <a:p>
            <a:r>
              <a:rPr lang="en-CA" b="1" dirty="0">
                <a:latin typeface="Arial" panose="020B0604020202020204" pitchFamily="34" charset="0"/>
                <a:cs typeface="Arial" panose="020B0604020202020204" pitchFamily="34" charset="0"/>
              </a:rPr>
              <a:t>The Basel Timeline: Evolution at a Glance (cont.)</a:t>
            </a:r>
            <a:endParaRPr b="1" dirty="0">
              <a:latin typeface="Arial" panose="020B0604020202020204" pitchFamily="34" charset="0"/>
              <a:cs typeface="Arial" panose="020B0604020202020204" pitchFamily="34" charset="0"/>
            </a:endParaRPr>
          </a:p>
        </p:txBody>
      </p:sp>
      <p:sp>
        <p:nvSpPr>
          <p:cNvPr id="4024" name="Content Placeholder">
            <a:extLst>
              <a:ext uri="{FF2B5EF4-FFF2-40B4-BE49-F238E27FC236}">
                <a16:creationId xmlns:a16="http://schemas.microsoft.com/office/drawing/2014/main" id="{978CADEE-2A07-E8AF-A827-6B49B737A3A8}"/>
              </a:ext>
            </a:extLst>
          </p:cNvPr>
          <p:cNvSpPr>
            <a:spLocks noGrp="1"/>
          </p:cNvSpPr>
          <p:nvPr>
            <p:ph sz="half" idx="2"/>
          </p:nvPr>
        </p:nvSpPr>
        <p:spPr>
          <a:xfrm>
            <a:off x="423100" y="914400"/>
            <a:ext cx="11345797" cy="5578473"/>
          </a:xfrm>
        </p:spPr>
        <p:txBody>
          <a:bodyPr wrap="square">
            <a:normAutofit/>
          </a:bodyPr>
          <a:lstStyle/>
          <a:p>
            <a:pPr marL="0" indent="0">
              <a:buNone/>
            </a:pPr>
            <a:r>
              <a:rPr lang="en-CA" sz="2200" b="1" dirty="0"/>
              <a:t>Basel II.5: 2009</a:t>
            </a:r>
          </a:p>
          <a:p>
            <a:r>
              <a:rPr lang="en-CA" sz="2200" dirty="0"/>
              <a:t>GFC emergency patch (effective 2012)</a:t>
            </a:r>
          </a:p>
          <a:p>
            <a:r>
              <a:rPr lang="en-CA" sz="2200" dirty="0"/>
              <a:t>Stressed VaR (sVaR): 99%, 10-day, stress period</a:t>
            </a:r>
          </a:p>
          <a:p>
            <a:r>
              <a:rPr lang="en-CA" sz="2200" dirty="0"/>
              <a:t>Incremental Risk Charge (IRC): 99.9%, 1-year</a:t>
            </a:r>
          </a:p>
          <a:p>
            <a:r>
              <a:rPr lang="en-CA" sz="2200" dirty="0"/>
              <a:t>Comprehensive Risk Measure for correlation trading; roughly doubled trading-book capital</a:t>
            </a:r>
          </a:p>
          <a:p>
            <a:r>
              <a:rPr lang="en-CA" sz="2200" dirty="0"/>
              <a:t>Reduced procyclicality in the trading book; still VaR-based, FRTB eventually replaces it</a:t>
            </a:r>
          </a:p>
          <a:p>
            <a:pPr marL="0" indent="0">
              <a:buNone/>
            </a:pPr>
            <a:r>
              <a:rPr lang="en-CA" sz="2200" b="1" dirty="0"/>
              <a:t>Basel III: 2010 / FRTB 2023</a:t>
            </a:r>
          </a:p>
          <a:p>
            <a:r>
              <a:rPr lang="en-CA" sz="2200" dirty="0"/>
              <a:t>CET1 at least 4.5% plus 2.5% conservation buffer</a:t>
            </a:r>
          </a:p>
          <a:p>
            <a:r>
              <a:rPr lang="en-CA" sz="2200" dirty="0"/>
              <a:t>Countercyclical buffer 0 to 2.5%; G-SIB surcharge</a:t>
            </a:r>
          </a:p>
          <a:p>
            <a:r>
              <a:rPr lang="en-CA" sz="2200" dirty="0"/>
              <a:t>LCR at least 100%; NSFR at least 100%; leverage ratio at least 3%</a:t>
            </a:r>
          </a:p>
          <a:p>
            <a:r>
              <a:rPr lang="en-CA" sz="2200" dirty="0"/>
              <a:t>FRTB: 97.5% ES replaces 99% VaR for market risk; output floor: model RWA at least 72.5% of standardised</a:t>
            </a:r>
          </a:p>
          <a:p>
            <a:r>
              <a:rPr lang="en-CA" sz="2200" dirty="0"/>
              <a:t>Phased in 2013 to 2030 globally; biggest structural reform since the 1988 Accord</a:t>
            </a:r>
          </a:p>
        </p:txBody>
      </p:sp>
    </p:spTree>
    <p:extLst>
      <p:ext uri="{BB962C8B-B14F-4D97-AF65-F5344CB8AC3E}">
        <p14:creationId xmlns:p14="http://schemas.microsoft.com/office/powerpoint/2010/main" val="5092235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What Is Systemic Risk?</a:t>
            </a:r>
            <a:endParaRPr b="1" dirty="0">
              <a:latin typeface="Arial" panose="020B0604020202020204" pitchFamily="34" charset="0"/>
              <a:cs typeface="Arial" panose="020B0604020202020204" pitchFamily="34" charset="0"/>
            </a:endParaRPr>
          </a:p>
        </p:txBody>
      </p:sp>
      <p:sp>
        <p:nvSpPr>
          <p:cNvPr id="4008" name="Content Placeholder"/>
          <p:cNvSpPr>
            <a:spLocks noGrp="1"/>
          </p:cNvSpPr>
          <p:nvPr>
            <p:ph sz="half" idx="2"/>
          </p:nvPr>
        </p:nvSpPr>
        <p:spPr>
          <a:xfrm>
            <a:off x="423100" y="1219200"/>
            <a:ext cx="11345797" cy="5273673"/>
          </a:xfrm>
        </p:spPr>
        <p:txBody>
          <a:bodyPr wrap="square">
            <a:normAutofit/>
          </a:bodyPr>
          <a:lstStyle/>
          <a:p>
            <a:pPr marL="0" indent="0">
              <a:buNone/>
            </a:pPr>
            <a:r>
              <a:rPr lang="en-CA" sz="2200" b="1" dirty="0"/>
              <a:t>An emergent property of the financial network</a:t>
            </a:r>
          </a:p>
          <a:p>
            <a:r>
              <a:rPr lang="en-CA" sz="2200" dirty="0"/>
              <a:t>Systemic risk: the risk that a shock to one institution cascades and destabilises the entire financial system</a:t>
            </a:r>
          </a:p>
          <a:p>
            <a:r>
              <a:rPr lang="en-CA" sz="2200" dirty="0"/>
              <a:t>Distinguishing feature: negative externalities, a firm's failure imposes costs on others that it does not internalise</a:t>
            </a:r>
          </a:p>
          <a:p>
            <a:r>
              <a:rPr lang="en-CA" sz="2200" dirty="0"/>
              <a:t>Two main channels: (1) direct counterparty linkages; (2) indirect (price / fire-sale) contagion through shared asset exposures</a:t>
            </a:r>
          </a:p>
          <a:p>
            <a:r>
              <a:rPr lang="en-CA" sz="2200" dirty="0"/>
              <a:t>G-SIBs (globally systemically important banks) face 1 to 3.5% CET1 surcharges; G-SIIs (insurers) face higher loss-absorbency requirements</a:t>
            </a:r>
          </a:p>
          <a:p>
            <a:r>
              <a:rPr lang="en-CA" sz="2200" dirty="0"/>
              <a:t>Basel III stress tests and CCAR/DFAST aim to quantify system-wide capital adequacy</a:t>
            </a:r>
          </a:p>
          <a:p>
            <a:r>
              <a:rPr lang="en-CA" sz="2200" dirty="0"/>
              <a:t>Macroprudential vs. microprudential: individual soundness does not imply collective soundness</a:t>
            </a:r>
          </a:p>
          <a:p>
            <a:r>
              <a:rPr lang="en-CA" sz="2200" dirty="0"/>
              <a:t>Jorion (2010): firmwide risk management integrates all risk types; systemic is the top-down view</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Contagion Mechanisms</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a:xfrm>
            <a:off x="423100" y="1066801"/>
            <a:ext cx="11345797" cy="4970584"/>
          </a:xfrm>
        </p:spPr>
        <p:txBody>
          <a:bodyPr wrap="square">
            <a:normAutofit fontScale="92500" lnSpcReduction="20000"/>
          </a:bodyPr>
          <a:lstStyle/>
          <a:p>
            <a:pPr marL="0" indent="0">
              <a:buNone/>
            </a:pPr>
            <a:r>
              <a:rPr lang="en-CA" b="1" dirty="0"/>
              <a:t>Direct / balance-sheet contagion</a:t>
            </a:r>
          </a:p>
          <a:p>
            <a:r>
              <a:rPr lang="en-CA" dirty="0"/>
              <a:t>Interbank lending: if A fails, B cannot recover its loans</a:t>
            </a:r>
          </a:p>
          <a:p>
            <a:r>
              <a:rPr lang="en-CA" dirty="0"/>
              <a:t>OTC derivatives: netting breaks down; collateral calls spiral</a:t>
            </a:r>
          </a:p>
          <a:p>
            <a:r>
              <a:rPr lang="en-CA" dirty="0"/>
              <a:t>Payment system gridlock: gridlock from settlement failures</a:t>
            </a:r>
          </a:p>
          <a:p>
            <a:r>
              <a:rPr lang="en-CA" dirty="0"/>
              <a:t>Repo market: when haircuts spike, fire sales begin (Gorton and Metrick 2012)</a:t>
            </a:r>
          </a:p>
          <a:p>
            <a:r>
              <a:rPr lang="en-CA" dirty="0"/>
              <a:t>Domino model: network centrality determines which node is too connected to fail</a:t>
            </a:r>
          </a:p>
          <a:p>
            <a:pPr marL="0" indent="0">
              <a:buNone/>
            </a:pPr>
            <a:r>
              <a:rPr lang="en-CA" b="1" dirty="0"/>
              <a:t>Indirect / price contagion</a:t>
            </a:r>
          </a:p>
          <a:p>
            <a:r>
              <a:rPr lang="en-CA" dirty="0"/>
              <a:t>Fire sales: distressed firms sell assets, prices fall, other firms mark to market</a:t>
            </a:r>
          </a:p>
          <a:p>
            <a:r>
              <a:rPr lang="en-CA" dirty="0"/>
              <a:t>Funding-liquidity spiral: price drops trigger margin calls, forcing more sales</a:t>
            </a:r>
          </a:p>
          <a:p>
            <a:r>
              <a:rPr lang="en-CA" dirty="0"/>
              <a:t>Information contagion: opacity, so investors flee all similar institutions</a:t>
            </a:r>
          </a:p>
          <a:p>
            <a:r>
              <a:rPr lang="en-CA" dirty="0"/>
              <a:t>Correlation spikes in crashes: diversification fails precisely when needed</a:t>
            </a:r>
          </a:p>
          <a:p>
            <a:r>
              <a:rPr lang="en-CA" dirty="0"/>
              <a:t>Liquidity hoarding: banks stop lending to each other, a credit freeze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Measuring Systemic Risk: CoVaR and Delta CoVaR</a:t>
            </a:r>
            <a:endParaRPr b="1" dirty="0">
              <a:latin typeface="Arial" panose="020B0604020202020204" pitchFamily="34" charset="0"/>
              <a:cs typeface="Arial" panose="020B0604020202020204" pitchFamily="34" charset="0"/>
            </a:endParaRPr>
          </a:p>
        </p:txBody>
      </p:sp>
      <p:pic>
        <p:nvPicPr>
          <p:cNvPr id="4016" name="Picture 4015" descr="f_covar_d.png"/>
          <p:cNvPicPr>
            <a:picLocks noChangeAspect="1"/>
          </p:cNvPicPr>
          <p:nvPr/>
        </p:nvPicPr>
        <p:blipFill>
          <a:blip r:embed="rId3"/>
          <a:stretch>
            <a:fillRect/>
          </a:stretch>
        </p:blipFill>
        <p:spPr>
          <a:xfrm>
            <a:off x="2027224" y="1066800"/>
            <a:ext cx="8134502" cy="457200"/>
          </a:xfrm>
          <a:prstGeom prst="rect">
            <a:avLst/>
          </a:prstGeom>
        </p:spPr>
      </p:pic>
      <p:pic>
        <p:nvPicPr>
          <p:cNvPr id="4017" name="Picture 4016" descr="f_covar_n.png"/>
          <p:cNvPicPr>
            <a:picLocks noChangeAspect="1"/>
          </p:cNvPicPr>
          <p:nvPr/>
        </p:nvPicPr>
        <p:blipFill>
          <a:blip r:embed="rId4"/>
          <a:stretch>
            <a:fillRect/>
          </a:stretch>
        </p:blipFill>
        <p:spPr>
          <a:xfrm>
            <a:off x="2087575" y="1600200"/>
            <a:ext cx="8013801" cy="457200"/>
          </a:xfrm>
          <a:prstGeom prst="rect">
            <a:avLst/>
          </a:prstGeom>
        </p:spPr>
      </p:pic>
      <p:pic>
        <p:nvPicPr>
          <p:cNvPr id="4018" name="Picture 4017" descr="f_dcovar.png"/>
          <p:cNvPicPr>
            <a:picLocks noChangeAspect="1"/>
          </p:cNvPicPr>
          <p:nvPr/>
        </p:nvPicPr>
        <p:blipFill>
          <a:blip r:embed="rId5"/>
          <a:stretch>
            <a:fillRect/>
          </a:stretch>
        </p:blipFill>
        <p:spPr>
          <a:xfrm>
            <a:off x="907753" y="2133600"/>
            <a:ext cx="10373445" cy="457200"/>
          </a:xfrm>
          <a:prstGeom prst="rect">
            <a:avLst/>
          </a:prstGeom>
        </p:spPr>
      </p:pic>
      <p:sp>
        <p:nvSpPr>
          <p:cNvPr id="2" name="Content Placeholder"/>
          <p:cNvSpPr>
            <a:spLocks noGrp="1"/>
          </p:cNvSpPr>
          <p:nvPr>
            <p:ph sz="half" idx="2"/>
          </p:nvPr>
        </p:nvSpPr>
        <p:spPr>
          <a:xfrm>
            <a:off x="420624" y="2895600"/>
            <a:ext cx="11347704" cy="3276600"/>
          </a:xfrm>
        </p:spPr>
        <p:txBody>
          <a:bodyPr wrap="square">
            <a:normAutofit/>
          </a:bodyPr>
          <a:lstStyle/>
          <a:p>
            <a:pPr marL="0" indent="0">
              <a:buNone/>
            </a:pPr>
            <a:r>
              <a:rPr lang="en-CA" sz="2200" b="1" dirty="0"/>
              <a:t>Interpretation</a:t>
            </a:r>
          </a:p>
          <a:p>
            <a:r>
              <a:rPr lang="en-CA" sz="2200" dirty="0"/>
              <a:t>Adrian and Brunnermeier (AER 2016): the VaR of the system given institution i is at its own VaR</a:t>
            </a:r>
          </a:p>
          <a:p>
            <a:r>
              <a:rPr lang="en-CA" sz="2200" dirty="0"/>
              <a:t>Estimated via quantile regression: the system return conditional on the firm return, at alpha = 5%</a:t>
            </a:r>
          </a:p>
          <a:p>
            <a:r>
              <a:rPr lang="en-CA" sz="2200" dirty="0"/>
              <a:t>Delta CoVaR measures the incremental contribution of firm i to system risk</a:t>
            </a:r>
          </a:p>
          <a:p>
            <a:r>
              <a:rPr lang="en-CA" sz="2200" dirty="0"/>
              <a:t>A more negative Delta CoVaR means greater systemic importance</a:t>
            </a:r>
          </a:p>
          <a:p>
            <a:r>
              <a:rPr lang="en-CA" sz="2200" dirty="0"/>
              <a:t>Python: scipy.optimize (pinball loss) or statsmodels QuantReg</a:t>
            </a:r>
          </a:p>
          <a:p>
            <a:r>
              <a:rPr lang="en-CA" sz="2200" dirty="0"/>
              <a:t>Assignment 3: compute Delta CoVaR of your stock vs. your bloc index, then report and interpret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hlinkClick r:id="rId3"/>
              </a:rPr>
              <a:t>MES and SRISK</a:t>
            </a:r>
            <a:endParaRPr b="1" dirty="0">
              <a:latin typeface="Arial" panose="020B0604020202020204" pitchFamily="34" charset="0"/>
              <a:cs typeface="Arial" panose="020B0604020202020204" pitchFamily="34" charset="0"/>
            </a:endParaRPr>
          </a:p>
        </p:txBody>
      </p:sp>
      <p:pic>
        <p:nvPicPr>
          <p:cNvPr id="4018" name="Picture 4017" descr="f_mes.png"/>
          <p:cNvPicPr>
            <a:picLocks noChangeAspect="1"/>
          </p:cNvPicPr>
          <p:nvPr/>
        </p:nvPicPr>
        <p:blipFill>
          <a:blip r:embed="rId4"/>
          <a:stretch>
            <a:fillRect/>
          </a:stretch>
        </p:blipFill>
        <p:spPr>
          <a:xfrm>
            <a:off x="3581846" y="990600"/>
            <a:ext cx="5025258" cy="457200"/>
          </a:xfrm>
          <a:prstGeom prst="rect">
            <a:avLst/>
          </a:prstGeom>
        </p:spPr>
      </p:pic>
      <p:pic>
        <p:nvPicPr>
          <p:cNvPr id="4019" name="Picture 4018" descr="f_lrmes.png"/>
          <p:cNvPicPr>
            <a:picLocks noChangeAspect="1"/>
          </p:cNvPicPr>
          <p:nvPr/>
        </p:nvPicPr>
        <p:blipFill>
          <a:blip r:embed="rId5"/>
          <a:stretch>
            <a:fillRect/>
          </a:stretch>
        </p:blipFill>
        <p:spPr>
          <a:xfrm>
            <a:off x="2127808" y="1524000"/>
            <a:ext cx="7933334" cy="457200"/>
          </a:xfrm>
          <a:prstGeom prst="rect">
            <a:avLst/>
          </a:prstGeom>
        </p:spPr>
      </p:pic>
      <p:pic>
        <p:nvPicPr>
          <p:cNvPr id="4020" name="Picture 4019" descr="f_srisk.png"/>
          <p:cNvPicPr>
            <a:picLocks noChangeAspect="1"/>
          </p:cNvPicPr>
          <p:nvPr/>
        </p:nvPicPr>
        <p:blipFill>
          <a:blip r:embed="rId6"/>
          <a:stretch>
            <a:fillRect/>
          </a:stretch>
        </p:blipFill>
        <p:spPr>
          <a:xfrm>
            <a:off x="747223" y="2057400"/>
            <a:ext cx="10694504" cy="457200"/>
          </a:xfrm>
          <a:prstGeom prst="rect">
            <a:avLst/>
          </a:prstGeom>
        </p:spPr>
      </p:pic>
      <p:sp>
        <p:nvSpPr>
          <p:cNvPr id="2" name="Content Placeholder"/>
          <p:cNvSpPr>
            <a:spLocks noGrp="1"/>
          </p:cNvSpPr>
          <p:nvPr>
            <p:ph sz="half" idx="2"/>
          </p:nvPr>
        </p:nvSpPr>
        <p:spPr>
          <a:xfrm>
            <a:off x="420624" y="2819400"/>
            <a:ext cx="11347704" cy="2923267"/>
          </a:xfrm>
        </p:spPr>
        <p:txBody>
          <a:bodyPr wrap="square">
            <a:noAutofit/>
          </a:bodyPr>
          <a:lstStyle/>
          <a:p>
            <a:pPr marL="0" indent="0">
              <a:buNone/>
            </a:pPr>
            <a:r>
              <a:rPr lang="en-CA" sz="2200" b="1" dirty="0"/>
              <a:t>Interpretation</a:t>
            </a:r>
          </a:p>
          <a:p>
            <a:r>
              <a:rPr lang="en-CA" sz="2200" dirty="0"/>
              <a:t>MES (Acharya et al. 2017): expected equity loss on the market's worst days</a:t>
            </a:r>
          </a:p>
          <a:p>
            <a:r>
              <a:rPr lang="en-CA" sz="2200" dirty="0"/>
              <a:t>LRMES: long-run extension, expected loss in a severe six-month market crash (scenario: market down 40%)</a:t>
            </a:r>
          </a:p>
          <a:p>
            <a:r>
              <a:rPr lang="en-CA" sz="2200" dirty="0"/>
              <a:t>SRISK: expected capital shortfall in a crisis, the missing capital needed; k = 8% regulatory ratio</a:t>
            </a:r>
          </a:p>
          <a:p>
            <a:r>
              <a:rPr lang="en-CA" sz="2200" dirty="0"/>
              <a:t>Both MES and SRISK rise sharply before crises, so they act as leading indicators</a:t>
            </a:r>
          </a:p>
          <a:p>
            <a:r>
              <a:rPr lang="en-CA" sz="2200" dirty="0"/>
              <a:t>Brownlees and Engle (2017): SRISK built into the </a:t>
            </a:r>
            <a:r>
              <a:rPr lang="en-CA" sz="2200" dirty="0">
                <a:hlinkClick r:id="rId7"/>
              </a:rPr>
              <a:t>NYU VLAB systemic risk monitor</a:t>
            </a:r>
            <a:endParaRPr lang="en-CA" sz="2200" dirty="0"/>
          </a:p>
          <a:p>
            <a:r>
              <a:rPr lang="en-CA" sz="2200" dirty="0"/>
              <a:t>Institutions ranked by SRISK are effectively too big to fail in a crisis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Systemic Risk Measures Compared</a:t>
            </a:r>
            <a:endParaRPr b="1" dirty="0">
              <a:latin typeface="Arial" panose="020B0604020202020204" pitchFamily="34" charset="0"/>
              <a:cs typeface="Arial" panose="020B0604020202020204" pitchFamily="34" charset="0"/>
            </a:endParaRPr>
          </a:p>
        </p:txBody>
      </p:sp>
      <p:sp>
        <p:nvSpPr>
          <p:cNvPr id="4020" name="Content Placeholder"/>
          <p:cNvSpPr>
            <a:spLocks noGrp="1"/>
          </p:cNvSpPr>
          <p:nvPr>
            <p:ph sz="half" idx="2"/>
          </p:nvPr>
        </p:nvSpPr>
        <p:spPr>
          <a:xfrm>
            <a:off x="423100" y="1143001"/>
            <a:ext cx="11345797" cy="4894384"/>
          </a:xfrm>
        </p:spPr>
        <p:txBody>
          <a:bodyPr wrap="square">
            <a:noAutofit/>
          </a:bodyPr>
          <a:lstStyle/>
          <a:p>
            <a:pPr marL="0" indent="0">
              <a:buNone/>
            </a:pPr>
            <a:r>
              <a:rPr lang="en-CA" sz="2200" b="1" dirty="0"/>
              <a:t>Delta CoVaR</a:t>
            </a:r>
          </a:p>
          <a:p>
            <a:r>
              <a:rPr lang="en-CA" sz="2200" dirty="0"/>
              <a:t>Adrian and Brunnermeier (AER 2016); conditional on the firm's own tail</a:t>
            </a:r>
          </a:p>
          <a:p>
            <a:r>
              <a:rPr lang="en-CA" sz="2200" dirty="0"/>
              <a:t>Captures spillover from one firm; estimated via quantile regression</a:t>
            </a:r>
          </a:p>
          <a:p>
            <a:r>
              <a:rPr lang="en-CA" sz="2200" dirty="0"/>
              <a:t>Does not account for firm size, so it is a risk contribution, not total impact</a:t>
            </a:r>
          </a:p>
          <a:p>
            <a:pPr marL="0" indent="0">
              <a:buNone/>
            </a:pPr>
            <a:r>
              <a:rPr lang="en-CA" sz="2200" b="1" dirty="0"/>
              <a:t>MES / LRMES</a:t>
            </a:r>
          </a:p>
          <a:p>
            <a:r>
              <a:rPr lang="en-CA" sz="2200" dirty="0"/>
              <a:t>Acharya, Pedersen, Philippon, Richardson; expected loss in a market tail event</a:t>
            </a:r>
          </a:p>
          <a:p>
            <a:r>
              <a:rPr lang="en-CA" sz="2200" dirty="0"/>
              <a:t>Proportional to equity exposure; rolling window gives dynamic monitoring</a:t>
            </a:r>
          </a:p>
          <a:p>
            <a:r>
              <a:rPr lang="en-CA" sz="2200" dirty="0"/>
              <a:t>Input to SRISK; measures sensitivity to a market crash</a:t>
            </a:r>
          </a:p>
          <a:p>
            <a:pPr marL="0" indent="0">
              <a:buNone/>
            </a:pPr>
            <a:r>
              <a:rPr lang="en-CA" sz="2200" b="1" dirty="0"/>
              <a:t>SRISK</a:t>
            </a:r>
          </a:p>
          <a:p>
            <a:r>
              <a:rPr lang="en-CA" sz="2200" dirty="0"/>
              <a:t>Brownlees and Engle (2017); NYU VLAB; capital shortfall in a crash</a:t>
            </a:r>
          </a:p>
          <a:p>
            <a:r>
              <a:rPr lang="en-CA" sz="2200" dirty="0"/>
              <a:t>Accounts for size and leverage: k times Debt minus (1 minus k) times LRMES times Equity</a:t>
            </a:r>
          </a:p>
          <a:p>
            <a:r>
              <a:rPr lang="en-CA" sz="2200" dirty="0"/>
              <a:t>Aggregates to a system capital gap; a dollar amount of missing capital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What Is Model Risk?</a:t>
            </a:r>
            <a:endParaRPr b="1" dirty="0">
              <a:latin typeface="Arial" panose="020B0604020202020204" pitchFamily="34" charset="0"/>
              <a:cs typeface="Arial" panose="020B0604020202020204" pitchFamily="34" charset="0"/>
            </a:endParaRPr>
          </a:p>
        </p:txBody>
      </p:sp>
      <p:sp>
        <p:nvSpPr>
          <p:cNvPr id="4026" name="Content Placeholder"/>
          <p:cNvSpPr>
            <a:spLocks noGrp="1"/>
          </p:cNvSpPr>
          <p:nvPr>
            <p:ph sz="half" idx="2"/>
          </p:nvPr>
        </p:nvSpPr>
        <p:spPr/>
        <p:txBody>
          <a:bodyPr wrap="square">
            <a:noAutofit/>
          </a:bodyPr>
          <a:lstStyle/>
          <a:p>
            <a:pPr marL="0" indent="0">
              <a:buNone/>
            </a:pPr>
            <a:r>
              <a:rPr lang="en-CA" sz="2200" b="1" dirty="0"/>
              <a:t>Every model we built carries model risk</a:t>
            </a:r>
          </a:p>
          <a:p>
            <a:r>
              <a:rPr lang="en-CA" sz="2200" dirty="0"/>
              <a:t>Model risk: the risk that a financial model is incorrect or misused, leading to financial loss or regulatory breach</a:t>
            </a:r>
          </a:p>
          <a:p>
            <a:r>
              <a:rPr lang="en-CA" sz="2200" dirty="0"/>
              <a:t>Sources: wrong theoretical framework (specification); poor data or calibration (estimation); coding errors or misapplication (implementation)</a:t>
            </a:r>
          </a:p>
          <a:p>
            <a:r>
              <a:rPr lang="en-CA" sz="2200" dirty="0"/>
              <a:t>Danielsson (2002): models built on calm-market data fail precisely in crises, the emperor has no clothes</a:t>
            </a:r>
          </a:p>
          <a:p>
            <a:r>
              <a:rPr lang="en-CA" sz="2200" dirty="0"/>
              <a:t>The Lucas critique: financial actors adapt to models, invalidating them</a:t>
            </a:r>
          </a:p>
          <a:p>
            <a:r>
              <a:rPr lang="en-CA" sz="2200" dirty="0"/>
              <a:t>Regulatory standard: SR 11-7 (Fed 2011), model validation must be independent, ongoing, and documented</a:t>
            </a:r>
          </a:p>
          <a:p>
            <a:r>
              <a:rPr lang="en-CA" sz="2200" dirty="0"/>
              <a:t>Three lines of defence: (1) model developers, (2) model validation, (3) internal audit</a:t>
            </a:r>
          </a:p>
          <a:p>
            <a:r>
              <a:rPr lang="en-CA" sz="2200" dirty="0"/>
              <a:t>Assignment 3 asks: what is the most material model risk in your Delta CoVaR estimate?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Model Risk Taxonomy</a:t>
            </a:r>
            <a:endParaRPr b="1" dirty="0">
              <a:latin typeface="Arial" panose="020B0604020202020204" pitchFamily="34" charset="0"/>
              <a:cs typeface="Arial" panose="020B0604020202020204" pitchFamily="34" charset="0"/>
            </a:endParaRPr>
          </a:p>
        </p:txBody>
      </p:sp>
      <p:sp>
        <p:nvSpPr>
          <p:cNvPr id="4028" name="Content Placeholder"/>
          <p:cNvSpPr>
            <a:spLocks noGrp="1"/>
          </p:cNvSpPr>
          <p:nvPr>
            <p:ph sz="half" idx="2"/>
          </p:nvPr>
        </p:nvSpPr>
        <p:spPr>
          <a:xfrm>
            <a:off x="423100" y="1066801"/>
            <a:ext cx="11345797" cy="4970584"/>
          </a:xfrm>
        </p:spPr>
        <p:txBody>
          <a:bodyPr wrap="square">
            <a:normAutofit fontScale="62500" lnSpcReduction="20000"/>
          </a:bodyPr>
          <a:lstStyle/>
          <a:p>
            <a:pPr marL="0" indent="0">
              <a:buNone/>
            </a:pPr>
            <a:r>
              <a:rPr lang="en-CA" b="1" dirty="0"/>
              <a:t>Specification risk (wrong theoretical framework)</a:t>
            </a:r>
          </a:p>
          <a:p>
            <a:r>
              <a:rPr lang="en-CA" dirty="0"/>
              <a:t>Normal distribution underestimates tails; linear correlations miss tail dependence</a:t>
            </a:r>
          </a:p>
          <a:p>
            <a:r>
              <a:rPr lang="en-CA" dirty="0"/>
              <a:t>Constant volatility (Black-Scholes) vs. stochastic; omitted risk factors</a:t>
            </a:r>
          </a:p>
          <a:p>
            <a:r>
              <a:rPr lang="en-CA" dirty="0"/>
              <a:t>Fix: challenger models; theory validation</a:t>
            </a:r>
          </a:p>
          <a:p>
            <a:pPr marL="0" indent="0">
              <a:buNone/>
            </a:pPr>
            <a:r>
              <a:rPr lang="en-CA" b="1" dirty="0"/>
              <a:t>Estimation risk (poor parameter calibration)</a:t>
            </a:r>
          </a:p>
          <a:p>
            <a:r>
              <a:rPr lang="en-CA" dirty="0"/>
              <a:t>Short data history misses tail events; overfitting to in-sample data</a:t>
            </a:r>
          </a:p>
          <a:p>
            <a:r>
              <a:rPr lang="en-CA" dirty="0"/>
              <a:t>Errors in covariance matrix estimation; shrinkage (Ledoit-Wolf) as a remedy</a:t>
            </a:r>
          </a:p>
          <a:p>
            <a:r>
              <a:rPr lang="en-CA" dirty="0"/>
              <a:t>Fix: out-of-sample testing; Bayesian priors</a:t>
            </a:r>
          </a:p>
          <a:p>
            <a:pPr marL="0" indent="0">
              <a:buNone/>
            </a:pPr>
            <a:r>
              <a:rPr lang="en-CA" b="1" dirty="0"/>
              <a:t>Implementation risk (coding and process errors)</a:t>
            </a:r>
          </a:p>
          <a:p>
            <a:r>
              <a:rPr lang="en-CA" dirty="0"/>
              <a:t>Coding bugs, spreadsheet errors; JP Morgan London Whale: CDS index VaR halved by a spreadsheet error</a:t>
            </a:r>
          </a:p>
          <a:p>
            <a:r>
              <a:rPr lang="en-CA" dirty="0"/>
              <a:t>Wrong sign, wrong units, wrong formula; system outages; stale data feeds; manual overrides that bypass controls</a:t>
            </a:r>
          </a:p>
          <a:p>
            <a:r>
              <a:rPr lang="en-CA" dirty="0"/>
              <a:t>Fix: code review; unit tests; audit trails</a:t>
            </a:r>
          </a:p>
          <a:p>
            <a:pPr marL="0" indent="0">
              <a:buNone/>
            </a:pPr>
            <a:r>
              <a:rPr lang="en-CA" b="1" dirty="0"/>
              <a:t>How to manage model risk</a:t>
            </a:r>
          </a:p>
          <a:p>
            <a:r>
              <a:rPr lang="en-CA" dirty="0"/>
              <a:t>Independent model validation (SR 11-7); a model inventory with every model documented</a:t>
            </a:r>
          </a:p>
          <a:p>
            <a:r>
              <a:rPr lang="en-CA" dirty="0"/>
              <a:t>Use of AI/LLMs also falls under SR 11-7</a:t>
            </a:r>
          </a:p>
          <a:p>
            <a:r>
              <a:rPr lang="en-CA" dirty="0"/>
              <a:t>Stress tests that break the model; conservative model reserves; sunset dates to retire outdated models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Case Study: Long-Term Capital Management (1998)</a:t>
            </a:r>
            <a:endParaRPr b="1" dirty="0">
              <a:latin typeface="Arial" panose="020B0604020202020204" pitchFamily="34" charset="0"/>
              <a:cs typeface="Arial" panose="020B0604020202020204" pitchFamily="34" charset="0"/>
            </a:endParaRPr>
          </a:p>
        </p:txBody>
      </p:sp>
      <p:sp>
        <p:nvSpPr>
          <p:cNvPr id="4030" name="Content Placeholder"/>
          <p:cNvSpPr>
            <a:spLocks noGrp="1"/>
          </p:cNvSpPr>
          <p:nvPr>
            <p:ph sz="half" idx="2"/>
          </p:nvPr>
        </p:nvSpPr>
        <p:spPr>
          <a:xfrm>
            <a:off x="423100" y="1295401"/>
            <a:ext cx="11345797" cy="4741984"/>
          </a:xfrm>
        </p:spPr>
        <p:txBody>
          <a:bodyPr wrap="square">
            <a:normAutofit fontScale="70000" lnSpcReduction="20000"/>
          </a:bodyPr>
          <a:lstStyle/>
          <a:p>
            <a:pPr marL="0" indent="0">
              <a:buNone/>
            </a:pPr>
            <a:r>
              <a:rPr lang="en-CA" b="1" dirty="0"/>
              <a:t>What happened</a:t>
            </a:r>
          </a:p>
          <a:p>
            <a:r>
              <a:rPr lang="en-CA" dirty="0"/>
              <a:t>Convergence strategy: long cheap and short expensive fixed-income instruments</a:t>
            </a:r>
          </a:p>
          <a:p>
            <a:r>
              <a:rPr lang="en-CA" dirty="0"/>
              <a:t>Models assumed long-run mean reversion; historical correlations were treated as stationary</a:t>
            </a:r>
          </a:p>
          <a:p>
            <a:r>
              <a:rPr lang="en-CA" dirty="0"/>
              <a:t>Aug 1998: Russian default triggered a flight to quality; all correlations spiked toward 1</a:t>
            </a:r>
          </a:p>
          <a:p>
            <a:r>
              <a:rPr lang="en-CA" dirty="0"/>
              <a:t>Convergence diverged: the model's assumption was violated by the event it failed to anticipate</a:t>
            </a:r>
          </a:p>
          <a:p>
            <a:r>
              <a:rPr lang="en-CA" dirty="0"/>
              <a:t>25:1 leverage meant a tiny model error produced a catastrophic loss</a:t>
            </a:r>
          </a:p>
          <a:p>
            <a:r>
              <a:rPr lang="en-CA" dirty="0"/>
              <a:t>No stress test covered all correlations equal to 1 because it had never happened in the data</a:t>
            </a:r>
          </a:p>
          <a:p>
            <a:r>
              <a:rPr lang="en-CA" dirty="0"/>
              <a:t>Loss: about $4.6 billion in under four months; a Fed-organised private-sector bailout</a:t>
            </a:r>
          </a:p>
          <a:p>
            <a:pPr marL="0" indent="0">
              <a:buNone/>
            </a:pPr>
            <a:r>
              <a:rPr lang="en-CA" b="1" dirty="0"/>
              <a:t>Key lessons</a:t>
            </a:r>
          </a:p>
          <a:p>
            <a:r>
              <a:rPr lang="en-CA" dirty="0"/>
              <a:t>Specification risk: constant correlation is a peacetime assumption</a:t>
            </a:r>
          </a:p>
          <a:p>
            <a:r>
              <a:rPr lang="en-CA" dirty="0"/>
              <a:t>Estimation risk: the 1994 to 1997 history was too calm; no 1987 or 1990 data</a:t>
            </a:r>
          </a:p>
          <a:p>
            <a:r>
              <a:rPr lang="en-CA" dirty="0"/>
              <a:t>Implementation: no circuit-breaker to reduce leverage when the model dislocated</a:t>
            </a:r>
          </a:p>
          <a:p>
            <a:r>
              <a:rPr lang="en-CA" dirty="0"/>
              <a:t>Model homogeneity: competitors ran similar strategies, so contagion was amplified</a:t>
            </a:r>
          </a:p>
          <a:p>
            <a:r>
              <a:rPr lang="en-CA" dirty="0"/>
              <a:t>Lesson: the bigger the model, the bigger the model risk</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Model Validation Framework</a:t>
            </a:r>
            <a:endParaRPr b="1" dirty="0">
              <a:latin typeface="Arial" panose="020B0604020202020204" pitchFamily="34" charset="0"/>
              <a:cs typeface="Arial" panose="020B0604020202020204" pitchFamily="34" charset="0"/>
            </a:endParaRPr>
          </a:p>
        </p:txBody>
      </p:sp>
      <p:sp>
        <p:nvSpPr>
          <p:cNvPr id="4032" name="Content Placeholder"/>
          <p:cNvSpPr>
            <a:spLocks noGrp="1"/>
          </p:cNvSpPr>
          <p:nvPr>
            <p:ph sz="half" idx="2"/>
          </p:nvPr>
        </p:nvSpPr>
        <p:spPr>
          <a:xfrm>
            <a:off x="423100" y="1219200"/>
            <a:ext cx="11345797" cy="4501661"/>
          </a:xfrm>
        </p:spPr>
        <p:txBody>
          <a:bodyPr wrap="square">
            <a:noAutofit/>
          </a:bodyPr>
          <a:lstStyle/>
          <a:p>
            <a:pPr marL="0" indent="0">
              <a:buNone/>
            </a:pPr>
            <a:r>
              <a:rPr lang="en-CA" sz="2200" b="1" dirty="0"/>
              <a:t>Three lines of defence (SR 11-7, Federal Reserve 2011)</a:t>
            </a:r>
          </a:p>
          <a:p>
            <a:r>
              <a:rPr lang="en-CA" sz="2200" dirty="0"/>
              <a:t>Line 1, model developers / business: build, own, and use the model; first-pass testing and documentation</a:t>
            </a:r>
          </a:p>
          <a:p>
            <a:r>
              <a:rPr lang="en-CA" sz="2200" dirty="0"/>
              <a:t>Line 2, model validation (independent): challenge assumptions and code; benchmark against alternatives; back-test and stress-test</a:t>
            </a:r>
          </a:p>
          <a:p>
            <a:r>
              <a:rPr lang="en-CA" sz="2200" dirty="0"/>
              <a:t>Line 3, internal audit: check process adherence; verify regulatory reporting accuracy</a:t>
            </a:r>
          </a:p>
          <a:p>
            <a:pPr marL="0" indent="0">
              <a:buNone/>
            </a:pPr>
            <a:r>
              <a:rPr lang="en-CA" sz="2200" b="1" dirty="0"/>
              <a:t>Validation best practices</a:t>
            </a:r>
          </a:p>
          <a:p>
            <a:r>
              <a:rPr lang="en-CA" sz="2200" dirty="0"/>
              <a:t>Conceptual soundness review; data quality and history review</a:t>
            </a:r>
          </a:p>
          <a:p>
            <a:r>
              <a:rPr lang="en-CA" sz="2200" dirty="0"/>
              <a:t>Outcomes analysis (backtest vs. actual); sensitivity analysis (key-parameter perturbation)</a:t>
            </a:r>
          </a:p>
          <a:p>
            <a:r>
              <a:rPr lang="en-CA" sz="2200" dirty="0"/>
              <a:t>Challenger model benchmarking; stress tests designed to break the model</a:t>
            </a:r>
          </a:p>
          <a:p>
            <a:r>
              <a:rPr lang="en-CA" sz="2200" dirty="0"/>
              <a:t>Conservative model reserves for known weaknesses; annual review cycle; sunset date for obsolete models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Climate Risk as a Financial Risk</a:t>
            </a:r>
            <a:endParaRPr b="1" dirty="0">
              <a:latin typeface="Arial" panose="020B0604020202020204" pitchFamily="34" charset="0"/>
              <a:cs typeface="Arial" panose="020B0604020202020204" pitchFamily="34" charset="0"/>
            </a:endParaRPr>
          </a:p>
        </p:txBody>
      </p:sp>
      <p:sp>
        <p:nvSpPr>
          <p:cNvPr id="4036" name="Content Placeholder"/>
          <p:cNvSpPr>
            <a:spLocks noGrp="1"/>
          </p:cNvSpPr>
          <p:nvPr>
            <p:ph sz="half" idx="2"/>
          </p:nvPr>
        </p:nvSpPr>
        <p:spPr>
          <a:xfrm>
            <a:off x="423100" y="1354016"/>
            <a:ext cx="11345797" cy="4970584"/>
          </a:xfrm>
        </p:spPr>
        <p:txBody>
          <a:bodyPr wrap="square">
            <a:normAutofit/>
          </a:bodyPr>
          <a:lstStyle/>
          <a:p>
            <a:pPr marL="0" indent="0">
              <a:buNone/>
            </a:pPr>
            <a:r>
              <a:rPr lang="en-CA" sz="2200" b="1" dirty="0"/>
              <a:t>A mainstream risk at the FSB, ECB, and Bank of England since the Paris Agreement (2015)</a:t>
            </a:r>
          </a:p>
          <a:p>
            <a:r>
              <a:rPr lang="en-CA" sz="2200" dirty="0"/>
              <a:t>Physical risk: direct damage from extreme weather (floods, droughts, wildfires, sea-level rise); asset value write-downs</a:t>
            </a:r>
          </a:p>
          <a:p>
            <a:r>
              <a:rPr lang="en-CA" sz="2200" dirty="0"/>
              <a:t>Transition risk: abrupt policy changes (carbon tax, bans) stranding fossil assets; technology disruption forcing premature write-offs</a:t>
            </a:r>
          </a:p>
          <a:p>
            <a:r>
              <a:rPr lang="en-CA" sz="2200" dirty="0"/>
              <a:t>Liability risk: litigation against high-emitters and their financiers for climate damages</a:t>
            </a:r>
          </a:p>
          <a:p>
            <a:r>
              <a:rPr lang="en-CA" sz="2200" dirty="0"/>
              <a:t>Regulatory pressure: TCFD disclosures, EU taxonomy, IFRS S1/S2, ECB climate stress tests</a:t>
            </a:r>
          </a:p>
          <a:p>
            <a:r>
              <a:rPr lang="en-CA" sz="2200" dirty="0"/>
              <a:t>Scenario analysis: NGFS scenarios (Orderly, Disorderly, Hothouse World) used in supervisory stress tests</a:t>
            </a:r>
          </a:p>
          <a:p>
            <a:r>
              <a:rPr lang="en-CA" sz="2200" dirty="0"/>
              <a:t>ESG ratings: high disagreement across providers (Sustainalytics vs. MSCI vs. S&amp;P); measurement itself is a risk</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ESG: Measurement Challenges</a:t>
            </a:r>
            <a:endParaRPr b="1" dirty="0">
              <a:latin typeface="Arial" panose="020B0604020202020204" pitchFamily="34" charset="0"/>
              <a:cs typeface="Arial" panose="020B0604020202020204" pitchFamily="34" charset="0"/>
            </a:endParaRPr>
          </a:p>
        </p:txBody>
      </p:sp>
      <p:sp>
        <p:nvSpPr>
          <p:cNvPr id="4038" name="Content Placeholder"/>
          <p:cNvSpPr>
            <a:spLocks noGrp="1"/>
          </p:cNvSpPr>
          <p:nvPr>
            <p:ph sz="half" idx="2"/>
          </p:nvPr>
        </p:nvSpPr>
        <p:spPr>
          <a:xfrm>
            <a:off x="423100" y="914400"/>
            <a:ext cx="11345797" cy="5122985"/>
          </a:xfrm>
        </p:spPr>
        <p:txBody>
          <a:bodyPr wrap="square">
            <a:noAutofit/>
          </a:bodyPr>
          <a:lstStyle/>
          <a:p>
            <a:pPr marL="0" indent="0">
              <a:buNone/>
            </a:pPr>
            <a:r>
              <a:rPr lang="en-CA" sz="2200" b="1" dirty="0"/>
              <a:t>Why ESG ratings disagree</a:t>
            </a:r>
          </a:p>
          <a:p>
            <a:r>
              <a:rPr lang="en-CA" sz="2200" dirty="0"/>
              <a:t>Scope disagreement: what counts as E, S, or G?</a:t>
            </a:r>
          </a:p>
          <a:p>
            <a:r>
              <a:rPr lang="en-CA" sz="2200" dirty="0"/>
              <a:t>Measurement gap: self-reported data with limited verification</a:t>
            </a:r>
          </a:p>
          <a:p>
            <a:r>
              <a:rPr lang="en-CA" sz="2200" dirty="0"/>
              <a:t>Weighting disagreement: how to combine the pillars?</a:t>
            </a:r>
          </a:p>
          <a:p>
            <a:r>
              <a:rPr lang="en-CA" sz="2200" dirty="0"/>
              <a:t>Provider correlation about 0.54 (Berg et al. 2022), which is low</a:t>
            </a:r>
          </a:p>
          <a:p>
            <a:r>
              <a:rPr lang="en-CA" sz="2200" dirty="0"/>
              <a:t>Rater-incentive conflicts: issuers pay some providers</a:t>
            </a:r>
          </a:p>
          <a:p>
            <a:pPr marL="0" indent="0">
              <a:buNone/>
            </a:pPr>
            <a:r>
              <a:rPr lang="en-CA" sz="2200" b="1" dirty="0"/>
              <a:t>Implications for portfolio construction</a:t>
            </a:r>
          </a:p>
          <a:p>
            <a:r>
              <a:rPr lang="en-CA" sz="2200" dirty="0"/>
              <a:t>ESG tilt in Assignment 3: two providers give different rankings</a:t>
            </a:r>
          </a:p>
          <a:p>
            <a:r>
              <a:rPr lang="en-CA" sz="2200" dirty="0"/>
              <a:t>Tracking error: an ESG-constrained portfolio deviates from the index</a:t>
            </a:r>
          </a:p>
          <a:p>
            <a:r>
              <a:rPr lang="en-CA" sz="2200" dirty="0"/>
              <a:t>Factor exposure: ESG often proxies for quality / low-vol factors</a:t>
            </a:r>
          </a:p>
          <a:p>
            <a:r>
              <a:rPr lang="en-CA" sz="2200" dirty="0"/>
              <a:t>Greenwashing risk: a high-ESG label does not mean a low-carbon footprint</a:t>
            </a:r>
          </a:p>
          <a:p>
            <a:r>
              <a:rPr lang="en-CA" sz="2200" dirty="0"/>
              <a:t>Regulatory: EU SFDR, a fund must disclose its ESG strategy</a:t>
            </a:r>
          </a:p>
          <a:p>
            <a:r>
              <a:rPr lang="en-CA" sz="2200" dirty="0"/>
              <a:t>Best practice: use multiple ESG signals; disclose provider choice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The Green Swan (BIS 2020)</a:t>
            </a:r>
            <a:endParaRPr b="1" dirty="0">
              <a:latin typeface="Arial" panose="020B0604020202020204" pitchFamily="34" charset="0"/>
              <a:cs typeface="Arial" panose="020B0604020202020204" pitchFamily="34" charset="0"/>
            </a:endParaRPr>
          </a:p>
        </p:txBody>
      </p:sp>
      <p:sp>
        <p:nvSpPr>
          <p:cNvPr id="4040" name="Content Placeholder"/>
          <p:cNvSpPr>
            <a:spLocks noGrp="1"/>
          </p:cNvSpPr>
          <p:nvPr>
            <p:ph sz="half" idx="2"/>
          </p:nvPr>
        </p:nvSpPr>
        <p:spPr>
          <a:xfrm>
            <a:off x="423100" y="1066800"/>
            <a:ext cx="11345797" cy="5257799"/>
          </a:xfrm>
        </p:spPr>
        <p:txBody>
          <a:bodyPr wrap="square">
            <a:normAutofit/>
          </a:bodyPr>
          <a:lstStyle/>
          <a:p>
            <a:pPr marL="0" indent="0">
              <a:buNone/>
            </a:pPr>
            <a:r>
              <a:rPr lang="en-CA" sz="2200" b="1" dirty="0"/>
              <a:t>Climate change challenges the premise that history is the best guide to future risk</a:t>
            </a:r>
          </a:p>
          <a:p>
            <a:r>
              <a:rPr lang="en-CA" sz="2200" dirty="0"/>
              <a:t>Bolton, Despres, Pereira da Silva, Samama and </a:t>
            </a:r>
            <a:r>
              <a:rPr lang="en-CA" sz="2200" dirty="0" err="1"/>
              <a:t>Svartzman</a:t>
            </a:r>
            <a:r>
              <a:rPr lang="en-CA" sz="2200" dirty="0"/>
              <a:t> (2020): climate change is a Green Swan, a certain but unpredictable tail event</a:t>
            </a:r>
          </a:p>
          <a:p>
            <a:r>
              <a:rPr lang="en-CA" sz="2200" dirty="0"/>
              <a:t>Unlike Black Swans (Taleb): climate risk is known to be coming, but its timing, magnitude, and interaction with other risks are deeply uncertain</a:t>
            </a:r>
          </a:p>
          <a:p>
            <a:r>
              <a:rPr lang="en-CA" sz="2200" dirty="0"/>
              <a:t>Standard models fail: (1) no historical precedent; (2) non-stationarity; (3) deeply uncertain feedback loops</a:t>
            </a:r>
          </a:p>
          <a:p>
            <a:r>
              <a:rPr lang="en-CA" sz="2200" dirty="0"/>
              <a:t>Climate risk amplifies all six risk categories at once: market (stranded assets), credit (collateral), liquidity (fire sales), operational, systemic, ESG</a:t>
            </a:r>
          </a:p>
          <a:p>
            <a:r>
              <a:rPr lang="en-CA" sz="2200" dirty="0"/>
              <a:t>Policy response may itself cause financial instability (abrupt vs. orderly transition)</a:t>
            </a:r>
          </a:p>
          <a:p>
            <a:r>
              <a:rPr lang="en-CA" sz="2200" dirty="0"/>
              <a:t>Central banks: moving toward climate scenario analysis in supervisory stress tests; BIS Innovation Hub, NGFS</a:t>
            </a:r>
          </a:p>
          <a:p>
            <a:r>
              <a:rPr lang="en-CA" sz="2200" dirty="0"/>
              <a:t>Conclusion: standard risk models are necessary but not sufficient; scenario analysis and qualitative judgement must supplement them</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Scenario Analysis: Building the Shock Grid</a:t>
            </a:r>
            <a:endParaRPr b="1" dirty="0">
              <a:latin typeface="Arial" panose="020B0604020202020204" pitchFamily="34" charset="0"/>
              <a:cs typeface="Arial" panose="020B0604020202020204" pitchFamily="34" charset="0"/>
            </a:endParaRPr>
          </a:p>
        </p:txBody>
      </p:sp>
      <p:pic>
        <p:nvPicPr>
          <p:cNvPr id="4032" name="Picture 4031" descr="f_scenario.png"/>
          <p:cNvPicPr>
            <a:picLocks noChangeAspect="1"/>
          </p:cNvPicPr>
          <p:nvPr/>
        </p:nvPicPr>
        <p:blipFill>
          <a:blip r:embed="rId3"/>
          <a:stretch>
            <a:fillRect/>
          </a:stretch>
        </p:blipFill>
        <p:spPr>
          <a:xfrm>
            <a:off x="3731633" y="838200"/>
            <a:ext cx="3616595" cy="685800"/>
          </a:xfrm>
          <a:prstGeom prst="rect">
            <a:avLst/>
          </a:prstGeom>
        </p:spPr>
      </p:pic>
      <p:sp>
        <p:nvSpPr>
          <p:cNvPr id="2" name="Content Placeholder"/>
          <p:cNvSpPr>
            <a:spLocks noGrp="1"/>
          </p:cNvSpPr>
          <p:nvPr>
            <p:ph sz="half" idx="2"/>
          </p:nvPr>
        </p:nvSpPr>
        <p:spPr>
          <a:xfrm>
            <a:off x="420624" y="1524000"/>
            <a:ext cx="11347704" cy="4648200"/>
          </a:xfrm>
        </p:spPr>
        <p:txBody>
          <a:bodyPr wrap="square">
            <a:normAutofit fontScale="85000" lnSpcReduction="20000"/>
          </a:bodyPr>
          <a:lstStyle/>
          <a:p>
            <a:pPr marL="0" indent="0">
              <a:buNone/>
            </a:pPr>
            <a:r>
              <a:rPr lang="en-CA" b="1" dirty="0"/>
              <a:t>Stress testing moves beyond point-in-time models to ask what if things get really bad</a:t>
            </a:r>
          </a:p>
          <a:p>
            <a:pPr marL="0" indent="0">
              <a:buNone/>
            </a:pPr>
            <a:r>
              <a:rPr lang="en-CA" b="1" dirty="0"/>
              <a:t>Scenario design principles</a:t>
            </a:r>
          </a:p>
          <a:p>
            <a:r>
              <a:rPr lang="en-CA" dirty="0"/>
              <a:t>Historical: replay a known crisis (GFC 2008, COVID March 2020, 2022 rate shock)</a:t>
            </a:r>
          </a:p>
          <a:p>
            <a:r>
              <a:rPr lang="en-CA" dirty="0"/>
              <a:t>Hypothetical: an internally consistent future shock (e.g. a sudden geopolitical rupture)</a:t>
            </a:r>
          </a:p>
          <a:p>
            <a:r>
              <a:rPr lang="en-CA" dirty="0"/>
              <a:t>Reverse stress test: start from failure, find the scenario that causes it</a:t>
            </a:r>
          </a:p>
          <a:p>
            <a:r>
              <a:rPr lang="en-CA" dirty="0"/>
              <a:t>Macro factor shocks: GDP growth, interest rates, credit spreads, equity index</a:t>
            </a:r>
          </a:p>
          <a:p>
            <a:r>
              <a:rPr lang="en-CA" dirty="0"/>
              <a:t>Scenarios must be severe but plausible, not arbitrary</a:t>
            </a:r>
          </a:p>
          <a:p>
            <a:pPr marL="0" indent="0">
              <a:buNone/>
            </a:pPr>
            <a:r>
              <a:rPr lang="en-CA" b="1" dirty="0"/>
              <a:t>Illustrative shock grid (stylised after US CCAR 2024, Federal Reserve)</a:t>
            </a:r>
          </a:p>
          <a:p>
            <a:r>
              <a:rPr lang="en-CA" dirty="0"/>
              <a:t>Baseline: GDP +2.0%, rates +50 bp, spreads +25 bp, equity +8.0%</a:t>
            </a:r>
          </a:p>
          <a:p>
            <a:r>
              <a:rPr lang="en-CA" dirty="0"/>
              <a:t>Adverse: GDP -1.0%, rates +100 bp, spreads +75 bp, equity -10.0%</a:t>
            </a:r>
          </a:p>
          <a:p>
            <a:r>
              <a:rPr lang="en-CA" dirty="0"/>
              <a:t>Severely Adverse: GDP -4.0%, rates -50 bp, spreads +200 bp, equity -25.0%</a:t>
            </a:r>
          </a:p>
          <a:p>
            <a:r>
              <a:rPr lang="en-CA" dirty="0"/>
              <a:t>Climate Transition: GDP -2.0%, rates +75 bp, spreads +150 bp, equity -15.0%</a:t>
            </a:r>
          </a:p>
        </p:txBody>
      </p:sp>
    </p:spTree>
    <p:extLst>
      <p:ext uri="{BB962C8B-B14F-4D97-AF65-F5344CB8AC3E}">
        <p14:creationId xmlns:p14="http://schemas.microsoft.com/office/powerpoint/2010/main" val="5138214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Reverse Stress Testing</a:t>
            </a:r>
            <a:endParaRPr b="1" dirty="0">
              <a:latin typeface="Arial" panose="020B0604020202020204" pitchFamily="34" charset="0"/>
              <a:cs typeface="Arial" panose="020B0604020202020204" pitchFamily="34" charset="0"/>
            </a:endParaRPr>
          </a:p>
        </p:txBody>
      </p:sp>
      <p:sp>
        <p:nvSpPr>
          <p:cNvPr id="4034" name="Content Placeholder"/>
          <p:cNvSpPr>
            <a:spLocks noGrp="1"/>
          </p:cNvSpPr>
          <p:nvPr>
            <p:ph sz="half" idx="2"/>
          </p:nvPr>
        </p:nvSpPr>
        <p:spPr/>
        <p:txBody>
          <a:bodyPr wrap="square">
            <a:normAutofit lnSpcReduction="10000"/>
          </a:bodyPr>
          <a:lstStyle/>
          <a:p>
            <a:pPr marL="0" indent="0">
              <a:buNone/>
            </a:pPr>
            <a:r>
              <a:rPr lang="en-CA" b="1" dirty="0"/>
              <a:t>Reverse stress testing flips the causal flow</a:t>
            </a:r>
          </a:p>
          <a:p>
            <a:pPr marL="0" indent="0">
              <a:buNone/>
            </a:pPr>
            <a:r>
              <a:rPr lang="en-CA" dirty="0"/>
              <a:t>Instead of mapping a scenario to a loss, you ask what scenario is necessary to cause a predefined failure (e.g., (breach capital minimums, lose funding access)</a:t>
            </a:r>
          </a:p>
          <a:p>
            <a:r>
              <a:rPr lang="en-CA" dirty="0"/>
              <a:t>Step 1: define the failure state (e.g. CET1 ratio breaches 4.5%, or a liquidity run)</a:t>
            </a:r>
          </a:p>
          <a:p>
            <a:r>
              <a:rPr lang="en-CA" dirty="0"/>
              <a:t>Step 2: compute the loss needed to reach failure; work back to macro factor shocks</a:t>
            </a:r>
          </a:p>
          <a:p>
            <a:r>
              <a:rPr lang="en-CA" dirty="0"/>
              <a:t>Step 3: assess plausibility, if the trigger scenario is historically conceivable</a:t>
            </a:r>
          </a:p>
          <a:p>
            <a:pPr marL="0" indent="0">
              <a:buNone/>
            </a:pPr>
            <a:r>
              <a:rPr lang="en-CA" dirty="0"/>
              <a:t>Key insight: focus management attention on tail risks underweighted by forward tests</a:t>
            </a:r>
          </a:p>
          <a:p>
            <a:pPr marL="0" indent="0">
              <a:buNone/>
            </a:pPr>
            <a:r>
              <a:rPr lang="en-CA" dirty="0"/>
              <a:t>Example: if CET1 = 12% and minimum = 7%, you need a 5% loss of RWA, what macro shock causes that?</a:t>
            </a:r>
          </a:p>
        </p:txBody>
      </p:sp>
    </p:spTree>
    <p:extLst>
      <p:ext uri="{BB962C8B-B14F-4D97-AF65-F5344CB8AC3E}">
        <p14:creationId xmlns:p14="http://schemas.microsoft.com/office/powerpoint/2010/main" val="19353578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CCAR and DFAST: The US Stress-Testing Framework</a:t>
            </a:r>
            <a:endParaRPr b="1" dirty="0">
              <a:latin typeface="Arial" panose="020B0604020202020204" pitchFamily="34" charset="0"/>
              <a:cs typeface="Arial" panose="020B0604020202020204" pitchFamily="34" charset="0"/>
            </a:endParaRPr>
          </a:p>
        </p:txBody>
      </p:sp>
      <p:sp>
        <p:nvSpPr>
          <p:cNvPr id="4036" name="Content Placeholder"/>
          <p:cNvSpPr>
            <a:spLocks noGrp="1"/>
          </p:cNvSpPr>
          <p:nvPr>
            <p:ph sz="half" idx="2"/>
          </p:nvPr>
        </p:nvSpPr>
        <p:spPr>
          <a:xfrm>
            <a:off x="423100" y="990600"/>
            <a:ext cx="11345797" cy="5333999"/>
          </a:xfrm>
        </p:spPr>
        <p:txBody>
          <a:bodyPr wrap="square">
            <a:normAutofit fontScale="70000" lnSpcReduction="20000"/>
          </a:bodyPr>
          <a:lstStyle/>
          <a:p>
            <a:pPr marL="0" indent="0">
              <a:buNone/>
            </a:pPr>
            <a:r>
              <a:rPr lang="en-CA" b="1" dirty="0"/>
              <a:t>CCAR: Comprehensive Capital Analysis and Review</a:t>
            </a:r>
          </a:p>
          <a:p>
            <a:r>
              <a:rPr lang="en-CA" dirty="0"/>
              <a:t>Annual Federal Reserve assessment of large US banks (over 100Bn USD in assets)</a:t>
            </a:r>
          </a:p>
          <a:p>
            <a:r>
              <a:rPr lang="en-CA" dirty="0"/>
              <a:t>Qualitative plus quantitative evaluation of capital adequacy</a:t>
            </a:r>
          </a:p>
          <a:p>
            <a:r>
              <a:rPr lang="en-CA" dirty="0"/>
              <a:t>Banks submit capital plans; the Fed can object to dividends and buybacks</a:t>
            </a:r>
          </a:p>
          <a:p>
            <a:r>
              <a:rPr lang="en-CA" dirty="0"/>
              <a:t>Three scenarios: baseline, adverse, severely adverse</a:t>
            </a:r>
          </a:p>
          <a:p>
            <a:r>
              <a:rPr lang="en-CA" dirty="0"/>
              <a:t>9-quarter forward projection of revenues, losses, and capital ratios</a:t>
            </a:r>
          </a:p>
          <a:p>
            <a:r>
              <a:rPr lang="en-CA" dirty="0"/>
              <a:t>Post-stress CET1 must remain at least 4.5% throughout the projection</a:t>
            </a:r>
          </a:p>
          <a:p>
            <a:r>
              <a:rPr lang="en-CA" dirty="0"/>
              <a:t>Failure: supervisory action; dividend / buyback restrictions</a:t>
            </a:r>
          </a:p>
          <a:p>
            <a:pPr marL="0" indent="0">
              <a:buNone/>
            </a:pPr>
            <a:r>
              <a:rPr lang="en-CA" b="1" dirty="0"/>
              <a:t>DFAST: Dodd-Frank Act Stress Tests (Dodd-Frank Act 2010; Fed 2011 to present)</a:t>
            </a:r>
          </a:p>
          <a:p>
            <a:r>
              <a:rPr lang="en-CA" dirty="0"/>
              <a:t>Statutory stress tests required by the Dodd-Frank Act (Section 165)</a:t>
            </a:r>
          </a:p>
          <a:p>
            <a:r>
              <a:rPr lang="en-CA" dirty="0"/>
              <a:t>Conducted by both the Fed (supervisory) and banks themselves (company-run)</a:t>
            </a:r>
          </a:p>
          <a:p>
            <a:r>
              <a:rPr lang="en-CA" dirty="0"/>
              <a:t>Published results: transparency to investors and the public</a:t>
            </a:r>
          </a:p>
          <a:p>
            <a:r>
              <a:rPr lang="en-CA" dirty="0"/>
              <a:t>Mid-size banks (10 to 100Bn USD): less frequent, simplified scenarios</a:t>
            </a:r>
          </a:p>
          <a:p>
            <a:r>
              <a:rPr lang="en-CA" dirty="0"/>
              <a:t>European equivalent: EBA stress tests (EU-wide, 50+ banks, biennial)</a:t>
            </a:r>
          </a:p>
          <a:p>
            <a:r>
              <a:rPr lang="en-CA" dirty="0"/>
              <a:t>ECB SREP: Supervisory Review and Evaluation Process, a Pillar 2 add-on</a:t>
            </a:r>
          </a:p>
          <a:p>
            <a:r>
              <a:rPr lang="en-CA" dirty="0"/>
              <a:t>Common thread: all regulators now require scenario-based capital projection</a:t>
            </a:r>
          </a:p>
        </p:txBody>
      </p:sp>
    </p:spTree>
    <p:extLst>
      <p:ext uri="{BB962C8B-B14F-4D97-AF65-F5344CB8AC3E}">
        <p14:creationId xmlns:p14="http://schemas.microsoft.com/office/powerpoint/2010/main" val="41539622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Required Readings and References</a:t>
            </a:r>
            <a:endParaRPr b="1" dirty="0">
              <a:latin typeface="Arial" panose="020B0604020202020204" pitchFamily="34" charset="0"/>
              <a:cs typeface="Arial" panose="020B0604020202020204" pitchFamily="34" charset="0"/>
            </a:endParaRPr>
          </a:p>
        </p:txBody>
      </p:sp>
      <p:sp>
        <p:nvSpPr>
          <p:cNvPr id="4046" name="Content Placeholder"/>
          <p:cNvSpPr>
            <a:spLocks noGrp="1"/>
          </p:cNvSpPr>
          <p:nvPr>
            <p:ph sz="half" idx="2"/>
          </p:nvPr>
        </p:nvSpPr>
        <p:spPr/>
        <p:txBody>
          <a:bodyPr wrap="square">
            <a:normAutofit fontScale="85000" lnSpcReduction="20000"/>
          </a:bodyPr>
          <a:lstStyle/>
          <a:p>
            <a:pPr marL="0" indent="0">
              <a:buNone/>
            </a:pPr>
            <a:r>
              <a:rPr lang="en-CA" b="1" dirty="0"/>
              <a:t>Required</a:t>
            </a:r>
          </a:p>
          <a:p>
            <a:r>
              <a:rPr lang="en-CA" dirty="0"/>
              <a:t>Hull, J. C. (2023). Risk Management and Financial Institutions, 6e. Ch. 16: Scenario Analysis and Stress Testing.</a:t>
            </a:r>
          </a:p>
          <a:p>
            <a:r>
              <a:rPr lang="en-CA" dirty="0"/>
              <a:t>Hull, J. C. (2023). Risk Management and Financial Institutions, 6e. Ch. 25: Basel I, Basel II</a:t>
            </a:r>
          </a:p>
          <a:p>
            <a:r>
              <a:rPr lang="en-CA" dirty="0"/>
              <a:t>Hull, J. C. (2023). Risk Management and Financial Institutions, 6e. Ch. 26: Basel II.5, Basel III, and Other Post-Crisis Changes.</a:t>
            </a:r>
          </a:p>
          <a:p>
            <a:r>
              <a:rPr lang="en-CA" dirty="0"/>
              <a:t>Jorion, P. (2010). Financial Risk Manager Handbook, 6e. Ch. 28: The Basel Accord.</a:t>
            </a:r>
          </a:p>
          <a:p>
            <a:pPr marL="0" indent="0">
              <a:buNone/>
            </a:pPr>
            <a:r>
              <a:rPr lang="en-CA" b="1" dirty="0"/>
              <a:t>Supplementary</a:t>
            </a:r>
          </a:p>
          <a:p>
            <a:r>
              <a:rPr lang="en-CA" dirty="0"/>
              <a:t>Hanson, S. G., Kashyap, A. K., and Stein, J. C. (2011). A macroprudential approach to financial regulation. Journal of Economic Perspectives, 25(1), 3 to 28.</a:t>
            </a:r>
          </a:p>
          <a:p>
            <a:r>
              <a:rPr lang="en-CA" dirty="0"/>
              <a:t>BCBS (2011). Basel III: A global regulatory framework for more resilient banks and banking systems (bcbs189). Bank for International Settlements.</a:t>
            </a:r>
          </a:p>
          <a:p>
            <a:r>
              <a:rPr lang="en-CA" dirty="0"/>
              <a:t>BCBS (2018). Stress testing principles (d450). Bank for International Settlements.</a:t>
            </a:r>
          </a:p>
        </p:txBody>
      </p:sp>
    </p:spTree>
    <p:extLst>
      <p:ext uri="{BB962C8B-B14F-4D97-AF65-F5344CB8AC3E}">
        <p14:creationId xmlns:p14="http://schemas.microsoft.com/office/powerpoint/2010/main" val="333650278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2713</TotalTime>
  <Words>6894</Words>
  <Application>Microsoft Macintosh PowerPoint</Application>
  <PresentationFormat>Widescreen</PresentationFormat>
  <Paragraphs>578</Paragraphs>
  <Slides>49</Slides>
  <Notes>46</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57" baseType="lpstr">
      <vt:lpstr>Arial</vt:lpstr>
      <vt:lpstr>Calibri</vt:lpstr>
      <vt:lpstr>Calibri Light</vt:lpstr>
      <vt:lpstr>Symbol</vt:lpstr>
      <vt:lpstr>Times New Roman</vt:lpstr>
      <vt:lpstr>Wingdings</vt:lpstr>
      <vt:lpstr>Office 2013 - 2022 Theme</vt:lpstr>
      <vt:lpstr>Equation</vt:lpstr>
      <vt:lpstr>FINANCIAL RISK MANAGEMENT AND ENGINEERING  Session 11: Regulatory Risk &amp; Stress Testing</vt:lpstr>
      <vt:lpstr>Learning Objectives</vt:lpstr>
      <vt:lpstr>PowerPoint Presentation</vt:lpstr>
      <vt:lpstr>Basel I and II - The Capital Framework Begins</vt:lpstr>
      <vt:lpstr>1988: BIS Accord (aka Basel I)</vt:lpstr>
      <vt:lpstr>Risk-Weighted Capital</vt:lpstr>
      <vt:lpstr>Basel I: Risk-Weighted Assets</vt:lpstr>
      <vt:lpstr>Credit Equivalent Amount for Derivatives</vt:lpstr>
      <vt:lpstr>The Risk-Weighted Assets Math</vt:lpstr>
      <vt:lpstr>Netting</vt:lpstr>
      <vt:lpstr>Netting Calculations</vt:lpstr>
      <vt:lpstr>1996 Amendment: The Market Risk Capital</vt:lpstr>
      <vt:lpstr>Basel II</vt:lpstr>
      <vt:lpstr>Basel II New Capital Requirements</vt:lpstr>
      <vt:lpstr>Internal Rating-Based (IRB) Approach For corporate, banks and sovereign exposures</vt:lpstr>
      <vt:lpstr>Basel II: IRB Capital Formula</vt:lpstr>
      <vt:lpstr>The Model used by Regulators</vt:lpstr>
      <vt:lpstr>Numerical Results for WCDR</vt:lpstr>
      <vt:lpstr>Operational Risk Capital</vt:lpstr>
      <vt:lpstr>Supervisory Review and Market Discipline  </vt:lpstr>
      <vt:lpstr>Basel II.5, III and Post-Crisis Architecture</vt:lpstr>
      <vt:lpstr>Basel II.5 </vt:lpstr>
      <vt:lpstr>Basel II.5: Stressed VaR and Incremental Risk</vt:lpstr>
      <vt:lpstr>Basel III: The Post-Crisis Architecture</vt:lpstr>
      <vt:lpstr>Leverage Ratio</vt:lpstr>
      <vt:lpstr>G-SIBs and D-SIBs</vt:lpstr>
      <vt:lpstr>Dodd-Frank Act</vt:lpstr>
      <vt:lpstr>Basel III: The Post-Crisis Architecture</vt:lpstr>
      <vt:lpstr>Capital Ratios: Definitions and Minimums</vt:lpstr>
      <vt:lpstr>FRTB and Use of Expected Shortfall</vt:lpstr>
      <vt:lpstr>The Shocks to Market Variables</vt:lpstr>
      <vt:lpstr>The Basel Timeline: Evolution at a Glance</vt:lpstr>
      <vt:lpstr>The Basel Timeline: Evolution at a Glance (cont.)</vt:lpstr>
      <vt:lpstr>What Is Systemic Risk?</vt:lpstr>
      <vt:lpstr>Contagion Mechanisms</vt:lpstr>
      <vt:lpstr>Measuring Systemic Risk: CoVaR and Delta CoVaR</vt:lpstr>
      <vt:lpstr>MES and SRISK</vt:lpstr>
      <vt:lpstr>Systemic Risk Measures Compared</vt:lpstr>
      <vt:lpstr>What Is Model Risk?</vt:lpstr>
      <vt:lpstr>Model Risk Taxonomy</vt:lpstr>
      <vt:lpstr>Case Study: Long-Term Capital Management (1998)</vt:lpstr>
      <vt:lpstr>Model Validation Framework</vt:lpstr>
      <vt:lpstr>Climate Risk as a Financial Risk</vt:lpstr>
      <vt:lpstr>ESG: Measurement Challenges</vt:lpstr>
      <vt:lpstr>The Green Swan (BIS 2020)</vt:lpstr>
      <vt:lpstr>Scenario Analysis: Building the Shock Grid</vt:lpstr>
      <vt:lpstr>Reverse Stress Testing</vt:lpstr>
      <vt:lpstr>CCAR and DFAST: The US Stress-Testing Framework</vt:lpstr>
      <vt:lpstr>Required Readings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Hull RMFI 6e - Chapters 1-4</dc:title>
  <dc:subject>Options, Futures, and Other Derivatives, 11e</dc:subject>
  <dc:creator/>
  <cp:keywords>Chapter1</cp:keywords>
  <dc:description>Copyright 2021 by John C. Hull. All Rights Reserved. Published 2021</dc:description>
  <cp:lastModifiedBy>Yuriy Zabolotnyuk</cp:lastModifiedBy>
  <cp:revision>116</cp:revision>
  <dcterms:created xsi:type="dcterms:W3CDTF">2008-05-28T22:27:59Z</dcterms:created>
  <dcterms:modified xsi:type="dcterms:W3CDTF">2026-07-20T19:33:32Z</dcterms:modified>
</cp:coreProperties>
</file>