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31"/>
  </p:notesMasterIdLst>
  <p:sldIdLst>
    <p:sldId id="256" r:id="rId2"/>
    <p:sldId id="258" r:id="rId3"/>
    <p:sldId id="259" r:id="rId4"/>
    <p:sldId id="260" r:id="rId5"/>
    <p:sldId id="261" r:id="rId6"/>
    <p:sldId id="262" r:id="rId7"/>
    <p:sldId id="263" r:id="rId8"/>
    <p:sldId id="264" r:id="rId9"/>
    <p:sldId id="265" r:id="rId10"/>
    <p:sldId id="266" r:id="rId11"/>
    <p:sldId id="267" r:id="rId12"/>
    <p:sldId id="283" r:id="rId13"/>
    <p:sldId id="284" r:id="rId14"/>
    <p:sldId id="268" r:id="rId15"/>
    <p:sldId id="269" r:id="rId16"/>
    <p:sldId id="270" r:id="rId17"/>
    <p:sldId id="271" r:id="rId18"/>
    <p:sldId id="272" r:id="rId19"/>
    <p:sldId id="285" r:id="rId20"/>
    <p:sldId id="273" r:id="rId21"/>
    <p:sldId id="286" r:id="rId22"/>
    <p:sldId id="274" r:id="rId23"/>
    <p:sldId id="275" r:id="rId24"/>
    <p:sldId id="276" r:id="rId25"/>
    <p:sldId id="277" r:id="rId26"/>
    <p:sldId id="287" r:id="rId27"/>
    <p:sldId id="279" r:id="rId28"/>
    <p:sldId id="281" r:id="rId29"/>
    <p:sldId id="28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832BC8-D042-B842-B15C-193BC6ACB944}" v="35" dt="2026-07-08T16:42:35.1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3043"/>
  </p:normalViewPr>
  <p:slideViewPr>
    <p:cSldViewPr>
      <p:cViewPr varScale="1">
        <p:scale>
          <a:sx n="49" d="100"/>
          <a:sy n="49" d="100"/>
        </p:scale>
        <p:origin x="200" y="968"/>
      </p:cViewPr>
      <p:guideLst>
        <p:guide orient="horz" pos="2160"/>
        <p:guide pos="3840"/>
      </p:guideLst>
    </p:cSldViewPr>
  </p:slideViewPr>
  <p:notesTextViewPr>
    <p:cViewPr>
      <p:scale>
        <a:sx n="100" d="100"/>
        <a:sy n="100" d="100"/>
      </p:scale>
      <p:origin x="0" y="-3656"/>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08T16:43:33.854" v="2352" actId="20577"/>
      <pc:docMkLst>
        <pc:docMk/>
      </pc:docMkLst>
      <pc:sldChg chg="addSp delSp modSp mod modNotesTx">
        <pc:chgData name="Yuriy Zabolotnyuk" userId="5293f801-6ede-4669-8a17-9af1adeb069e" providerId="ADAL" clId="{9C72D551-62FB-5E3D-901C-9F32929520A9}" dt="2026-07-08T15:08:39.022" v="1695"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del">
        <pc:chgData name="Yuriy Zabolotnyuk" userId="5293f801-6ede-4669-8a17-9af1adeb069e" providerId="ADAL" clId="{9C72D551-62FB-5E3D-901C-9F32929520A9}" dt="2026-07-07T12:07:26.338" v="1693" actId="2696"/>
        <pc:sldMkLst>
          <pc:docMk/>
          <pc:sldMk cId="0" sldId="257"/>
        </pc:sldMkLst>
      </pc:sldChg>
      <pc:sldChg chg="modSp del mod">
        <pc:chgData name="Yuriy Zabolotnyuk" userId="5293f801-6ede-4669-8a17-9af1adeb069e" providerId="ADAL" clId="{9C72D551-62FB-5E3D-901C-9F32929520A9}" dt="2026-07-08T15:31:03.182" v="1842" actId="27636"/>
        <pc:sldMkLst>
          <pc:docMk/>
          <pc:sldMk cId="0" sldId="258"/>
        </pc:sldMkLst>
        <pc:spChg chg="mod">
          <ac:chgData name="Yuriy Zabolotnyuk" userId="5293f801-6ede-4669-8a17-9af1adeb069e" providerId="ADAL" clId="{9C72D551-62FB-5E3D-901C-9F32929520A9}" dt="2026-07-08T15:31:03.182" v="1842" actId="27636"/>
          <ac:spMkLst>
            <pc:docMk/>
            <pc:sldMk cId="0" sldId="258"/>
            <ac:spMk id="4004" creationId="{00000000-0000-0000-0000-000000000000}"/>
          </ac:spMkLst>
        </pc:spChg>
      </pc:sldChg>
      <pc:sldChg chg="modSp del mod">
        <pc:chgData name="Yuriy Zabolotnyuk" userId="5293f801-6ede-4669-8a17-9af1adeb069e" providerId="ADAL" clId="{9C72D551-62FB-5E3D-901C-9F32929520A9}" dt="2026-07-08T15:31:03.186" v="1843" actId="27636"/>
        <pc:sldMkLst>
          <pc:docMk/>
          <pc:sldMk cId="0" sldId="259"/>
        </pc:sldMkLst>
        <pc:spChg chg="mod">
          <ac:chgData name="Yuriy Zabolotnyuk" userId="5293f801-6ede-4669-8a17-9af1adeb069e" providerId="ADAL" clId="{9C72D551-62FB-5E3D-901C-9F32929520A9}" dt="2026-07-08T15:31:03.186" v="1843" actId="27636"/>
          <ac:spMkLst>
            <pc:docMk/>
            <pc:sldMk cId="0" sldId="259"/>
            <ac:spMk id="4006" creationId="{00000000-0000-0000-0000-000000000000}"/>
          </ac:spMkLst>
        </pc:spChg>
      </pc:sldChg>
      <pc:sldChg chg="modSp del mod">
        <pc:chgData name="Yuriy Zabolotnyuk" userId="5293f801-6ede-4669-8a17-9af1adeb069e" providerId="ADAL" clId="{9C72D551-62FB-5E3D-901C-9F32929520A9}" dt="2026-07-08T15:31:03.191" v="1844" actId="27636"/>
        <pc:sldMkLst>
          <pc:docMk/>
          <pc:sldMk cId="0" sldId="260"/>
        </pc:sldMkLst>
        <pc:spChg chg="mod">
          <ac:chgData name="Yuriy Zabolotnyuk" userId="5293f801-6ede-4669-8a17-9af1adeb069e" providerId="ADAL" clId="{9C72D551-62FB-5E3D-901C-9F32929520A9}" dt="2026-07-08T15:31:03.191" v="1844" actId="27636"/>
          <ac:spMkLst>
            <pc:docMk/>
            <pc:sldMk cId="0" sldId="260"/>
            <ac:spMk id="4008" creationId="{00000000-0000-0000-0000-000000000000}"/>
          </ac:spMkLst>
        </pc:spChg>
      </pc:sldChg>
      <pc:sldChg chg="modSp del mod modNotesTx">
        <pc:chgData name="Yuriy Zabolotnyuk" userId="5293f801-6ede-4669-8a17-9af1adeb069e" providerId="ADAL" clId="{9C72D551-62FB-5E3D-901C-9F32929520A9}" dt="2026-07-08T15:12:54.056" v="1757" actId="1036"/>
        <pc:sldMkLst>
          <pc:docMk/>
          <pc:sldMk cId="0" sldId="261"/>
        </pc:sldMkLst>
        <pc:spChg chg="mod">
          <ac:chgData name="Yuriy Zabolotnyuk" userId="5293f801-6ede-4669-8a17-9af1adeb069e" providerId="ADAL" clId="{9C72D551-62FB-5E3D-901C-9F32929520A9}" dt="2026-07-08T15:11:17.010" v="1732" actId="27636"/>
          <ac:spMkLst>
            <pc:docMk/>
            <pc:sldMk cId="0" sldId="261"/>
            <ac:spMk id="2" creationId="{00000000-0000-0000-0000-000000000000}"/>
          </ac:spMkLst>
        </pc:spChg>
        <pc:picChg chg="mod">
          <ac:chgData name="Yuriy Zabolotnyuk" userId="5293f801-6ede-4669-8a17-9af1adeb069e" providerId="ADAL" clId="{9C72D551-62FB-5E3D-901C-9F32929520A9}" dt="2026-07-08T15:12:54.056" v="1757" actId="1036"/>
          <ac:picMkLst>
            <pc:docMk/>
            <pc:sldMk cId="0" sldId="261"/>
            <ac:picMk id="4010" creationId="{00000000-0000-0000-0000-000000000000}"/>
          </ac:picMkLst>
        </pc:picChg>
        <pc:picChg chg="mod">
          <ac:chgData name="Yuriy Zabolotnyuk" userId="5293f801-6ede-4669-8a17-9af1adeb069e" providerId="ADAL" clId="{9C72D551-62FB-5E3D-901C-9F32929520A9}" dt="2026-07-08T15:12:52.036" v="1754" actId="1036"/>
          <ac:picMkLst>
            <pc:docMk/>
            <pc:sldMk cId="0" sldId="261"/>
            <ac:picMk id="4011" creationId="{00000000-0000-0000-0000-000000000000}"/>
          </ac:picMkLst>
        </pc:picChg>
      </pc:sldChg>
      <pc:sldChg chg="modSp del mod">
        <pc:chgData name="Yuriy Zabolotnyuk" userId="5293f801-6ede-4669-8a17-9af1adeb069e" providerId="ADAL" clId="{9C72D551-62FB-5E3D-901C-9F32929520A9}" dt="2026-07-08T15:13:01.346" v="1759" actId="1076"/>
        <pc:sldMkLst>
          <pc:docMk/>
          <pc:sldMk cId="0" sldId="262"/>
        </pc:sldMkLst>
        <pc:spChg chg="mod">
          <ac:chgData name="Yuriy Zabolotnyuk" userId="5293f801-6ede-4669-8a17-9af1adeb069e" providerId="ADAL" clId="{9C72D551-62FB-5E3D-901C-9F32929520A9}" dt="2026-07-08T15:11:34.793" v="1749" actId="27636"/>
          <ac:spMkLst>
            <pc:docMk/>
            <pc:sldMk cId="0" sldId="262"/>
            <ac:spMk id="2" creationId="{00000000-0000-0000-0000-000000000000}"/>
          </ac:spMkLst>
        </pc:spChg>
        <pc:picChg chg="mod">
          <ac:chgData name="Yuriy Zabolotnyuk" userId="5293f801-6ede-4669-8a17-9af1adeb069e" providerId="ADAL" clId="{9C72D551-62FB-5E3D-901C-9F32929520A9}" dt="2026-07-08T15:13:01.346" v="1759" actId="1076"/>
          <ac:picMkLst>
            <pc:docMk/>
            <pc:sldMk cId="0" sldId="262"/>
            <ac:picMk id="4012" creationId="{00000000-0000-0000-0000-000000000000}"/>
          </ac:picMkLst>
        </pc:picChg>
      </pc:sldChg>
      <pc:sldChg chg="modSp del mod modNotesTx">
        <pc:chgData name="Yuriy Zabolotnyuk" userId="5293f801-6ede-4669-8a17-9af1adeb069e" providerId="ADAL" clId="{9C72D551-62FB-5E3D-901C-9F32929520A9}" dt="2026-07-08T15:27:12.640" v="1773" actId="20577"/>
        <pc:sldMkLst>
          <pc:docMk/>
          <pc:sldMk cId="0" sldId="263"/>
        </pc:sldMkLst>
        <pc:spChg chg="mod">
          <ac:chgData name="Yuriy Zabolotnyuk" userId="5293f801-6ede-4669-8a17-9af1adeb069e" providerId="ADAL" clId="{9C72D551-62FB-5E3D-901C-9F32929520A9}" dt="2026-07-08T15:27:09.226" v="1772" actId="27636"/>
          <ac:spMkLst>
            <pc:docMk/>
            <pc:sldMk cId="0" sldId="263"/>
            <ac:spMk id="2" creationId="{00000000-0000-0000-0000-000000000000}"/>
          </ac:spMkLst>
        </pc:spChg>
        <pc:picChg chg="mod">
          <ac:chgData name="Yuriy Zabolotnyuk" userId="5293f801-6ede-4669-8a17-9af1adeb069e" providerId="ADAL" clId="{9C72D551-62FB-5E3D-901C-9F32929520A9}" dt="2026-07-08T15:13:08.541" v="1760" actId="1076"/>
          <ac:picMkLst>
            <pc:docMk/>
            <pc:sldMk cId="0" sldId="263"/>
            <ac:picMk id="4014" creationId="{00000000-0000-0000-0000-000000000000}"/>
          </ac:picMkLst>
        </pc:picChg>
      </pc:sldChg>
      <pc:sldChg chg="del">
        <pc:chgData name="Yuriy Zabolotnyuk" userId="5293f801-6ede-4669-8a17-9af1adeb069e" providerId="ADAL" clId="{9C72D551-62FB-5E3D-901C-9F32929520A9}" dt="2026-07-05T10:06:38.287" v="270" actId="2696"/>
        <pc:sldMkLst>
          <pc:docMk/>
          <pc:sldMk cId="0" sldId="264"/>
        </pc:sldMkLst>
      </pc:sldChg>
      <pc:sldChg chg="modSp del mod">
        <pc:chgData name="Yuriy Zabolotnyuk" userId="5293f801-6ede-4669-8a17-9af1adeb069e" providerId="ADAL" clId="{9C72D551-62FB-5E3D-901C-9F32929520A9}" dt="2026-07-08T15:28:41.151" v="1799" actId="20577"/>
        <pc:sldMkLst>
          <pc:docMk/>
          <pc:sldMk cId="0" sldId="265"/>
        </pc:sldMkLst>
        <pc:spChg chg="mod">
          <ac:chgData name="Yuriy Zabolotnyuk" userId="5293f801-6ede-4669-8a17-9af1adeb069e" providerId="ADAL" clId="{9C72D551-62FB-5E3D-901C-9F32929520A9}" dt="2026-07-08T15:28:41.151" v="1799" actId="20577"/>
          <ac:spMkLst>
            <pc:docMk/>
            <pc:sldMk cId="0" sldId="265"/>
            <ac:spMk id="2" creationId="{00000000-0000-0000-0000-000000000000}"/>
          </ac:spMkLst>
        </pc:spChg>
        <pc:picChg chg="mod">
          <ac:chgData name="Yuriy Zabolotnyuk" userId="5293f801-6ede-4669-8a17-9af1adeb069e" providerId="ADAL" clId="{9C72D551-62FB-5E3D-901C-9F32929520A9}" dt="2026-07-08T15:27:34.097" v="1780" actId="1035"/>
          <ac:picMkLst>
            <pc:docMk/>
            <pc:sldMk cId="0" sldId="265"/>
            <ac:picMk id="4018" creationId="{00000000-0000-0000-0000-000000000000}"/>
          </ac:picMkLst>
        </pc:picChg>
      </pc:sldChg>
      <pc:sldChg chg="modSp del mod">
        <pc:chgData name="Yuriy Zabolotnyuk" userId="5293f801-6ede-4669-8a17-9af1adeb069e" providerId="ADAL" clId="{9C72D551-62FB-5E3D-901C-9F32929520A9}" dt="2026-07-08T15:31:03.210" v="1845" actId="27636"/>
        <pc:sldMkLst>
          <pc:docMk/>
          <pc:sldMk cId="0" sldId="266"/>
        </pc:sldMkLst>
        <pc:spChg chg="mod">
          <ac:chgData name="Yuriy Zabolotnyuk" userId="5293f801-6ede-4669-8a17-9af1adeb069e" providerId="ADAL" clId="{9C72D551-62FB-5E3D-901C-9F32929520A9}" dt="2026-07-08T15:31:03.210" v="1845" actId="27636"/>
          <ac:spMkLst>
            <pc:docMk/>
            <pc:sldMk cId="0" sldId="266"/>
            <ac:spMk id="4020" creationId="{00000000-0000-0000-0000-000000000000}"/>
          </ac:spMkLst>
        </pc:spChg>
      </pc:sldChg>
      <pc:sldChg chg="modSp del mod">
        <pc:chgData name="Yuriy Zabolotnyuk" userId="5293f801-6ede-4669-8a17-9af1adeb069e" providerId="ADAL" clId="{9C72D551-62FB-5E3D-901C-9F32929520A9}" dt="2026-07-08T15:50:14.089" v="1989" actId="27636"/>
        <pc:sldMkLst>
          <pc:docMk/>
          <pc:sldMk cId="0" sldId="267"/>
        </pc:sldMkLst>
        <pc:spChg chg="mod">
          <ac:chgData name="Yuriy Zabolotnyuk" userId="5293f801-6ede-4669-8a17-9af1adeb069e" providerId="ADAL" clId="{9C72D551-62FB-5E3D-901C-9F32929520A9}" dt="2026-07-08T15:50:14.089" v="1989" actId="27636"/>
          <ac:spMkLst>
            <pc:docMk/>
            <pc:sldMk cId="0" sldId="267"/>
            <ac:spMk id="2" creationId="{00000000-0000-0000-0000-000000000000}"/>
          </ac:spMkLst>
        </pc:spChg>
        <pc:picChg chg="mod">
          <ac:chgData name="Yuriy Zabolotnyuk" userId="5293f801-6ede-4669-8a17-9af1adeb069e" providerId="ADAL" clId="{9C72D551-62FB-5E3D-901C-9F32929520A9}" dt="2026-07-08T15:29:14.182" v="1810" actId="1035"/>
          <ac:picMkLst>
            <pc:docMk/>
            <pc:sldMk cId="0" sldId="267"/>
            <ac:picMk id="4022" creationId="{00000000-0000-0000-0000-000000000000}"/>
          </ac:picMkLst>
        </pc:picChg>
        <pc:picChg chg="mod">
          <ac:chgData name="Yuriy Zabolotnyuk" userId="5293f801-6ede-4669-8a17-9af1adeb069e" providerId="ADAL" clId="{9C72D551-62FB-5E3D-901C-9F32929520A9}" dt="2026-07-08T15:29:17.612" v="1823" actId="1035"/>
          <ac:picMkLst>
            <pc:docMk/>
            <pc:sldMk cId="0" sldId="267"/>
            <ac:picMk id="4023" creationId="{00000000-0000-0000-0000-000000000000}"/>
          </ac:picMkLst>
        </pc:picChg>
      </pc:sldChg>
      <pc:sldChg chg="modSp del mod">
        <pc:chgData name="Yuriy Zabolotnyuk" userId="5293f801-6ede-4669-8a17-9af1adeb069e" providerId="ADAL" clId="{9C72D551-62FB-5E3D-901C-9F32929520A9}" dt="2026-07-08T15:52:29.583" v="1996" actId="20577"/>
        <pc:sldMkLst>
          <pc:docMk/>
          <pc:sldMk cId="0" sldId="268"/>
        </pc:sldMkLst>
        <pc:spChg chg="mod">
          <ac:chgData name="Yuriy Zabolotnyuk" userId="5293f801-6ede-4669-8a17-9af1adeb069e" providerId="ADAL" clId="{9C72D551-62FB-5E3D-901C-9F32929520A9}" dt="2026-07-08T15:52:29.583" v="1996" actId="20577"/>
          <ac:spMkLst>
            <pc:docMk/>
            <pc:sldMk cId="0" sldId="268"/>
            <ac:spMk id="2" creationId="{00000000-0000-0000-0000-000000000000}"/>
          </ac:spMkLst>
        </pc:spChg>
        <pc:picChg chg="mod">
          <ac:chgData name="Yuriy Zabolotnyuk" userId="5293f801-6ede-4669-8a17-9af1adeb069e" providerId="ADAL" clId="{9C72D551-62FB-5E3D-901C-9F32929520A9}" dt="2026-07-08T15:32:18.065" v="1868" actId="1035"/>
          <ac:picMkLst>
            <pc:docMk/>
            <pc:sldMk cId="0" sldId="268"/>
            <ac:picMk id="4024" creationId="{00000000-0000-0000-0000-000000000000}"/>
          </ac:picMkLst>
        </pc:picChg>
        <pc:picChg chg="mod">
          <ac:chgData name="Yuriy Zabolotnyuk" userId="5293f801-6ede-4669-8a17-9af1adeb069e" providerId="ADAL" clId="{9C72D551-62FB-5E3D-901C-9F32929520A9}" dt="2026-07-08T15:32:39.408" v="1884" actId="14100"/>
          <ac:picMkLst>
            <pc:docMk/>
            <pc:sldMk cId="0" sldId="268"/>
            <ac:picMk id="4025" creationId="{00000000-0000-0000-0000-000000000000}"/>
          </ac:picMkLst>
        </pc:picChg>
      </pc:sldChg>
      <pc:sldChg chg="modSp add del mod modNotesTx">
        <pc:chgData name="Yuriy Zabolotnyuk" userId="5293f801-6ede-4669-8a17-9af1adeb069e" providerId="ADAL" clId="{9C72D551-62FB-5E3D-901C-9F32929520A9}" dt="2026-07-08T15:53:02.008" v="1998" actId="27636"/>
        <pc:sldMkLst>
          <pc:docMk/>
          <pc:sldMk cId="0" sldId="269"/>
        </pc:sldMkLst>
        <pc:spChg chg="mod">
          <ac:chgData name="Yuriy Zabolotnyuk" userId="5293f801-6ede-4669-8a17-9af1adeb069e" providerId="ADAL" clId="{9C72D551-62FB-5E3D-901C-9F32929520A9}" dt="2026-07-08T15:53:02.008" v="1998" actId="27636"/>
          <ac:spMkLst>
            <pc:docMk/>
            <pc:sldMk cId="0" sldId="269"/>
            <ac:spMk id="4026" creationId="{00000000-0000-0000-0000-000000000000}"/>
          </ac:spMkLst>
        </pc:spChg>
      </pc:sldChg>
      <pc:sldChg chg="modSp add del mod">
        <pc:chgData name="Yuriy Zabolotnyuk" userId="5293f801-6ede-4669-8a17-9af1adeb069e" providerId="ADAL" clId="{9C72D551-62FB-5E3D-901C-9F32929520A9}" dt="2026-07-08T15:31:03.074" v="1830" actId="27636"/>
        <pc:sldMkLst>
          <pc:docMk/>
          <pc:sldMk cId="0" sldId="270"/>
        </pc:sldMkLst>
        <pc:spChg chg="mod">
          <ac:chgData name="Yuriy Zabolotnyuk" userId="5293f801-6ede-4669-8a17-9af1adeb069e" providerId="ADAL" clId="{9C72D551-62FB-5E3D-901C-9F32929520A9}" dt="2026-07-08T15:31:03.074" v="1830" actId="27636"/>
          <ac:spMkLst>
            <pc:docMk/>
            <pc:sldMk cId="0" sldId="270"/>
            <ac:spMk id="4028" creationId="{00000000-0000-0000-0000-000000000000}"/>
          </ac:spMkLst>
        </pc:spChg>
      </pc:sldChg>
      <pc:sldChg chg="delSp modSp add del mod">
        <pc:chgData name="Yuriy Zabolotnyuk" userId="5293f801-6ede-4669-8a17-9af1adeb069e" providerId="ADAL" clId="{9C72D551-62FB-5E3D-901C-9F32929520A9}" dt="2026-07-08T15:53:28.812" v="2000" actId="27636"/>
        <pc:sldMkLst>
          <pc:docMk/>
          <pc:sldMk cId="0" sldId="271"/>
        </pc:sldMkLst>
        <pc:spChg chg="mod">
          <ac:chgData name="Yuriy Zabolotnyuk" userId="5293f801-6ede-4669-8a17-9af1adeb069e" providerId="ADAL" clId="{9C72D551-62FB-5E3D-901C-9F32929520A9}" dt="2026-07-08T15:53:28.812" v="2000" actId="27636"/>
          <ac:spMkLst>
            <pc:docMk/>
            <pc:sldMk cId="0" sldId="271"/>
            <ac:spMk id="4030" creationId="{00000000-0000-0000-0000-000000000000}"/>
          </ac:spMkLst>
        </pc:spChg>
      </pc:sldChg>
      <pc:sldChg chg="delSp modSp add del mod modNotesTx">
        <pc:chgData name="Yuriy Zabolotnyuk" userId="5293f801-6ede-4669-8a17-9af1adeb069e" providerId="ADAL" clId="{9C72D551-62FB-5E3D-901C-9F32929520A9}" dt="2026-07-08T15:55:42.626" v="2030" actId="20577"/>
        <pc:sldMkLst>
          <pc:docMk/>
          <pc:sldMk cId="0" sldId="272"/>
        </pc:sldMkLst>
        <pc:spChg chg="mod">
          <ac:chgData name="Yuriy Zabolotnyuk" userId="5293f801-6ede-4669-8a17-9af1adeb069e" providerId="ADAL" clId="{9C72D551-62FB-5E3D-901C-9F32929520A9}" dt="2026-07-08T15:55:42.626" v="2030" actId="20577"/>
          <ac:spMkLst>
            <pc:docMk/>
            <pc:sldMk cId="0" sldId="272"/>
            <ac:spMk id="2" creationId="{00000000-0000-0000-0000-000000000000}"/>
          </ac:spMkLst>
        </pc:spChg>
        <pc:spChg chg="mod">
          <ac:chgData name="Yuriy Zabolotnyuk" userId="5293f801-6ede-4669-8a17-9af1adeb069e" providerId="ADAL" clId="{9C72D551-62FB-5E3D-901C-9F32929520A9}" dt="2026-07-08T15:55:35.345" v="2027" actId="20577"/>
          <ac:spMkLst>
            <pc:docMk/>
            <pc:sldMk cId="0" sldId="272"/>
            <ac:spMk id="4031" creationId="{00000000-0000-0000-0000-000000000000}"/>
          </ac:spMkLst>
        </pc:spChg>
        <pc:picChg chg="mod">
          <ac:chgData name="Yuriy Zabolotnyuk" userId="5293f801-6ede-4669-8a17-9af1adeb069e" providerId="ADAL" clId="{9C72D551-62FB-5E3D-901C-9F32929520A9}" dt="2026-07-08T15:54:09.030" v="2004" actId="1076"/>
          <ac:picMkLst>
            <pc:docMk/>
            <pc:sldMk cId="0" sldId="272"/>
            <ac:picMk id="4032" creationId="{00000000-0000-0000-0000-000000000000}"/>
          </ac:picMkLst>
        </pc:picChg>
      </pc:sldChg>
      <pc:sldChg chg="modSp add del mod modNotesTx">
        <pc:chgData name="Yuriy Zabolotnyuk" userId="5293f801-6ede-4669-8a17-9af1adeb069e" providerId="ADAL" clId="{9C72D551-62FB-5E3D-901C-9F32929520A9}" dt="2026-07-08T15:56:48.353" v="2038" actId="20577"/>
        <pc:sldMkLst>
          <pc:docMk/>
          <pc:sldMk cId="0" sldId="273"/>
        </pc:sldMkLst>
        <pc:spChg chg="mod">
          <ac:chgData name="Yuriy Zabolotnyuk" userId="5293f801-6ede-4669-8a17-9af1adeb069e" providerId="ADAL" clId="{9C72D551-62FB-5E3D-901C-9F32929520A9}" dt="2026-07-08T15:56:48.353" v="2038" actId="20577"/>
          <ac:spMkLst>
            <pc:docMk/>
            <pc:sldMk cId="0" sldId="273"/>
            <ac:spMk id="2" creationId="{00000000-0000-0000-0000-000000000000}"/>
          </ac:spMkLst>
        </pc:spChg>
        <pc:picChg chg="mod">
          <ac:chgData name="Yuriy Zabolotnyuk" userId="5293f801-6ede-4669-8a17-9af1adeb069e" providerId="ADAL" clId="{9C72D551-62FB-5E3D-901C-9F32929520A9}" dt="2026-07-08T15:56:34.897" v="2033" actId="1076"/>
          <ac:picMkLst>
            <pc:docMk/>
            <pc:sldMk cId="0" sldId="273"/>
            <ac:picMk id="4034" creationId="{00000000-0000-0000-0000-000000000000}"/>
          </ac:picMkLst>
        </pc:picChg>
      </pc:sldChg>
      <pc:sldChg chg="modSp mod">
        <pc:chgData name="Yuriy Zabolotnyuk" userId="5293f801-6ede-4669-8a17-9af1adeb069e" providerId="ADAL" clId="{9C72D551-62FB-5E3D-901C-9F32929520A9}" dt="2026-07-08T16:11:12.668" v="2195" actId="14100"/>
        <pc:sldMkLst>
          <pc:docMk/>
          <pc:sldMk cId="0" sldId="274"/>
        </pc:sldMkLst>
        <pc:spChg chg="mod">
          <ac:chgData name="Yuriy Zabolotnyuk" userId="5293f801-6ede-4669-8a17-9af1adeb069e" providerId="ADAL" clId="{9C72D551-62FB-5E3D-901C-9F32929520A9}" dt="2026-07-08T16:11:12.668" v="2195" actId="14100"/>
          <ac:spMkLst>
            <pc:docMk/>
            <pc:sldMk cId="0" sldId="274"/>
            <ac:spMk id="2" creationId="{00000000-0000-0000-0000-000000000000}"/>
          </ac:spMkLst>
        </pc:spChg>
        <pc:picChg chg="mod">
          <ac:chgData name="Yuriy Zabolotnyuk" userId="5293f801-6ede-4669-8a17-9af1adeb069e" providerId="ADAL" clId="{9C72D551-62FB-5E3D-901C-9F32929520A9}" dt="2026-07-08T16:11:07.108" v="2192" actId="1035"/>
          <ac:picMkLst>
            <pc:docMk/>
            <pc:sldMk cId="0" sldId="274"/>
            <ac:picMk id="4036" creationId="{00000000-0000-0000-0000-000000000000}"/>
          </ac:picMkLst>
        </pc:picChg>
      </pc:sldChg>
      <pc:sldChg chg="modSp add del mod modNotes modNotesTx">
        <pc:chgData name="Yuriy Zabolotnyuk" userId="5293f801-6ede-4669-8a17-9af1adeb069e" providerId="ADAL" clId="{9C72D551-62FB-5E3D-901C-9F32929520A9}" dt="2026-07-08T16:32:33.864" v="2274" actId="27636"/>
        <pc:sldMkLst>
          <pc:docMk/>
          <pc:sldMk cId="0" sldId="275"/>
        </pc:sldMkLst>
        <pc:spChg chg="mod">
          <ac:chgData name="Yuriy Zabolotnyuk" userId="5293f801-6ede-4669-8a17-9af1adeb069e" providerId="ADAL" clId="{9C72D551-62FB-5E3D-901C-9F32929520A9}" dt="2026-07-08T16:32:33.864" v="2274" actId="27636"/>
          <ac:spMkLst>
            <pc:docMk/>
            <pc:sldMk cId="0" sldId="275"/>
            <ac:spMk id="4038" creationId="{00000000-0000-0000-0000-000000000000}"/>
          </ac:spMkLst>
        </pc:spChg>
      </pc:sldChg>
      <pc:sldChg chg="modSp add del mod">
        <pc:chgData name="Yuriy Zabolotnyuk" userId="5293f801-6ede-4669-8a17-9af1adeb069e" providerId="ADAL" clId="{9C72D551-62FB-5E3D-901C-9F32929520A9}" dt="2026-07-08T15:31:03.121" v="1835" actId="27636"/>
        <pc:sldMkLst>
          <pc:docMk/>
          <pc:sldMk cId="0" sldId="276"/>
        </pc:sldMkLst>
        <pc:spChg chg="mod">
          <ac:chgData name="Yuriy Zabolotnyuk" userId="5293f801-6ede-4669-8a17-9af1adeb069e" providerId="ADAL" clId="{9C72D551-62FB-5E3D-901C-9F32929520A9}" dt="2026-07-08T15:31:03.121" v="1835" actId="27636"/>
          <ac:spMkLst>
            <pc:docMk/>
            <pc:sldMk cId="0" sldId="276"/>
            <ac:spMk id="4040" creationId="{00000000-0000-0000-0000-000000000000}"/>
          </ac:spMkLst>
        </pc:spChg>
      </pc:sldChg>
      <pc:sldChg chg="addSp delSp modSp mod">
        <pc:chgData name="Yuriy Zabolotnyuk" userId="5293f801-6ede-4669-8a17-9af1adeb069e" providerId="ADAL" clId="{9C72D551-62FB-5E3D-901C-9F32929520A9}" dt="2026-07-08T16:32:58.870" v="2283" actId="27636"/>
        <pc:sldMkLst>
          <pc:docMk/>
          <pc:sldMk cId="0" sldId="277"/>
        </pc:sldMkLst>
        <pc:spChg chg="mod">
          <ac:chgData name="Yuriy Zabolotnyuk" userId="5293f801-6ede-4669-8a17-9af1adeb069e" providerId="ADAL" clId="{9C72D551-62FB-5E3D-901C-9F32929520A9}" dt="2026-07-08T16:32:58.870" v="2283" actId="27636"/>
          <ac:spMkLst>
            <pc:docMk/>
            <pc:sldMk cId="0" sldId="277"/>
            <ac:spMk id="2" creationId="{00000000-0000-0000-0000-000000000000}"/>
          </ac:spMkLst>
        </pc:spChg>
        <pc:picChg chg="mod">
          <ac:chgData name="Yuriy Zabolotnyuk" userId="5293f801-6ede-4669-8a17-9af1adeb069e" providerId="ADAL" clId="{9C72D551-62FB-5E3D-901C-9F32929520A9}" dt="2026-07-08T16:32:48.484" v="2278" actId="1076"/>
          <ac:picMkLst>
            <pc:docMk/>
            <pc:sldMk cId="0" sldId="277"/>
            <ac:picMk id="4042" creationId="{00000000-0000-0000-0000-000000000000}"/>
          </ac:picMkLst>
        </pc:picChg>
      </pc:sldChg>
      <pc:sldChg chg="addSp modSp del mod">
        <pc:chgData name="Yuriy Zabolotnyuk" userId="5293f801-6ede-4669-8a17-9af1adeb069e" providerId="ADAL" clId="{9C72D551-62FB-5E3D-901C-9F32929520A9}" dt="2026-07-08T16:00:56.927" v="2040" actId="2696"/>
        <pc:sldMkLst>
          <pc:docMk/>
          <pc:sldMk cId="0" sldId="278"/>
        </pc:sldMkLst>
        <pc:spChg chg="mod">
          <ac:chgData name="Yuriy Zabolotnyuk" userId="5293f801-6ede-4669-8a17-9af1adeb069e" providerId="ADAL" clId="{9C72D551-62FB-5E3D-901C-9F32929520A9}" dt="2026-07-08T15:31:03.138" v="1837" actId="27636"/>
          <ac:spMkLst>
            <pc:docMk/>
            <pc:sldMk cId="0" sldId="278"/>
            <ac:spMk id="4044" creationId="{00000000-0000-0000-0000-000000000000}"/>
          </ac:spMkLst>
        </pc:spChg>
      </pc:sldChg>
      <pc:sldChg chg="modSp add del mod">
        <pc:chgData name="Yuriy Zabolotnyuk" userId="5293f801-6ede-4669-8a17-9af1adeb069e" providerId="ADAL" clId="{9C72D551-62FB-5E3D-901C-9F32929520A9}" dt="2026-07-08T15:31:03.152" v="1838" actId="27636"/>
        <pc:sldMkLst>
          <pc:docMk/>
          <pc:sldMk cId="0" sldId="279"/>
        </pc:sldMkLst>
        <pc:spChg chg="mod">
          <ac:chgData name="Yuriy Zabolotnyuk" userId="5293f801-6ede-4669-8a17-9af1adeb069e" providerId="ADAL" clId="{9C72D551-62FB-5E3D-901C-9F32929520A9}" dt="2026-07-08T15:31:03.152" v="1838" actId="27636"/>
          <ac:spMkLst>
            <pc:docMk/>
            <pc:sldMk cId="0" sldId="279"/>
            <ac:spMk id="4046" creationId="{00000000-0000-0000-0000-000000000000}"/>
          </ac:spMkLst>
        </pc:spChg>
      </pc:sldChg>
      <pc:sldChg chg="addSp delSp modSp del mod">
        <pc:chgData name="Yuriy Zabolotnyuk" userId="5293f801-6ede-4669-8a17-9af1adeb069e" providerId="ADAL" clId="{9C72D551-62FB-5E3D-901C-9F32929520A9}" dt="2026-07-08T16:00:01.072" v="2039" actId="2696"/>
        <pc:sldMkLst>
          <pc:docMk/>
          <pc:sldMk cId="0" sldId="280"/>
        </pc:sldMkLst>
        <pc:spChg chg="mod">
          <ac:chgData name="Yuriy Zabolotnyuk" userId="5293f801-6ede-4669-8a17-9af1adeb069e" providerId="ADAL" clId="{9C72D551-62FB-5E3D-901C-9F32929520A9}" dt="2026-07-08T15:31:03.154" v="1839" actId="27636"/>
          <ac:spMkLst>
            <pc:docMk/>
            <pc:sldMk cId="0" sldId="280"/>
            <ac:spMk id="4048" creationId="{00000000-0000-0000-0000-000000000000}"/>
          </ac:spMkLst>
        </pc:spChg>
      </pc:sldChg>
      <pc:sldChg chg="modSp mod">
        <pc:chgData name="Yuriy Zabolotnyuk" userId="5293f801-6ede-4669-8a17-9af1adeb069e" providerId="ADAL" clId="{9C72D551-62FB-5E3D-901C-9F32929520A9}" dt="2026-07-08T15:31:03.161" v="1840" actId="27636"/>
        <pc:sldMkLst>
          <pc:docMk/>
          <pc:sldMk cId="0" sldId="281"/>
        </pc:sldMkLst>
        <pc:spChg chg="mod">
          <ac:chgData name="Yuriy Zabolotnyuk" userId="5293f801-6ede-4669-8a17-9af1adeb069e" providerId="ADAL" clId="{9C72D551-62FB-5E3D-901C-9F32929520A9}" dt="2026-07-08T15:31:03.161" v="1840" actId="27636"/>
          <ac:spMkLst>
            <pc:docMk/>
            <pc:sldMk cId="0" sldId="281"/>
            <ac:spMk id="4050" creationId="{00000000-0000-0000-0000-000000000000}"/>
          </ac:spMkLst>
        </pc:spChg>
      </pc:sldChg>
      <pc:sldChg chg="modSp mod">
        <pc:chgData name="Yuriy Zabolotnyuk" userId="5293f801-6ede-4669-8a17-9af1adeb069e" providerId="ADAL" clId="{9C72D551-62FB-5E3D-901C-9F32929520A9}" dt="2026-07-08T15:31:03.172" v="1841" actId="27636"/>
        <pc:sldMkLst>
          <pc:docMk/>
          <pc:sldMk cId="0" sldId="282"/>
        </pc:sldMkLst>
        <pc:spChg chg="mod">
          <ac:chgData name="Yuriy Zabolotnyuk" userId="5293f801-6ede-4669-8a17-9af1adeb069e" providerId="ADAL" clId="{9C72D551-62FB-5E3D-901C-9F32929520A9}" dt="2026-07-08T15:31:03.172" v="1841" actId="27636"/>
          <ac:spMkLst>
            <pc:docMk/>
            <pc:sldMk cId="0" sldId="282"/>
            <ac:spMk id="4052" creationId="{00000000-0000-0000-0000-000000000000}"/>
          </ac:spMkLst>
        </pc:spChg>
      </pc:sldChg>
      <pc:sldChg chg="addSp delSp modSp add mod modNotes modNotesTx">
        <pc:chgData name="Yuriy Zabolotnyuk" userId="5293f801-6ede-4669-8a17-9af1adeb069e" providerId="ADAL" clId="{9C72D551-62FB-5E3D-901C-9F32929520A9}" dt="2026-07-08T15:51:48.347" v="1992" actId="20577"/>
        <pc:sldMkLst>
          <pc:docMk/>
          <pc:sldMk cId="3641632748" sldId="283"/>
        </pc:sldMkLst>
        <pc:spChg chg="mod">
          <ac:chgData name="Yuriy Zabolotnyuk" userId="5293f801-6ede-4669-8a17-9af1adeb069e" providerId="ADAL" clId="{9C72D551-62FB-5E3D-901C-9F32929520A9}" dt="2026-07-08T15:42:32.899" v="1921"/>
          <ac:spMkLst>
            <pc:docMk/>
            <pc:sldMk cId="3641632748" sldId="283"/>
            <ac:spMk id="2" creationId="{590C8D2F-C0F4-663A-B579-1BFDF0456503}"/>
          </ac:spMkLst>
        </pc:spChg>
        <pc:spChg chg="mod">
          <ac:chgData name="Yuriy Zabolotnyuk" userId="5293f801-6ede-4669-8a17-9af1adeb069e" providerId="ADAL" clId="{9C72D551-62FB-5E3D-901C-9F32929520A9}" dt="2026-07-08T15:47:58.351" v="1938" actId="2711"/>
          <ac:spMkLst>
            <pc:docMk/>
            <pc:sldMk cId="3641632748" sldId="283"/>
            <ac:spMk id="4021" creationId="{30DCB482-2324-423C-280A-6FFC1ADE5171}"/>
          </ac:spMkLst>
        </pc:spChg>
        <pc:picChg chg="add mod">
          <ac:chgData name="Yuriy Zabolotnyuk" userId="5293f801-6ede-4669-8a17-9af1adeb069e" providerId="ADAL" clId="{9C72D551-62FB-5E3D-901C-9F32929520A9}" dt="2026-07-08T15:35:26.735" v="1887" actId="1076"/>
          <ac:picMkLst>
            <pc:docMk/>
            <pc:sldMk cId="3641632748" sldId="283"/>
            <ac:picMk id="3" creationId="{F61DB8BE-FE52-56F1-EC92-3F8E4ED31DE4}"/>
          </ac:picMkLst>
        </pc:picChg>
        <pc:picChg chg="del">
          <ac:chgData name="Yuriy Zabolotnyuk" userId="5293f801-6ede-4669-8a17-9af1adeb069e" providerId="ADAL" clId="{9C72D551-62FB-5E3D-901C-9F32929520A9}" dt="2026-07-08T15:31:07.056" v="1846" actId="478"/>
          <ac:picMkLst>
            <pc:docMk/>
            <pc:sldMk cId="3641632748" sldId="283"/>
            <ac:picMk id="4022" creationId="{39FB53F6-50D3-715E-94AC-768F102317ED}"/>
          </ac:picMkLst>
        </pc:picChg>
        <pc:picChg chg="del">
          <ac:chgData name="Yuriy Zabolotnyuk" userId="5293f801-6ede-4669-8a17-9af1adeb069e" providerId="ADAL" clId="{9C72D551-62FB-5E3D-901C-9F32929520A9}" dt="2026-07-08T15:31:08.251" v="1847" actId="478"/>
          <ac:picMkLst>
            <pc:docMk/>
            <pc:sldMk cId="3641632748" sldId="283"/>
            <ac:picMk id="4023" creationId="{705D4ABF-9765-54BD-D4CD-6DCB5B7302B6}"/>
          </ac:picMkLst>
        </pc:picChg>
      </pc:sldChg>
      <pc:sldChg chg="addSp modSp add mod modNotes modNotesTx">
        <pc:chgData name="Yuriy Zabolotnyuk" userId="5293f801-6ede-4669-8a17-9af1adeb069e" providerId="ADAL" clId="{9C72D551-62FB-5E3D-901C-9F32929520A9}" dt="2026-07-08T15:51:27.123" v="1991" actId="27636"/>
        <pc:sldMkLst>
          <pc:docMk/>
          <pc:sldMk cId="107047706" sldId="284"/>
        </pc:sldMkLst>
        <pc:spChg chg="mod">
          <ac:chgData name="Yuriy Zabolotnyuk" userId="5293f801-6ede-4669-8a17-9af1adeb069e" providerId="ADAL" clId="{9C72D551-62FB-5E3D-901C-9F32929520A9}" dt="2026-07-08T15:43:03.793" v="1934"/>
          <ac:spMkLst>
            <pc:docMk/>
            <pc:sldMk cId="107047706" sldId="284"/>
            <ac:spMk id="2" creationId="{9EA8E99A-B81A-953A-246C-21F8B56D3876}"/>
          </ac:spMkLst>
        </pc:spChg>
        <pc:spChg chg="mod">
          <ac:chgData name="Yuriy Zabolotnyuk" userId="5293f801-6ede-4669-8a17-9af1adeb069e" providerId="ADAL" clId="{9C72D551-62FB-5E3D-901C-9F32929520A9}" dt="2026-07-08T15:47:49.290" v="1936" actId="2711"/>
          <ac:spMkLst>
            <pc:docMk/>
            <pc:sldMk cId="107047706" sldId="284"/>
            <ac:spMk id="4021" creationId="{9527563A-1E07-559E-6283-0A8189945E53}"/>
          </ac:spMkLst>
        </pc:spChg>
        <pc:picChg chg="add mod">
          <ac:chgData name="Yuriy Zabolotnyuk" userId="5293f801-6ede-4669-8a17-9af1adeb069e" providerId="ADAL" clId="{9C72D551-62FB-5E3D-901C-9F32929520A9}" dt="2026-07-08T15:35:41.888" v="1894" actId="1037"/>
          <ac:picMkLst>
            <pc:docMk/>
            <pc:sldMk cId="107047706" sldId="284"/>
            <ac:picMk id="3" creationId="{DA68812E-6792-A329-9E55-20712B438A95}"/>
          </ac:picMkLst>
        </pc:picChg>
      </pc:sldChg>
      <pc:sldChg chg="addSp delSp modSp add mod ord modNotesTx">
        <pc:chgData name="Yuriy Zabolotnyuk" userId="5293f801-6ede-4669-8a17-9af1adeb069e" providerId="ADAL" clId="{9C72D551-62FB-5E3D-901C-9F32929520A9}" dt="2026-07-08T16:10:10.932" v="2176" actId="20577"/>
        <pc:sldMkLst>
          <pc:docMk/>
          <pc:sldMk cId="3326768749" sldId="285"/>
        </pc:sldMkLst>
        <pc:spChg chg="mod">
          <ac:chgData name="Yuriy Zabolotnyuk" userId="5293f801-6ede-4669-8a17-9af1adeb069e" providerId="ADAL" clId="{9C72D551-62FB-5E3D-901C-9F32929520A9}" dt="2026-07-08T16:10:10.932" v="2176" actId="20577"/>
          <ac:spMkLst>
            <pc:docMk/>
            <pc:sldMk cId="3326768749" sldId="285"/>
            <ac:spMk id="2" creationId="{542E9431-CA6D-54DF-9BBD-50721297E82A}"/>
          </ac:spMkLst>
        </pc:spChg>
        <pc:spChg chg="mod">
          <ac:chgData name="Yuriy Zabolotnyuk" userId="5293f801-6ede-4669-8a17-9af1adeb069e" providerId="ADAL" clId="{9C72D551-62FB-5E3D-901C-9F32929520A9}" dt="2026-07-08T16:03:16.151" v="2094" actId="20577"/>
          <ac:spMkLst>
            <pc:docMk/>
            <pc:sldMk cId="3326768749" sldId="285"/>
            <ac:spMk id="4033" creationId="{B9B09D00-C904-74AE-FB22-440B7F45E414}"/>
          </ac:spMkLst>
        </pc:spChg>
        <pc:picChg chg="add mod">
          <ac:chgData name="Yuriy Zabolotnyuk" userId="5293f801-6ede-4669-8a17-9af1adeb069e" providerId="ADAL" clId="{9C72D551-62FB-5E3D-901C-9F32929520A9}" dt="2026-07-08T16:02:57.172" v="2063"/>
          <ac:picMkLst>
            <pc:docMk/>
            <pc:sldMk cId="3326768749" sldId="285"/>
            <ac:picMk id="3" creationId="{DCE66B0B-2874-5471-60FD-8FA0BC0F7974}"/>
          </ac:picMkLst>
        </pc:picChg>
        <pc:picChg chg="del">
          <ac:chgData name="Yuriy Zabolotnyuk" userId="5293f801-6ede-4669-8a17-9af1adeb069e" providerId="ADAL" clId="{9C72D551-62FB-5E3D-901C-9F32929520A9}" dt="2026-07-08T16:02:56.619" v="2062" actId="478"/>
          <ac:picMkLst>
            <pc:docMk/>
            <pc:sldMk cId="3326768749" sldId="285"/>
            <ac:picMk id="4034" creationId="{D8D04048-6BBA-D597-AC21-CF6A12E6902A}"/>
          </ac:picMkLst>
        </pc:picChg>
      </pc:sldChg>
      <pc:sldChg chg="addSp delSp modSp add mod modNotes modNotesTx">
        <pc:chgData name="Yuriy Zabolotnyuk" userId="5293f801-6ede-4669-8a17-9af1adeb069e" providerId="ADAL" clId="{9C72D551-62FB-5E3D-901C-9F32929520A9}" dt="2026-07-08T16:29:42.175" v="2265"/>
        <pc:sldMkLst>
          <pc:docMk/>
          <pc:sldMk cId="91049029" sldId="286"/>
        </pc:sldMkLst>
        <pc:spChg chg="add del mod">
          <ac:chgData name="Yuriy Zabolotnyuk" userId="5293f801-6ede-4669-8a17-9af1adeb069e" providerId="ADAL" clId="{9C72D551-62FB-5E3D-901C-9F32929520A9}" dt="2026-07-08T16:18:47.566" v="2238" actId="1035"/>
          <ac:spMkLst>
            <pc:docMk/>
            <pc:sldMk cId="91049029" sldId="286"/>
            <ac:spMk id="2" creationId="{84884950-579F-C4EB-CE87-F04A109F3DC6}"/>
          </ac:spMkLst>
        </pc:spChg>
        <pc:spChg chg="mod">
          <ac:chgData name="Yuriy Zabolotnyuk" userId="5293f801-6ede-4669-8a17-9af1adeb069e" providerId="ADAL" clId="{9C72D551-62FB-5E3D-901C-9F32929520A9}" dt="2026-07-08T16:11:46.578" v="2210" actId="20577"/>
          <ac:spMkLst>
            <pc:docMk/>
            <pc:sldMk cId="91049029" sldId="286"/>
            <ac:spMk id="4033" creationId="{BD2BF37F-B2CB-C5D6-A508-DB8F8DF3B038}"/>
          </ac:spMkLst>
        </pc:spChg>
        <pc:graphicFrameChg chg="add del mod ord modGraphic">
          <ac:chgData name="Yuriy Zabolotnyuk" userId="5293f801-6ede-4669-8a17-9af1adeb069e" providerId="ADAL" clId="{9C72D551-62FB-5E3D-901C-9F32929520A9}" dt="2026-07-08T16:12:45.638" v="2220" actId="3680"/>
          <ac:graphicFrameMkLst>
            <pc:docMk/>
            <pc:sldMk cId="91049029" sldId="286"/>
            <ac:graphicFrameMk id="3" creationId="{C46D4BE6-676C-0D4B-1134-BEFE6FBC803C}"/>
          </ac:graphicFrameMkLst>
        </pc:graphicFrameChg>
        <pc:graphicFrameChg chg="add mod modGraphic">
          <ac:chgData name="Yuriy Zabolotnyuk" userId="5293f801-6ede-4669-8a17-9af1adeb069e" providerId="ADAL" clId="{9C72D551-62FB-5E3D-901C-9F32929520A9}" dt="2026-07-08T16:18:52.472" v="2240" actId="1076"/>
          <ac:graphicFrameMkLst>
            <pc:docMk/>
            <pc:sldMk cId="91049029" sldId="286"/>
            <ac:graphicFrameMk id="4" creationId="{35F2A559-32C2-DEB8-46F6-001B1D7628D3}"/>
          </ac:graphicFrameMkLst>
        </pc:graphicFrameChg>
        <pc:graphicFrameChg chg="add mod modGraphic">
          <ac:chgData name="Yuriy Zabolotnyuk" userId="5293f801-6ede-4669-8a17-9af1adeb069e" providerId="ADAL" clId="{9C72D551-62FB-5E3D-901C-9F32929520A9}" dt="2026-07-08T16:29:42.175" v="2265"/>
          <ac:graphicFrameMkLst>
            <pc:docMk/>
            <pc:sldMk cId="91049029" sldId="286"/>
            <ac:graphicFrameMk id="5" creationId="{BB3D7631-E4E5-8626-40D4-CE384EF1D722}"/>
          </ac:graphicFrameMkLst>
        </pc:graphicFrameChg>
        <pc:picChg chg="add mod">
          <ac:chgData name="Yuriy Zabolotnyuk" userId="5293f801-6ede-4669-8a17-9af1adeb069e" providerId="ADAL" clId="{9C72D551-62FB-5E3D-901C-9F32929520A9}" dt="2026-07-08T16:23:13.871" v="2247" actId="1076"/>
          <ac:picMkLst>
            <pc:docMk/>
            <pc:sldMk cId="91049029" sldId="286"/>
            <ac:picMk id="6" creationId="{C560A508-6BC2-3351-D74C-0C011EDD01CB}"/>
          </ac:picMkLst>
        </pc:picChg>
      </pc:sldChg>
      <pc:sldChg chg="modSp add mod modNotes modNotesTx">
        <pc:chgData name="Yuriy Zabolotnyuk" userId="5293f801-6ede-4669-8a17-9af1adeb069e" providerId="ADAL" clId="{9C72D551-62FB-5E3D-901C-9F32929520A9}" dt="2026-07-08T16:43:33.854" v="2352" actId="20577"/>
        <pc:sldMkLst>
          <pc:docMk/>
          <pc:sldMk cId="1220089415" sldId="287"/>
        </pc:sldMkLst>
        <pc:spChg chg="mod">
          <ac:chgData name="Yuriy Zabolotnyuk" userId="5293f801-6ede-4669-8a17-9af1adeb069e" providerId="ADAL" clId="{9C72D551-62FB-5E3D-901C-9F32929520A9}" dt="2026-07-08T16:38:55.948" v="2338" actId="27636"/>
          <ac:spMkLst>
            <pc:docMk/>
            <pc:sldMk cId="1220089415" sldId="287"/>
            <ac:spMk id="2" creationId="{C46B00ED-3AE4-2E05-A1ED-2D57A129EEE8}"/>
          </ac:spMkLst>
        </pc:spChg>
        <pc:spChg chg="mod">
          <ac:chgData name="Yuriy Zabolotnyuk" userId="5293f801-6ede-4669-8a17-9af1adeb069e" providerId="ADAL" clId="{9C72D551-62FB-5E3D-901C-9F32929520A9}" dt="2026-07-08T16:33:53.293" v="2320" actId="20577"/>
          <ac:spMkLst>
            <pc:docMk/>
            <pc:sldMk cId="1220089415" sldId="287"/>
            <ac:spMk id="4041" creationId="{CD2BBA2A-75EC-B00F-0B53-BE1ACF8C8C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7/8/26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Session 4 completes the market-risk measurement block (Sessions 2 to 4). We move beyond VaR to Expected Shortfall, the measure Basel III mandates, and build the statistical machinery to validate every model we build.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objectives mirror the five blocks and sections of the deck. Objectives 3 to 5 are directly testable in Assignment 1, where students backtest their own portfolio's ES estimates at 97.5%.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1 makes the case for Expected Shortfall by first exposing the structural weaknesses of VaR. Hull Ch.11 sections 11.4 to 11.10 is the core reference here.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sub-additivity counterexample from Artzner et al. (1999): two bonds, each with VaR = 0 at 95%, but together VaR &gt; 0. This is the single most powerful argument for switching to 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ES is the area-weighted average of all VaR quantiles above alpha, which is why it never ignores tail severity.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sub-additivity failure of VaR is not just theoretical - it is the reason Basel III switched. Ask: if VaR is not sub-additive, what does a bank-level VaR aggregated from desks actually mean? The answer is: potentially very little.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textbook-style example students can replicate by hand. With 20 observations the worst 10% is exactly 2 days, so the tail is easy to see. Stress: VaR says you lose at most 14K on 90% of days but says nothing about the -20K day. ES says on your worst 10% of days you lose on average 17K. That is what a risk manager actually needs.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this as the conceptual capstone of the coherence discussion: VaR to ES to spectral is a ladder of increasing tail sensitivity. ES already dominates VaR; spectral measures go further by letting the weighting function encode risk appetite. Students do not implement these in the exam, but they should understand that ES is one specific flat-weight choice within a richer family, and that coherence holds for the whole family.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2 applies the three methods across different distributional assumptions. This feeds into the lab where students use all three on SPY daily returns.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26% understatement under normality versus t(5) is a concrete number to write on the board. Ask students: if you are holding a 500M position and your ES is off by 26%, how much capital buffer are you missing? This motivates the historical simulation approach in the lab.</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3E233-9887-07CE-00CD-A597FFEC9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1B1B0-99FD-C7CA-3BE8-1BB7355BA1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DB135E2-526E-6F26-15B4-6C260459B86B}"/>
              </a:ext>
            </a:extLst>
          </p:cNvPr>
          <p:cNvSpPr>
            <a:spLocks noGrp="1"/>
          </p:cNvSpPr>
          <p:nvPr>
            <p:ph type="body" sz="quarter" idx="3"/>
          </p:nvPr>
        </p:nvSpPr>
        <p:spPr/>
        <p:txBody>
          <a:bodyPr>
            <a:normAutofit fontScale="32500" lnSpcReduction="20000"/>
          </a:bodyPr>
          <a:lstStyle/>
          <a:p>
            <a:r>
              <a:rPr lang="en-CA" dirty="0"/>
              <a:t>ES is VaR scaled by phi(z)/(1-c) then divided by z, i.e. 2.665/2.326 = 1.15, so ES is only 15% above </a:t>
            </a:r>
            <a:r>
              <a:rPr lang="en-CA" dirty="0" err="1"/>
              <a:t>VaR.</a:t>
            </a:r>
            <a:r>
              <a:rPr lang="en-CA" dirty="0"/>
              <a:t> Contrast with the fat-tailed t on the next slide.</a:t>
            </a:r>
          </a:p>
          <a:p>
            <a:endParaRPr lang="en-CA" dirty="0"/>
          </a:p>
          <a:p>
            <a:r>
              <a:rPr lang="en-CA" dirty="0"/>
              <a:t>Step-by-step explanation: </a:t>
            </a:r>
          </a:p>
          <a:p>
            <a:endParaRPr lang="en-CA" dirty="0"/>
          </a:p>
          <a:p>
            <a:r>
              <a:rPr lang="en-CA" dirty="0"/>
              <a:t>We own $1,000,000 of a portfolio. We want two numbers about a really bad day:</a:t>
            </a:r>
          </a:p>
          <a:p>
            <a:r>
              <a:rPr lang="en-CA" dirty="0"/>
              <a:t>- VaR = "On a bad day (the worst 1 in 100), how much could I lose?"</a:t>
            </a:r>
          </a:p>
          <a:p>
            <a:r>
              <a:rPr lang="en-CA" dirty="0"/>
              <a:t>- ES = "When I have one of those bad days, how much do I lose on average?"</a:t>
            </a:r>
          </a:p>
          <a:p>
            <a:endParaRPr lang="en-CA" dirty="0"/>
          </a:p>
          <a:p>
            <a:r>
              <a:rPr lang="en-CA" dirty="0"/>
              <a:t>ES is always the bigger, scarier number because it averages the disasters, not just the entry point to disaster.</a:t>
            </a:r>
          </a:p>
          <a:p>
            <a:endParaRPr lang="en-CA" dirty="0"/>
          </a:p>
          <a:p>
            <a:r>
              <a:rPr lang="en-CA" dirty="0"/>
              <a:t>The setup ("Given") - what each symbol means</a:t>
            </a:r>
          </a:p>
          <a:p>
            <a:endParaRPr lang="en-CA" dirty="0"/>
          </a:p>
          <a:p>
            <a:r>
              <a:rPr lang="en-CA" dirty="0"/>
              <a:t>- V = 1,000,000 -&gt; the money at stake.</a:t>
            </a:r>
          </a:p>
          <a:p>
            <a:r>
              <a:rPr lang="en-CA" dirty="0"/>
              <a:t>- sigma = 2% -&gt; "volatility," how much the portfolio typically jiggles day to day. A typical day moves about 2%, or $20,000.</a:t>
            </a:r>
          </a:p>
          <a:p>
            <a:r>
              <a:rPr lang="en-CA" dirty="0"/>
              <a:t>- mu = 0 -&gt; we assume the average daily gain is zero (over one day, drift is tiny, so we ignore it to keep it clean).</a:t>
            </a:r>
          </a:p>
          <a:p>
            <a:r>
              <a:rPr lang="en-CA" dirty="0"/>
              <a:t>- c = 99% -&gt; we care about the worst 1% of days.</a:t>
            </a:r>
          </a:p>
          <a:p>
            <a:r>
              <a:rPr lang="en-CA" dirty="0"/>
              <a:t>- Student-t, nu = 5 -&gt; instead of assuming a normal bell curve, we assume a fat-tailed curve, where nasty surprises happen more often. nu = 5 sets how fat those tails are.</a:t>
            </a:r>
          </a:p>
          <a:p>
            <a:endParaRPr lang="en-CA" dirty="0"/>
          </a:p>
          <a:p>
            <a:r>
              <a:rPr lang="en-CA" dirty="0"/>
              <a:t>The key idea: this is the exact same portfolio as the normal-distribution slide. The only thing we changed is the shape of the curve (normal -&gt; fat-tailed t). So any difference in the answer is caused purely by fat tails.</a:t>
            </a:r>
          </a:p>
          <a:p>
            <a:endParaRPr lang="en-CA" dirty="0"/>
          </a:p>
          <a:p>
            <a:r>
              <a:rPr lang="en-CA" dirty="0"/>
              <a:t>The two building blocks (the "Formula" line)</a:t>
            </a:r>
          </a:p>
          <a:p>
            <a:endParaRPr lang="en-CA" dirty="0"/>
          </a:p>
          <a:p>
            <a:r>
              <a:rPr lang="en-CA" dirty="0"/>
              <a:t>Before the steps, we need two ingredients from the t-distribution:</a:t>
            </a:r>
          </a:p>
          <a:p>
            <a:endParaRPr lang="en-CA" dirty="0"/>
          </a:p>
          <a:p>
            <a:r>
              <a:rPr lang="en-CA" dirty="0"/>
              <a:t>- x = 3.365 -&gt; the "how far into the tail" number for a fat-tailed t at 99%.(For a normal curve this number is only 2.326. The t's is bigger because its tail stretches further.)</a:t>
            </a:r>
          </a:p>
          <a:p>
            <a:r>
              <a:rPr lang="en-CA" dirty="0"/>
              <a:t>- raw </a:t>
            </a:r>
            <a:r>
              <a:rPr lang="en-CA" dirty="0" err="1"/>
              <a:t>sd</a:t>
            </a:r>
            <a:r>
              <a:rPr lang="en-CA" dirty="0"/>
              <a:t> = 1.291 -&gt; a t-distribution "off the shelf" is naturally a bit too wide. This number measures how much too wide. We will divide by it to shrink the t back down so it has the same 2% volatility as the normal case. (This is the fair-comparison step - without it we'd be comparing a wider curve to a narrower one and cheating.)</a:t>
            </a:r>
          </a:p>
          <a:p>
            <a:endParaRPr lang="en-CA" dirty="0"/>
          </a:p>
          <a:p>
            <a:r>
              <a:rPr lang="en-CA" dirty="0"/>
              <a:t>Step 1 - Value-at-Risk (VaR)</a:t>
            </a:r>
          </a:p>
          <a:p>
            <a:endParaRPr lang="en-CA" dirty="0"/>
          </a:p>
          <a:p>
            <a:r>
              <a:rPr lang="en-CA" dirty="0"/>
              <a:t>VaR multiplier = x / raw </a:t>
            </a:r>
            <a:r>
              <a:rPr lang="en-CA" dirty="0" err="1"/>
              <a:t>sd</a:t>
            </a:r>
            <a:r>
              <a:rPr lang="en-CA" dirty="0"/>
              <a:t> = 3.365 / 1.291 = 2.606</a:t>
            </a:r>
          </a:p>
          <a:p>
            <a:r>
              <a:rPr lang="en-CA" dirty="0"/>
              <a:t>VaR 99% = 2.606 x 0.02 x 1,000,000 = $52,129</a:t>
            </a:r>
          </a:p>
          <a:p>
            <a:endParaRPr lang="en-CA" dirty="0"/>
          </a:p>
          <a:p>
            <a:r>
              <a:rPr lang="en-CA" dirty="0"/>
              <a:t>In words: take how far into the tail we go (3.365), shrink it to a fair scale(divide by 1.291), and you get 2.606. That says "a bad day is about 2.6 volatilities deep." Multiply by one volatility ($20,000) and you get about$52,000. That is the loss we'd hit on the worst 1-in-100 day.</a:t>
            </a:r>
          </a:p>
          <a:p>
            <a:endParaRPr lang="en-CA" dirty="0"/>
          </a:p>
          <a:p>
            <a:r>
              <a:rPr lang="en-CA" dirty="0"/>
              <a:t>Step 2 - the Expected Shortfall multiplier</a:t>
            </a:r>
          </a:p>
          <a:p>
            <a:endParaRPr lang="en-CA" dirty="0"/>
          </a:p>
          <a:p>
            <a:r>
              <a:rPr lang="en-CA" dirty="0"/>
              <a:t>ES multiplier = (1 / 1.291) x (0.01091 / 0.01) x (16.32 / 4) = 3.449</a:t>
            </a:r>
          </a:p>
          <a:p>
            <a:endParaRPr lang="en-CA" dirty="0"/>
          </a:p>
          <a:p>
            <a:r>
              <a:rPr lang="en-CA" dirty="0"/>
              <a:t>This looks busy, but it's just three fair-comparison-and-tail-averaging pieces multiplied together:</a:t>
            </a:r>
          </a:p>
          <a:p>
            <a:r>
              <a:rPr lang="en-CA" dirty="0"/>
              <a:t>- (1 / 1.291) -&gt; the same "shrink to fair scale" adjustment as before.</a:t>
            </a:r>
          </a:p>
          <a:p>
            <a:r>
              <a:rPr lang="en-CA" dirty="0"/>
              <a:t>- (0.01091 / 0.01) -&gt; how much probability is piled up right at the edge of the tail (a fat tail piles up more).</a:t>
            </a:r>
          </a:p>
          <a:p>
            <a:r>
              <a:rPr lang="en-CA" dirty="0"/>
              <a:t>- (16.32 / 4) -&gt; the "how heavy is the tail beyond the edge" factor. This is where the fat tail really shows up and pushes the number higher.</a:t>
            </a:r>
          </a:p>
          <a:p>
            <a:endParaRPr lang="en-CA" dirty="0"/>
          </a:p>
          <a:p>
            <a:r>
              <a:rPr lang="en-CA" dirty="0"/>
              <a:t>Multiply them and you get 3.449. Compare that to the VaR multiplier of 2.606 - it's bigger, because ES looks at the whole disaster zone, not just its doorway.</a:t>
            </a:r>
          </a:p>
          <a:p>
            <a:endParaRPr lang="en-CA" dirty="0"/>
          </a:p>
          <a:p>
            <a:r>
              <a:rPr lang="en-CA" dirty="0"/>
              <a:t>Step 3 - Expected Shortfall (ES)</a:t>
            </a:r>
          </a:p>
          <a:p>
            <a:endParaRPr lang="en-CA" dirty="0"/>
          </a:p>
          <a:p>
            <a:r>
              <a:rPr lang="en-CA" dirty="0"/>
              <a:t>ES 99% = 3.449 x 0.02 x 1,000,000 = $68,977</a:t>
            </a:r>
          </a:p>
          <a:p>
            <a:endParaRPr lang="en-CA" dirty="0"/>
          </a:p>
          <a:p>
            <a:r>
              <a:rPr lang="en-CA" dirty="0"/>
              <a:t>Same recipe as VaR, just with the bigger multiplier: 3.449 volatilities deep, times $20,000 per volatility = about $69,000. That's the average loss on a bad day.</a:t>
            </a:r>
          </a:p>
          <a:p>
            <a:endParaRPr dirty="0"/>
          </a:p>
        </p:txBody>
      </p:sp>
      <p:sp>
        <p:nvSpPr>
          <p:cNvPr id="4" name="Slide Number Placeholder 3">
            <a:extLst>
              <a:ext uri="{FF2B5EF4-FFF2-40B4-BE49-F238E27FC236}">
                <a16:creationId xmlns:a16="http://schemas.microsoft.com/office/drawing/2014/main" id="{481B7B77-8869-42AE-8949-455667962DF0}"/>
              </a:ext>
            </a:extLst>
          </p:cNvPr>
          <p:cNvSpPr>
            <a:spLocks noGrp="1"/>
          </p:cNvSpPr>
          <p:nvPr>
            <p:ph type="sldNum" sz="quarter" idx="5"/>
          </p:nvPr>
        </p:nvSpPr>
        <p:spPr/>
      </p:sp>
    </p:spTree>
    <p:extLst>
      <p:ext uri="{BB962C8B-B14F-4D97-AF65-F5344CB8AC3E}">
        <p14:creationId xmlns:p14="http://schemas.microsoft.com/office/powerpoint/2010/main" val="2334280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459B4-E5D8-9453-AAC1-D2F2EE276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280AB-0E41-54A2-3E11-8135AE438E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2041CFB-3A8D-B78B-F5D8-A9A557F6A1CB}"/>
              </a:ext>
            </a:extLst>
          </p:cNvPr>
          <p:cNvSpPr>
            <a:spLocks noGrp="1"/>
          </p:cNvSpPr>
          <p:nvPr>
            <p:ph type="body" sz="quarter" idx="3"/>
          </p:nvPr>
        </p:nvSpPr>
        <p:spPr/>
        <p:txBody>
          <a:bodyPr>
            <a:normAutofit fontScale="32500" lnSpcReduction="20000"/>
          </a:bodyPr>
          <a:lstStyle/>
          <a:p>
            <a:r>
              <a:rPr lang="en-CA" dirty="0"/>
              <a:t>Baseline case: same portfolio, thin-tailed Normal. ES is VaR scaled by phi(z)/(1-c) then divided by z, i.e. 2.665/2.326 = 1.15, so ES is only 15% above </a:t>
            </a:r>
            <a:r>
              <a:rPr lang="en-CA" dirty="0" err="1"/>
              <a:t>VaR.</a:t>
            </a:r>
            <a:r>
              <a:rPr lang="en-CA" dirty="0"/>
              <a:t> Contrast with the fat-tailed t on the next slide.</a:t>
            </a:r>
          </a:p>
          <a:p>
            <a:endParaRPr lang="en-CA" dirty="0"/>
          </a:p>
          <a:p>
            <a:r>
              <a:rPr lang="en-CA" dirty="0"/>
              <a:t>Step-by-step explanation: </a:t>
            </a:r>
          </a:p>
          <a:p>
            <a:endParaRPr lang="en-CA" dirty="0"/>
          </a:p>
          <a:p>
            <a:r>
              <a:rPr lang="en-CA" dirty="0"/>
              <a:t>We own $1,000,000 of a portfolio. We want two numbers about a really bad day:</a:t>
            </a:r>
          </a:p>
          <a:p>
            <a:r>
              <a:rPr lang="en-CA" dirty="0"/>
              <a:t>- VaR = "On a bad day (the worst 1 in 100), how much could I lose?"</a:t>
            </a:r>
          </a:p>
          <a:p>
            <a:r>
              <a:rPr lang="en-CA" dirty="0"/>
              <a:t>- ES = "When I have one of those bad days, how much do I lose on average?"</a:t>
            </a:r>
          </a:p>
          <a:p>
            <a:endParaRPr lang="en-CA" dirty="0"/>
          </a:p>
          <a:p>
            <a:r>
              <a:rPr lang="en-CA" dirty="0"/>
              <a:t>ES is always the bigger, scarier number because it averages the disasters, not just the entry point to disaster.</a:t>
            </a:r>
          </a:p>
          <a:p>
            <a:endParaRPr lang="en-CA" dirty="0"/>
          </a:p>
          <a:p>
            <a:r>
              <a:rPr lang="en-CA" dirty="0"/>
              <a:t>The setup ("Given") - what each symbol means</a:t>
            </a:r>
          </a:p>
          <a:p>
            <a:endParaRPr lang="en-CA" dirty="0"/>
          </a:p>
          <a:p>
            <a:r>
              <a:rPr lang="en-CA" dirty="0"/>
              <a:t>- V = 1,000,000 -&gt; the money at stake.</a:t>
            </a:r>
          </a:p>
          <a:p>
            <a:r>
              <a:rPr lang="en-CA" dirty="0"/>
              <a:t>- sigma = 2% -&gt; "volatility," how much the portfolio typically jiggles day to day. A typical day moves about 2%, or $20,000.</a:t>
            </a:r>
          </a:p>
          <a:p>
            <a:r>
              <a:rPr lang="en-CA" dirty="0"/>
              <a:t>- mu = 0 -&gt; we assume the average daily gain is zero (over one day, drift is tiny, so we ignore it to keep it clean).</a:t>
            </a:r>
          </a:p>
          <a:p>
            <a:r>
              <a:rPr lang="en-CA" dirty="0"/>
              <a:t>- c = 99% -&gt; we care about the worst 1% of days.</a:t>
            </a:r>
          </a:p>
          <a:p>
            <a:r>
              <a:rPr lang="en-CA" dirty="0"/>
              <a:t>- Student-t, nu = 5 -&gt; instead of assuming a normal bell curve, we assume a fat-tailed curve, where nasty surprises happen more often. nu = 5 sets how fat those tails are.</a:t>
            </a:r>
          </a:p>
          <a:p>
            <a:endParaRPr lang="en-CA" dirty="0"/>
          </a:p>
          <a:p>
            <a:r>
              <a:rPr lang="en-CA" dirty="0"/>
              <a:t>The key idea: this is the exact same portfolio as the normal-distribution slide. The only thing we changed is the shape of the curve (normal -&gt; fat-tailed t). So any difference in the answer is caused purely by fat tails.</a:t>
            </a:r>
          </a:p>
          <a:p>
            <a:endParaRPr lang="en-CA" dirty="0"/>
          </a:p>
          <a:p>
            <a:r>
              <a:rPr lang="en-CA" dirty="0"/>
              <a:t>The two building blocks (the "Formula" line)</a:t>
            </a:r>
          </a:p>
          <a:p>
            <a:endParaRPr lang="en-CA" dirty="0"/>
          </a:p>
          <a:p>
            <a:r>
              <a:rPr lang="en-CA" dirty="0"/>
              <a:t>Before the steps, we need two ingredients from the t-distribution:</a:t>
            </a:r>
          </a:p>
          <a:p>
            <a:endParaRPr lang="en-CA" dirty="0"/>
          </a:p>
          <a:p>
            <a:r>
              <a:rPr lang="en-CA" dirty="0"/>
              <a:t>- x = 3.365 -&gt; the "how far into the tail" number for a fat-tailed t at 99%.(For a normal curve this number is only 2.326. The t's is bigger because its tail stretches further.)</a:t>
            </a:r>
          </a:p>
          <a:p>
            <a:r>
              <a:rPr lang="en-CA" dirty="0"/>
              <a:t>- raw </a:t>
            </a:r>
            <a:r>
              <a:rPr lang="en-CA" dirty="0" err="1"/>
              <a:t>sd</a:t>
            </a:r>
            <a:r>
              <a:rPr lang="en-CA" dirty="0"/>
              <a:t> = 1.291 -&gt; a t-distribution "off the shelf" is naturally a bit too wide. This number measures how much too wide. We will divide by it to shrink the t back down so it has the same 2% volatility as the normal case. (This is the fair-comparison step - without it we'd be comparing a wider curve to a narrower one and cheating.)</a:t>
            </a:r>
          </a:p>
          <a:p>
            <a:endParaRPr lang="en-CA" dirty="0"/>
          </a:p>
          <a:p>
            <a:r>
              <a:rPr lang="en-CA" dirty="0"/>
              <a:t>Step 1 - Value-at-Risk (VaR)</a:t>
            </a:r>
          </a:p>
          <a:p>
            <a:endParaRPr lang="en-CA" dirty="0"/>
          </a:p>
          <a:p>
            <a:r>
              <a:rPr lang="en-CA" dirty="0"/>
              <a:t>VaR multiplier = x / raw </a:t>
            </a:r>
            <a:r>
              <a:rPr lang="en-CA" dirty="0" err="1"/>
              <a:t>sd</a:t>
            </a:r>
            <a:r>
              <a:rPr lang="en-CA" dirty="0"/>
              <a:t> = 3.365 / 1.291 = 2.606</a:t>
            </a:r>
          </a:p>
          <a:p>
            <a:r>
              <a:rPr lang="en-CA" dirty="0"/>
              <a:t>VaR 99% = 2.606 x 0.02 x 1,000,000 = $52,129</a:t>
            </a:r>
          </a:p>
          <a:p>
            <a:endParaRPr lang="en-CA" dirty="0"/>
          </a:p>
          <a:p>
            <a:r>
              <a:rPr lang="en-CA" dirty="0"/>
              <a:t>In words: take how far into the tail we go (3.365), shrink it to a fair scale(divide by 1.291), and you get 2.606. That says "a bad day is about 2.6 volatilities deep." Multiply by one volatility ($20,000) and you get about$52,000. That is the loss we'd hit on the worst 1-in-100 day.</a:t>
            </a:r>
          </a:p>
          <a:p>
            <a:endParaRPr lang="en-CA" dirty="0"/>
          </a:p>
          <a:p>
            <a:r>
              <a:rPr lang="en-CA" dirty="0"/>
              <a:t>Step 2 - the Expected Shortfall multiplier</a:t>
            </a:r>
          </a:p>
          <a:p>
            <a:endParaRPr lang="en-CA" dirty="0"/>
          </a:p>
          <a:p>
            <a:r>
              <a:rPr lang="en-CA" dirty="0"/>
              <a:t>ES multiplier = (1 / 1.291) x (0.01091 / 0.01) x (16.32 / 4) = 3.449</a:t>
            </a:r>
          </a:p>
          <a:p>
            <a:endParaRPr lang="en-CA" dirty="0"/>
          </a:p>
          <a:p>
            <a:r>
              <a:rPr lang="en-CA" dirty="0"/>
              <a:t>This looks busy, but it's just three fair-comparison-and-tail-averaging pieces multiplied together:</a:t>
            </a:r>
          </a:p>
          <a:p>
            <a:r>
              <a:rPr lang="en-CA" dirty="0"/>
              <a:t>- (1 / 1.291) -&gt; the same "shrink to fair scale" adjustment as before.</a:t>
            </a:r>
          </a:p>
          <a:p>
            <a:r>
              <a:rPr lang="en-CA" dirty="0"/>
              <a:t>- (0.01091 / 0.01) -&gt; how much probability is piled up right at the edge of the tail (a fat tail piles up more).</a:t>
            </a:r>
          </a:p>
          <a:p>
            <a:r>
              <a:rPr lang="en-CA" dirty="0"/>
              <a:t>- (16.32 / 4) -&gt; the "how heavy is the tail beyond the edge" factor. This is where the fat tail really shows up and pushes the number higher.</a:t>
            </a:r>
          </a:p>
          <a:p>
            <a:endParaRPr lang="en-CA" dirty="0"/>
          </a:p>
          <a:p>
            <a:r>
              <a:rPr lang="en-CA" dirty="0"/>
              <a:t>Multiply them and you get 3.449. Compare that to the VaR multiplier of 2.606 - it's bigger, because ES looks at the whole disaster zone, not just its doorway.</a:t>
            </a:r>
          </a:p>
          <a:p>
            <a:endParaRPr lang="en-CA" dirty="0"/>
          </a:p>
          <a:p>
            <a:r>
              <a:rPr lang="en-CA" dirty="0"/>
              <a:t>Step 3 - Expected Shortfall (ES)</a:t>
            </a:r>
          </a:p>
          <a:p>
            <a:endParaRPr lang="en-CA" dirty="0"/>
          </a:p>
          <a:p>
            <a:r>
              <a:rPr lang="en-CA" dirty="0"/>
              <a:t>ES 99% = 3.449 x 0.02 x 1,000,000 = $68,977</a:t>
            </a:r>
          </a:p>
          <a:p>
            <a:endParaRPr lang="en-CA" dirty="0"/>
          </a:p>
          <a:p>
            <a:r>
              <a:rPr lang="en-CA" dirty="0"/>
              <a:t>Same recipe as VaR, just with the bigger multiplier: 3.449 volatilities deep, times $20,000 per volatility = about $69,000. That's the average loss on a bad day.</a:t>
            </a:r>
          </a:p>
          <a:p>
            <a:endParaRPr dirty="0"/>
          </a:p>
        </p:txBody>
      </p:sp>
      <p:sp>
        <p:nvSpPr>
          <p:cNvPr id="4" name="Slide Number Placeholder 3">
            <a:extLst>
              <a:ext uri="{FF2B5EF4-FFF2-40B4-BE49-F238E27FC236}">
                <a16:creationId xmlns:a16="http://schemas.microsoft.com/office/drawing/2014/main" id="{092DD938-A7F1-ECEB-0907-38352F790866}"/>
              </a:ext>
            </a:extLst>
          </p:cNvPr>
          <p:cNvSpPr>
            <a:spLocks noGrp="1"/>
          </p:cNvSpPr>
          <p:nvPr>
            <p:ph type="sldNum" sz="quarter" idx="5"/>
          </p:nvPr>
        </p:nvSpPr>
        <p:spPr/>
      </p:sp>
    </p:spTree>
    <p:extLst>
      <p:ext uri="{BB962C8B-B14F-4D97-AF65-F5344CB8AC3E}">
        <p14:creationId xmlns:p14="http://schemas.microsoft.com/office/powerpoint/2010/main" val="688871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Connect back to Session 2 where students fitted GARCH with the arch library. Filtered Historical Simulation is the practical middle ground: GARCH for the volatility dynamics, HS for the tail shape. Jorion Financial Risk Manager Handbook Ch.15 covers univariate dynamic models in detail.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FRTB timeline: the rule was finalised in 2019 but implementation has been phased. Stress-period calibration is the key FRTB wrinkle - a 2008-calibrated ES is substantially larger than a recent-window ES. Yamai and Yoshiba is the supplementary paper that empirically validates the Basel switch.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3 is the statistical heart of the session. Students who understand backtesting understand why models must be validated, not just built. Hull Ch.11 sections 11.8 to 11.10 and Jorion Financial Risk Manager Handbook Ch.15 cover all three tests.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Draw the timeline on the board: T days of forecasts, count violations. Stress the two types of failure: wrong frequency (Kupiec) and wrong timing/clustering (Christoffersen). Both are tested separately because a model can pass one and fail the other.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the formula carefully: the LR statistic is twice the log-likelihood ratio of the restricted model (p = p_0) versus the unrestricted model (p = p-hat). The chi-squared(1) critical value 3.84 is the most-used number in the whole lecture. Run the numerical example: T = 250, N = 8, alpha = 0.99, so p-hat = 0.032.</a:t>
            </a:r>
            <a:endParaRPr lang="en-US" dirty="0"/>
          </a:p>
          <a:p>
            <a:endParaRPr lang="en-CA" dirty="0"/>
          </a:p>
          <a:p>
            <a:r>
              <a:rPr lang="en-CA" dirty="0"/>
              <a:t>Kupiec, Paul H. (1995). "Techniques for Verifying the Accuracy of Risk Measurement Models." The Journal of Derivatives, Vol. 3, No. 2 (Winter 1995), pp. 73-84. DOI: 10.3905/jod.1995.407942.</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3621-A535-72F0-B745-8B3EB4F77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668B6-9B8D-7188-746C-CE2710E87DB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BFE05E-8B44-581B-7AEC-987DE8EA2979}"/>
              </a:ext>
            </a:extLst>
          </p:cNvPr>
          <p:cNvSpPr>
            <a:spLocks noGrp="1"/>
          </p:cNvSpPr>
          <p:nvPr>
            <p:ph type="body" sz="quarter" idx="3"/>
          </p:nvPr>
        </p:nvSpPr>
        <p:spPr/>
        <p:txBody>
          <a:bodyPr/>
          <a:lstStyle/>
          <a:p>
            <a:r>
              <a:rPr lang="en-CA" dirty="0"/>
              <a:t>Decision: LR_POF is compared to a chi-square with 1 degree of freedom. Critical values: 3.84 at 95%, 6.63 at 99%. Since 7.73 &gt; 6.63, we reject the model at both the 95% and 99% levels (p-value about 0.005). Conclusion: 8 exceptions in 250 days is too many to blame on chance - the VaR model understates risk.</a:t>
            </a:r>
          </a:p>
          <a:p>
            <a:endParaRPr lang="en-CA" dirty="0"/>
          </a:p>
          <a:p>
            <a:r>
              <a:rPr lang="en-CA" dirty="0"/>
              <a:t>Contrast for intuition: if the same model had produced x = 3 exceptions (close to the expected 2.5), LR_POF would be about 0.11, far below 3.84, so we would NOT reject - the model looks fine. The test only fires when the exception count strays far from p x T in either direction (too many exceptions = understated risk; far too few = overstated risk, wasting capital).</a:t>
            </a:r>
          </a:p>
          <a:p>
            <a:endParaRPr lang="en-CA" dirty="0"/>
          </a:p>
          <a:p>
            <a:r>
              <a:rPr lang="en-CA" dirty="0"/>
              <a:t>It tests unconditional coverage only: is the total number of exceptions consistent with p?</a:t>
            </a:r>
          </a:p>
          <a:p>
            <a:endParaRPr lang="en-CA" dirty="0"/>
          </a:p>
          <a:p>
            <a:r>
              <a:rPr lang="en-CA" dirty="0"/>
              <a:t>But</a:t>
            </a:r>
            <a:r>
              <a:rPr lang="en-CA"/>
              <a:t>, t </a:t>
            </a:r>
            <a:r>
              <a:rPr lang="en-CA" dirty="0"/>
              <a:t>says nothing about timing/clustering - 8 exceptions spread out vs 8 in a row give the same LR_POF. That gap is exactly why it's paired with the Christoffersen independence test </a:t>
            </a:r>
            <a:endParaRPr dirty="0"/>
          </a:p>
        </p:txBody>
      </p:sp>
      <p:sp>
        <p:nvSpPr>
          <p:cNvPr id="4" name="Slide Number Placeholder 3">
            <a:extLst>
              <a:ext uri="{FF2B5EF4-FFF2-40B4-BE49-F238E27FC236}">
                <a16:creationId xmlns:a16="http://schemas.microsoft.com/office/drawing/2014/main" id="{0F0A2636-02F0-D003-C2A4-DE3767407C26}"/>
              </a:ext>
            </a:extLst>
          </p:cNvPr>
          <p:cNvSpPr>
            <a:spLocks noGrp="1"/>
          </p:cNvSpPr>
          <p:nvPr>
            <p:ph type="sldNum" sz="quarter" idx="5"/>
          </p:nvPr>
        </p:nvSpPr>
        <p:spPr/>
      </p:sp>
    </p:spTree>
    <p:extLst>
      <p:ext uri="{BB962C8B-B14F-4D97-AF65-F5344CB8AC3E}">
        <p14:creationId xmlns:p14="http://schemas.microsoft.com/office/powerpoint/2010/main" val="29323150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transition matrix is the key innovation. Draw n00, n01, n10, n11 on the board as a 2x2 table with example numbers. If pi_11 is much larger than pi_01, violations cluster. This happened massively in 2008 - models with constant volatility underestimated how bad consecutive loss days would be. GARCH models perform much better here.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3683-716F-9485-797D-A3CB9C2C1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3A179-F985-1481-8278-B40E9DE4C2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6A5C07-BB54-1CA2-80CB-68268F98F21B}"/>
              </a:ext>
            </a:extLst>
          </p:cNvPr>
          <p:cNvSpPr>
            <a:spLocks noGrp="1"/>
          </p:cNvSpPr>
          <p:nvPr>
            <p:ph type="body" sz="quarter" idx="3"/>
          </p:nvPr>
        </p:nvSpPr>
        <p:spPr/>
        <p:txBody>
          <a:bodyPr>
            <a:normAutofit fontScale="47500" lnSpcReduction="20000"/>
          </a:bodyPr>
          <a:lstStyle/>
          <a:p>
            <a:r>
              <a:rPr lang="en-CA" dirty="0"/>
              <a:t> Kupiec counted the breaches (8 in 250 days). Christoffersen asks a different thing: do the breaches bunch together? A model that breaks on 8 scattered days is fine; one that breaks 8 times in the same bad week is dangerous. This test catches the bunching.</a:t>
            </a:r>
          </a:p>
          <a:p>
            <a:endParaRPr lang="en-CA" dirty="0"/>
          </a:p>
          <a:p>
            <a:r>
              <a:rPr lang="en-CA" dirty="0"/>
              <a:t>The one idea. If breaches are independent, then a breach yesterday should not change your chance of a breach today. So we compare two numbers: the chance of a breach after a calm day, and the chance of a breach after a breach day. If they are about equal, good. If "after a breach" is much higher, breaches cluster, which is bad.</a:t>
            </a:r>
          </a:p>
          <a:p>
            <a:endParaRPr lang="en-CA" dirty="0"/>
          </a:p>
          <a:p>
            <a:r>
              <a:rPr lang="en-CA" dirty="0"/>
              <a:t>The counts (same 8 breaches). Look at every pair of consecutive days and count what followed what:</a:t>
            </a:r>
          </a:p>
          <a:p>
            <a:endParaRPr lang="en-CA" dirty="0"/>
          </a:p>
          <a:p>
            <a:r>
              <a:rPr lang="en-CA" dirty="0"/>
              <a:t>            today calm   today breach</a:t>
            </a:r>
          </a:p>
          <a:p>
            <a:r>
              <a:rPr lang="en-CA" dirty="0"/>
              <a:t>  after calm       236            5</a:t>
            </a:r>
          </a:p>
          <a:p>
            <a:r>
              <a:rPr lang="en-CA" dirty="0"/>
              <a:t>  after breach       5            3</a:t>
            </a:r>
          </a:p>
          <a:p>
            <a:endParaRPr lang="en-CA" dirty="0"/>
          </a:p>
          <a:p>
            <a:r>
              <a:rPr lang="en-CA" dirty="0"/>
              <a:t>From this:</a:t>
            </a:r>
          </a:p>
          <a:p>
            <a:r>
              <a:rPr lang="en-CA" dirty="0"/>
              <a:t>  after a calm day:   5 breaches out of 241 chances = 2.1%</a:t>
            </a:r>
          </a:p>
          <a:p>
            <a:r>
              <a:rPr lang="en-CA" dirty="0"/>
              <a:t>  after a breach day: 3 breaches out of 8 chances  = 37.5%</a:t>
            </a:r>
          </a:p>
          <a:p>
            <a:r>
              <a:rPr lang="en-CA" dirty="0"/>
              <a:t>  overall rate:       8 out of 249                 = 3.2%</a:t>
            </a:r>
          </a:p>
          <a:p>
            <a:endParaRPr lang="en-CA" dirty="0"/>
          </a:p>
          <a:p>
            <a:r>
              <a:rPr lang="en-CA" dirty="0"/>
              <a:t>A breach yesterday makes a breach today about 18 times more likely (2.1% versus 37.5%). That is heavy clustering.</a:t>
            </a:r>
          </a:p>
          <a:p>
            <a:endParaRPr lang="en-CA" dirty="0"/>
          </a:p>
          <a:p>
            <a:r>
              <a:rPr lang="en-CA" dirty="0"/>
              <a:t>How the score (LR) is calculated. The test compares how well two competing stories fit the table:</a:t>
            </a:r>
          </a:p>
          <a:p>
            <a:r>
              <a:rPr lang="en-CA" dirty="0"/>
              <a:t>  Story A (independent): one breach rate, 3.2%, used for every day.</a:t>
            </a:r>
          </a:p>
          <a:p>
            <a:r>
              <a:rPr lang="en-CA" dirty="0"/>
              <a:t>  Story B (clustering):  2.1% after a calm day, 37.5% after a breach day.</a:t>
            </a:r>
          </a:p>
          <a:p>
            <a:r>
              <a:rPr lang="en-CA" dirty="0"/>
              <a:t>For each story we measure how likely the data we actually saw was (the log-likelihood; a bigger, less-negative number means a better fit). Then LR = -2 x (fit of Story A minus fit of Story B). Because Story B is allowed to bend to the data, it always fits at least as well; the LR measures how much better, and doubles it.</a:t>
            </a:r>
          </a:p>
          <a:p>
            <a:endParaRPr lang="en-CA" dirty="0"/>
          </a:p>
          <a:p>
            <a:r>
              <a:rPr lang="en-CA" dirty="0"/>
              <a:t>Plug in the counts (each fit = sum of count x log of that story's probability):</a:t>
            </a:r>
          </a:p>
          <a:p>
            <a:endParaRPr lang="en-CA" dirty="0"/>
          </a:p>
          <a:p>
            <a:r>
              <a:rPr lang="en-CA" dirty="0"/>
              <a:t>  Story A (3.2% everywhere):</a:t>
            </a:r>
          </a:p>
          <a:p>
            <a:r>
              <a:rPr lang="en-CA" dirty="0"/>
              <a:t>    ln L_A = (236+5) x ln(0.968) + (5+3) x ln(0.032)</a:t>
            </a:r>
          </a:p>
          <a:p>
            <a:r>
              <a:rPr lang="en-CA" dirty="0"/>
              <a:t>           =   241   x (-0.0327)  +   8   x (-3.438)</a:t>
            </a:r>
          </a:p>
          <a:p>
            <a:r>
              <a:rPr lang="en-CA" dirty="0"/>
              <a:t>           =   -7.87              +   -27.50            = -35.37</a:t>
            </a:r>
          </a:p>
          <a:p>
            <a:endParaRPr lang="en-CA" dirty="0"/>
          </a:p>
          <a:p>
            <a:r>
              <a:rPr lang="en-CA" dirty="0"/>
              <a:t>  Story B (2.1% after calm, 37.5% after breach):</a:t>
            </a:r>
          </a:p>
          <a:p>
            <a:r>
              <a:rPr lang="en-CA" dirty="0"/>
              <a:t>    ln L_B = 236 x ln(0.979) + 5 x ln(0.021) + 5 x ln(0.625) + 3 x ln(0.375)</a:t>
            </a:r>
          </a:p>
          <a:p>
            <a:r>
              <a:rPr lang="en-CA" dirty="0"/>
              <a:t>           =   -4.95         +  -19.38       +  -2.35        +  -2.94        = -29.62</a:t>
            </a:r>
          </a:p>
          <a:p>
            <a:endParaRPr lang="en-CA" dirty="0"/>
          </a:p>
          <a:p>
            <a:r>
              <a:rPr lang="en-CA" dirty="0"/>
              <a:t>  LR = -2 x (ln L_A - ln L_B) = -2 x (-35.37 - (-29.62)) = -2 x (-5.75) = 11.5</a:t>
            </a:r>
          </a:p>
          <a:p>
            <a:endParaRPr lang="en-CA" dirty="0"/>
          </a:p>
          <a:p>
            <a:r>
              <a:rPr lang="en-CA" dirty="0"/>
              <a:t>The verdict. Story B fits 5.75 log-units better than Story A; doubled, that is 11.5. Compare it to the cutoff 6.63 (the 99% value of the chi-square distribution with 1 degree of freedom). Since 11.5 is greater than 6.63, the clustering story fits too much better to be luck, so we reject independence: the breaches genuinely clump.</a:t>
            </a:r>
            <a:endParaRPr dirty="0"/>
          </a:p>
        </p:txBody>
      </p:sp>
      <p:sp>
        <p:nvSpPr>
          <p:cNvPr id="4" name="Slide Number Placeholder 3">
            <a:extLst>
              <a:ext uri="{FF2B5EF4-FFF2-40B4-BE49-F238E27FC236}">
                <a16:creationId xmlns:a16="http://schemas.microsoft.com/office/drawing/2014/main" id="{FE59D9F1-806F-46DE-FEC4-AA139EEB7EAC}"/>
              </a:ext>
            </a:extLst>
          </p:cNvPr>
          <p:cNvSpPr>
            <a:spLocks noGrp="1"/>
          </p:cNvSpPr>
          <p:nvPr>
            <p:ph type="sldNum" sz="quarter" idx="5"/>
          </p:nvPr>
        </p:nvSpPr>
        <p:spPr/>
      </p:sp>
    </p:spTree>
    <p:extLst>
      <p:ext uri="{BB962C8B-B14F-4D97-AF65-F5344CB8AC3E}">
        <p14:creationId xmlns:p14="http://schemas.microsoft.com/office/powerpoint/2010/main" val="35427734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2x2 outcome matrix is the key takeaway - write it on the board as a table: rows = Kupiec Pass/Fail, columns = Christoffersen Pass/Fail, cells = interpretation plus remediation. Students will use this in the lab when they interpret their own SPY </a:t>
            </a:r>
            <a:r>
              <a:rPr dirty="0" err="1"/>
              <a:t>backtest</a:t>
            </a:r>
            <a:r>
              <a:rPr dirty="0"/>
              <a:t> results.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normAutofit fontScale="85000" lnSpcReduction="20000"/>
          </a:bodyPr>
          <a:lstStyle/>
          <a:p>
            <a:r>
              <a:rPr lang="en-US" dirty="0"/>
              <a:t>The traffic light is the supervisors' own </a:t>
            </a:r>
            <a:r>
              <a:rPr lang="en-US" dirty="0" err="1"/>
              <a:t>backtest</a:t>
            </a:r>
            <a:r>
              <a:rPr lang="en-US" dirty="0"/>
              <a:t>, introduced in the 1996 Basel Market Risk Amendment. Where Kupiec and Christoffersen are statistical tests a risk team runs internally, the traffic light is the simple, mechanical rule a regulator applies to decide how much to trust a bank's VaR model and how much extra capital to demand. It deliberately avoids arguing over p-values: it just counts exceptions over the past year and reads off a </a:t>
            </a:r>
            <a:r>
              <a:rPr lang="en-US" dirty="0" err="1"/>
              <a:t>colour</a:t>
            </a:r>
            <a:r>
              <a:rPr lang="en-US" dirty="0"/>
              <a:t>.</a:t>
            </a:r>
          </a:p>
          <a:p>
            <a:endParaRPr lang="en-US" dirty="0"/>
          </a:p>
          <a:p>
            <a:r>
              <a:rPr lang="en-US" dirty="0"/>
              <a:t>The setup. Take the bank's 1-day 99% VaR and compare it to the actual daily loss over the last 250 trading days (one business year). Count the exceptions (days the loss exceeded VaR). Because the model promises a 1% exception rate, the expected number is 250 x 0.01 = 2.5 exceptions. The zones are built around that expectation.</a:t>
            </a:r>
          </a:p>
          <a:p>
            <a:endParaRPr lang="en-US" dirty="0"/>
          </a:p>
          <a:p>
            <a:r>
              <a:rPr lang="en-US" dirty="0"/>
              <a:t>The three zones (250 days, 99% VaR):</a:t>
            </a:r>
          </a:p>
          <a:p>
            <a:r>
              <a:rPr lang="en-US" dirty="0"/>
              <a:t>- Green, 0 to 4 exceptions. The model looks sound; no action. Capital multiplier stays at the minimum 3.0. For a correct model, the count lands in green about 89% of the time, so green is the expected home of a good model.</a:t>
            </a:r>
          </a:p>
          <a:p>
            <a:r>
              <a:rPr lang="en-US" dirty="0"/>
              <a:t>- Yellow, 5 to 9 exceptions. The model may be inaccurate. The multiplier rises on a sliding scale as exceptions increase: 5 -&gt; 3.40, 6 -&gt; 3.50, 7 -&gt; 3.65, 8 -&gt; 3.75, 9 -&gt; 3.85 (these add-ons are the Basel "plus factors" 0.40 to 0.85). The bank must explain the exceptions; a correct model still strays into yellow roughly 11% of the time, so yellow is a warning, not a verdict.</a:t>
            </a:r>
          </a:p>
          <a:p>
            <a:r>
              <a:rPr lang="en-US" dirty="0"/>
              <a:t>- Red, 10 or more exceptions. The model is almost certainly inadequate. The multiplier jumps automatically to 4.0, and the bank must fix the model; supervisory review and possible sanctions follow. For a correct model the chance of reaching red is tiny (well under 0.1%), so red is very unlikely to be bad luck.</a:t>
            </a:r>
          </a:p>
          <a:p>
            <a:endParaRPr lang="en-CA" dirty="0"/>
          </a:p>
          <a:p>
            <a:r>
              <a:rPr dirty="0"/>
              <a:t>The capital multiplier escalation is the real-world consequence of model failure. At a 4.0x multiplier the bank holds four times its model-implied risk capital, which is massively expensive. This is why banks invest heavily in model validation. The Python line previews the Session_04_Lab.ipynb code.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4 closes the theory-to-practice loop. Backtesting ES is harder than backtesting VaR because ES is not directly observable. The Acerbi and Szekely (2014) method, adopted by FRTB, is what we implement in the lab.</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insight: on a violation day (loss above VaR), the ratio R_t / ES_t tells you whether the actual loss was above or below the ES. If ES is correct, these ratios average to -1, so T1 = 0. Walk through the SPY example from the lab: T1 is typically about -0.05 to +0.05 for well-specified models over 2005 to 2024.</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4CB41-3EBB-3760-60A0-285174DC0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A4D97-E0B9-359B-E6EE-A46B61A3E1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CEC641B-E2AF-935F-982B-10CFD93D6E07}"/>
              </a:ext>
            </a:extLst>
          </p:cNvPr>
          <p:cNvSpPr>
            <a:spLocks noGrp="1"/>
          </p:cNvSpPr>
          <p:nvPr>
            <p:ph type="body" sz="quarter" idx="3"/>
          </p:nvPr>
        </p:nvSpPr>
        <p:spPr/>
        <p:txBody>
          <a:bodyPr>
            <a:normAutofit fontScale="40000" lnSpcReduction="20000"/>
          </a:bodyPr>
          <a:lstStyle/>
          <a:p>
            <a:r>
              <a:rPr lang="en-CA" dirty="0"/>
              <a:t>Both Acerbi-Szekely statistics are built so that a perfect ES model gives an expected value of exactly 0. That's the reference point for everything:</a:t>
            </a:r>
          </a:p>
          <a:p>
            <a:r>
              <a:rPr lang="en-CA" dirty="0"/>
              <a:t> = 0 -&gt; realized tail losses matched the predicted ES on average. Model is calibrated.</a:t>
            </a:r>
          </a:p>
          <a:p>
            <a:r>
              <a:rPr lang="en-CA" dirty="0"/>
              <a:t>&lt; 0 (negative) -&gt; tail losses were worse than the model predicted. ES is underestimated (dangerous - you're under-reserved).</a:t>
            </a:r>
          </a:p>
          <a:p>
            <a:r>
              <a:rPr lang="en-CA" dirty="0"/>
              <a:t>&gt; 0 (positive) -&gt; tail losses were milder than predicted. ES is overestimated (conservative - wasting capital).</a:t>
            </a:r>
          </a:p>
          <a:p>
            <a:endParaRPr lang="en-CA" dirty="0"/>
          </a:p>
          <a:p>
            <a:r>
              <a:rPr lang="en-CA" dirty="0"/>
              <a:t>The sign is the first thing to read: negative = model too optimistic. Both our numbers are negative.</a:t>
            </a:r>
          </a:p>
          <a:p>
            <a:endParaRPr lang="en-CA" dirty="0"/>
          </a:p>
          <a:p>
            <a:r>
              <a:rPr lang="en-CA" dirty="0"/>
              <a:t>The raw evidence: 83.75 vs 60</a:t>
            </a:r>
          </a:p>
          <a:p>
            <a:endParaRPr lang="en-CA" dirty="0"/>
          </a:p>
          <a:p>
            <a:r>
              <a:rPr lang="en-CA" dirty="0"/>
              <a:t>Before any formula, look at the two dollar figures:</a:t>
            </a:r>
          </a:p>
          <a:p>
            <a:r>
              <a:rPr lang="en-CA" dirty="0"/>
              <a:t>- Predicted ES = 60 (the model's claim: "on a bad day you'll lose about 60 on average").</a:t>
            </a:r>
          </a:p>
          <a:p>
            <a:r>
              <a:rPr lang="en-CA" dirty="0"/>
              <a:t>- Realized average tail loss = 83.75 (what the four breach days actually averaged).</a:t>
            </a:r>
          </a:p>
          <a:p>
            <a:endParaRPr lang="en-CA" dirty="0"/>
          </a:p>
          <a:p>
            <a:r>
              <a:rPr lang="en-CA" dirty="0"/>
              <a:t>83.75 is about 40% bigger than 60. So on its face, when things went wrong they went more wrong than the model said. Everything else just quantifies how alarming that gap is.</a:t>
            </a:r>
          </a:p>
          <a:p>
            <a:endParaRPr lang="en-CA" dirty="0"/>
          </a:p>
          <a:p>
            <a:r>
              <a:rPr lang="en-CA" dirty="0"/>
              <a:t>Z1 = -0.40 (Test 1, the "size" check)</a:t>
            </a:r>
          </a:p>
          <a:p>
            <a:endParaRPr lang="en-CA" dirty="0"/>
          </a:p>
          <a:p>
            <a:r>
              <a:rPr lang="en-CA" dirty="0"/>
              <a:t>Z1 asks a narrow question: on the days we did breach, was the loss as big as ES </a:t>
            </a:r>
            <a:r>
              <a:rPr lang="en-CA"/>
              <a:t>promised?</a:t>
            </a:r>
          </a:p>
          <a:p>
            <a:endParaRPr lang="en-CA" dirty="0"/>
          </a:p>
          <a:p>
            <a:r>
              <a:rPr lang="en-CA" dirty="0"/>
              <a:t>So -0.40 literally means "tail losses were 40% deeper than ES." Z1 deliberately ignores how many breaches happened - it conditions on the breaches that occurred and only judges their magnitude. Use it to answer: "is my ES number the right size?"</a:t>
            </a:r>
          </a:p>
          <a:p>
            <a:endParaRPr lang="en-CA" dirty="0"/>
          </a:p>
          <a:p>
            <a:r>
              <a:rPr lang="en-CA" dirty="0"/>
              <a:t>Z2 = -1.23 (Test 2, the "size AND frequency" check)</a:t>
            </a:r>
          </a:p>
          <a:p>
            <a:endParaRPr lang="en-CA" dirty="0"/>
          </a:p>
          <a:p>
            <a:r>
              <a:rPr lang="en-CA" dirty="0"/>
              <a:t>Z2 is the headline statistic because it reacts to two failures at once:</a:t>
            </a:r>
          </a:p>
          <a:p>
            <a:r>
              <a:rPr lang="en-CA" dirty="0"/>
              <a:t>1. There were too many breaches (4 observed vs 2.5 expected), and</a:t>
            </a:r>
          </a:p>
          <a:p>
            <a:r>
              <a:rPr lang="en-CA" dirty="0"/>
              <a:t>2. Each breach was bigger than ES.</a:t>
            </a:r>
          </a:p>
          <a:p>
            <a:endParaRPr lang="en-CA" dirty="0"/>
          </a:p>
          <a:p>
            <a:r>
              <a:rPr lang="en-CA" dirty="0"/>
              <a:t>That's why Z2 (-1.23) is more negative than Z1 (-0.40): Z1 only "sees" problem #2, while Z2 compounds both. A useful mental model: Z2 more negative than Z1 tells you the trouble is not just big losses, but also too-frequent ones. If Z1 were near 0 but Z2 were very negative, you'd conclude "loss sizes are fine, but I'm breaching too often" (a VaR-frequency problem). Here both are negative, so it's both.</a:t>
            </a:r>
          </a:p>
          <a:p>
            <a:endParaRPr lang="en-CA" dirty="0"/>
          </a:p>
          <a:p>
            <a:r>
              <a:rPr lang="en-CA" dirty="0"/>
              <a:t>Is -1.23 "big enough" to fail? Compare to the cutoff</a:t>
            </a:r>
          </a:p>
          <a:p>
            <a:endParaRPr lang="en-CA" dirty="0"/>
          </a:p>
          <a:p>
            <a:r>
              <a:rPr lang="en-CA" dirty="0"/>
              <a:t>A negative number alone doesn't reject the model - small negatives happen by chance. You compare Z2 to a critical value from Monte Carlo simulation (simulate 250-day paths from the predicted model, compute Z2 each time, take the 5th percentile). For these tail levels that 5% cutoff sits around -0.7 to -1.0.</a:t>
            </a:r>
          </a:p>
          <a:p>
            <a:endParaRPr lang="en-CA" dirty="0"/>
          </a:p>
          <a:p>
            <a:r>
              <a:rPr lang="en-CA" dirty="0"/>
              <a:t>- Our Z2 = -1.23 is below that cutoff -&gt; it lands in the rejection region -&gt; reject the model at 5%. The underestimation is too large to be bad luck.</a:t>
            </a:r>
          </a:p>
          <a:p>
            <a:endParaRPr lang="en-CA" dirty="0"/>
          </a:p>
          <a:p>
            <a:r>
              <a:rPr lang="en-CA" dirty="0"/>
              <a:t>Think of it like the chi-square cutoffs (3.84, 6.63) you used for Kupiec/Christoffersen - same logic, but because ES is an average the cutoff has to be simulated rather than read from a table.</a:t>
            </a:r>
            <a:endParaRPr dirty="0"/>
          </a:p>
        </p:txBody>
      </p:sp>
      <p:sp>
        <p:nvSpPr>
          <p:cNvPr id="4" name="Slide Number Placeholder 3">
            <a:extLst>
              <a:ext uri="{FF2B5EF4-FFF2-40B4-BE49-F238E27FC236}">
                <a16:creationId xmlns:a16="http://schemas.microsoft.com/office/drawing/2014/main" id="{22FD474E-984A-59F5-390E-7EE78848E672}"/>
              </a:ext>
            </a:extLst>
          </p:cNvPr>
          <p:cNvSpPr>
            <a:spLocks noGrp="1"/>
          </p:cNvSpPr>
          <p:nvPr>
            <p:ph type="sldNum" sz="quarter" idx="5"/>
          </p:nvPr>
        </p:nvSpPr>
        <p:spPr/>
      </p:sp>
    </p:spTree>
    <p:extLst>
      <p:ext uri="{BB962C8B-B14F-4D97-AF65-F5344CB8AC3E}">
        <p14:creationId xmlns:p14="http://schemas.microsoft.com/office/powerpoint/2010/main" val="2510483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have about 35 minutes for the lab. The notebook is pre-coded and runs end-to-end on SPY. The last task, substituting their own tickers, is the bridge to Assignment 1. Circulate and help with the transition matrix construction (Christoffersen), which is the trickiest pandas operation.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Hull Ch.11 sections 11.4 to 11.10 is the required reading for tonight; students should come to Session 5 having read it. Jorion Ch.15 provides the practitioner treatment of univariate dynamic models. Acerbi and Szekely is the original paper for the T1 test implemented in the lab. Rockafellar and Uryasev (2000) is the foundational paper for ES as a convex optimisation objective, cited in every modern risk paper.</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linking back to Assignment 1: students now have all the building blocks (Session 2 returns and volatility, Session 3 VaR, Session 4 ES and backtesting). Remind them to run the complete lab on their own tickers before Session 6. Session 5 begins the credit-risk module (Assignment 2 content).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4: Expected Shortfall and Backtesting</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a:bodyPr>
          <a:lstStyle/>
          <a:p>
            <a:pPr marL="0" indent="0">
              <a:buNone/>
            </a:pPr>
            <a:r>
              <a:rPr lang="en-CA" b="1" dirty="0"/>
              <a:t>By the end of this session you will be able to:</a:t>
            </a:r>
          </a:p>
          <a:p>
            <a:r>
              <a:rPr lang="en-CA" dirty="0"/>
              <a:t>1. Define Expected Shortfall and explain why it dominates VaR as a risk measure</a:t>
            </a:r>
          </a:p>
          <a:p>
            <a:r>
              <a:rPr lang="en-CA" dirty="0"/>
              <a:t>2. State and verify the four axioms of coherent risk measures; show that ES satisfies sub-additivity but VaR does not</a:t>
            </a:r>
          </a:p>
          <a:p>
            <a:r>
              <a:rPr lang="en-CA" dirty="0"/>
              <a:t>3. Compute ES under normal, Student-t, and historical simulation methods in Python</a:t>
            </a:r>
          </a:p>
          <a:p>
            <a:r>
              <a:rPr lang="en-CA" dirty="0"/>
              <a:t>4. Implement a rolling VaR/ES backtesting framework and interpret violation counts</a:t>
            </a:r>
          </a:p>
          <a:p>
            <a:r>
              <a:rPr lang="en-CA" dirty="0"/>
              <a:t>5. Apply the Kupiec POF test, Christoffersen independence test, and the Basel traffic-light classification in Python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1: From VaR to Expected Shortfall</a:t>
            </a:r>
            <a:endParaRPr b="1" dirty="0">
              <a:latin typeface="Arial" panose="020B0604020202020204" pitchFamily="34" charset="0"/>
              <a:cs typeface="Arial" panose="020B0604020202020204" pitchFamily="34" charset="0"/>
            </a:endParaRPr>
          </a:p>
        </p:txBody>
      </p:sp>
      <p:sp>
        <p:nvSpPr>
          <p:cNvPr id="4006" name="Content Placeholder"/>
          <p:cNvSpPr>
            <a:spLocks noGrp="1"/>
          </p:cNvSpPr>
          <p:nvPr>
            <p:ph sz="half" idx="2"/>
          </p:nvPr>
        </p:nvSpPr>
        <p:spPr/>
        <p:txBody>
          <a:bodyPr wrap="square">
            <a:normAutofit/>
          </a:bodyPr>
          <a:lstStyle/>
          <a:p>
            <a:pPr marL="0" indent="0">
              <a:buNone/>
            </a:pPr>
            <a:r>
              <a:rPr lang="en-CA" b="1" dirty="0"/>
              <a:t>Why VaR fails and what coherent risk measures deliver</a:t>
            </a:r>
          </a:p>
          <a:p>
            <a:r>
              <a:rPr lang="en-CA" dirty="0"/>
              <a:t>The single number that summarised market risk for two decades, and where it breaks down</a:t>
            </a:r>
          </a:p>
          <a:p>
            <a:r>
              <a:rPr lang="en-CA" dirty="0"/>
              <a:t>Precise definition first, then coherence, computation methods, and a worked example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Shortcomings of VaR</a:t>
            </a:r>
            <a:endParaRPr b="1" dirty="0">
              <a:latin typeface="Arial" panose="020B0604020202020204" pitchFamily="34" charset="0"/>
              <a:cs typeface="Arial" panose="020B0604020202020204" pitchFamily="34" charset="0"/>
            </a:endParaRPr>
          </a:p>
        </p:txBody>
      </p:sp>
      <p:sp>
        <p:nvSpPr>
          <p:cNvPr id="4008" name="Content Placeholder"/>
          <p:cNvSpPr>
            <a:spLocks noGrp="1"/>
          </p:cNvSpPr>
          <p:nvPr>
            <p:ph sz="half" idx="2"/>
          </p:nvPr>
        </p:nvSpPr>
        <p:spPr/>
        <p:txBody>
          <a:bodyPr wrap="square">
            <a:normAutofit fontScale="92500"/>
          </a:bodyPr>
          <a:lstStyle/>
          <a:p>
            <a:pPr marL="0" indent="0">
              <a:buNone/>
            </a:pPr>
            <a:r>
              <a:rPr lang="en-CA" b="1" dirty="0"/>
              <a:t>VaR served well for two decades, but its mathematical properties create real dangers</a:t>
            </a:r>
          </a:p>
          <a:p>
            <a:r>
              <a:rPr lang="en-CA" dirty="0"/>
              <a:t>VaR answers 'how bad is a bad day?' but not 'how bad on the worst days?'</a:t>
            </a:r>
          </a:p>
          <a:p>
            <a:r>
              <a:rPr lang="en-CA" dirty="0"/>
              <a:t>Sub-additivity failure: VaR(A+B) can exceed VaR(A) + VaR(B), so diversification appears to increase risk (Artzner et al. 1999)</a:t>
            </a:r>
          </a:p>
          <a:p>
            <a:r>
              <a:rPr lang="en-CA" dirty="0"/>
              <a:t>Silent tail: VaR gives no information about the severity of losses beyond the threshold</a:t>
            </a:r>
          </a:p>
          <a:p>
            <a:r>
              <a:rPr lang="en-CA" dirty="0"/>
              <a:t>Incentive distortion: traders can structure portfolios to game a VaR limit while loading up on tail risk</a:t>
            </a:r>
          </a:p>
          <a:p>
            <a:r>
              <a:rPr lang="en-CA" dirty="0"/>
              <a:t>Non-convex optimisation: VaR is not convex, making portfolio optimisation intractable</a:t>
            </a:r>
          </a:p>
          <a:p>
            <a:r>
              <a:rPr lang="en-CA" dirty="0"/>
              <a:t>Basel III FRTB (2019): regulators recognised these flaws and mandated a switch to 97.5% ES to replace 99% VaR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Expected Shortfall - Definition and Intuition</a:t>
            </a:r>
            <a:endParaRPr b="1" dirty="0">
              <a:latin typeface="Arial" panose="020B0604020202020204" pitchFamily="34" charset="0"/>
              <a:cs typeface="Arial" panose="020B0604020202020204" pitchFamily="34" charset="0"/>
            </a:endParaRPr>
          </a:p>
        </p:txBody>
      </p:sp>
      <p:pic>
        <p:nvPicPr>
          <p:cNvPr id="4010" name="Picture 4009" descr="f_esdef.png"/>
          <p:cNvPicPr>
            <a:picLocks noChangeAspect="1"/>
          </p:cNvPicPr>
          <p:nvPr/>
        </p:nvPicPr>
        <p:blipFill>
          <a:blip r:embed="rId3"/>
          <a:stretch>
            <a:fillRect/>
          </a:stretch>
        </p:blipFill>
        <p:spPr>
          <a:xfrm>
            <a:off x="3958021" y="819912"/>
            <a:ext cx="4272908" cy="475488"/>
          </a:xfrm>
          <a:prstGeom prst="rect">
            <a:avLst/>
          </a:prstGeom>
        </p:spPr>
      </p:pic>
      <p:pic>
        <p:nvPicPr>
          <p:cNvPr id="4011" name="Picture 4010" descr="f_esnorm.png"/>
          <p:cNvPicPr>
            <a:picLocks noChangeAspect="1"/>
          </p:cNvPicPr>
          <p:nvPr/>
        </p:nvPicPr>
        <p:blipFill>
          <a:blip r:embed="rId4"/>
          <a:stretch>
            <a:fillRect/>
          </a:stretch>
        </p:blipFill>
        <p:spPr>
          <a:xfrm>
            <a:off x="4314906" y="1429512"/>
            <a:ext cx="3559138" cy="475488"/>
          </a:xfrm>
          <a:prstGeom prst="rect">
            <a:avLst/>
          </a:prstGeom>
        </p:spPr>
      </p:pic>
      <p:sp>
        <p:nvSpPr>
          <p:cNvPr id="2" name="Content Placeholder"/>
          <p:cNvSpPr>
            <a:spLocks noGrp="1"/>
          </p:cNvSpPr>
          <p:nvPr>
            <p:ph sz="half" idx="2"/>
          </p:nvPr>
        </p:nvSpPr>
        <p:spPr>
          <a:xfrm>
            <a:off x="420624" y="1981200"/>
            <a:ext cx="11347704" cy="4114800"/>
          </a:xfrm>
        </p:spPr>
        <p:txBody>
          <a:bodyPr wrap="square">
            <a:normAutofit fontScale="92500"/>
          </a:bodyPr>
          <a:lstStyle/>
          <a:p>
            <a:pPr marL="0" indent="0">
              <a:buNone/>
            </a:pPr>
            <a:r>
              <a:rPr lang="en-CA" b="1" dirty="0"/>
              <a:t>What ES measures</a:t>
            </a:r>
          </a:p>
          <a:p>
            <a:r>
              <a:rPr lang="en-CA" dirty="0"/>
              <a:t>ES is the conditional expected loss given that the loss exceeds VaR at level alpha</a:t>
            </a:r>
          </a:p>
          <a:p>
            <a:r>
              <a:rPr lang="en-CA" dirty="0"/>
              <a:t>Also called CVaR (Conditional Value-at-Risk) or Expected Tail Loss (ETL)</a:t>
            </a:r>
          </a:p>
          <a:p>
            <a:r>
              <a:rPr lang="en-CA" dirty="0"/>
              <a:t>At alpha = 97.5% (Basel III), ES is the average of the worst 2.5% of losses</a:t>
            </a:r>
          </a:p>
          <a:p>
            <a:pPr marL="0" indent="0">
              <a:buNone/>
            </a:pPr>
            <a:r>
              <a:rPr lang="en-CA" b="1" dirty="0"/>
              <a:t>Key properties</a:t>
            </a:r>
          </a:p>
          <a:p>
            <a:r>
              <a:rPr lang="en-CA" dirty="0"/>
              <a:t>ES is always at least VaR at the same confidence level</a:t>
            </a:r>
          </a:p>
          <a:p>
            <a:r>
              <a:rPr lang="en-CA" dirty="0"/>
              <a:t>ES captures the entire shape of the tail, not just its starting point</a:t>
            </a:r>
          </a:p>
          <a:p>
            <a:r>
              <a:rPr lang="en-CA" dirty="0"/>
              <a:t>Basel III uses 97.5% ES, about equal to 99% VaR in magnitude under normality</a:t>
            </a:r>
          </a:p>
          <a:p>
            <a:r>
              <a:rPr lang="en-CA" dirty="0" err="1"/>
              <a:t>Rockafellar</a:t>
            </a:r>
            <a:r>
              <a:rPr lang="en-CA" dirty="0"/>
              <a:t> and Uryasev (2000) show ES’s convexity enables portfolio optimisation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Coherent Risk Measures</a:t>
            </a:r>
            <a:endParaRPr b="1" dirty="0">
              <a:latin typeface="Arial" panose="020B0604020202020204" pitchFamily="34" charset="0"/>
              <a:cs typeface="Arial" panose="020B0604020202020204" pitchFamily="34" charset="0"/>
            </a:endParaRPr>
          </a:p>
        </p:txBody>
      </p:sp>
      <p:pic>
        <p:nvPicPr>
          <p:cNvPr id="4012" name="Picture 4011" descr="f_coherent.png"/>
          <p:cNvPicPr>
            <a:picLocks noChangeAspect="1"/>
          </p:cNvPicPr>
          <p:nvPr/>
        </p:nvPicPr>
        <p:blipFill>
          <a:blip r:embed="rId3"/>
          <a:stretch>
            <a:fillRect/>
          </a:stretch>
        </p:blipFill>
        <p:spPr>
          <a:xfrm>
            <a:off x="1452088" y="1066800"/>
            <a:ext cx="9287823" cy="375139"/>
          </a:xfrm>
          <a:prstGeom prst="rect">
            <a:avLst/>
          </a:prstGeom>
        </p:spPr>
      </p:pic>
      <p:sp>
        <p:nvSpPr>
          <p:cNvPr id="2" name="Content Placeholder"/>
          <p:cNvSpPr>
            <a:spLocks noGrp="1"/>
          </p:cNvSpPr>
          <p:nvPr>
            <p:ph sz="half" idx="2"/>
          </p:nvPr>
        </p:nvSpPr>
        <p:spPr>
          <a:xfrm>
            <a:off x="420624" y="1828800"/>
            <a:ext cx="11347704" cy="4267200"/>
          </a:xfrm>
        </p:spPr>
        <p:txBody>
          <a:bodyPr wrap="square">
            <a:normAutofit fontScale="92500" lnSpcReduction="20000"/>
          </a:bodyPr>
          <a:lstStyle/>
          <a:p>
            <a:pPr marL="0" indent="0">
              <a:buNone/>
            </a:pPr>
            <a:r>
              <a:rPr lang="en-CA" b="1" dirty="0"/>
              <a:t>Four axioms (Artzner, Delbaen, Eber and Heath, 1999): ES satisfies all, VaR fails one</a:t>
            </a:r>
          </a:p>
          <a:p>
            <a:r>
              <a:rPr lang="en-CA" dirty="0"/>
              <a:t>Monotonicity: worse outcomes imply higher risk</a:t>
            </a:r>
          </a:p>
          <a:p>
            <a:r>
              <a:rPr lang="en-CA" dirty="0"/>
              <a:t>Sub-additivity: the key regulatory axiom - merging portfolios cannot increase total risk</a:t>
            </a:r>
          </a:p>
          <a:p>
            <a:r>
              <a:rPr lang="en-CA" dirty="0"/>
              <a:t>Positive homogeneity: doubling positions doubles risk</a:t>
            </a:r>
          </a:p>
          <a:p>
            <a:r>
              <a:rPr lang="en-CA" dirty="0"/>
              <a:t>Translation invariance: adding cash reduces risk dollar for dollar</a:t>
            </a:r>
          </a:p>
          <a:p>
            <a:pPr marL="0" indent="0">
              <a:buNone/>
            </a:pPr>
            <a:r>
              <a:rPr lang="en-CA" b="1" dirty="0"/>
              <a:t>Why it matters</a:t>
            </a:r>
          </a:p>
          <a:p>
            <a:r>
              <a:rPr lang="en-CA" dirty="0"/>
              <a:t>VaR fails axiom 2 (sub-additivity) in general; ES satisfies all four, so ES is coherent</a:t>
            </a:r>
          </a:p>
          <a:p>
            <a:r>
              <a:rPr lang="en-CA" dirty="0"/>
              <a:t>VaR's sub-additivity failure is most acute for non-normal, fat-tailed or concentrated positions</a:t>
            </a:r>
          </a:p>
          <a:p>
            <a:r>
              <a:rPr lang="en-CA" dirty="0"/>
              <a:t>ES, being a weighted average of quantiles (an integral), is provably convex and sub-additive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Computing ES - Three Methods</a:t>
            </a:r>
            <a:endParaRPr b="1" dirty="0">
              <a:latin typeface="Arial" panose="020B0604020202020204" pitchFamily="34" charset="0"/>
              <a:cs typeface="Arial" panose="020B0604020202020204" pitchFamily="34" charset="0"/>
            </a:endParaRPr>
          </a:p>
        </p:txBody>
      </p:sp>
      <p:pic>
        <p:nvPicPr>
          <p:cNvPr id="4014" name="Picture 4013" descr="f_esnorm.png"/>
          <p:cNvPicPr>
            <a:picLocks noChangeAspect="1"/>
          </p:cNvPicPr>
          <p:nvPr/>
        </p:nvPicPr>
        <p:blipFill>
          <a:blip r:embed="rId3"/>
          <a:stretch>
            <a:fillRect/>
          </a:stretch>
        </p:blipFill>
        <p:spPr>
          <a:xfrm>
            <a:off x="4314907" y="951461"/>
            <a:ext cx="3559138" cy="475488"/>
          </a:xfrm>
          <a:prstGeom prst="rect">
            <a:avLst/>
          </a:prstGeom>
        </p:spPr>
      </p:pic>
      <p:sp>
        <p:nvSpPr>
          <p:cNvPr id="2" name="Content Placeholder"/>
          <p:cNvSpPr>
            <a:spLocks noGrp="1"/>
          </p:cNvSpPr>
          <p:nvPr>
            <p:ph sz="half" idx="2"/>
          </p:nvPr>
        </p:nvSpPr>
        <p:spPr>
          <a:xfrm>
            <a:off x="420624" y="1524000"/>
            <a:ext cx="11347704" cy="5181600"/>
          </a:xfrm>
        </p:spPr>
        <p:txBody>
          <a:bodyPr wrap="square">
            <a:normAutofit fontScale="85000" lnSpcReduction="10000"/>
          </a:bodyPr>
          <a:lstStyle/>
          <a:p>
            <a:pPr marL="0" indent="0">
              <a:buNone/>
            </a:pPr>
            <a:r>
              <a:rPr lang="en-CA" b="1" dirty="0"/>
              <a:t>Parametric (normal)</a:t>
            </a:r>
          </a:p>
          <a:p>
            <a:r>
              <a:rPr lang="en-CA" dirty="0"/>
              <a:t>Assume returns are normal with mean mu and variance sigma-squared; fast and works well near the centre</a:t>
            </a:r>
          </a:p>
          <a:p>
            <a:r>
              <a:rPr lang="en-CA" dirty="0"/>
              <a:t>ES = mu - sigma x phi(z_alpha) / (1 - alpha), with z_alpha the inverse normal CDF</a:t>
            </a:r>
          </a:p>
          <a:p>
            <a:r>
              <a:rPr lang="en-CA" dirty="0"/>
              <a:t>Underestimates tail risk when fat tails are present; extend with Student-t for thicker tails</a:t>
            </a:r>
          </a:p>
          <a:p>
            <a:pPr marL="0" indent="0">
              <a:buNone/>
            </a:pPr>
            <a:r>
              <a:rPr lang="en-CA" b="1" dirty="0"/>
              <a:t>Historical simulation</a:t>
            </a:r>
          </a:p>
          <a:p>
            <a:r>
              <a:rPr lang="en-CA" dirty="0"/>
              <a:t>Sort T historical returns ascending; VaR is the percentile at (1 - alpha) x 100</a:t>
            </a:r>
          </a:p>
          <a:p>
            <a:r>
              <a:rPr lang="en-CA" dirty="0"/>
              <a:t>ES is the mean of returns below VaR; fully non-parametric, no distributional assumption</a:t>
            </a:r>
          </a:p>
          <a:p>
            <a:r>
              <a:rPr lang="en-CA" dirty="0"/>
              <a:t>Captures observed fat tails automatically; sensitive to the length of the history window</a:t>
            </a:r>
          </a:p>
          <a:p>
            <a:pPr marL="0" indent="0">
              <a:buNone/>
            </a:pPr>
            <a:r>
              <a:rPr lang="en-CA" b="1" dirty="0"/>
              <a:t>Monte Carlo</a:t>
            </a:r>
          </a:p>
          <a:p>
            <a:r>
              <a:rPr lang="en-CA" dirty="0"/>
              <a:t>Fit a model (e.g. t-distribution or GARCH), simulate N scenarios (N at least 50,000)</a:t>
            </a:r>
          </a:p>
          <a:p>
            <a:r>
              <a:rPr lang="en-CA" dirty="0"/>
              <a:t>VaR is a percentile and ES is the mean of the tail; most flexible, handles any distribution</a:t>
            </a:r>
          </a:p>
          <a:p>
            <a:r>
              <a:rPr lang="en-CA" dirty="0"/>
              <a:t>Computationally costly at large scale; model risk means garbage in, garbage out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ES Worked Example</a:t>
            </a:r>
            <a:endParaRPr b="1" dirty="0">
              <a:latin typeface="Arial" panose="020B0604020202020204" pitchFamily="34" charset="0"/>
              <a:cs typeface="Arial" panose="020B0604020202020204" pitchFamily="34" charset="0"/>
            </a:endParaRPr>
          </a:p>
        </p:txBody>
      </p:sp>
      <p:sp>
        <p:nvSpPr>
          <p:cNvPr id="4016" name="Content Placeholder"/>
          <p:cNvSpPr>
            <a:spLocks noGrp="1"/>
          </p:cNvSpPr>
          <p:nvPr>
            <p:ph sz="half" idx="2"/>
          </p:nvPr>
        </p:nvSpPr>
        <p:spPr/>
        <p:txBody>
          <a:bodyPr wrap="square">
            <a:normAutofit fontScale="92500" lnSpcReduction="20000"/>
          </a:bodyPr>
          <a:lstStyle/>
          <a:p>
            <a:pPr marL="0" indent="0">
              <a:buNone/>
            </a:pPr>
            <a:r>
              <a:rPr lang="en-CA" b="1" dirty="0"/>
              <a:t>Given (daily P&amp;L portfolio, 20 observations ordered ascending)</a:t>
            </a:r>
          </a:p>
          <a:p>
            <a:r>
              <a:rPr lang="en-CA" dirty="0"/>
              <a:t>Sorted daily P&amp;L in thousands USD: -20, -14, -11, -9, -8, -6, -5, -4, -3, -2, -1, 0, +1, +2, +3, +4, +5, +7, +9, +13</a:t>
            </a:r>
          </a:p>
          <a:p>
            <a:r>
              <a:rPr lang="en-CA" dirty="0"/>
              <a:t>N = 20 observations; confidence level alpha = 90% (worst 10% is 2 observations)</a:t>
            </a:r>
          </a:p>
          <a:p>
            <a:endParaRPr lang="en-CA" dirty="0"/>
          </a:p>
          <a:p>
            <a:pPr marL="0" indent="0">
              <a:buNone/>
            </a:pPr>
            <a:r>
              <a:rPr lang="en-CA" b="1" dirty="0"/>
              <a:t>Solution</a:t>
            </a:r>
          </a:p>
          <a:p>
            <a:r>
              <a:rPr lang="en-CA" dirty="0"/>
              <a:t>Step 1: VaR at 90% = -(-14) = 14,000 USD (the 10th percentile of the loss distribution)</a:t>
            </a:r>
          </a:p>
          <a:p>
            <a:r>
              <a:rPr lang="en-CA" dirty="0"/>
              <a:t>Step 2: ES at 90% = mean of losses in the worst 10% tail; tail is {-20, -14}, so ES = (20 + 14) / 2 = 17,000 USD</a:t>
            </a:r>
          </a:p>
          <a:p>
            <a:r>
              <a:rPr lang="en-CA" dirty="0"/>
              <a:t>Step 3: compare - VaR = 14,000 USD, ES = 17,000 USD; ES exceeds VaR because it captures severity in the tail</a:t>
            </a:r>
          </a:p>
          <a:p>
            <a:r>
              <a:rPr lang="en-CA" dirty="0"/>
              <a:t>Answer: ES at 90% = 17,000 USD, VaR at 90% = 14,000 USD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Beyond ES - Spectral Risk Measures</a:t>
            </a:r>
            <a:endParaRPr b="1" dirty="0">
              <a:latin typeface="Arial" panose="020B0604020202020204" pitchFamily="34" charset="0"/>
              <a:cs typeface="Arial" panose="020B0604020202020204" pitchFamily="34" charset="0"/>
            </a:endParaRPr>
          </a:p>
        </p:txBody>
      </p:sp>
      <p:pic>
        <p:nvPicPr>
          <p:cNvPr id="4018" name="Picture 4017" descr="f_spectral.png"/>
          <p:cNvPicPr>
            <a:picLocks noChangeAspect="1"/>
          </p:cNvPicPr>
          <p:nvPr/>
        </p:nvPicPr>
        <p:blipFill>
          <a:blip r:embed="rId3"/>
          <a:stretch>
            <a:fillRect/>
          </a:stretch>
        </p:blipFill>
        <p:spPr>
          <a:xfrm>
            <a:off x="3472563" y="1066800"/>
            <a:ext cx="5243825" cy="475488"/>
          </a:xfrm>
          <a:prstGeom prst="rect">
            <a:avLst/>
          </a:prstGeom>
        </p:spPr>
      </p:pic>
      <p:sp>
        <p:nvSpPr>
          <p:cNvPr id="2" name="Content Placeholder"/>
          <p:cNvSpPr>
            <a:spLocks noGrp="1"/>
          </p:cNvSpPr>
          <p:nvPr>
            <p:ph sz="half" idx="2"/>
          </p:nvPr>
        </p:nvSpPr>
        <p:spPr>
          <a:xfrm>
            <a:off x="420624" y="1752600"/>
            <a:ext cx="11347704" cy="4740274"/>
          </a:xfrm>
        </p:spPr>
        <p:txBody>
          <a:bodyPr wrap="square">
            <a:normAutofit fontScale="92500" lnSpcReduction="20000"/>
          </a:bodyPr>
          <a:lstStyle/>
          <a:p>
            <a:pPr marL="0" indent="0">
              <a:buNone/>
            </a:pPr>
            <a:r>
              <a:rPr lang="en-CA" b="1" dirty="0"/>
              <a:t>Hull Ch.11 generalises VaR and ES into a single family</a:t>
            </a:r>
          </a:p>
          <a:p>
            <a:r>
              <a:rPr lang="en-CA" dirty="0"/>
              <a:t>VaR weights only one quantile; ES weights all tail losses equally</a:t>
            </a:r>
          </a:p>
          <a:p>
            <a:r>
              <a:rPr lang="en-CA" dirty="0"/>
              <a:t>A spectral measure is a weighted average of all quantiles, with weighting function phi(p)</a:t>
            </a:r>
          </a:p>
          <a:p>
            <a:r>
              <a:rPr lang="en-CA" dirty="0"/>
              <a:t>phi(p) is a risk-aversion weighting function: non-negative, increasing, and integrating to 1</a:t>
            </a:r>
          </a:p>
          <a:p>
            <a:pPr marL="0" indent="0">
              <a:buNone/>
            </a:pPr>
            <a:r>
              <a:rPr lang="en-CA" b="1" dirty="0"/>
              <a:t>Reading the family</a:t>
            </a:r>
          </a:p>
          <a:p>
            <a:r>
              <a:rPr lang="en-CA" dirty="0"/>
              <a:t>ES is the special case where phi is flat over the worst (1 - c) tail and zero elsewhere</a:t>
            </a:r>
          </a:p>
          <a:p>
            <a:r>
              <a:rPr lang="en-CA" dirty="0"/>
              <a:t>A steeper phi puts more weight on the most extreme losses, giving a more conservative measure</a:t>
            </a:r>
          </a:p>
          <a:p>
            <a:r>
              <a:rPr lang="en-CA" dirty="0"/>
              <a:t>Spectral measures are coherent for any valid phi (Acerbi 2002)</a:t>
            </a:r>
          </a:p>
          <a:p>
            <a:r>
              <a:rPr lang="en-CA" dirty="0"/>
              <a:t>Practical use: tie weights to a utility or risk-appetite curve; rare in regulation, useful internally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ES Under Different Distributions</a:t>
            </a:r>
            <a:endParaRPr b="1" dirty="0">
              <a:latin typeface="Arial" panose="020B0604020202020204" pitchFamily="34" charset="0"/>
              <a:cs typeface="Arial" panose="020B0604020202020204" pitchFamily="34" charset="0"/>
            </a:endParaRPr>
          </a:p>
        </p:txBody>
      </p:sp>
      <p:sp>
        <p:nvSpPr>
          <p:cNvPr id="4020" name="Content Placeholder"/>
          <p:cNvSpPr>
            <a:spLocks noGrp="1"/>
          </p:cNvSpPr>
          <p:nvPr>
            <p:ph sz="half" idx="2"/>
          </p:nvPr>
        </p:nvSpPr>
        <p:spPr/>
        <p:txBody>
          <a:bodyPr wrap="square">
            <a:normAutofit/>
          </a:bodyPr>
          <a:lstStyle/>
          <a:p>
            <a:pPr marL="0" indent="0">
              <a:buNone/>
            </a:pPr>
            <a:r>
              <a:rPr lang="en-CA" b="1" dirty="0"/>
              <a:t>Normal, Student-t, historical simulation, and GARCH</a:t>
            </a:r>
          </a:p>
          <a:p>
            <a:r>
              <a:rPr lang="en-CA" dirty="0"/>
              <a:t>The same three methods, now stress-tested against fat tails and volatility clustering</a:t>
            </a:r>
          </a:p>
          <a:p>
            <a:r>
              <a:rPr lang="en-CA" dirty="0"/>
              <a:t>Sets up why the normal assumption systematically understates tail risk and why Basel switched to 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Normal vs t-Distribution vs Historical Simulation</a:t>
            </a:r>
            <a:endParaRPr b="1" dirty="0">
              <a:latin typeface="Arial" panose="020B0604020202020204" pitchFamily="34" charset="0"/>
              <a:cs typeface="Arial" panose="020B0604020202020204" pitchFamily="34" charset="0"/>
            </a:endParaRPr>
          </a:p>
        </p:txBody>
      </p:sp>
      <p:pic>
        <p:nvPicPr>
          <p:cNvPr id="4022" name="Picture 4021" descr="f_esnorm.png"/>
          <p:cNvPicPr>
            <a:picLocks noChangeAspect="1"/>
          </p:cNvPicPr>
          <p:nvPr/>
        </p:nvPicPr>
        <p:blipFill>
          <a:blip r:embed="rId3"/>
          <a:stretch>
            <a:fillRect/>
          </a:stretch>
        </p:blipFill>
        <p:spPr>
          <a:xfrm>
            <a:off x="4314906" y="762000"/>
            <a:ext cx="3559138" cy="475488"/>
          </a:xfrm>
          <a:prstGeom prst="rect">
            <a:avLst/>
          </a:prstGeom>
        </p:spPr>
      </p:pic>
      <p:pic>
        <p:nvPicPr>
          <p:cNvPr id="4023" name="Picture 4022" descr="f_est.png"/>
          <p:cNvPicPr>
            <a:picLocks noChangeAspect="1"/>
          </p:cNvPicPr>
          <p:nvPr/>
        </p:nvPicPr>
        <p:blipFill>
          <a:blip r:embed="rId4"/>
          <a:stretch>
            <a:fillRect/>
          </a:stretch>
        </p:blipFill>
        <p:spPr>
          <a:xfrm>
            <a:off x="4454527" y="1219200"/>
            <a:ext cx="3279896" cy="475488"/>
          </a:xfrm>
          <a:prstGeom prst="rect">
            <a:avLst/>
          </a:prstGeom>
        </p:spPr>
      </p:pic>
      <p:sp>
        <p:nvSpPr>
          <p:cNvPr id="2" name="Content Placeholder"/>
          <p:cNvSpPr>
            <a:spLocks noGrp="1"/>
          </p:cNvSpPr>
          <p:nvPr>
            <p:ph sz="half" idx="2"/>
          </p:nvPr>
        </p:nvSpPr>
        <p:spPr>
          <a:xfrm>
            <a:off x="420624" y="1899139"/>
            <a:ext cx="11347704" cy="4593735"/>
          </a:xfrm>
        </p:spPr>
        <p:txBody>
          <a:bodyPr wrap="square">
            <a:normAutofit fontScale="85000" lnSpcReduction="20000"/>
          </a:bodyPr>
          <a:lstStyle/>
          <a:p>
            <a:pPr marL="0" indent="0">
              <a:buNone/>
            </a:pPr>
            <a:r>
              <a:rPr lang="en-CA" b="1" dirty="0"/>
              <a:t>Distributional assumptions</a:t>
            </a:r>
          </a:p>
          <a:p>
            <a:r>
              <a:rPr lang="en-CA" dirty="0"/>
              <a:t>Normal: ES = mu - sigma x phi(inverse-normal(alpha)) / (1 - alpha)</a:t>
            </a:r>
          </a:p>
          <a:p>
            <a:r>
              <a:rPr lang="en-CA" dirty="0"/>
              <a:t>Student-t with nu degrees of freedom: heavier tails give a larger ES (see formula above)</a:t>
            </a:r>
          </a:p>
          <a:p>
            <a:r>
              <a:rPr lang="en-CA" dirty="0"/>
              <a:t>Historical: non-parametric and data-driven</a:t>
            </a:r>
          </a:p>
          <a:p>
            <a:r>
              <a:rPr lang="en-CA" dirty="0"/>
              <a:t>Fat-tail evidence for financial returns: excess kurtosis above 0; Jarque-Bera rejects normality; QQ-plot shows heavy-tail departure; typical equities fit nu about 4 to 6</a:t>
            </a:r>
          </a:p>
          <a:p>
            <a:pPr marL="0" indent="0">
              <a:buNone/>
            </a:pPr>
            <a:r>
              <a:rPr lang="en-CA" b="1" dirty="0"/>
              <a:t>Practical impact on ES</a:t>
            </a:r>
          </a:p>
          <a:p>
            <a:r>
              <a:rPr lang="en-CA" dirty="0"/>
              <a:t>Under normality, ES at 97.5% is about 1.11 x sigma; under t(5) it is about 1.40 x sigma (26% higher)</a:t>
            </a:r>
          </a:p>
          <a:p>
            <a:r>
              <a:rPr lang="en-CA" dirty="0"/>
              <a:t>Historical ES depends on realised tail events and spikes in crisis periods (2008 GFC, COVID 2020)</a:t>
            </a:r>
          </a:p>
          <a:p>
            <a:r>
              <a:rPr lang="en-CA" dirty="0"/>
              <a:t>Normal ES stays smooth and underestimates; implication: normal models systematically understate tail risk, leading to undercapitalisation and regulatory concern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576B5-2213-A58E-C8CC-1097735E4043}"/>
            </a:ext>
          </a:extLst>
        </p:cNvPr>
        <p:cNvGrpSpPr/>
        <p:nvPr/>
      </p:nvGrpSpPr>
      <p:grpSpPr>
        <a:xfrm>
          <a:off x="0" y="0"/>
          <a:ext cx="0" cy="0"/>
          <a:chOff x="0" y="0"/>
          <a:chExt cx="0" cy="0"/>
        </a:xfrm>
      </p:grpSpPr>
      <p:sp>
        <p:nvSpPr>
          <p:cNvPr id="4021" name="Title">
            <a:extLst>
              <a:ext uri="{FF2B5EF4-FFF2-40B4-BE49-F238E27FC236}">
                <a16:creationId xmlns:a16="http://schemas.microsoft.com/office/drawing/2014/main" id="{30DCB482-2324-423C-280A-6FFC1ADE5171}"/>
              </a:ext>
            </a:extLst>
          </p:cNvPr>
          <p:cNvSpPr>
            <a:spLocks noGrp="1"/>
          </p:cNvSpPr>
          <p:nvPr>
            <p:ph type="title"/>
          </p:nvPr>
        </p:nvSpPr>
        <p:spPr/>
        <p:txBody>
          <a:bodyPr/>
          <a:lstStyle/>
          <a:p>
            <a:r>
              <a:rPr b="1" dirty="0">
                <a:latin typeface="Arial" panose="020B0604020202020204" pitchFamily="34" charset="0"/>
                <a:cs typeface="Arial" panose="020B0604020202020204" pitchFamily="34" charset="0"/>
              </a:rPr>
              <a:t>Expected Shortfall - Normal Distribution Example</a:t>
            </a:r>
          </a:p>
        </p:txBody>
      </p:sp>
      <p:sp>
        <p:nvSpPr>
          <p:cNvPr id="2" name="Content Placeholder">
            <a:extLst>
              <a:ext uri="{FF2B5EF4-FFF2-40B4-BE49-F238E27FC236}">
                <a16:creationId xmlns:a16="http://schemas.microsoft.com/office/drawing/2014/main" id="{590C8D2F-C0F4-663A-B579-1BFDF0456503}"/>
              </a:ext>
            </a:extLst>
          </p:cNvPr>
          <p:cNvSpPr>
            <a:spLocks noGrp="1"/>
          </p:cNvSpPr>
          <p:nvPr>
            <p:ph sz="half" idx="2"/>
          </p:nvPr>
        </p:nvSpPr>
        <p:spPr>
          <a:xfrm>
            <a:off x="420624" y="1441939"/>
            <a:ext cx="11347704" cy="4611389"/>
          </a:xfrm>
        </p:spPr>
        <p:txBody>
          <a:bodyPr wrap="square">
            <a:normAutofit fontScale="85000" lnSpcReduction="20000"/>
          </a:bodyPr>
          <a:lstStyle/>
          <a:p>
            <a:pPr marL="0" indent="0">
              <a:buNone/>
            </a:pPr>
            <a:r>
              <a:rPr b="1" dirty="0"/>
              <a:t>Given</a:t>
            </a:r>
          </a:p>
          <a:p>
            <a:r>
              <a:rPr dirty="0"/>
              <a:t>Portfolio value V = 1,000,000 USD; daily volatility sigma = 2%; mean mu = 0</a:t>
            </a:r>
          </a:p>
          <a:p>
            <a:r>
              <a:rPr dirty="0"/>
              <a:t>Confidence </a:t>
            </a:r>
            <a:r>
              <a:rPr lang="en-US" dirty="0"/>
              <a:t>⍺</a:t>
            </a:r>
            <a:r>
              <a:rPr dirty="0"/>
              <a:t> = 99% (tail probability 1 - c = 0.01); returns assumed Normal</a:t>
            </a:r>
          </a:p>
          <a:p>
            <a:endParaRPr dirty="0"/>
          </a:p>
          <a:p>
            <a:r>
              <a:rPr b="1" dirty="0"/>
              <a:t>Formula</a:t>
            </a:r>
          </a:p>
          <a:p>
            <a:r>
              <a:rPr dirty="0"/>
              <a:t>VaR = z * sigma * V      ES = </a:t>
            </a:r>
            <a:r>
              <a:rPr lang="en-US" dirty="0"/>
              <a:t>mu -</a:t>
            </a:r>
            <a:r>
              <a:rPr dirty="0"/>
              <a:t>[ phi(z) / (1 - </a:t>
            </a:r>
            <a:r>
              <a:rPr lang="en-US" dirty="0"/>
              <a:t>⍺</a:t>
            </a:r>
            <a:r>
              <a:rPr dirty="0"/>
              <a:t>) ] * sigma * V</a:t>
            </a:r>
          </a:p>
          <a:p>
            <a:r>
              <a:rPr dirty="0"/>
              <a:t>z = 2.326 (99% Normal quantile);   phi(z) = 0.02665 (density at z)</a:t>
            </a:r>
          </a:p>
          <a:p>
            <a:r>
              <a:rPr b="1" dirty="0"/>
              <a:t>Solution</a:t>
            </a:r>
          </a:p>
          <a:p>
            <a:r>
              <a:rPr dirty="0"/>
              <a:t>Step 1: VaR 99% = 2.326 * 0.02 * 1,000,000 = 46,527 USD</a:t>
            </a:r>
          </a:p>
          <a:p>
            <a:r>
              <a:rPr dirty="0"/>
              <a:t>Step 2: ES multiplier = phi(z) / (1 - </a:t>
            </a:r>
            <a:r>
              <a:rPr lang="en-US" dirty="0"/>
              <a:t>⍺</a:t>
            </a:r>
            <a:r>
              <a:rPr dirty="0"/>
              <a:t>) = 0.02665 / 0.01 = 2.665</a:t>
            </a:r>
          </a:p>
          <a:p>
            <a:r>
              <a:rPr dirty="0"/>
              <a:t>Step 3: ES 99% = 2.665 * 0.02 * 1,000,000 = 53,304 USD</a:t>
            </a:r>
          </a:p>
          <a:p>
            <a:r>
              <a:rPr b="1" dirty="0"/>
              <a:t>Answer: VaR = 46,527 USD, ES = 53,304 USD  (ES / VaR = 1.15)</a:t>
            </a:r>
          </a:p>
        </p:txBody>
      </p:sp>
      <p:pic>
        <p:nvPicPr>
          <p:cNvPr id="3" name="Picture 2" descr="f_esnorm.png">
            <a:extLst>
              <a:ext uri="{FF2B5EF4-FFF2-40B4-BE49-F238E27FC236}">
                <a16:creationId xmlns:a16="http://schemas.microsoft.com/office/drawing/2014/main" id="{F61DB8BE-FE52-56F1-EC92-3F8E4ED31DE4}"/>
              </a:ext>
            </a:extLst>
          </p:cNvPr>
          <p:cNvPicPr>
            <a:picLocks noChangeAspect="1"/>
          </p:cNvPicPr>
          <p:nvPr/>
        </p:nvPicPr>
        <p:blipFill>
          <a:blip r:embed="rId3"/>
          <a:stretch>
            <a:fillRect/>
          </a:stretch>
        </p:blipFill>
        <p:spPr>
          <a:xfrm>
            <a:off x="4114800" y="951445"/>
            <a:ext cx="3559138" cy="475488"/>
          </a:xfrm>
          <a:prstGeom prst="rect">
            <a:avLst/>
          </a:prstGeom>
        </p:spPr>
      </p:pic>
    </p:spTree>
    <p:extLst>
      <p:ext uri="{BB962C8B-B14F-4D97-AF65-F5344CB8AC3E}">
        <p14:creationId xmlns:p14="http://schemas.microsoft.com/office/powerpoint/2010/main" val="3641632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7A23B-68DE-2AF4-E531-79E8B27DB72C}"/>
            </a:ext>
          </a:extLst>
        </p:cNvPr>
        <p:cNvGrpSpPr/>
        <p:nvPr/>
      </p:nvGrpSpPr>
      <p:grpSpPr>
        <a:xfrm>
          <a:off x="0" y="0"/>
          <a:ext cx="0" cy="0"/>
          <a:chOff x="0" y="0"/>
          <a:chExt cx="0" cy="0"/>
        </a:xfrm>
      </p:grpSpPr>
      <p:sp>
        <p:nvSpPr>
          <p:cNvPr id="4021" name="Title">
            <a:extLst>
              <a:ext uri="{FF2B5EF4-FFF2-40B4-BE49-F238E27FC236}">
                <a16:creationId xmlns:a16="http://schemas.microsoft.com/office/drawing/2014/main" id="{9527563A-1E07-559E-6283-0A8189945E53}"/>
              </a:ext>
            </a:extLst>
          </p:cNvPr>
          <p:cNvSpPr>
            <a:spLocks noGrp="1"/>
          </p:cNvSpPr>
          <p:nvPr>
            <p:ph type="title"/>
          </p:nvPr>
        </p:nvSpPr>
        <p:spPr/>
        <p:txBody>
          <a:bodyPr/>
          <a:lstStyle/>
          <a:p>
            <a:r>
              <a:rPr b="1" dirty="0">
                <a:latin typeface="Arial" panose="020B0604020202020204" pitchFamily="34" charset="0"/>
                <a:cs typeface="Arial" panose="020B0604020202020204" pitchFamily="34" charset="0"/>
              </a:rPr>
              <a:t>Expected Shortfall - Student-t Distribution Example</a:t>
            </a:r>
          </a:p>
        </p:txBody>
      </p:sp>
      <p:sp>
        <p:nvSpPr>
          <p:cNvPr id="2" name="Content Placeholder">
            <a:extLst>
              <a:ext uri="{FF2B5EF4-FFF2-40B4-BE49-F238E27FC236}">
                <a16:creationId xmlns:a16="http://schemas.microsoft.com/office/drawing/2014/main" id="{9EA8E99A-B81A-953A-246C-21F8B56D3876}"/>
              </a:ext>
            </a:extLst>
          </p:cNvPr>
          <p:cNvSpPr>
            <a:spLocks noGrp="1"/>
          </p:cNvSpPr>
          <p:nvPr>
            <p:ph sz="half" idx="2"/>
          </p:nvPr>
        </p:nvSpPr>
        <p:spPr>
          <a:xfrm>
            <a:off x="420624" y="1466088"/>
            <a:ext cx="11347704" cy="4782311"/>
          </a:xfrm>
        </p:spPr>
        <p:txBody>
          <a:bodyPr wrap="square">
            <a:normAutofit fontScale="77500" lnSpcReduction="20000"/>
          </a:bodyPr>
          <a:lstStyle/>
          <a:p>
            <a:pPr marL="0" indent="0">
              <a:buNone/>
            </a:pPr>
            <a:r>
              <a:rPr b="1" dirty="0"/>
              <a:t>Given</a:t>
            </a:r>
          </a:p>
          <a:p>
            <a:r>
              <a:rPr dirty="0"/>
              <a:t>Same portfolio: V = 1,000,000 USD; sigma = 2%; mu = 0; </a:t>
            </a:r>
            <a:r>
              <a:rPr lang="en-US" dirty="0"/>
              <a:t>⍺</a:t>
            </a:r>
            <a:r>
              <a:rPr dirty="0"/>
              <a:t> = 99%</a:t>
            </a:r>
          </a:p>
          <a:p>
            <a:r>
              <a:rPr dirty="0"/>
              <a:t>Now assume Student-t returns, nu = 5 (fat tails), scaled to the same sigma</a:t>
            </a:r>
          </a:p>
          <a:p>
            <a:r>
              <a:rPr b="1" dirty="0"/>
              <a:t>Formula</a:t>
            </a:r>
          </a:p>
          <a:p>
            <a:r>
              <a:rPr dirty="0"/>
              <a:t>x = t-quantile(99%, nu=5) = 3.365;   raw </a:t>
            </a:r>
            <a:r>
              <a:rPr dirty="0" err="1"/>
              <a:t>sd</a:t>
            </a:r>
            <a:r>
              <a:rPr dirty="0"/>
              <a:t> = sqrt(nu/(nu-2)) = 1.291</a:t>
            </a:r>
          </a:p>
          <a:p>
            <a:r>
              <a:rPr dirty="0"/>
              <a:t>VaR = (x / raw </a:t>
            </a:r>
            <a:r>
              <a:rPr dirty="0" err="1"/>
              <a:t>sd</a:t>
            </a:r>
            <a:r>
              <a:rPr dirty="0"/>
              <a:t>) * sigma * V</a:t>
            </a:r>
          </a:p>
          <a:p>
            <a:r>
              <a:rPr dirty="0"/>
              <a:t>ES = (1 / raw </a:t>
            </a:r>
            <a:r>
              <a:rPr dirty="0" err="1"/>
              <a:t>sd</a:t>
            </a:r>
            <a:r>
              <a:rPr dirty="0"/>
              <a:t>) * [ g(x) / (1 - </a:t>
            </a:r>
            <a:r>
              <a:rPr lang="en-US" dirty="0"/>
              <a:t>⍺</a:t>
            </a:r>
            <a:r>
              <a:rPr dirty="0"/>
              <a:t>) ] * [ (nu + x^2) / (nu - 1) ] * sigma * V</a:t>
            </a:r>
          </a:p>
          <a:p>
            <a:r>
              <a:rPr dirty="0"/>
              <a:t>with g(x) = 0.01091 (t density at x);   nu + x^2 = 5 + 11.32 = 16.32</a:t>
            </a:r>
          </a:p>
          <a:p>
            <a:r>
              <a:rPr b="1" dirty="0"/>
              <a:t>Solution</a:t>
            </a:r>
          </a:p>
          <a:p>
            <a:r>
              <a:rPr dirty="0"/>
              <a:t>Step 1: VaR </a:t>
            </a:r>
            <a:r>
              <a:rPr dirty="0" err="1"/>
              <a:t>mult</a:t>
            </a:r>
            <a:r>
              <a:rPr dirty="0"/>
              <a:t> = 3.365 / 1.291 = 2.606;  VaR 99% = 2.606 * 0.02 * 1,000,000 = 52,129 USD</a:t>
            </a:r>
          </a:p>
          <a:p>
            <a:r>
              <a:rPr dirty="0"/>
              <a:t>Step 2: ES </a:t>
            </a:r>
            <a:r>
              <a:rPr dirty="0" err="1"/>
              <a:t>mult</a:t>
            </a:r>
            <a:r>
              <a:rPr dirty="0"/>
              <a:t> = (1 / 1.291) * (0.01091 / 0.01) * (16.32 / 4) = 3.449</a:t>
            </a:r>
          </a:p>
          <a:p>
            <a:r>
              <a:rPr dirty="0"/>
              <a:t>Step 3: ES 99% = 3.449 * 0.02 * 1,000,000 = 68,977 USD</a:t>
            </a:r>
          </a:p>
          <a:p>
            <a:r>
              <a:rPr b="1" dirty="0"/>
              <a:t>Answer: VaR = 52,129 USD, ES = 68,977 USD  (ES / VaR = 1.32).  Vs Normal: VaR +12%, ES +29%.</a:t>
            </a:r>
          </a:p>
        </p:txBody>
      </p:sp>
      <p:pic>
        <p:nvPicPr>
          <p:cNvPr id="3" name="Picture 2" descr="f_est.png">
            <a:extLst>
              <a:ext uri="{FF2B5EF4-FFF2-40B4-BE49-F238E27FC236}">
                <a16:creationId xmlns:a16="http://schemas.microsoft.com/office/drawing/2014/main" id="{DA68812E-6792-A329-9E55-20712B438A95}"/>
              </a:ext>
            </a:extLst>
          </p:cNvPr>
          <p:cNvPicPr>
            <a:picLocks noChangeAspect="1"/>
          </p:cNvPicPr>
          <p:nvPr/>
        </p:nvPicPr>
        <p:blipFill>
          <a:blip r:embed="rId3"/>
          <a:stretch>
            <a:fillRect/>
          </a:stretch>
        </p:blipFill>
        <p:spPr>
          <a:xfrm>
            <a:off x="4419600" y="990600"/>
            <a:ext cx="3279896" cy="475488"/>
          </a:xfrm>
          <a:prstGeom prst="rect">
            <a:avLst/>
          </a:prstGeom>
        </p:spPr>
      </p:pic>
    </p:spTree>
    <p:extLst>
      <p:ext uri="{BB962C8B-B14F-4D97-AF65-F5344CB8AC3E}">
        <p14:creationId xmlns:p14="http://schemas.microsoft.com/office/powerpoint/2010/main" val="107047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GARCH-Based Expected Shortfall</a:t>
            </a:r>
            <a:endParaRPr b="1" dirty="0">
              <a:latin typeface="Arial" panose="020B0604020202020204" pitchFamily="34" charset="0"/>
              <a:cs typeface="Arial" panose="020B0604020202020204" pitchFamily="34" charset="0"/>
            </a:endParaRPr>
          </a:p>
        </p:txBody>
      </p:sp>
      <p:pic>
        <p:nvPicPr>
          <p:cNvPr id="4024" name="Picture 4023" descr="f_garch.png"/>
          <p:cNvPicPr>
            <a:picLocks noChangeAspect="1"/>
          </p:cNvPicPr>
          <p:nvPr/>
        </p:nvPicPr>
        <p:blipFill>
          <a:blip r:embed="rId3"/>
          <a:stretch>
            <a:fillRect/>
          </a:stretch>
        </p:blipFill>
        <p:spPr>
          <a:xfrm>
            <a:off x="4143626" y="838200"/>
            <a:ext cx="3901699" cy="475488"/>
          </a:xfrm>
          <a:prstGeom prst="rect">
            <a:avLst/>
          </a:prstGeom>
        </p:spPr>
      </p:pic>
      <p:pic>
        <p:nvPicPr>
          <p:cNvPr id="4025" name="Picture 4024" descr="f_garches.png"/>
          <p:cNvPicPr>
            <a:picLocks noChangeAspect="1"/>
          </p:cNvPicPr>
          <p:nvPr/>
        </p:nvPicPr>
        <p:blipFill>
          <a:blip r:embed="rId4"/>
          <a:stretch>
            <a:fillRect/>
          </a:stretch>
        </p:blipFill>
        <p:spPr>
          <a:xfrm>
            <a:off x="3200908" y="1371600"/>
            <a:ext cx="4844417" cy="398031"/>
          </a:xfrm>
          <a:prstGeom prst="rect">
            <a:avLst/>
          </a:prstGeom>
        </p:spPr>
      </p:pic>
      <p:sp>
        <p:nvSpPr>
          <p:cNvPr id="2" name="Content Placeholder"/>
          <p:cNvSpPr>
            <a:spLocks noGrp="1"/>
          </p:cNvSpPr>
          <p:nvPr>
            <p:ph sz="half" idx="2"/>
          </p:nvPr>
        </p:nvSpPr>
        <p:spPr>
          <a:xfrm>
            <a:off x="420624" y="1915013"/>
            <a:ext cx="11347704" cy="4577861"/>
          </a:xfrm>
        </p:spPr>
        <p:txBody>
          <a:bodyPr wrap="square">
            <a:normAutofit fontScale="92500" lnSpcReduction="20000"/>
          </a:bodyPr>
          <a:lstStyle/>
          <a:p>
            <a:pPr marL="0" indent="0">
              <a:buNone/>
            </a:pPr>
            <a:r>
              <a:rPr lang="en-CA" b="1" dirty="0"/>
              <a:t>Dynamic ES dramatically outperforms static ES during volatile regimes</a:t>
            </a:r>
          </a:p>
          <a:p>
            <a:r>
              <a:rPr lang="en-CA" dirty="0"/>
              <a:t>Constant-volatility ES is blind to volatility clustering, the most persistent feature of financial returns</a:t>
            </a:r>
          </a:p>
          <a:p>
            <a:r>
              <a:rPr lang="en-CA" dirty="0"/>
              <a:t>GARCH(1,1) gives a time-varying variance (recursion above): omega plus alpha times the last squared shock plus beta times the last variance</a:t>
            </a:r>
          </a:p>
          <a:p>
            <a:r>
              <a:rPr lang="en-CA" dirty="0"/>
              <a:t>GARCH-ES: standardise returns z_t = r_t / sigma_t, fit a distribution to z_t, then scale back with ES_t = sigma_t x ES(z)</a:t>
            </a:r>
          </a:p>
          <a:p>
            <a:pPr marL="0" indent="0">
              <a:buNone/>
            </a:pPr>
            <a:r>
              <a:rPr lang="en-CA" b="1" dirty="0"/>
              <a:t>Filtered Historical Simulation and the lab</a:t>
            </a:r>
          </a:p>
          <a:p>
            <a:r>
              <a:rPr lang="en-CA" dirty="0"/>
              <a:t>Filtered HS: use GARCH residuals for HS, then multiply by the current sigma_t for the ES forecast</a:t>
            </a:r>
          </a:p>
          <a:p>
            <a:r>
              <a:rPr lang="en-CA" dirty="0"/>
              <a:t>Captures risk escalation in real time - ES grows as volatility grows</a:t>
            </a:r>
          </a:p>
          <a:p>
            <a:r>
              <a:rPr lang="en-CA" dirty="0"/>
              <a:t>Python: arch library (from Session 2), am.fit(), conditional_volatility, standardised residuals, then apply the ES formula\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Why ES Is Now the Basel Standard</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a:xfrm>
            <a:off x="423100" y="1143001"/>
            <a:ext cx="11345797" cy="4894384"/>
          </a:xfrm>
        </p:spPr>
        <p:txBody>
          <a:bodyPr wrap="square">
            <a:normAutofit fontScale="85000" lnSpcReduction="10000"/>
          </a:bodyPr>
          <a:lstStyle/>
          <a:p>
            <a:pPr marL="0" indent="0">
              <a:buNone/>
            </a:pPr>
            <a:r>
              <a:rPr lang="en-CA" b="1" dirty="0"/>
              <a:t>The most significant change in market-risk measurement since Basel II</a:t>
            </a:r>
          </a:p>
          <a:p>
            <a:r>
              <a:rPr lang="en-CA" dirty="0"/>
              <a:t>Basel III FRTB (2019): mandatory shift from 99% VaR to 97.5% ES for market-risk capital</a:t>
            </a:r>
          </a:p>
          <a:p>
            <a:r>
              <a:rPr lang="en-CA" dirty="0"/>
              <a:t>Regulatory rationale: ES is sub-additive, convex, and captures tail severity that VaR ignores</a:t>
            </a:r>
          </a:p>
          <a:p>
            <a:r>
              <a:rPr lang="en-CA" dirty="0"/>
              <a:t>97.5% ES is about equal to 99% VaR under normality, but ES is more conservative with fat-tailed returns</a:t>
            </a:r>
          </a:p>
          <a:p>
            <a:r>
              <a:rPr lang="en-CA" dirty="0"/>
              <a:t>Stress-period calibration: FRTB requires ES computed on a stressed historical window (2008 GFC or equivalent)</a:t>
            </a:r>
          </a:p>
          <a:p>
            <a:r>
              <a:rPr lang="en-CA" dirty="0"/>
              <a:t>Liquidity horizons: FRTB applies different holding periods (10 to 120 days) per asset class before aggregating ES</a:t>
            </a:r>
          </a:p>
          <a:p>
            <a:r>
              <a:rPr lang="en-CA" dirty="0"/>
              <a:t>Yamai and Yoshiba (2005), J. Banking and Finance: systematic comparison of VaR and ES across market conditions</a:t>
            </a:r>
          </a:p>
          <a:p>
            <a:r>
              <a:rPr lang="en-CA" dirty="0"/>
              <a:t>Acerbi and Szekely (2014), Risk: the first practical ES backtesting methodology, required by FRTB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3: Backtesting - Statistical Framework</a:t>
            </a:r>
            <a:endParaRPr b="1" dirty="0">
              <a:latin typeface="Arial" panose="020B0604020202020204" pitchFamily="34" charset="0"/>
              <a:cs typeface="Arial" panose="020B0604020202020204" pitchFamily="34" charset="0"/>
            </a:endParaRPr>
          </a:p>
        </p:txBody>
      </p:sp>
      <p:sp>
        <p:nvSpPr>
          <p:cNvPr id="4028" name="Content Placeholder"/>
          <p:cNvSpPr>
            <a:spLocks noGrp="1"/>
          </p:cNvSpPr>
          <p:nvPr>
            <p:ph sz="half" idx="2"/>
          </p:nvPr>
        </p:nvSpPr>
        <p:spPr/>
        <p:txBody>
          <a:bodyPr wrap="square">
            <a:normAutofit/>
          </a:bodyPr>
          <a:lstStyle/>
          <a:p>
            <a:pPr marL="0" indent="0">
              <a:buNone/>
            </a:pPr>
            <a:r>
              <a:rPr lang="en-CA" b="1" dirty="0"/>
              <a:t>Kupiec POF, Christoffersen independence, Basel traffic light</a:t>
            </a:r>
          </a:p>
          <a:p>
            <a:r>
              <a:rPr lang="en-CA" dirty="0"/>
              <a:t>Every risk model is a forecast; backtesting is the empirical check that it is correctly specified</a:t>
            </a:r>
          </a:p>
          <a:p>
            <a:r>
              <a:rPr lang="en-CA" dirty="0"/>
              <a:t>Two separate failure modes: wrong violation frequency, and wrong timing (clustering)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Backtesting?</a:t>
            </a:r>
            <a:endParaRPr b="1" dirty="0">
              <a:latin typeface="Arial" panose="020B0604020202020204" pitchFamily="34" charset="0"/>
              <a:cs typeface="Arial" panose="020B0604020202020204" pitchFamily="34" charset="0"/>
            </a:endParaRPr>
          </a:p>
        </p:txBody>
      </p:sp>
      <p:sp>
        <p:nvSpPr>
          <p:cNvPr id="4030" name="Content Placeholder"/>
          <p:cNvSpPr>
            <a:spLocks noGrp="1"/>
          </p:cNvSpPr>
          <p:nvPr>
            <p:ph sz="half" idx="2"/>
          </p:nvPr>
        </p:nvSpPr>
        <p:spPr>
          <a:xfrm>
            <a:off x="423100" y="1219201"/>
            <a:ext cx="11345797" cy="4818184"/>
          </a:xfrm>
        </p:spPr>
        <p:txBody>
          <a:bodyPr wrap="square">
            <a:normAutofit fontScale="92500" lnSpcReduction="10000"/>
          </a:bodyPr>
          <a:lstStyle/>
          <a:p>
            <a:pPr marL="0" indent="0">
              <a:buNone/>
            </a:pPr>
            <a:r>
              <a:rPr lang="en-CA" b="1" dirty="0"/>
              <a:t>If the model is correctly specified, violations should be rare and randomly distributed</a:t>
            </a:r>
          </a:p>
          <a:p>
            <a:r>
              <a:rPr lang="en-CA" dirty="0"/>
              <a:t>Backtesting compares ex-ante risk forecasts against ex-post realised returns to validate model accuracy</a:t>
            </a:r>
          </a:p>
          <a:p>
            <a:r>
              <a:rPr lang="en-CA" dirty="0"/>
              <a:t>A VaR violation (exception) occurs when the actual loss exceeds the VaR forecast: I_t = 1 when r_t is below minus VaR_t</a:t>
            </a:r>
          </a:p>
          <a:p>
            <a:r>
              <a:rPr lang="en-CA" dirty="0"/>
              <a:t>At alpha = 99% we expect 1% violations: 2 to 3 per year over a 252-day window</a:t>
            </a:r>
          </a:p>
          <a:p>
            <a:r>
              <a:rPr lang="en-CA" dirty="0"/>
              <a:t>Too few violations means the model is overly conservative (costly for capital)</a:t>
            </a:r>
          </a:p>
          <a:p>
            <a:r>
              <a:rPr lang="en-CA" dirty="0"/>
              <a:t>Too many violations means the model underestimates risk (dangerous for solvency)</a:t>
            </a:r>
          </a:p>
          <a:p>
            <a:r>
              <a:rPr lang="en-CA" dirty="0"/>
              <a:t>Violation clustering: even if frequency is correct, clustered violations signal unmodelled volatility dynamics</a:t>
            </a:r>
          </a:p>
          <a:p>
            <a:r>
              <a:rPr lang="en-CA" dirty="0"/>
              <a:t>Basel requires daily backtesting of 1-day 99% VaR against actual P&amp;L; count violations over 250 trading days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Kupiec Proportion-Of-Failure Test</a:t>
            </a:r>
            <a:endParaRPr b="1" dirty="0">
              <a:latin typeface="Arial" panose="020B0604020202020204" pitchFamily="34" charset="0"/>
              <a:cs typeface="Arial" panose="020B0604020202020204" pitchFamily="34" charset="0"/>
            </a:endParaRPr>
          </a:p>
        </p:txBody>
      </p:sp>
      <p:pic>
        <p:nvPicPr>
          <p:cNvPr id="4032" name="Picture 4031" descr="f_kupiec.png"/>
          <p:cNvPicPr>
            <a:picLocks noChangeAspect="1"/>
          </p:cNvPicPr>
          <p:nvPr/>
        </p:nvPicPr>
        <p:blipFill>
          <a:blip r:embed="rId3"/>
          <a:stretch>
            <a:fillRect/>
          </a:stretch>
        </p:blipFill>
        <p:spPr>
          <a:xfrm>
            <a:off x="3560192" y="989731"/>
            <a:ext cx="5071616" cy="624605"/>
          </a:xfrm>
          <a:prstGeom prst="rect">
            <a:avLst/>
          </a:prstGeom>
        </p:spPr>
      </p:pic>
      <p:sp>
        <p:nvSpPr>
          <p:cNvPr id="2" name="Content Placeholder"/>
          <p:cNvSpPr>
            <a:spLocks noGrp="1"/>
          </p:cNvSpPr>
          <p:nvPr>
            <p:ph sz="half" idx="2"/>
          </p:nvPr>
        </p:nvSpPr>
        <p:spPr>
          <a:xfrm>
            <a:off x="420624" y="1828800"/>
            <a:ext cx="11347704" cy="4224528"/>
          </a:xfrm>
        </p:spPr>
        <p:txBody>
          <a:bodyPr wrap="square">
            <a:normAutofit fontScale="77500" lnSpcReduction="20000"/>
          </a:bodyPr>
          <a:lstStyle/>
          <a:p>
            <a:pPr marL="0" indent="0">
              <a:buNone/>
            </a:pPr>
            <a:r>
              <a:rPr lang="en-CA" b="1" dirty="0"/>
              <a:t>Kupiec (1995): is the violation rate statistically consistent with the model?</a:t>
            </a:r>
          </a:p>
          <a:p>
            <a:r>
              <a:rPr lang="en-CA" dirty="0"/>
              <a:t>Likelihood ratio test comparing the observed violation rate to the expected rate</a:t>
            </a:r>
          </a:p>
          <a:p>
            <a:r>
              <a:rPr lang="en-CA" dirty="0"/>
              <a:t>Null hypothesis: the violation probability p_0 equals 1 - alpha; p-hat = N / T is the observed rate</a:t>
            </a:r>
          </a:p>
          <a:p>
            <a:r>
              <a:rPr lang="en-CA" dirty="0"/>
              <a:t>N is the number of violations and T the number of observations; reject if LR_POF exceeds 3.84 (5% level)</a:t>
            </a:r>
          </a:p>
          <a:p>
            <a:pPr marL="0" indent="0">
              <a:buNone/>
            </a:pPr>
            <a:r>
              <a:rPr lang="en-CA" b="1" dirty="0"/>
              <a:t>Reading the result</a:t>
            </a:r>
          </a:p>
          <a:p>
            <a:r>
              <a:rPr lang="en-CA" dirty="0"/>
              <a:t>At 99% VaR: p_0 = 0.01, so expect about 2 to 3 violations over 250 days</a:t>
            </a:r>
          </a:p>
          <a:p>
            <a:r>
              <a:rPr lang="en-CA" dirty="0"/>
              <a:t>At 97.5% VaR: p_0 = 0.025, so expect about 6 to 7 violations over 250 days</a:t>
            </a:r>
          </a:p>
          <a:p>
            <a:r>
              <a:rPr lang="en-CA" dirty="0"/>
              <a:t>Low power with small samples, so T of at least 250 is recommended</a:t>
            </a:r>
          </a:p>
          <a:p>
            <a:r>
              <a:rPr lang="en-CA" dirty="0"/>
              <a:t>Passes if the observed rate is statistically indistinguishable from p_0; fails if too many OR too few (two-sided)</a:t>
            </a:r>
          </a:p>
          <a:p>
            <a:r>
              <a:rPr lang="en-CA" dirty="0"/>
              <a:t>Python: scipy.stats.chi2.sf(LR, df=1) for the p-value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26AE1-BF96-1B52-2931-BC13C6E99531}"/>
            </a:ext>
          </a:extLst>
        </p:cNvPr>
        <p:cNvGrpSpPr/>
        <p:nvPr/>
      </p:nvGrpSpPr>
      <p:grpSpPr>
        <a:xfrm>
          <a:off x="0" y="0"/>
          <a:ext cx="0" cy="0"/>
          <a:chOff x="0" y="0"/>
          <a:chExt cx="0" cy="0"/>
        </a:xfrm>
      </p:grpSpPr>
      <p:sp>
        <p:nvSpPr>
          <p:cNvPr id="4033" name="Title">
            <a:extLst>
              <a:ext uri="{FF2B5EF4-FFF2-40B4-BE49-F238E27FC236}">
                <a16:creationId xmlns:a16="http://schemas.microsoft.com/office/drawing/2014/main" id="{B9B09D00-C904-74AE-FB22-440B7F45E414}"/>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Kupiec POF Test Example</a:t>
            </a:r>
            <a:endParaRPr b="1" dirty="0">
              <a:latin typeface="Arial" panose="020B0604020202020204" pitchFamily="34" charset="0"/>
              <a:cs typeface="Arial" panose="020B0604020202020204" pitchFamily="34" charset="0"/>
            </a:endParaRPr>
          </a:p>
        </p:txBody>
      </p:sp>
      <p:sp>
        <p:nvSpPr>
          <p:cNvPr id="2" name="Content Placeholder">
            <a:extLst>
              <a:ext uri="{FF2B5EF4-FFF2-40B4-BE49-F238E27FC236}">
                <a16:creationId xmlns:a16="http://schemas.microsoft.com/office/drawing/2014/main" id="{542E9431-CA6D-54DF-9BBD-50721297E82A}"/>
              </a:ext>
            </a:extLst>
          </p:cNvPr>
          <p:cNvSpPr>
            <a:spLocks noGrp="1"/>
          </p:cNvSpPr>
          <p:nvPr>
            <p:ph sz="half" idx="2"/>
          </p:nvPr>
        </p:nvSpPr>
        <p:spPr>
          <a:xfrm>
            <a:off x="420624" y="1752600"/>
            <a:ext cx="11347704" cy="4572000"/>
          </a:xfrm>
        </p:spPr>
        <p:txBody>
          <a:bodyPr wrap="square">
            <a:normAutofit lnSpcReduction="10000"/>
          </a:bodyPr>
          <a:lstStyle/>
          <a:p>
            <a:r>
              <a:rPr lang="en-CA" dirty="0"/>
              <a:t>We </a:t>
            </a:r>
            <a:r>
              <a:rPr lang="en-CA" dirty="0" err="1"/>
              <a:t>backtest</a:t>
            </a:r>
            <a:r>
              <a:rPr lang="en-CA" dirty="0"/>
              <a:t> a 99% 1-day VaR model over one trading year.</a:t>
            </a:r>
          </a:p>
          <a:p>
            <a:r>
              <a:rPr lang="en-CA" dirty="0"/>
              <a:t>The expected exception rate is p = 1 - 0.99 = 0.01, and over T = 250 days we expect 250 x 0.01 = 2.5 exceptions. </a:t>
            </a:r>
          </a:p>
          <a:p>
            <a:r>
              <a:rPr lang="en-CA" dirty="0"/>
              <a:t>Suppose the model actually produced 8 exceptions (days where the loss exceeded VaR). Observed rate = 8/250 = 3.2%, well above the 1% it promised. Is that just bad luck, or is the model broken?</a:t>
            </a:r>
          </a:p>
          <a:p>
            <a:pPr marL="0" indent="0">
              <a:buNone/>
            </a:pPr>
            <a:r>
              <a:rPr lang="en-CA" dirty="0"/>
              <a:t>Plug in p = 0.01, T = 250, N = 8:</a:t>
            </a:r>
          </a:p>
          <a:p>
            <a:pPr marL="0" indent="0">
              <a:buNone/>
            </a:pPr>
            <a:r>
              <a:rPr lang="en-CA" dirty="0"/>
              <a:t>- (1-p) term: 242 x ln(0.99) + 8 x ln(0.01) = -2.432 - 36.841 = -39.273</a:t>
            </a:r>
          </a:p>
          <a:p>
            <a:pPr marL="0" indent="0">
              <a:buNone/>
            </a:pPr>
            <a:r>
              <a:rPr lang="en-CA" dirty="0"/>
              <a:t>- observed term: 242 x ln(0.968) + 8 x ln(0.032) = -7.871 - 27.536 = -35.407</a:t>
            </a:r>
          </a:p>
          <a:p>
            <a:pPr marL="0" indent="0">
              <a:buNone/>
            </a:pPr>
            <a:r>
              <a:rPr lang="en-CA" dirty="0"/>
              <a:t>- LR_POF = -2 x (-39.273 - (-35.407)) = -2 x (-3.867) = 7.73 &gt; 6.63 (critical value of 1% chi-square with 1df)</a:t>
            </a:r>
          </a:p>
          <a:p>
            <a:pPr marL="0" indent="0">
              <a:buNone/>
            </a:pPr>
            <a:endParaRPr lang="en-CA" dirty="0"/>
          </a:p>
        </p:txBody>
      </p:sp>
      <p:pic>
        <p:nvPicPr>
          <p:cNvPr id="3" name="Picture 2" descr="f_kupiec.png">
            <a:extLst>
              <a:ext uri="{FF2B5EF4-FFF2-40B4-BE49-F238E27FC236}">
                <a16:creationId xmlns:a16="http://schemas.microsoft.com/office/drawing/2014/main" id="{DCE66B0B-2874-5471-60FD-8FA0BC0F7974}"/>
              </a:ext>
            </a:extLst>
          </p:cNvPr>
          <p:cNvPicPr>
            <a:picLocks noChangeAspect="1"/>
          </p:cNvPicPr>
          <p:nvPr/>
        </p:nvPicPr>
        <p:blipFill>
          <a:blip r:embed="rId3"/>
          <a:stretch>
            <a:fillRect/>
          </a:stretch>
        </p:blipFill>
        <p:spPr>
          <a:xfrm>
            <a:off x="3560192" y="989731"/>
            <a:ext cx="5071616" cy="624605"/>
          </a:xfrm>
          <a:prstGeom prst="rect">
            <a:avLst/>
          </a:prstGeom>
        </p:spPr>
      </p:pic>
    </p:spTree>
    <p:extLst>
      <p:ext uri="{BB962C8B-B14F-4D97-AF65-F5344CB8AC3E}">
        <p14:creationId xmlns:p14="http://schemas.microsoft.com/office/powerpoint/2010/main" val="3326768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Christoffersen Independence Test</a:t>
            </a:r>
            <a:endParaRPr b="1" dirty="0">
              <a:latin typeface="Arial" panose="020B0604020202020204" pitchFamily="34" charset="0"/>
              <a:cs typeface="Arial" panose="020B0604020202020204" pitchFamily="34" charset="0"/>
            </a:endParaRPr>
          </a:p>
        </p:txBody>
      </p:sp>
      <p:pic>
        <p:nvPicPr>
          <p:cNvPr id="4034" name="Picture 4033" descr="f_christ.png"/>
          <p:cNvPicPr>
            <a:picLocks noChangeAspect="1"/>
          </p:cNvPicPr>
          <p:nvPr/>
        </p:nvPicPr>
        <p:blipFill>
          <a:blip r:embed="rId3"/>
          <a:stretch>
            <a:fillRect/>
          </a:stretch>
        </p:blipFill>
        <p:spPr>
          <a:xfrm>
            <a:off x="3334578" y="966451"/>
            <a:ext cx="5519795" cy="475488"/>
          </a:xfrm>
          <a:prstGeom prst="rect">
            <a:avLst/>
          </a:prstGeom>
        </p:spPr>
      </p:pic>
      <p:sp>
        <p:nvSpPr>
          <p:cNvPr id="2" name="Content Placeholder"/>
          <p:cNvSpPr>
            <a:spLocks noGrp="1"/>
          </p:cNvSpPr>
          <p:nvPr>
            <p:ph sz="half" idx="2"/>
          </p:nvPr>
        </p:nvSpPr>
        <p:spPr>
          <a:xfrm>
            <a:off x="420624" y="1752600"/>
            <a:ext cx="11347704" cy="4572000"/>
          </a:xfrm>
        </p:spPr>
        <p:txBody>
          <a:bodyPr wrap="square">
            <a:normAutofit fontScale="77500" lnSpcReduction="20000"/>
          </a:bodyPr>
          <a:lstStyle/>
          <a:p>
            <a:pPr marL="0" indent="0">
              <a:buNone/>
            </a:pPr>
            <a:r>
              <a:rPr lang="en-CA" b="1" dirty="0"/>
              <a:t>Christoffersen (1998): are violations independently distributed (no clustering)?</a:t>
            </a:r>
          </a:p>
          <a:p>
            <a:r>
              <a:rPr lang="en-CA" dirty="0"/>
              <a:t>Null hypothesis: the violation indicators I_t are i.i.d. (not clustered)</a:t>
            </a:r>
          </a:p>
          <a:p>
            <a:r>
              <a:rPr lang="en-CA" dirty="0"/>
              <a:t>Build a 2x2 transition matrix from consecutive (I_{t-1}, I_t) pairs, with counts n00, n01, n10, n11</a:t>
            </a:r>
          </a:p>
          <a:p>
            <a:r>
              <a:rPr lang="en-CA" dirty="0"/>
              <a:t>pi_01 and pi_11 are the conditional violation probabilities (see formula above); LR_ind follows chi-squared(1)</a:t>
            </a:r>
          </a:p>
          <a:p>
            <a:pPr marL="0" indent="0">
              <a:buNone/>
            </a:pPr>
            <a:r>
              <a:rPr lang="en-CA" b="1" dirty="0"/>
              <a:t>Reading the result</a:t>
            </a:r>
          </a:p>
          <a:p>
            <a:r>
              <a:rPr lang="en-CA" dirty="0"/>
              <a:t>Tests whether a violation today predicts a violation tomorrow</a:t>
            </a:r>
          </a:p>
          <a:p>
            <a:r>
              <a:rPr lang="en-CA" dirty="0"/>
              <a:t>n11 larger than n01 signals clustering - violations follow violations</a:t>
            </a:r>
          </a:p>
          <a:p>
            <a:r>
              <a:rPr lang="en-CA" dirty="0"/>
              <a:t>Clustering indicates an unmodelled volatility regime (e.g. crisis weeks); a GARCH model should reduce it</a:t>
            </a:r>
          </a:p>
          <a:p>
            <a:r>
              <a:rPr lang="en-CA" dirty="0"/>
              <a:t>Combined test: LR_cc = LR_POF + LR_ind, distributed chi-squared(2), tests frequency and independence jointly</a:t>
            </a:r>
          </a:p>
          <a:p>
            <a:r>
              <a:rPr lang="en-CA" dirty="0"/>
              <a:t>Python: build the 2x2 transition matrix from violations.values, then compute LR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988A9-922D-4379-AC4E-9C524CCD7AA4}"/>
            </a:ext>
          </a:extLst>
        </p:cNvPr>
        <p:cNvGrpSpPr/>
        <p:nvPr/>
      </p:nvGrpSpPr>
      <p:grpSpPr>
        <a:xfrm>
          <a:off x="0" y="0"/>
          <a:ext cx="0" cy="0"/>
          <a:chOff x="0" y="0"/>
          <a:chExt cx="0" cy="0"/>
        </a:xfrm>
      </p:grpSpPr>
      <p:sp>
        <p:nvSpPr>
          <p:cNvPr id="4033" name="Title">
            <a:extLst>
              <a:ext uri="{FF2B5EF4-FFF2-40B4-BE49-F238E27FC236}">
                <a16:creationId xmlns:a16="http://schemas.microsoft.com/office/drawing/2014/main" id="{BD2BF37F-B2CB-C5D6-A508-DB8F8DF3B038}"/>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Christoffersen Test Example</a:t>
            </a:r>
            <a:endParaRPr b="1" dirty="0">
              <a:latin typeface="Arial" panose="020B0604020202020204" pitchFamily="34" charset="0"/>
              <a:cs typeface="Arial" panose="020B0604020202020204" pitchFamily="34" charset="0"/>
            </a:endParaRPr>
          </a:p>
        </p:txBody>
      </p:sp>
      <p:pic>
        <p:nvPicPr>
          <p:cNvPr id="4034" name="Picture 4033" descr="f_christ.png">
            <a:extLst>
              <a:ext uri="{FF2B5EF4-FFF2-40B4-BE49-F238E27FC236}">
                <a16:creationId xmlns:a16="http://schemas.microsoft.com/office/drawing/2014/main" id="{A7E675B7-5784-25CE-13FC-D4149FB1905A}"/>
              </a:ext>
            </a:extLst>
          </p:cNvPr>
          <p:cNvPicPr>
            <a:picLocks noChangeAspect="1"/>
          </p:cNvPicPr>
          <p:nvPr/>
        </p:nvPicPr>
        <p:blipFill>
          <a:blip r:embed="rId3"/>
          <a:stretch>
            <a:fillRect/>
          </a:stretch>
        </p:blipFill>
        <p:spPr>
          <a:xfrm>
            <a:off x="3334578" y="966451"/>
            <a:ext cx="5519795" cy="475488"/>
          </a:xfrm>
          <a:prstGeom prst="rect">
            <a:avLst/>
          </a:prstGeom>
        </p:spPr>
      </p:pic>
      <p:sp>
        <p:nvSpPr>
          <p:cNvPr id="2" name="Content Placeholder">
            <a:extLst>
              <a:ext uri="{FF2B5EF4-FFF2-40B4-BE49-F238E27FC236}">
                <a16:creationId xmlns:a16="http://schemas.microsoft.com/office/drawing/2014/main" id="{84884950-579F-C4EB-CE87-F04A109F3DC6}"/>
              </a:ext>
            </a:extLst>
          </p:cNvPr>
          <p:cNvSpPr>
            <a:spLocks noGrp="1"/>
          </p:cNvSpPr>
          <p:nvPr>
            <p:ph sz="half" idx="2"/>
          </p:nvPr>
        </p:nvSpPr>
        <p:spPr>
          <a:xfrm>
            <a:off x="420624" y="1524000"/>
            <a:ext cx="11347704" cy="4572000"/>
          </a:xfrm>
        </p:spPr>
        <p:txBody>
          <a:bodyPr wrap="square">
            <a:normAutofit/>
          </a:bodyPr>
          <a:lstStyle/>
          <a:p>
            <a:pPr marL="0" indent="0">
              <a:buNone/>
            </a:pPr>
            <a:r>
              <a:rPr lang="en-CA" dirty="0"/>
              <a:t>99% 1-day VaR, T = 250 days, x = 8 exceptions.</a:t>
            </a:r>
          </a:p>
          <a:p>
            <a:pPr marL="0" indent="0">
              <a:buNone/>
            </a:pPr>
            <a:r>
              <a:rPr lang="en-CA" dirty="0"/>
              <a:t>The independence test asks a different question: do the exceptions cluster (a breach today makes a breach tomorrow more likely)? </a:t>
            </a:r>
          </a:p>
          <a:p>
            <a:pPr marL="0" indent="0">
              <a:buNone/>
            </a:pPr>
            <a:r>
              <a:rPr lang="en-CA" dirty="0"/>
              <a:t>For that we tabulate consecutive-day pairs into a 2x2 transition table, where state 1 = exception, 0 = no exception:</a:t>
            </a:r>
          </a:p>
        </p:txBody>
      </p:sp>
      <p:graphicFrame>
        <p:nvGraphicFramePr>
          <p:cNvPr id="4" name="Table 3">
            <a:extLst>
              <a:ext uri="{FF2B5EF4-FFF2-40B4-BE49-F238E27FC236}">
                <a16:creationId xmlns:a16="http://schemas.microsoft.com/office/drawing/2014/main" id="{35F2A559-32C2-DEB8-46F6-001B1D7628D3}"/>
              </a:ext>
            </a:extLst>
          </p:cNvPr>
          <p:cNvGraphicFramePr>
            <a:graphicFrameLocks noGrp="1"/>
          </p:cNvGraphicFramePr>
          <p:nvPr>
            <p:extLst>
              <p:ext uri="{D42A27DB-BD31-4B8C-83A1-F6EECF244321}">
                <p14:modId xmlns:p14="http://schemas.microsoft.com/office/powerpoint/2010/main" val="1439121692"/>
              </p:ext>
            </p:extLst>
          </p:nvPr>
        </p:nvGraphicFramePr>
        <p:xfrm>
          <a:off x="398853" y="3775166"/>
          <a:ext cx="8128000" cy="15011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303559843"/>
                    </a:ext>
                  </a:extLst>
                </a:gridCol>
                <a:gridCol w="1661227">
                  <a:extLst>
                    <a:ext uri="{9D8B030D-6E8A-4147-A177-3AD203B41FA5}">
                      <a16:colId xmlns:a16="http://schemas.microsoft.com/office/drawing/2014/main" val="3797492537"/>
                    </a:ext>
                  </a:extLst>
                </a:gridCol>
                <a:gridCol w="2402773">
                  <a:extLst>
                    <a:ext uri="{9D8B030D-6E8A-4147-A177-3AD203B41FA5}">
                      <a16:colId xmlns:a16="http://schemas.microsoft.com/office/drawing/2014/main" val="2016797034"/>
                    </a:ext>
                  </a:extLst>
                </a:gridCol>
                <a:gridCol w="2032000">
                  <a:extLst>
                    <a:ext uri="{9D8B030D-6E8A-4147-A177-3AD203B41FA5}">
                      <a16:colId xmlns:a16="http://schemas.microsoft.com/office/drawing/2014/main" val="3939876984"/>
                    </a:ext>
                  </a:extLst>
                </a:gridCol>
              </a:tblGrid>
              <a:tr h="370840">
                <a:tc>
                  <a:txBody>
                    <a:bodyPr/>
                    <a:lstStyle/>
                    <a:p>
                      <a:pPr algn="l" fontAlgn="b">
                        <a:buNone/>
                      </a:pPr>
                      <a:endParaRPr lang="en-CA" sz="2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A" sz="2400" b="0" i="0" u="none" strike="noStrike">
                          <a:solidFill>
                            <a:srgbClr val="000000"/>
                          </a:solidFill>
                          <a:effectLst/>
                          <a:latin typeface="Aptos Narrow" panose="020B0004020202020204" pitchFamily="34" charset="0"/>
                        </a:rPr>
                        <a:t>today=0</a:t>
                      </a:r>
                    </a:p>
                  </a:txBody>
                  <a:tcPr marL="9525" marR="9525" marT="9525" marB="0" anchor="b"/>
                </a:tc>
                <a:tc>
                  <a:txBody>
                    <a:bodyPr/>
                    <a:lstStyle/>
                    <a:p>
                      <a:pPr algn="l" fontAlgn="b">
                        <a:buNone/>
                      </a:pPr>
                      <a:r>
                        <a:rPr lang="en-CA" sz="2400" b="0" i="0" u="none" strike="noStrike">
                          <a:solidFill>
                            <a:srgbClr val="000000"/>
                          </a:solidFill>
                          <a:effectLst/>
                          <a:latin typeface="Aptos Narrow" panose="020B0004020202020204" pitchFamily="34" charset="0"/>
                        </a:rPr>
                        <a:t>today=1</a:t>
                      </a:r>
                    </a:p>
                  </a:txBody>
                  <a:tcPr marL="9525" marR="9525" marT="9525" marB="0" anchor="b"/>
                </a:tc>
                <a:tc>
                  <a:txBody>
                    <a:bodyPr/>
                    <a:lstStyle/>
                    <a:p>
                      <a:pPr algn="l" fontAlgn="b">
                        <a:buNone/>
                      </a:pPr>
                      <a:r>
                        <a:rPr lang="en-CA" sz="2400" b="0" i="0" u="none" strike="noStrike">
                          <a:solidFill>
                            <a:srgbClr val="000000"/>
                          </a:solidFill>
                          <a:effectLst/>
                          <a:latin typeface="Aptos Narrow" panose="020B0004020202020204" pitchFamily="34" charset="0"/>
                        </a:rPr>
                        <a:t>total</a:t>
                      </a:r>
                    </a:p>
                  </a:txBody>
                  <a:tcPr marL="9525" marR="9525" marT="9525" marB="0" anchor="b"/>
                </a:tc>
                <a:extLst>
                  <a:ext uri="{0D108BD9-81ED-4DB2-BD59-A6C34878D82A}">
                    <a16:rowId xmlns:a16="http://schemas.microsoft.com/office/drawing/2014/main" val="1234674846"/>
                  </a:ext>
                </a:extLst>
              </a:tr>
              <a:tr h="370840">
                <a:tc>
                  <a:txBody>
                    <a:bodyPr/>
                    <a:lstStyle/>
                    <a:p>
                      <a:pPr algn="l" fontAlgn="b">
                        <a:buNone/>
                      </a:pPr>
                      <a:r>
                        <a:rPr lang="en-CA" sz="2400" b="0" i="0" u="none" strike="noStrike">
                          <a:solidFill>
                            <a:srgbClr val="000000"/>
                          </a:solidFill>
                          <a:effectLst/>
                          <a:latin typeface="Aptos Narrow" panose="020B0004020202020204" pitchFamily="34" charset="0"/>
                        </a:rPr>
                        <a:t>yesterday =0</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236</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5</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241</a:t>
                      </a:r>
                    </a:p>
                  </a:txBody>
                  <a:tcPr marL="9525" marR="9525" marT="9525" marB="0" anchor="b"/>
                </a:tc>
                <a:extLst>
                  <a:ext uri="{0D108BD9-81ED-4DB2-BD59-A6C34878D82A}">
                    <a16:rowId xmlns:a16="http://schemas.microsoft.com/office/drawing/2014/main" val="3766927560"/>
                  </a:ext>
                </a:extLst>
              </a:tr>
              <a:tr h="370840">
                <a:tc>
                  <a:txBody>
                    <a:bodyPr/>
                    <a:lstStyle/>
                    <a:p>
                      <a:pPr algn="l" fontAlgn="b">
                        <a:buNone/>
                      </a:pPr>
                      <a:r>
                        <a:rPr lang="en-CA" sz="2400" b="0" i="0" u="none" strike="noStrike">
                          <a:solidFill>
                            <a:srgbClr val="000000"/>
                          </a:solidFill>
                          <a:effectLst/>
                          <a:latin typeface="Aptos Narrow" panose="020B0004020202020204" pitchFamily="34" charset="0"/>
                        </a:rPr>
                        <a:t>yesterday =1</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5</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3</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8</a:t>
                      </a:r>
                    </a:p>
                  </a:txBody>
                  <a:tcPr marL="9525" marR="9525" marT="9525" marB="0" anchor="b"/>
                </a:tc>
                <a:extLst>
                  <a:ext uri="{0D108BD9-81ED-4DB2-BD59-A6C34878D82A}">
                    <a16:rowId xmlns:a16="http://schemas.microsoft.com/office/drawing/2014/main" val="2618246914"/>
                  </a:ext>
                </a:extLst>
              </a:tr>
              <a:tr h="370840">
                <a:tc>
                  <a:txBody>
                    <a:bodyPr/>
                    <a:lstStyle/>
                    <a:p>
                      <a:pPr algn="l" fontAlgn="b">
                        <a:buNone/>
                      </a:pPr>
                      <a:r>
                        <a:rPr lang="en-CA" sz="2400" b="0" i="0" u="none" strike="noStrike">
                          <a:solidFill>
                            <a:srgbClr val="000000"/>
                          </a:solidFill>
                          <a:effectLst/>
                          <a:latin typeface="Aptos Narrow" panose="020B0004020202020204" pitchFamily="34" charset="0"/>
                        </a:rPr>
                        <a:t>total</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241</a:t>
                      </a:r>
                    </a:p>
                  </a:txBody>
                  <a:tcPr marL="9525" marR="9525" marT="9525" marB="0" anchor="b"/>
                </a:tc>
                <a:tc>
                  <a:txBody>
                    <a:bodyPr/>
                    <a:lstStyle/>
                    <a:p>
                      <a:pPr algn="r" fontAlgn="b">
                        <a:buNone/>
                      </a:pPr>
                      <a:r>
                        <a:rPr lang="en-CA" sz="2400" b="0" i="0" u="none" strike="noStrike">
                          <a:solidFill>
                            <a:srgbClr val="000000"/>
                          </a:solidFill>
                          <a:effectLst/>
                          <a:latin typeface="Aptos Narrow" panose="020B0004020202020204" pitchFamily="34" charset="0"/>
                        </a:rPr>
                        <a:t>8</a:t>
                      </a:r>
                    </a:p>
                  </a:txBody>
                  <a:tcPr marL="9525" marR="9525" marT="9525" marB="0" anchor="b"/>
                </a:tc>
                <a:tc>
                  <a:txBody>
                    <a:bodyPr/>
                    <a:lstStyle/>
                    <a:p>
                      <a:pPr algn="r" fontAlgn="b">
                        <a:buNone/>
                      </a:pPr>
                      <a:r>
                        <a:rPr lang="en-CA" sz="2400" b="0" i="0" u="none" strike="noStrike" dirty="0">
                          <a:solidFill>
                            <a:srgbClr val="000000"/>
                          </a:solidFill>
                          <a:effectLst/>
                          <a:latin typeface="Aptos Narrow" panose="020B0004020202020204" pitchFamily="34" charset="0"/>
                        </a:rPr>
                        <a:t>249</a:t>
                      </a:r>
                    </a:p>
                  </a:txBody>
                  <a:tcPr marL="9525" marR="9525" marT="9525" marB="0" anchor="b"/>
                </a:tc>
                <a:extLst>
                  <a:ext uri="{0D108BD9-81ED-4DB2-BD59-A6C34878D82A}">
                    <a16:rowId xmlns:a16="http://schemas.microsoft.com/office/drawing/2014/main" val="3057242339"/>
                  </a:ext>
                </a:extLst>
              </a:tr>
            </a:tbl>
          </a:graphicData>
        </a:graphic>
      </p:graphicFrame>
      <p:graphicFrame>
        <p:nvGraphicFramePr>
          <p:cNvPr id="5" name="Table 4">
            <a:extLst>
              <a:ext uri="{FF2B5EF4-FFF2-40B4-BE49-F238E27FC236}">
                <a16:creationId xmlns:a16="http://schemas.microsoft.com/office/drawing/2014/main" id="{BB3D7631-E4E5-8626-40D4-CE384EF1D722}"/>
              </a:ext>
            </a:extLst>
          </p:cNvPr>
          <p:cNvGraphicFramePr>
            <a:graphicFrameLocks noGrp="1"/>
          </p:cNvGraphicFramePr>
          <p:nvPr>
            <p:extLst>
              <p:ext uri="{D42A27DB-BD31-4B8C-83A1-F6EECF244321}">
                <p14:modId xmlns:p14="http://schemas.microsoft.com/office/powerpoint/2010/main" val="3196310344"/>
              </p:ext>
            </p:extLst>
          </p:nvPr>
        </p:nvGraphicFramePr>
        <p:xfrm>
          <a:off x="8922402" y="3929198"/>
          <a:ext cx="2659998" cy="1023801"/>
        </p:xfrm>
        <a:graphic>
          <a:graphicData uri="http://schemas.openxmlformats.org/drawingml/2006/table">
            <a:tbl>
              <a:tblPr>
                <a:tableStyleId>{5C22544A-7EE6-4342-B048-85BDC9FD1C3A}</a:tableStyleId>
              </a:tblPr>
              <a:tblGrid>
                <a:gridCol w="886666">
                  <a:extLst>
                    <a:ext uri="{9D8B030D-6E8A-4147-A177-3AD203B41FA5}">
                      <a16:colId xmlns:a16="http://schemas.microsoft.com/office/drawing/2014/main" val="1213301288"/>
                    </a:ext>
                  </a:extLst>
                </a:gridCol>
                <a:gridCol w="886666">
                  <a:extLst>
                    <a:ext uri="{9D8B030D-6E8A-4147-A177-3AD203B41FA5}">
                      <a16:colId xmlns:a16="http://schemas.microsoft.com/office/drawing/2014/main" val="2950330902"/>
                    </a:ext>
                  </a:extLst>
                </a:gridCol>
                <a:gridCol w="886666">
                  <a:extLst>
                    <a:ext uri="{9D8B030D-6E8A-4147-A177-3AD203B41FA5}">
                      <a16:colId xmlns:a16="http://schemas.microsoft.com/office/drawing/2014/main" val="92429049"/>
                    </a:ext>
                  </a:extLst>
                </a:gridCol>
              </a:tblGrid>
              <a:tr h="341267">
                <a:tc>
                  <a:txBody>
                    <a:bodyPr/>
                    <a:lstStyle/>
                    <a:p>
                      <a:pPr algn="l" fontAlgn="b">
                        <a:buNone/>
                      </a:pPr>
                      <a:r>
                        <a:rPr lang="en-CA" sz="1200" u="none" strike="noStrike" dirty="0">
                          <a:effectLst/>
                        </a:rPr>
                        <a:t>π01</a:t>
                      </a:r>
                      <a:endParaRPr lang="en-CA"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A" sz="1200" u="none" strike="noStrike">
                          <a:effectLst/>
                        </a:rPr>
                        <a:t>5/241</a:t>
                      </a:r>
                      <a:endParaRPr lang="en-CA"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CA" sz="1200" u="none" strike="noStrike">
                          <a:effectLst/>
                        </a:rPr>
                        <a:t>2.10%</a:t>
                      </a:r>
                      <a:endParaRPr lang="en-CA" sz="12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142413091"/>
                  </a:ext>
                </a:extLst>
              </a:tr>
              <a:tr h="341267">
                <a:tc>
                  <a:txBody>
                    <a:bodyPr/>
                    <a:lstStyle/>
                    <a:p>
                      <a:pPr algn="l" fontAlgn="b">
                        <a:buNone/>
                      </a:pPr>
                      <a:r>
                        <a:rPr lang="en-CA" sz="1200" u="none" strike="noStrike" dirty="0">
                          <a:effectLst/>
                        </a:rPr>
                        <a:t>πi11</a:t>
                      </a:r>
                      <a:endParaRPr lang="en-CA"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A" sz="1200" u="none" strike="noStrike">
                          <a:effectLst/>
                        </a:rPr>
                        <a:t>3/8</a:t>
                      </a:r>
                      <a:endParaRPr lang="en-CA"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CA" sz="1200" u="none" strike="noStrike" dirty="0">
                          <a:effectLst/>
                        </a:rPr>
                        <a:t>37.50%</a:t>
                      </a:r>
                      <a:endParaRPr lang="en-CA"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38079047"/>
                  </a:ext>
                </a:extLst>
              </a:tr>
              <a:tr h="341267">
                <a:tc>
                  <a:txBody>
                    <a:bodyPr/>
                    <a:lstStyle/>
                    <a:p>
                      <a:pPr algn="l" fontAlgn="b">
                        <a:buNone/>
                      </a:pPr>
                      <a:r>
                        <a:rPr lang="en-CA" sz="1200" u="none" strike="noStrike" dirty="0">
                          <a:effectLst/>
                        </a:rPr>
                        <a:t>π</a:t>
                      </a:r>
                      <a:endParaRPr lang="en-CA" sz="12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CA" sz="1200" u="none" strike="noStrike">
                          <a:effectLst/>
                        </a:rPr>
                        <a:t>8/249</a:t>
                      </a:r>
                      <a:endParaRPr lang="en-CA" sz="1200" b="0" i="0" u="none" strike="noStrike">
                        <a:solidFill>
                          <a:srgbClr val="000000"/>
                        </a:solidFill>
                        <a:effectLst/>
                        <a:latin typeface="Aptos Narrow" panose="020B0004020202020204" pitchFamily="34" charset="0"/>
                      </a:endParaRPr>
                    </a:p>
                  </a:txBody>
                  <a:tcPr marL="9525" marR="9525" marT="9525" marB="0" anchor="b"/>
                </a:tc>
                <a:tc>
                  <a:txBody>
                    <a:bodyPr/>
                    <a:lstStyle/>
                    <a:p>
                      <a:pPr algn="r" fontAlgn="b">
                        <a:buNone/>
                      </a:pPr>
                      <a:r>
                        <a:rPr lang="en-CA" sz="1200" u="none" strike="noStrike" dirty="0">
                          <a:effectLst/>
                        </a:rPr>
                        <a:t>3.20%</a:t>
                      </a:r>
                      <a:endParaRPr lang="en-CA" sz="12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45208360"/>
                  </a:ext>
                </a:extLst>
              </a:tr>
            </a:tbl>
          </a:graphicData>
        </a:graphic>
      </p:graphicFrame>
      <p:pic>
        <p:nvPicPr>
          <p:cNvPr id="6" name="Picture 5">
            <a:extLst>
              <a:ext uri="{FF2B5EF4-FFF2-40B4-BE49-F238E27FC236}">
                <a16:creationId xmlns:a16="http://schemas.microsoft.com/office/drawing/2014/main" id="{C560A508-6BC2-3351-D74C-0C011EDD01CB}"/>
              </a:ext>
            </a:extLst>
          </p:cNvPr>
          <p:cNvPicPr>
            <a:picLocks noChangeAspect="1"/>
          </p:cNvPicPr>
          <p:nvPr/>
        </p:nvPicPr>
        <p:blipFill>
          <a:blip r:embed="rId4"/>
          <a:stretch>
            <a:fillRect/>
          </a:stretch>
        </p:blipFill>
        <p:spPr>
          <a:xfrm>
            <a:off x="1371600" y="5445207"/>
            <a:ext cx="7772400" cy="892684"/>
          </a:xfrm>
          <a:prstGeom prst="rect">
            <a:avLst/>
          </a:prstGeom>
        </p:spPr>
      </p:pic>
    </p:spTree>
    <p:extLst>
      <p:ext uri="{BB962C8B-B14F-4D97-AF65-F5344CB8AC3E}">
        <p14:creationId xmlns:p14="http://schemas.microsoft.com/office/powerpoint/2010/main" val="91049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Combined Coverage Test and Model Diagnostics</a:t>
            </a:r>
            <a:endParaRPr b="1" dirty="0">
              <a:latin typeface="Arial" panose="020B0604020202020204" pitchFamily="34" charset="0"/>
              <a:cs typeface="Arial" panose="020B0604020202020204" pitchFamily="34" charset="0"/>
            </a:endParaRPr>
          </a:p>
        </p:txBody>
      </p:sp>
      <p:pic>
        <p:nvPicPr>
          <p:cNvPr id="4036" name="Picture 4035" descr="f_lrcc.png"/>
          <p:cNvPicPr>
            <a:picLocks noChangeAspect="1"/>
          </p:cNvPicPr>
          <p:nvPr/>
        </p:nvPicPr>
        <p:blipFill>
          <a:blip r:embed="rId3"/>
          <a:stretch>
            <a:fillRect/>
          </a:stretch>
        </p:blipFill>
        <p:spPr>
          <a:xfrm>
            <a:off x="3647841" y="838200"/>
            <a:ext cx="4893268" cy="475488"/>
          </a:xfrm>
          <a:prstGeom prst="rect">
            <a:avLst/>
          </a:prstGeom>
        </p:spPr>
      </p:pic>
      <p:sp>
        <p:nvSpPr>
          <p:cNvPr id="2" name="Content Placeholder"/>
          <p:cNvSpPr>
            <a:spLocks noGrp="1"/>
          </p:cNvSpPr>
          <p:nvPr>
            <p:ph sz="half" idx="2"/>
          </p:nvPr>
        </p:nvSpPr>
        <p:spPr>
          <a:xfrm>
            <a:off x="420624" y="1441939"/>
            <a:ext cx="11347704" cy="4806461"/>
          </a:xfrm>
        </p:spPr>
        <p:txBody>
          <a:bodyPr wrap="square">
            <a:normAutofit fontScale="85000" lnSpcReduction="20000"/>
          </a:bodyPr>
          <a:lstStyle/>
          <a:p>
            <a:pPr marL="0" indent="0">
              <a:buNone/>
            </a:pPr>
            <a:r>
              <a:rPr lang="en-CA" b="1" dirty="0"/>
              <a:t>A single framework used by bank supervisors worldwide</a:t>
            </a:r>
          </a:p>
          <a:p>
            <a:r>
              <a:rPr lang="en-CA" dirty="0"/>
              <a:t>Christoffersen (1998) combined test: LR_cc = LR_POF + LR_ind, distributed chi-squared(2)</a:t>
            </a:r>
          </a:p>
          <a:p>
            <a:r>
              <a:rPr lang="en-CA" dirty="0"/>
              <a:t>Reject at 5% if LR_cc exceeds 5.99 - the model fails on frequency OR independence OR both</a:t>
            </a:r>
          </a:p>
          <a:p>
            <a:pPr marL="0" indent="0">
              <a:buNone/>
            </a:pPr>
            <a:r>
              <a:rPr lang="en-CA" b="1" dirty="0"/>
              <a:t>Four possible outcomes</a:t>
            </a:r>
          </a:p>
          <a:p>
            <a:r>
              <a:rPr lang="en-CA" dirty="0"/>
              <a:t>Pass Kupiec and pass Christoffersen: the model is well calibrated</a:t>
            </a:r>
          </a:p>
          <a:p>
            <a:r>
              <a:rPr lang="en-CA" dirty="0"/>
              <a:t>Fail Kupiec and pass Christoffersen: wrong average violation rate, so recalibrate sigma</a:t>
            </a:r>
          </a:p>
          <a:p>
            <a:r>
              <a:rPr lang="en-CA" dirty="0"/>
              <a:t>Pass Kupiec and fail Christoffersen: correct rate but clustered, so add GARCH dynamics</a:t>
            </a:r>
          </a:p>
          <a:p>
            <a:r>
              <a:rPr lang="en-CA" dirty="0"/>
              <a:t>Fail Kupiec and fail Christoffersen: the model is fundamentally </a:t>
            </a:r>
            <a:r>
              <a:rPr lang="en-CA" dirty="0" err="1"/>
              <a:t>misspecified</a:t>
            </a:r>
            <a:endParaRPr lang="en-CA" dirty="0"/>
          </a:p>
          <a:p>
            <a:pPr marL="0" indent="0">
              <a:buNone/>
            </a:pPr>
            <a:r>
              <a:rPr lang="en-CA" b="1" dirty="0"/>
              <a:t>Diagnostics and regulation</a:t>
            </a:r>
          </a:p>
          <a:p>
            <a:r>
              <a:rPr lang="en-CA" dirty="0"/>
              <a:t>Additional diagnostics: QQ-plot of violations, autocorrelation of I_t, duration-based tests (Christoffersen and Pelletier 2004)</a:t>
            </a:r>
          </a:p>
          <a:p>
            <a:r>
              <a:rPr lang="en-CA" dirty="0"/>
              <a:t>Basel requires banks to report test results; persistent failures trigger supervisory review and capital add-ons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Traffic-Light System</a:t>
            </a:r>
            <a:endParaRPr b="1" dirty="0">
              <a:latin typeface="Arial" panose="020B0604020202020204" pitchFamily="34" charset="0"/>
              <a:cs typeface="Arial" panose="020B0604020202020204" pitchFamily="34" charset="0"/>
            </a:endParaRPr>
          </a:p>
        </p:txBody>
      </p:sp>
      <p:sp>
        <p:nvSpPr>
          <p:cNvPr id="4038" name="Content Placeholder"/>
          <p:cNvSpPr>
            <a:spLocks noGrp="1"/>
          </p:cNvSpPr>
          <p:nvPr>
            <p:ph sz="half" idx="2"/>
          </p:nvPr>
        </p:nvSpPr>
        <p:spPr>
          <a:xfrm>
            <a:off x="423100" y="1143000"/>
            <a:ext cx="11345797" cy="5349873"/>
          </a:xfrm>
        </p:spPr>
        <p:txBody>
          <a:bodyPr wrap="square">
            <a:normAutofit fontScale="92500" lnSpcReduction="20000"/>
          </a:bodyPr>
          <a:lstStyle/>
          <a:p>
            <a:pPr marL="0" indent="0">
              <a:buNone/>
            </a:pPr>
            <a:r>
              <a:rPr lang="en-CA" b="1" dirty="0"/>
              <a:t>Supervisory classification over 250 trading days (99% VaR)</a:t>
            </a:r>
          </a:p>
          <a:p>
            <a:r>
              <a:rPr lang="en-CA" dirty="0"/>
              <a:t>Green zone (0 to 4 violations): model is sound, no supervisory concern; capital multiplier 3.0x (minimum); about 99.7% probability of green if the model is correct; most well-calibrated models fall here</a:t>
            </a:r>
          </a:p>
          <a:p>
            <a:r>
              <a:rPr lang="en-CA" dirty="0"/>
              <a:t>Yellow zone (5 to 9 violations): model may be inaccurate, supervisor notified; multiplier 3.4x to 3.85x on a sliding scale; bank must explain violations; 5 violations gives a p-value of about 10.8% (borderline)</a:t>
            </a:r>
          </a:p>
          <a:p>
            <a:r>
              <a:rPr lang="en-CA" dirty="0"/>
              <a:t>Red zone (10 or more violations): model almost certainly inadequate; multiplier 4.0x (automatic); very low probability under a correct model; bank must immediately revise the model; supervisory review and possible sanctions (p-value below 0.1%)</a:t>
            </a:r>
          </a:p>
          <a:p>
            <a:pPr marL="0" indent="0">
              <a:buNone/>
            </a:pPr>
            <a:r>
              <a:rPr lang="en-CA" b="1" dirty="0"/>
              <a:t>Practical implementation</a:t>
            </a:r>
          </a:p>
          <a:p>
            <a:r>
              <a:rPr lang="en-CA" dirty="0"/>
              <a:t>250-day rolling window (Basel standard); compare to 1-day 99% VaR daily; backtest using actual P&amp;L, not hypothetical</a:t>
            </a:r>
          </a:p>
          <a:p>
            <a:r>
              <a:rPr lang="en-CA" dirty="0"/>
              <a:t>Some jurisdictions allow a 97.5% ES backtest; both internal and regulatory VaR are reported</a:t>
            </a:r>
          </a:p>
          <a:p>
            <a:r>
              <a:rPr lang="en-CA" dirty="0"/>
              <a:t>Python: violations.rolling(250).sum() maps to the zone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4: ES Backtesting</a:t>
            </a:r>
            <a:endParaRPr b="1" dirty="0">
              <a:latin typeface="Arial" panose="020B0604020202020204" pitchFamily="34" charset="0"/>
              <a:cs typeface="Arial" panose="020B0604020202020204" pitchFamily="34" charset="0"/>
            </a:endParaRPr>
          </a:p>
        </p:txBody>
      </p:sp>
      <p:sp>
        <p:nvSpPr>
          <p:cNvPr id="4040" name="Content Placeholder"/>
          <p:cNvSpPr>
            <a:spLocks noGrp="1"/>
          </p:cNvSpPr>
          <p:nvPr>
            <p:ph sz="half" idx="2"/>
          </p:nvPr>
        </p:nvSpPr>
        <p:spPr/>
        <p:txBody>
          <a:bodyPr wrap="square">
            <a:normAutofit/>
          </a:bodyPr>
          <a:lstStyle/>
          <a:p>
            <a:pPr marL="0" indent="0">
              <a:buNone/>
            </a:pPr>
            <a:r>
              <a:rPr lang="en-CA" b="1" dirty="0"/>
              <a:t>The Acerbi and Szekely approach, now required under Basel FRTB</a:t>
            </a:r>
          </a:p>
          <a:p>
            <a:r>
              <a:rPr lang="en-CA" dirty="0"/>
              <a:t>VaR is backtested by counting violations; ES is a conditional expectation and needs a different test</a:t>
            </a:r>
          </a:p>
          <a:p>
            <a:r>
              <a:rPr lang="en-CA" dirty="0"/>
              <a:t>The T1 statistic compares realised tail losses to ES forecasts on violation days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Backtesting ES - Acerbi and Szekely Approach</a:t>
            </a:r>
            <a:endParaRPr b="1" dirty="0">
              <a:latin typeface="Arial" panose="020B0604020202020204" pitchFamily="34" charset="0"/>
              <a:cs typeface="Arial" panose="020B0604020202020204" pitchFamily="34" charset="0"/>
            </a:endParaRPr>
          </a:p>
        </p:txBody>
      </p:sp>
      <p:pic>
        <p:nvPicPr>
          <p:cNvPr id="4042" name="Picture 4041" descr="f_as.png"/>
          <p:cNvPicPr>
            <a:picLocks noChangeAspect="1"/>
          </p:cNvPicPr>
          <p:nvPr/>
        </p:nvPicPr>
        <p:blipFill>
          <a:blip r:embed="rId3"/>
          <a:stretch>
            <a:fillRect/>
          </a:stretch>
        </p:blipFill>
        <p:spPr>
          <a:xfrm>
            <a:off x="3637446" y="917918"/>
            <a:ext cx="4914060" cy="624605"/>
          </a:xfrm>
          <a:prstGeom prst="rect">
            <a:avLst/>
          </a:prstGeom>
        </p:spPr>
      </p:pic>
      <p:sp>
        <p:nvSpPr>
          <p:cNvPr id="2" name="Content Placeholder"/>
          <p:cNvSpPr>
            <a:spLocks noGrp="1"/>
          </p:cNvSpPr>
          <p:nvPr>
            <p:ph sz="half" idx="2"/>
          </p:nvPr>
        </p:nvSpPr>
        <p:spPr>
          <a:xfrm>
            <a:off x="420624" y="1994731"/>
            <a:ext cx="11347704" cy="4498143"/>
          </a:xfrm>
        </p:spPr>
        <p:txBody>
          <a:bodyPr wrap="square">
            <a:normAutofit fontScale="85000" lnSpcReduction="20000"/>
          </a:bodyPr>
          <a:lstStyle/>
          <a:p>
            <a:pPr marL="0" indent="0">
              <a:buNone/>
            </a:pPr>
            <a:r>
              <a:rPr lang="en-CA" b="1" dirty="0"/>
              <a:t>Acerbi and Szekely (2014), Risk: the first well-powered ES backtest</a:t>
            </a:r>
          </a:p>
          <a:p>
            <a:r>
              <a:rPr lang="en-CA" dirty="0"/>
              <a:t>VaR can be backtested by simply counting violations; ES cannot, because it is a conditional expectation, not a quantile</a:t>
            </a:r>
          </a:p>
          <a:p>
            <a:r>
              <a:rPr lang="en-CA" dirty="0"/>
              <a:t>The statistic T1 (above) compares actual tail losses to ES forecasts on violation days; I_t is the violation indicator</a:t>
            </a:r>
          </a:p>
          <a:p>
            <a:r>
              <a:rPr lang="en-CA" dirty="0"/>
              <a:t>Under the null (ES correctly specified), the expected value of T1 is 0</a:t>
            </a:r>
          </a:p>
          <a:p>
            <a:pPr marL="0" indent="0">
              <a:buNone/>
            </a:pPr>
            <a:r>
              <a:rPr lang="en-CA" b="1" dirty="0"/>
              <a:t>Reading the result</a:t>
            </a:r>
          </a:p>
          <a:p>
            <a:r>
              <a:rPr lang="en-CA" dirty="0"/>
              <a:t>T1 below 0: on violation days, losses exceed the ES forecast on average, so ES understates tail risk</a:t>
            </a:r>
          </a:p>
          <a:p>
            <a:r>
              <a:rPr lang="en-CA" dirty="0"/>
              <a:t>T1 above 0: ES overstates tail risk (conservative)</a:t>
            </a:r>
          </a:p>
          <a:p>
            <a:r>
              <a:rPr lang="en-CA" dirty="0"/>
              <a:t>Significance is assessed via simulation (bootstrap p-value)</a:t>
            </a:r>
          </a:p>
          <a:p>
            <a:r>
              <a:rPr lang="en-CA" dirty="0"/>
              <a:t>Acerbi and Szekely (2014) show T1 has good power against misspecified tail distributions; referenced in FRTB standards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93A2-69A8-BB19-6FDD-FED67E990DEC}"/>
            </a:ext>
          </a:extLst>
        </p:cNvPr>
        <p:cNvGrpSpPr/>
        <p:nvPr/>
      </p:nvGrpSpPr>
      <p:grpSpPr>
        <a:xfrm>
          <a:off x="0" y="0"/>
          <a:ext cx="0" cy="0"/>
          <a:chOff x="0" y="0"/>
          <a:chExt cx="0" cy="0"/>
        </a:xfrm>
      </p:grpSpPr>
      <p:sp>
        <p:nvSpPr>
          <p:cNvPr id="4041" name="Title">
            <a:extLst>
              <a:ext uri="{FF2B5EF4-FFF2-40B4-BE49-F238E27FC236}">
                <a16:creationId xmlns:a16="http://schemas.microsoft.com/office/drawing/2014/main" id="{CD2BBA2A-75EC-B00F-0B53-BE1ACF8C8CD5}"/>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Acerbi and Szekely Approach: Example</a:t>
            </a:r>
            <a:endParaRPr b="1" dirty="0">
              <a:latin typeface="Arial" panose="020B0604020202020204" pitchFamily="34" charset="0"/>
              <a:cs typeface="Arial" panose="020B0604020202020204" pitchFamily="34" charset="0"/>
            </a:endParaRPr>
          </a:p>
        </p:txBody>
      </p:sp>
      <p:pic>
        <p:nvPicPr>
          <p:cNvPr id="4042" name="Picture 4041" descr="f_as.png">
            <a:extLst>
              <a:ext uri="{FF2B5EF4-FFF2-40B4-BE49-F238E27FC236}">
                <a16:creationId xmlns:a16="http://schemas.microsoft.com/office/drawing/2014/main" id="{54387F3C-65CB-03D3-4F8C-870E02C467C2}"/>
              </a:ext>
            </a:extLst>
          </p:cNvPr>
          <p:cNvPicPr>
            <a:picLocks noChangeAspect="1"/>
          </p:cNvPicPr>
          <p:nvPr/>
        </p:nvPicPr>
        <p:blipFill>
          <a:blip r:embed="rId3"/>
          <a:stretch>
            <a:fillRect/>
          </a:stretch>
        </p:blipFill>
        <p:spPr>
          <a:xfrm>
            <a:off x="3637446" y="917918"/>
            <a:ext cx="4914060" cy="624605"/>
          </a:xfrm>
          <a:prstGeom prst="rect">
            <a:avLst/>
          </a:prstGeom>
        </p:spPr>
      </p:pic>
      <p:sp>
        <p:nvSpPr>
          <p:cNvPr id="2" name="Content Placeholder">
            <a:extLst>
              <a:ext uri="{FF2B5EF4-FFF2-40B4-BE49-F238E27FC236}">
                <a16:creationId xmlns:a16="http://schemas.microsoft.com/office/drawing/2014/main" id="{C46B00ED-3AE4-2E05-A1ED-2D57A129EEE8}"/>
              </a:ext>
            </a:extLst>
          </p:cNvPr>
          <p:cNvSpPr>
            <a:spLocks noGrp="1"/>
          </p:cNvSpPr>
          <p:nvPr>
            <p:ph sz="half" idx="2"/>
          </p:nvPr>
        </p:nvSpPr>
        <p:spPr>
          <a:xfrm>
            <a:off x="420624" y="1828800"/>
            <a:ext cx="11347704" cy="4498143"/>
          </a:xfrm>
        </p:spPr>
        <p:txBody>
          <a:bodyPr wrap="square">
            <a:normAutofit fontScale="77500" lnSpcReduction="20000"/>
          </a:bodyPr>
          <a:lstStyle/>
          <a:p>
            <a:pPr marL="0" indent="0">
              <a:buNone/>
            </a:pPr>
            <a:r>
              <a:rPr b="1" dirty="0"/>
              <a:t>Given</a:t>
            </a:r>
          </a:p>
          <a:p>
            <a:r>
              <a:rPr dirty="0"/>
              <a:t>Model predicts a constant 99% VaR = 50 and ES = 60 (thousand USD); alpha = 0.01; T = 250 days</a:t>
            </a:r>
          </a:p>
          <a:p>
            <a:r>
              <a:rPr dirty="0"/>
              <a:t>Observed 4 exception days, P&amp;L = -55, -70, -90, -120; realized avg tail loss = 83.75 &gt; ES = 60</a:t>
            </a:r>
          </a:p>
          <a:p>
            <a:pPr marL="0" indent="0">
              <a:buNone/>
            </a:pPr>
            <a:r>
              <a:rPr b="1" dirty="0"/>
              <a:t>Formula (Test 2, unconditional)</a:t>
            </a:r>
          </a:p>
          <a:p>
            <a:r>
              <a:rPr dirty="0"/>
              <a:t>Z2 = ( 1 / (T * alpha) ) * sum( </a:t>
            </a:r>
            <a:r>
              <a:rPr dirty="0" err="1"/>
              <a:t>X_t</a:t>
            </a:r>
            <a:r>
              <a:rPr dirty="0"/>
              <a:t> / </a:t>
            </a:r>
            <a:r>
              <a:rPr dirty="0" err="1"/>
              <a:t>ES_t</a:t>
            </a:r>
            <a:r>
              <a:rPr dirty="0"/>
              <a:t> over exceptions ) + 1;   E[Z2] = 0 if ES is correct</a:t>
            </a:r>
          </a:p>
          <a:p>
            <a:pPr marL="0" indent="0">
              <a:buNone/>
            </a:pPr>
            <a:r>
              <a:rPr b="1" dirty="0"/>
              <a:t>Solution</a:t>
            </a:r>
          </a:p>
          <a:p>
            <a:r>
              <a:rPr dirty="0"/>
              <a:t>sum( </a:t>
            </a:r>
            <a:r>
              <a:rPr dirty="0" err="1"/>
              <a:t>X_t</a:t>
            </a:r>
            <a:r>
              <a:rPr dirty="0"/>
              <a:t> / </a:t>
            </a:r>
            <a:r>
              <a:rPr dirty="0" err="1"/>
              <a:t>ES_t</a:t>
            </a:r>
            <a:r>
              <a:rPr dirty="0"/>
              <a:t> ) = (-55 - 70 - 90 - 120) / 60 = -335 / 60 = -5.583</a:t>
            </a:r>
          </a:p>
          <a:p>
            <a:r>
              <a:rPr dirty="0"/>
              <a:t>T * alpha = 250 * 0.01 = 2.5</a:t>
            </a:r>
          </a:p>
          <a:p>
            <a:r>
              <a:rPr dirty="0"/>
              <a:t>Z2 = -5.583 / 2.5 + 1 = -1.23</a:t>
            </a:r>
          </a:p>
          <a:p>
            <a:r>
              <a:rPr dirty="0"/>
              <a:t>Test 1 (conditional): Z1 = -5.583 / 4 + 1 = -0.40 = 1 - 83.75 / 60</a:t>
            </a:r>
          </a:p>
          <a:p>
            <a:pPr marL="0" indent="0">
              <a:buNone/>
            </a:pPr>
            <a:r>
              <a:rPr b="1" dirty="0"/>
              <a:t>Answer</a:t>
            </a:r>
            <a:endParaRPr lang="en-US" b="1" dirty="0"/>
          </a:p>
          <a:p>
            <a:r>
              <a:rPr dirty="0"/>
              <a:t>Z2 = -1.23 (negative) means ES is underestimated; reject vs the simulated 5% cutoff (about -0.7 to -1.0)</a:t>
            </a:r>
          </a:p>
          <a:p>
            <a:r>
              <a:rPr dirty="0"/>
              <a:t>Realized tail losses ran about 40% deeper than the predicted ES</a:t>
            </a:r>
          </a:p>
        </p:txBody>
      </p:sp>
    </p:spTree>
    <p:extLst>
      <p:ext uri="{BB962C8B-B14F-4D97-AF65-F5344CB8AC3E}">
        <p14:creationId xmlns:p14="http://schemas.microsoft.com/office/powerpoint/2010/main" val="1220089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Python Lab - Session_04_Lab.ipynb</a:t>
            </a:r>
            <a:endParaRPr b="1" dirty="0">
              <a:latin typeface="Arial" panose="020B0604020202020204" pitchFamily="34" charset="0"/>
              <a:cs typeface="Arial" panose="020B0604020202020204" pitchFamily="34" charset="0"/>
            </a:endParaRPr>
          </a:p>
        </p:txBody>
      </p:sp>
      <p:sp>
        <p:nvSpPr>
          <p:cNvPr id="4046" name="Content Placeholder"/>
          <p:cNvSpPr>
            <a:spLocks noGrp="1"/>
          </p:cNvSpPr>
          <p:nvPr>
            <p:ph sz="half" idx="2"/>
          </p:nvPr>
        </p:nvSpPr>
        <p:spPr/>
        <p:txBody>
          <a:bodyPr wrap="square">
            <a:normAutofit fontScale="62500" lnSpcReduction="20000"/>
          </a:bodyPr>
          <a:lstStyle/>
          <a:p>
            <a:pPr marL="0" indent="0">
              <a:buNone/>
            </a:pPr>
            <a:r>
              <a:rPr lang="en-CA" b="1" dirty="0"/>
              <a:t>Lab tasks</a:t>
            </a:r>
          </a:p>
          <a:p>
            <a:r>
              <a:rPr lang="en-CA" dirty="0"/>
              <a:t>1. Section 1: plot ES vs VaR under the normal distribution to visualise the tail gap</a:t>
            </a:r>
          </a:p>
          <a:p>
            <a:r>
              <a:rPr lang="en-CA" dirty="0"/>
              <a:t>2. Section 2: compute ES three ways (parametric, historical, Monte Carlo) on SPY 2005 to 2024; compare at 99% and 97.5%</a:t>
            </a:r>
          </a:p>
          <a:p>
            <a:r>
              <a:rPr lang="en-CA" dirty="0"/>
              <a:t>3. Section 3: build rolling 252-day VaR and ES series; identify violations I_t</a:t>
            </a:r>
          </a:p>
          <a:p>
            <a:r>
              <a:rPr lang="en-CA" dirty="0"/>
              <a:t>4. Section 4: Kupiec POF test - compute LR_POF, the p-value, and interpret at the 5% level</a:t>
            </a:r>
          </a:p>
          <a:p>
            <a:r>
              <a:rPr lang="en-CA" dirty="0"/>
              <a:t>5. Section 5: Christoffersen test - build the transition matrix and compute LR_ind</a:t>
            </a:r>
          </a:p>
          <a:p>
            <a:r>
              <a:rPr lang="en-CA" dirty="0"/>
              <a:t>6. Section 6: Basel traffic-light - rolling 250-day violation count with zone bands</a:t>
            </a:r>
          </a:p>
          <a:p>
            <a:r>
              <a:rPr lang="en-CA" dirty="0"/>
              <a:t>7. Section 7: Acerbi and Szekely T1 statistic; plot actual loss vs ES on violation days</a:t>
            </a:r>
          </a:p>
          <a:p>
            <a:r>
              <a:rPr lang="en-CA" dirty="0"/>
              <a:t>8. Apply the same framework to your own exam-portfolio tickers (replace SPY)</a:t>
            </a:r>
          </a:p>
          <a:p>
            <a:endParaRPr lang="en-CA" dirty="0"/>
          </a:p>
          <a:p>
            <a:pPr marL="0" indent="0">
              <a:buNone/>
            </a:pPr>
            <a:r>
              <a:rPr lang="en-CA" b="1" dirty="0"/>
              <a:t>Discuss</a:t>
            </a:r>
          </a:p>
          <a:p>
            <a:r>
              <a:rPr lang="en-CA" dirty="0"/>
              <a:t>Does your SPY backtest fall in the green, yellow, or red Basel zone?</a:t>
            </a:r>
          </a:p>
          <a:p>
            <a:r>
              <a:rPr lang="en-CA" dirty="0"/>
              <a:t>Does the Christoffersen test reveal clustering, and what does that say about the distribution assumption?</a:t>
            </a:r>
          </a:p>
          <a:p>
            <a:r>
              <a:rPr lang="en-CA" dirty="0"/>
              <a:t>If your T1 statistic is negative, is your ES model safe or dangerous?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50" name="Content Placeholder"/>
          <p:cNvSpPr>
            <a:spLocks noGrp="1"/>
          </p:cNvSpPr>
          <p:nvPr>
            <p:ph sz="half" idx="2"/>
          </p:nvPr>
        </p:nvSpPr>
        <p:spPr/>
        <p:txBody>
          <a:bodyPr wrap="square">
            <a:normAutofit fontScale="77500" lnSpcReduction="20000"/>
          </a:bodyPr>
          <a:lstStyle/>
          <a:p>
            <a:pPr marL="0" indent="0">
              <a:buNone/>
            </a:pPr>
            <a:r>
              <a:rPr lang="en-CA" b="1" dirty="0"/>
              <a:t>Required</a:t>
            </a:r>
          </a:p>
          <a:p>
            <a:r>
              <a:rPr lang="en-CA" dirty="0"/>
              <a:t>Hull, J. C. (2023). Risk Management and Financial Institutions, 6e. Ch.11, sections 11.4 to 11.10: Expected Shortfall, coherent risk measures, backtesting.</a:t>
            </a:r>
          </a:p>
          <a:p>
            <a:r>
              <a:rPr lang="en-CA" dirty="0"/>
              <a:t>Jorion, P. (2010). Financial Risk Manager Handbook, 6e. Ch.15: Advanced Risk Models, Univariate.</a:t>
            </a:r>
          </a:p>
          <a:p>
            <a:endParaRPr lang="en-CA" dirty="0"/>
          </a:p>
          <a:p>
            <a:pPr marL="0" indent="0">
              <a:buNone/>
            </a:pPr>
            <a:r>
              <a:rPr lang="en-CA" b="1" dirty="0"/>
              <a:t>Supplementary</a:t>
            </a:r>
          </a:p>
          <a:p>
            <a:r>
              <a:rPr lang="en-CA" dirty="0"/>
              <a:t>Yamai, Y., and Yoshiba, T. (2005). Value-at-risk versus expected shortfall: A practical comparison. Journal of Banking and Finance, 29(4), 997 to 1015.</a:t>
            </a:r>
          </a:p>
          <a:p>
            <a:r>
              <a:rPr lang="en-CA" dirty="0"/>
              <a:t>Acerbi, C., and Szekely, B. (2014). Back-testing expected shortfall. Risk, December 2014, 76 to 81.</a:t>
            </a:r>
          </a:p>
          <a:p>
            <a:r>
              <a:rPr lang="en-CA" dirty="0"/>
              <a:t>Rockafellar, R. T., and Uryasev, S. (2000). Optimization of conditional value-at-risk. Journal of Risk, 2(3), 21 to 41.</a:t>
            </a:r>
          </a:p>
          <a:p>
            <a:r>
              <a:rPr lang="en-CA" dirty="0"/>
              <a:t>Kupiec, P. (1995). Techniques for verifying the accuracy of risk measurement models. Journal of Derivatives, 3(2), 73 to 84.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Session Wrap-Up</a:t>
            </a:r>
            <a:endParaRPr b="1" dirty="0">
              <a:latin typeface="Arial" panose="020B0604020202020204" pitchFamily="34" charset="0"/>
              <a:cs typeface="Arial" panose="020B0604020202020204" pitchFamily="34" charset="0"/>
            </a:endParaRPr>
          </a:p>
        </p:txBody>
      </p:sp>
      <p:sp>
        <p:nvSpPr>
          <p:cNvPr id="4052" name="Content Placeholder"/>
          <p:cNvSpPr>
            <a:spLocks noGrp="1"/>
          </p:cNvSpPr>
          <p:nvPr>
            <p:ph sz="half" idx="2"/>
          </p:nvPr>
        </p:nvSpPr>
        <p:spPr/>
        <p:txBody>
          <a:bodyPr wrap="square">
            <a:normAutofit fontScale="70000" lnSpcReduction="20000"/>
          </a:bodyPr>
          <a:lstStyle/>
          <a:p>
            <a:pPr marL="0" indent="0">
              <a:buNone/>
            </a:pPr>
            <a:r>
              <a:rPr lang="en-CA" b="1" dirty="0"/>
              <a:t>Key takeaways</a:t>
            </a:r>
          </a:p>
          <a:p>
            <a:r>
              <a:rPr lang="en-CA" dirty="0"/>
              <a:t>Expected Shortfall is the conditional expected loss beyond VaR; it captures tail severity that VaR ignores</a:t>
            </a:r>
          </a:p>
          <a:p>
            <a:r>
              <a:rPr lang="en-CA" dirty="0"/>
              <a:t>ES satisfies all four coherence axioms (Artzner et al. 1999) including sub-additivity; VaR does not</a:t>
            </a:r>
          </a:p>
          <a:p>
            <a:r>
              <a:rPr lang="en-CA" dirty="0"/>
              <a:t>Compute ES three ways: parametric (normal or t), historical simulation, Monte Carlo, each with different tail assumptions</a:t>
            </a:r>
          </a:p>
          <a:p>
            <a:r>
              <a:rPr lang="en-CA" dirty="0"/>
              <a:t>Basel III FRTB mandates 97.5% ES to replace 99% VaR for bank regulatory capital</a:t>
            </a:r>
          </a:p>
          <a:p>
            <a:r>
              <a:rPr lang="en-CA" dirty="0"/>
              <a:t>Backtesting: Kupiec POF tests frequency, Christoffersen tests independence, the Basel traffic light classifies model quality (green, yellow, red)</a:t>
            </a:r>
          </a:p>
          <a:p>
            <a:r>
              <a:rPr lang="en-CA" dirty="0"/>
              <a:t>The Acerbi and Szekely T1 statistic extends backtesting to ES itself</a:t>
            </a:r>
          </a:p>
          <a:p>
            <a:endParaRPr lang="en-CA" dirty="0"/>
          </a:p>
          <a:p>
            <a:pPr marL="0" indent="0">
              <a:buNone/>
            </a:pPr>
            <a:r>
              <a:rPr lang="en-CA" b="1" dirty="0"/>
              <a:t>Next session - Session 5: Credit Risk I</a:t>
            </a:r>
          </a:p>
          <a:p>
            <a:r>
              <a:rPr lang="en-CA" dirty="0"/>
              <a:t>Structural models: Merton (1974); distance-to-default and PD estimation; credit spreads and risk-neutral pricing</a:t>
            </a:r>
          </a:p>
          <a:p>
            <a:r>
              <a:rPr lang="en-CA" dirty="0"/>
              <a:t>Python: market cap plus debt gives Merton distance-to-default</a:t>
            </a:r>
          </a:p>
          <a:p>
            <a:r>
              <a:rPr lang="en-CA" dirty="0"/>
              <a:t>Read Hull Ch.17 (Credit Risk); prepare by downloading market cap and total debt for your exam-portfolio companies</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2174</TotalTime>
  <Words>8629</Words>
  <Application>Microsoft Macintosh PowerPoint</Application>
  <PresentationFormat>Widescreen</PresentationFormat>
  <Paragraphs>503</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 Narrow</vt:lpstr>
      <vt:lpstr>Arial</vt:lpstr>
      <vt:lpstr>Calibri</vt:lpstr>
      <vt:lpstr>Calibri Light</vt:lpstr>
      <vt:lpstr>Office 2013 - 2022 Theme</vt:lpstr>
      <vt:lpstr>FINANCIAL RISK MANAGEMENT AND ENGINEERING  Session 4: Expected Shortfall and Backtesting</vt:lpstr>
      <vt:lpstr>Learning Objectives</vt:lpstr>
      <vt:lpstr>Block 1: From VaR to Expected Shortfall</vt:lpstr>
      <vt:lpstr>The Shortcomings of VaR</vt:lpstr>
      <vt:lpstr>Expected Shortfall - Definition and Intuition</vt:lpstr>
      <vt:lpstr>Coherent Risk Measures</vt:lpstr>
      <vt:lpstr>Computing ES - Three Methods</vt:lpstr>
      <vt:lpstr>ES Worked Example</vt:lpstr>
      <vt:lpstr>Beyond ES - Spectral Risk Measures</vt:lpstr>
      <vt:lpstr>Block 2: ES Under Different Distributions</vt:lpstr>
      <vt:lpstr>Normal vs t-Distribution vs Historical Simulation</vt:lpstr>
      <vt:lpstr>Expected Shortfall - Normal Distribution Example</vt:lpstr>
      <vt:lpstr>Expected Shortfall - Student-t Distribution Example</vt:lpstr>
      <vt:lpstr>GARCH-Based Expected Shortfall</vt:lpstr>
      <vt:lpstr>Why ES Is Now the Basel Standard</vt:lpstr>
      <vt:lpstr>Block 3: Backtesting - Statistical Framework</vt:lpstr>
      <vt:lpstr>What Is Backtesting?</vt:lpstr>
      <vt:lpstr>Kupiec Proportion-Of-Failure Test</vt:lpstr>
      <vt:lpstr>Kupiec POF Test Example</vt:lpstr>
      <vt:lpstr>Christoffersen Independence Test</vt:lpstr>
      <vt:lpstr>Christoffersen Test Example</vt:lpstr>
      <vt:lpstr>Combined Coverage Test and Model Diagnostics</vt:lpstr>
      <vt:lpstr>Basel Traffic-Light System</vt:lpstr>
      <vt:lpstr>Block 4: ES Backtesting</vt:lpstr>
      <vt:lpstr>Backtesting ES - Acerbi and Szekely Approach</vt:lpstr>
      <vt:lpstr>Acerbi and Szekely Approach: Example</vt:lpstr>
      <vt:lpstr>Python Lab - Session_04_Lab.ipynb</vt:lpstr>
      <vt:lpstr>Required Readings and References</vt:lpstr>
      <vt:lpstr>Session Wrap-Up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2026-07-08T16:43:42Z</dcterms:modified>
</cp:coreProperties>
</file>