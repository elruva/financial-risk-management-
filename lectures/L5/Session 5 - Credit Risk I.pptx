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7" r:id="rId1"/>
  </p:sldMasterIdLst>
  <p:notesMasterIdLst>
    <p:notesMasterId r:id="rId40"/>
  </p:notesMasterIdLst>
  <p:sldIdLst>
    <p:sldId id="256" r:id="rId2"/>
    <p:sldId id="258" r:id="rId3"/>
    <p:sldId id="259" r:id="rId4"/>
    <p:sldId id="260" r:id="rId5"/>
    <p:sldId id="294" r:id="rId6"/>
    <p:sldId id="295" r:id="rId7"/>
    <p:sldId id="358" r:id="rId8"/>
    <p:sldId id="261" r:id="rId9"/>
    <p:sldId id="262" r:id="rId10"/>
    <p:sldId id="263" r:id="rId11"/>
    <p:sldId id="359" r:id="rId12"/>
    <p:sldId id="291" r:id="rId13"/>
    <p:sldId id="389" r:id="rId14"/>
    <p:sldId id="284" r:id="rId15"/>
    <p:sldId id="285" r:id="rId16"/>
    <p:sldId id="286" r:id="rId17"/>
    <p:sldId id="290" r:id="rId18"/>
    <p:sldId id="264" r:id="rId19"/>
    <p:sldId id="265" r:id="rId20"/>
    <p:sldId id="266" r:id="rId21"/>
    <p:sldId id="267" r:id="rId22"/>
    <p:sldId id="268" r:id="rId23"/>
    <p:sldId id="269" r:id="rId24"/>
    <p:sldId id="270" r:id="rId25"/>
    <p:sldId id="271" r:id="rId26"/>
    <p:sldId id="272" r:id="rId27"/>
    <p:sldId id="273" r:id="rId28"/>
    <p:sldId id="380" r:id="rId29"/>
    <p:sldId id="289" r:id="rId30"/>
    <p:sldId id="274" r:id="rId31"/>
    <p:sldId id="287" r:id="rId32"/>
    <p:sldId id="288" r:id="rId33"/>
    <p:sldId id="276" r:id="rId34"/>
    <p:sldId id="277" r:id="rId35"/>
    <p:sldId id="283" r:id="rId36"/>
    <p:sldId id="278" r:id="rId37"/>
    <p:sldId id="279" r:id="rId38"/>
    <p:sldId id="281"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C2E2FF-907F-264C-8969-4EAE9C3EF500}" v="29" dt="2026-07-12T19:46:24.1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5795"/>
    <p:restoredTop sz="73043"/>
  </p:normalViewPr>
  <p:slideViewPr>
    <p:cSldViewPr>
      <p:cViewPr varScale="1">
        <p:scale>
          <a:sx n="78" d="100"/>
          <a:sy n="78" d="100"/>
        </p:scale>
        <p:origin x="184" y="33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riy Zabolotnyuk" userId="5293f801-6ede-4669-8a17-9af1adeb069e" providerId="ADAL" clId="{9C72D551-62FB-5E3D-901C-9F32929520A9}"/>
    <pc:docChg chg="undo redo custSel addSld delSld modSld sldOrd modMainMaster">
      <pc:chgData name="Yuriy Zabolotnyuk" userId="5293f801-6ede-4669-8a17-9af1adeb069e" providerId="ADAL" clId="{9C72D551-62FB-5E3D-901C-9F32929520A9}" dt="2026-07-12T19:47:26.679" v="2523" actId="1035"/>
      <pc:docMkLst>
        <pc:docMk/>
      </pc:docMkLst>
      <pc:sldChg chg="addSp delSp modSp mod modNotesTx">
        <pc:chgData name="Yuriy Zabolotnyuk" userId="5293f801-6ede-4669-8a17-9af1adeb069e" providerId="ADAL" clId="{9C72D551-62FB-5E3D-901C-9F32929520A9}" dt="2026-07-09T12:27:31.843" v="1699" actId="20577"/>
        <pc:sldMkLst>
          <pc:docMk/>
          <pc:sldMk cId="0" sldId="256"/>
        </pc:sldMkLst>
        <pc:spChg chg="mod">
          <ac:chgData name="Yuriy Zabolotnyuk" userId="5293f801-6ede-4669-8a17-9af1adeb069e" providerId="ADAL" clId="{9C72D551-62FB-5E3D-901C-9F32929520A9}" dt="2026-07-05T17:33:01.698" v="1631" actId="20577"/>
          <ac:spMkLst>
            <pc:docMk/>
            <pc:sldMk cId="0" sldId="256"/>
            <ac:spMk id="2" creationId="{00000000-0000-0000-0000-000000000000}"/>
          </ac:spMkLst>
        </pc:spChg>
      </pc:sldChg>
      <pc:sldChg chg="modSp del mod modNotesTx">
        <pc:chgData name="Yuriy Zabolotnyuk" userId="5293f801-6ede-4669-8a17-9af1adeb069e" providerId="ADAL" clId="{9C72D551-62FB-5E3D-901C-9F32929520A9}" dt="2026-07-12T18:32:02.544" v="2154" actId="20577"/>
        <pc:sldMkLst>
          <pc:docMk/>
          <pc:sldMk cId="0" sldId="258"/>
        </pc:sldMkLst>
        <pc:spChg chg="mod">
          <ac:chgData name="Yuriy Zabolotnyuk" userId="5293f801-6ede-4669-8a17-9af1adeb069e" providerId="ADAL" clId="{9C72D551-62FB-5E3D-901C-9F32929520A9}" dt="2026-07-09T12:28:02.772" v="1702" actId="20577"/>
          <ac:spMkLst>
            <pc:docMk/>
            <pc:sldMk cId="0" sldId="258"/>
            <ac:spMk id="4004" creationId="{00000000-0000-0000-0000-000000000000}"/>
          </ac:spMkLst>
        </pc:spChg>
      </pc:sldChg>
      <pc:sldChg chg="modSp del mod modNotesTx">
        <pc:chgData name="Yuriy Zabolotnyuk" userId="5293f801-6ede-4669-8a17-9af1adeb069e" providerId="ADAL" clId="{9C72D551-62FB-5E3D-901C-9F32929520A9}" dt="2026-07-09T12:29:46.701" v="1787" actId="20577"/>
        <pc:sldMkLst>
          <pc:docMk/>
          <pc:sldMk cId="0" sldId="259"/>
        </pc:sldMkLst>
        <pc:spChg chg="mod">
          <ac:chgData name="Yuriy Zabolotnyuk" userId="5293f801-6ede-4669-8a17-9af1adeb069e" providerId="ADAL" clId="{9C72D551-62FB-5E3D-901C-9F32929520A9}" dt="2026-07-09T12:29:28.797" v="1731" actId="20577"/>
          <ac:spMkLst>
            <pc:docMk/>
            <pc:sldMk cId="0" sldId="259"/>
            <ac:spMk id="4006" creationId="{00000000-0000-0000-0000-000000000000}"/>
          </ac:spMkLst>
        </pc:spChg>
      </pc:sldChg>
      <pc:sldChg chg="modSp del mod">
        <pc:chgData name="Yuriy Zabolotnyuk" userId="5293f801-6ede-4669-8a17-9af1adeb069e" providerId="ADAL" clId="{9C72D551-62FB-5E3D-901C-9F32929520A9}" dt="2026-07-12T18:32:58.683" v="2175" actId="1036"/>
        <pc:sldMkLst>
          <pc:docMk/>
          <pc:sldMk cId="0" sldId="260"/>
        </pc:sldMkLst>
        <pc:spChg chg="mod">
          <ac:chgData name="Yuriy Zabolotnyuk" userId="5293f801-6ede-4669-8a17-9af1adeb069e" providerId="ADAL" clId="{9C72D551-62FB-5E3D-901C-9F32929520A9}" dt="2026-07-12T18:32:31.345" v="2173" actId="1036"/>
          <ac:spMkLst>
            <pc:docMk/>
            <pc:sldMk cId="0" sldId="260"/>
            <ac:spMk id="2" creationId="{00000000-0000-0000-0000-000000000000}"/>
          </ac:spMkLst>
        </pc:spChg>
        <pc:picChg chg="mod">
          <ac:chgData name="Yuriy Zabolotnyuk" userId="5293f801-6ede-4669-8a17-9af1adeb069e" providerId="ADAL" clId="{9C72D551-62FB-5E3D-901C-9F32929520A9}" dt="2026-07-12T18:32:58.683" v="2175" actId="1036"/>
          <ac:picMkLst>
            <pc:docMk/>
            <pc:sldMk cId="0" sldId="260"/>
            <ac:picMk id="4008" creationId="{00000000-0000-0000-0000-000000000000}"/>
          </ac:picMkLst>
        </pc:picChg>
      </pc:sldChg>
      <pc:sldChg chg="modSp del mod modNotesTx">
        <pc:chgData name="Yuriy Zabolotnyuk" userId="5293f801-6ede-4669-8a17-9af1adeb069e" providerId="ADAL" clId="{9C72D551-62FB-5E3D-901C-9F32929520A9}" dt="2026-07-12T18:34:09.490" v="2183" actId="27636"/>
        <pc:sldMkLst>
          <pc:docMk/>
          <pc:sldMk cId="0" sldId="261"/>
        </pc:sldMkLst>
        <pc:spChg chg="mod">
          <ac:chgData name="Yuriy Zabolotnyuk" userId="5293f801-6ede-4669-8a17-9af1adeb069e" providerId="ADAL" clId="{9C72D551-62FB-5E3D-901C-9F32929520A9}" dt="2026-07-12T18:34:09.490" v="2183" actId="27636"/>
          <ac:spMkLst>
            <pc:docMk/>
            <pc:sldMk cId="0" sldId="261"/>
            <ac:spMk id="4010" creationId="{00000000-0000-0000-0000-000000000000}"/>
          </ac:spMkLst>
        </pc:spChg>
      </pc:sldChg>
      <pc:sldChg chg="modSp del mod">
        <pc:chgData name="Yuriy Zabolotnyuk" userId="5293f801-6ede-4669-8a17-9af1adeb069e" providerId="ADAL" clId="{9C72D551-62FB-5E3D-901C-9F32929520A9}" dt="2026-07-12T19:15:52.557" v="2325" actId="27636"/>
        <pc:sldMkLst>
          <pc:docMk/>
          <pc:sldMk cId="0" sldId="262"/>
        </pc:sldMkLst>
        <pc:spChg chg="mod">
          <ac:chgData name="Yuriy Zabolotnyuk" userId="5293f801-6ede-4669-8a17-9af1adeb069e" providerId="ADAL" clId="{9C72D551-62FB-5E3D-901C-9F32929520A9}" dt="2026-07-12T19:15:52.557" v="2325" actId="27636"/>
          <ac:spMkLst>
            <pc:docMk/>
            <pc:sldMk cId="0" sldId="262"/>
            <ac:spMk id="4012" creationId="{00000000-0000-0000-0000-000000000000}"/>
          </ac:spMkLst>
        </pc:spChg>
      </pc:sldChg>
      <pc:sldChg chg="modSp del mod modNotesTx">
        <pc:chgData name="Yuriy Zabolotnyuk" userId="5293f801-6ede-4669-8a17-9af1adeb069e" providerId="ADAL" clId="{9C72D551-62FB-5E3D-901C-9F32929520A9}" dt="2026-07-12T19:13:21.096" v="2301" actId="27636"/>
        <pc:sldMkLst>
          <pc:docMk/>
          <pc:sldMk cId="0" sldId="263"/>
        </pc:sldMkLst>
        <pc:spChg chg="mod">
          <ac:chgData name="Yuriy Zabolotnyuk" userId="5293f801-6ede-4669-8a17-9af1adeb069e" providerId="ADAL" clId="{9C72D551-62FB-5E3D-901C-9F32929520A9}" dt="2026-07-12T19:13:21.096" v="2301" actId="27636"/>
          <ac:spMkLst>
            <pc:docMk/>
            <pc:sldMk cId="0" sldId="263"/>
            <ac:spMk id="4014" creationId="{00000000-0000-0000-0000-000000000000}"/>
          </ac:spMkLst>
        </pc:spChg>
      </pc:sldChg>
      <pc:sldChg chg="modSp del mod">
        <pc:chgData name="Yuriy Zabolotnyuk" userId="5293f801-6ede-4669-8a17-9af1adeb069e" providerId="ADAL" clId="{9C72D551-62FB-5E3D-901C-9F32929520A9}" dt="2026-07-09T12:36:00.462" v="1944" actId="27636"/>
        <pc:sldMkLst>
          <pc:docMk/>
          <pc:sldMk cId="0" sldId="264"/>
        </pc:sldMkLst>
        <pc:spChg chg="mod">
          <ac:chgData name="Yuriy Zabolotnyuk" userId="5293f801-6ede-4669-8a17-9af1adeb069e" providerId="ADAL" clId="{9C72D551-62FB-5E3D-901C-9F32929520A9}" dt="2026-07-09T12:36:00.462" v="1944" actId="27636"/>
          <ac:spMkLst>
            <pc:docMk/>
            <pc:sldMk cId="0" sldId="264"/>
            <ac:spMk id="4016" creationId="{00000000-0000-0000-0000-000000000000}"/>
          </ac:spMkLst>
        </pc:spChg>
      </pc:sldChg>
      <pc:sldChg chg="modSp del mod">
        <pc:chgData name="Yuriy Zabolotnyuk" userId="5293f801-6ede-4669-8a17-9af1adeb069e" providerId="ADAL" clId="{9C72D551-62FB-5E3D-901C-9F32929520A9}" dt="2026-07-09T12:36:10.677" v="1949" actId="20577"/>
        <pc:sldMkLst>
          <pc:docMk/>
          <pc:sldMk cId="0" sldId="265"/>
        </pc:sldMkLst>
        <pc:spChg chg="mod">
          <ac:chgData name="Yuriy Zabolotnyuk" userId="5293f801-6ede-4669-8a17-9af1adeb069e" providerId="ADAL" clId="{9C72D551-62FB-5E3D-901C-9F32929520A9}" dt="2026-07-09T12:36:10.677" v="1949" actId="20577"/>
          <ac:spMkLst>
            <pc:docMk/>
            <pc:sldMk cId="0" sldId="265"/>
            <ac:spMk id="4018" creationId="{00000000-0000-0000-0000-000000000000}"/>
          </ac:spMkLst>
        </pc:spChg>
      </pc:sldChg>
      <pc:sldChg chg="modSp del mod">
        <pc:chgData name="Yuriy Zabolotnyuk" userId="5293f801-6ede-4669-8a17-9af1adeb069e" providerId="ADAL" clId="{9C72D551-62FB-5E3D-901C-9F32929520A9}" dt="2026-07-12T19:22:54.673" v="2340" actId="14100"/>
        <pc:sldMkLst>
          <pc:docMk/>
          <pc:sldMk cId="0" sldId="266"/>
        </pc:sldMkLst>
        <pc:spChg chg="mod">
          <ac:chgData name="Yuriy Zabolotnyuk" userId="5293f801-6ede-4669-8a17-9af1adeb069e" providerId="ADAL" clId="{9C72D551-62FB-5E3D-901C-9F32929520A9}" dt="2026-07-09T12:37:25.251" v="1981" actId="20577"/>
          <ac:spMkLst>
            <pc:docMk/>
            <pc:sldMk cId="0" sldId="266"/>
            <ac:spMk id="2" creationId="{00000000-0000-0000-0000-000000000000}"/>
          </ac:spMkLst>
        </pc:spChg>
        <pc:picChg chg="mod">
          <ac:chgData name="Yuriy Zabolotnyuk" userId="5293f801-6ede-4669-8a17-9af1adeb069e" providerId="ADAL" clId="{9C72D551-62FB-5E3D-901C-9F32929520A9}" dt="2026-07-12T19:22:54.673" v="2340" actId="14100"/>
          <ac:picMkLst>
            <pc:docMk/>
            <pc:sldMk cId="0" sldId="266"/>
            <ac:picMk id="4020" creationId="{00000000-0000-0000-0000-000000000000}"/>
          </ac:picMkLst>
        </pc:picChg>
        <pc:picChg chg="mod">
          <ac:chgData name="Yuriy Zabolotnyuk" userId="5293f801-6ede-4669-8a17-9af1adeb069e" providerId="ADAL" clId="{9C72D551-62FB-5E3D-901C-9F32929520A9}" dt="2026-07-12T19:22:51.885" v="2339" actId="1076"/>
          <ac:picMkLst>
            <pc:docMk/>
            <pc:sldMk cId="0" sldId="266"/>
            <ac:picMk id="4021" creationId="{00000000-0000-0000-0000-000000000000}"/>
          </ac:picMkLst>
        </pc:picChg>
        <pc:picChg chg="mod">
          <ac:chgData name="Yuriy Zabolotnyuk" userId="5293f801-6ede-4669-8a17-9af1adeb069e" providerId="ADAL" clId="{9C72D551-62FB-5E3D-901C-9F32929520A9}" dt="2026-07-12T19:22:47.436" v="2338" actId="1076"/>
          <ac:picMkLst>
            <pc:docMk/>
            <pc:sldMk cId="0" sldId="266"/>
            <ac:picMk id="4022" creationId="{00000000-0000-0000-0000-000000000000}"/>
          </ac:picMkLst>
        </pc:picChg>
      </pc:sldChg>
      <pc:sldChg chg="modSp del mod">
        <pc:chgData name="Yuriy Zabolotnyuk" userId="5293f801-6ede-4669-8a17-9af1adeb069e" providerId="ADAL" clId="{9C72D551-62FB-5E3D-901C-9F32929520A9}" dt="2026-07-09T12:37:56.278" v="1987" actId="27636"/>
        <pc:sldMkLst>
          <pc:docMk/>
          <pc:sldMk cId="0" sldId="267"/>
        </pc:sldMkLst>
        <pc:spChg chg="mod">
          <ac:chgData name="Yuriy Zabolotnyuk" userId="5293f801-6ede-4669-8a17-9af1adeb069e" providerId="ADAL" clId="{9C72D551-62FB-5E3D-901C-9F32929520A9}" dt="2026-07-09T12:37:56.278" v="1987" actId="27636"/>
          <ac:spMkLst>
            <pc:docMk/>
            <pc:sldMk cId="0" sldId="267"/>
            <ac:spMk id="2" creationId="{00000000-0000-0000-0000-000000000000}"/>
          </ac:spMkLst>
        </pc:spChg>
        <pc:picChg chg="mod">
          <ac:chgData name="Yuriy Zabolotnyuk" userId="5293f801-6ede-4669-8a17-9af1adeb069e" providerId="ADAL" clId="{9C72D551-62FB-5E3D-901C-9F32929520A9}" dt="2026-07-09T12:37:41.005" v="1985" actId="14100"/>
          <ac:picMkLst>
            <pc:docMk/>
            <pc:sldMk cId="0" sldId="267"/>
            <ac:picMk id="4022" creationId="{00000000-0000-0000-0000-000000000000}"/>
          </ac:picMkLst>
        </pc:picChg>
        <pc:picChg chg="mod">
          <ac:chgData name="Yuriy Zabolotnyuk" userId="5293f801-6ede-4669-8a17-9af1adeb069e" providerId="ADAL" clId="{9C72D551-62FB-5E3D-901C-9F32929520A9}" dt="2026-07-09T12:37:38.505" v="1984" actId="1076"/>
          <ac:picMkLst>
            <pc:docMk/>
            <pc:sldMk cId="0" sldId="267"/>
            <ac:picMk id="4023" creationId="{00000000-0000-0000-0000-000000000000}"/>
          </ac:picMkLst>
        </pc:picChg>
      </pc:sldChg>
      <pc:sldChg chg="modSp del mod">
        <pc:chgData name="Yuriy Zabolotnyuk" userId="5293f801-6ede-4669-8a17-9af1adeb069e" providerId="ADAL" clId="{9C72D551-62FB-5E3D-901C-9F32929520A9}" dt="2026-07-12T19:25:12.988" v="2351" actId="20577"/>
        <pc:sldMkLst>
          <pc:docMk/>
          <pc:sldMk cId="0" sldId="268"/>
        </pc:sldMkLst>
        <pc:spChg chg="mod">
          <ac:chgData name="Yuriy Zabolotnyuk" userId="5293f801-6ede-4669-8a17-9af1adeb069e" providerId="ADAL" clId="{9C72D551-62FB-5E3D-901C-9F32929520A9}" dt="2026-07-12T19:25:12.988" v="2351" actId="20577"/>
          <ac:spMkLst>
            <pc:docMk/>
            <pc:sldMk cId="0" sldId="268"/>
            <ac:spMk id="2" creationId="{00000000-0000-0000-0000-000000000000}"/>
          </ac:spMkLst>
        </pc:spChg>
        <pc:picChg chg="mod">
          <ac:chgData name="Yuriy Zabolotnyuk" userId="5293f801-6ede-4669-8a17-9af1adeb069e" providerId="ADAL" clId="{9C72D551-62FB-5E3D-901C-9F32929520A9}" dt="2026-07-09T12:38:04.140" v="1995" actId="1035"/>
          <ac:picMkLst>
            <pc:docMk/>
            <pc:sldMk cId="0" sldId="268"/>
            <ac:picMk id="4024" creationId="{00000000-0000-0000-0000-000000000000}"/>
          </ac:picMkLst>
        </pc:picChg>
        <pc:picChg chg="mod">
          <ac:chgData name="Yuriy Zabolotnyuk" userId="5293f801-6ede-4669-8a17-9af1adeb069e" providerId="ADAL" clId="{9C72D551-62FB-5E3D-901C-9F32929520A9}" dt="2026-07-09T12:38:17.139" v="2004" actId="14100"/>
          <ac:picMkLst>
            <pc:docMk/>
            <pc:sldMk cId="0" sldId="268"/>
            <ac:picMk id="4025" creationId="{00000000-0000-0000-0000-000000000000}"/>
          </ac:picMkLst>
        </pc:picChg>
        <pc:picChg chg="mod">
          <ac:chgData name="Yuriy Zabolotnyuk" userId="5293f801-6ede-4669-8a17-9af1adeb069e" providerId="ADAL" clId="{9C72D551-62FB-5E3D-901C-9F32929520A9}" dt="2026-07-09T12:38:22.564" v="2006" actId="14100"/>
          <ac:picMkLst>
            <pc:docMk/>
            <pc:sldMk cId="0" sldId="268"/>
            <ac:picMk id="4026" creationId="{00000000-0000-0000-0000-000000000000}"/>
          </ac:picMkLst>
        </pc:picChg>
      </pc:sldChg>
      <pc:sldChg chg="modSp add del mod modNotesTx">
        <pc:chgData name="Yuriy Zabolotnyuk" userId="5293f801-6ede-4669-8a17-9af1adeb069e" providerId="ADAL" clId="{9C72D551-62FB-5E3D-901C-9F32929520A9}" dt="2026-07-12T19:26:33.372" v="2357" actId="20577"/>
        <pc:sldMkLst>
          <pc:docMk/>
          <pc:sldMk cId="0" sldId="269"/>
        </pc:sldMkLst>
        <pc:spChg chg="mod">
          <ac:chgData name="Yuriy Zabolotnyuk" userId="5293f801-6ede-4669-8a17-9af1adeb069e" providerId="ADAL" clId="{9C72D551-62FB-5E3D-901C-9F32929520A9}" dt="2026-07-12T19:26:33.372" v="2357" actId="20577"/>
          <ac:spMkLst>
            <pc:docMk/>
            <pc:sldMk cId="0" sldId="269"/>
            <ac:spMk id="2" creationId="{00000000-0000-0000-0000-000000000000}"/>
          </ac:spMkLst>
        </pc:spChg>
        <pc:picChg chg="mod">
          <ac:chgData name="Yuriy Zabolotnyuk" userId="5293f801-6ede-4669-8a17-9af1adeb069e" providerId="ADAL" clId="{9C72D551-62FB-5E3D-901C-9F32929520A9}" dt="2026-07-09T12:39:12.841" v="2035" actId="1035"/>
          <ac:picMkLst>
            <pc:docMk/>
            <pc:sldMk cId="0" sldId="269"/>
            <ac:picMk id="4026" creationId="{00000000-0000-0000-0000-000000000000}"/>
          </ac:picMkLst>
        </pc:picChg>
        <pc:picChg chg="mod">
          <ac:chgData name="Yuriy Zabolotnyuk" userId="5293f801-6ede-4669-8a17-9af1adeb069e" providerId="ADAL" clId="{9C72D551-62FB-5E3D-901C-9F32929520A9}" dt="2026-07-09T12:39:18.626" v="2048" actId="1036"/>
          <ac:picMkLst>
            <pc:docMk/>
            <pc:sldMk cId="0" sldId="269"/>
            <ac:picMk id="4027" creationId="{00000000-0000-0000-0000-000000000000}"/>
          </ac:picMkLst>
        </pc:picChg>
      </pc:sldChg>
      <pc:sldChg chg="modSp add del mod">
        <pc:chgData name="Yuriy Zabolotnyuk" userId="5293f801-6ede-4669-8a17-9af1adeb069e" providerId="ADAL" clId="{9C72D551-62FB-5E3D-901C-9F32929520A9}" dt="2026-07-09T12:42:02.629" v="2104" actId="20577"/>
        <pc:sldMkLst>
          <pc:docMk/>
          <pc:sldMk cId="0" sldId="270"/>
        </pc:sldMkLst>
        <pc:spChg chg="mod">
          <ac:chgData name="Yuriy Zabolotnyuk" userId="5293f801-6ede-4669-8a17-9af1adeb069e" providerId="ADAL" clId="{9C72D551-62FB-5E3D-901C-9F32929520A9}" dt="2026-07-09T12:42:02.629" v="2104" actId="20577"/>
          <ac:spMkLst>
            <pc:docMk/>
            <pc:sldMk cId="0" sldId="270"/>
            <ac:spMk id="4028" creationId="{00000000-0000-0000-0000-000000000000}"/>
          </ac:spMkLst>
        </pc:spChg>
      </pc:sldChg>
      <pc:sldChg chg="delSp modSp add del mod">
        <pc:chgData name="Yuriy Zabolotnyuk" userId="5293f801-6ede-4669-8a17-9af1adeb069e" providerId="ADAL" clId="{9C72D551-62FB-5E3D-901C-9F32929520A9}" dt="2026-07-09T12:36:00.169" v="1933" actId="27636"/>
        <pc:sldMkLst>
          <pc:docMk/>
          <pc:sldMk cId="0" sldId="271"/>
        </pc:sldMkLst>
        <pc:spChg chg="mod">
          <ac:chgData name="Yuriy Zabolotnyuk" userId="5293f801-6ede-4669-8a17-9af1adeb069e" providerId="ADAL" clId="{9C72D551-62FB-5E3D-901C-9F32929520A9}" dt="2026-07-09T12:36:00.169" v="1933" actId="27636"/>
          <ac:spMkLst>
            <pc:docMk/>
            <pc:sldMk cId="0" sldId="271"/>
            <ac:spMk id="4030" creationId="{00000000-0000-0000-0000-000000000000}"/>
          </ac:spMkLst>
        </pc:spChg>
      </pc:sldChg>
      <pc:sldChg chg="delSp modSp add del mod modNotesTx">
        <pc:chgData name="Yuriy Zabolotnyuk" userId="5293f801-6ede-4669-8a17-9af1adeb069e" providerId="ADAL" clId="{9C72D551-62FB-5E3D-901C-9F32929520A9}" dt="2026-07-09T12:42:21.725" v="2106" actId="1076"/>
        <pc:sldMkLst>
          <pc:docMk/>
          <pc:sldMk cId="0" sldId="272"/>
        </pc:sldMkLst>
        <pc:spChg chg="mod">
          <ac:chgData name="Yuriy Zabolotnyuk" userId="5293f801-6ede-4669-8a17-9af1adeb069e" providerId="ADAL" clId="{9C72D551-62FB-5E3D-901C-9F32929520A9}" dt="2026-07-09T12:36:00.181" v="1934" actId="27636"/>
          <ac:spMkLst>
            <pc:docMk/>
            <pc:sldMk cId="0" sldId="272"/>
            <ac:spMk id="2" creationId="{00000000-0000-0000-0000-000000000000}"/>
          </ac:spMkLst>
        </pc:spChg>
        <pc:picChg chg="mod">
          <ac:chgData name="Yuriy Zabolotnyuk" userId="5293f801-6ede-4669-8a17-9af1adeb069e" providerId="ADAL" clId="{9C72D551-62FB-5E3D-901C-9F32929520A9}" dt="2026-07-09T12:42:21.725" v="2106" actId="1076"/>
          <ac:picMkLst>
            <pc:docMk/>
            <pc:sldMk cId="0" sldId="272"/>
            <ac:picMk id="4032" creationId="{00000000-0000-0000-0000-000000000000}"/>
          </ac:picMkLst>
        </pc:picChg>
      </pc:sldChg>
      <pc:sldChg chg="modSp add del mod modNotesTx">
        <pc:chgData name="Yuriy Zabolotnyuk" userId="5293f801-6ede-4669-8a17-9af1adeb069e" providerId="ADAL" clId="{9C72D551-62FB-5E3D-901C-9F32929520A9}" dt="2026-07-09T12:43:40.189" v="2133" actId="27636"/>
        <pc:sldMkLst>
          <pc:docMk/>
          <pc:sldMk cId="0" sldId="273"/>
        </pc:sldMkLst>
        <pc:spChg chg="mod">
          <ac:chgData name="Yuriy Zabolotnyuk" userId="5293f801-6ede-4669-8a17-9af1adeb069e" providerId="ADAL" clId="{9C72D551-62FB-5E3D-901C-9F32929520A9}" dt="2026-07-09T12:43:40.189" v="2133" actId="27636"/>
          <ac:spMkLst>
            <pc:docMk/>
            <pc:sldMk cId="0" sldId="273"/>
            <ac:spMk id="2" creationId="{00000000-0000-0000-0000-000000000000}"/>
          </ac:spMkLst>
        </pc:spChg>
        <pc:picChg chg="mod">
          <ac:chgData name="Yuriy Zabolotnyuk" userId="5293f801-6ede-4669-8a17-9af1adeb069e" providerId="ADAL" clId="{9C72D551-62FB-5E3D-901C-9F32929520A9}" dt="2026-07-09T12:42:35.912" v="2113" actId="1035"/>
          <ac:picMkLst>
            <pc:docMk/>
            <pc:sldMk cId="0" sldId="273"/>
            <ac:picMk id="4034" creationId="{00000000-0000-0000-0000-000000000000}"/>
          </ac:picMkLst>
        </pc:picChg>
        <pc:picChg chg="mod">
          <ac:chgData name="Yuriy Zabolotnyuk" userId="5293f801-6ede-4669-8a17-9af1adeb069e" providerId="ADAL" clId="{9C72D551-62FB-5E3D-901C-9F32929520A9}" dt="2026-07-09T12:42:43.936" v="2122" actId="1035"/>
          <ac:picMkLst>
            <pc:docMk/>
            <pc:sldMk cId="0" sldId="273"/>
            <ac:picMk id="4035" creationId="{00000000-0000-0000-0000-000000000000}"/>
          </ac:picMkLst>
        </pc:picChg>
      </pc:sldChg>
      <pc:sldChg chg="modSp mod modNotesTx">
        <pc:chgData name="Yuriy Zabolotnyuk" userId="5293f801-6ede-4669-8a17-9af1adeb069e" providerId="ADAL" clId="{9C72D551-62FB-5E3D-901C-9F32929520A9}" dt="2026-07-12T19:45:15.102" v="2500" actId="403"/>
        <pc:sldMkLst>
          <pc:docMk/>
          <pc:sldMk cId="0" sldId="274"/>
        </pc:sldMkLst>
        <pc:spChg chg="mod">
          <ac:chgData name="Yuriy Zabolotnyuk" userId="5293f801-6ede-4669-8a17-9af1adeb069e" providerId="ADAL" clId="{9C72D551-62FB-5E3D-901C-9F32929520A9}" dt="2026-07-12T19:45:15.102" v="2500" actId="403"/>
          <ac:spMkLst>
            <pc:docMk/>
            <pc:sldMk cId="0" sldId="274"/>
            <ac:spMk id="4036" creationId="{00000000-0000-0000-0000-000000000000}"/>
          </ac:spMkLst>
        </pc:spChg>
      </pc:sldChg>
      <pc:sldChg chg="modSp add del mod modNotesTx">
        <pc:chgData name="Yuriy Zabolotnyuk" userId="5293f801-6ede-4669-8a17-9af1adeb069e" providerId="ADAL" clId="{9C72D551-62FB-5E3D-901C-9F32929520A9}" dt="2026-07-12T19:41:01.645" v="2479" actId="20577"/>
        <pc:sldMkLst>
          <pc:docMk/>
          <pc:sldMk cId="0" sldId="276"/>
        </pc:sldMkLst>
        <pc:spChg chg="mod">
          <ac:chgData name="Yuriy Zabolotnyuk" userId="5293f801-6ede-4669-8a17-9af1adeb069e" providerId="ADAL" clId="{9C72D551-62FB-5E3D-901C-9F32929520A9}" dt="2026-07-09T12:36:00.261" v="1937" actId="27636"/>
          <ac:spMkLst>
            <pc:docMk/>
            <pc:sldMk cId="0" sldId="276"/>
            <ac:spMk id="2" creationId="{00000000-0000-0000-0000-000000000000}"/>
          </ac:spMkLst>
        </pc:spChg>
        <pc:picChg chg="mod">
          <ac:chgData name="Yuriy Zabolotnyuk" userId="5293f801-6ede-4669-8a17-9af1adeb069e" providerId="ADAL" clId="{9C72D551-62FB-5E3D-901C-9F32929520A9}" dt="2026-07-09T12:44:52.166" v="2147" actId="1076"/>
          <ac:picMkLst>
            <pc:docMk/>
            <pc:sldMk cId="0" sldId="276"/>
            <ac:picMk id="4040" creationId="{00000000-0000-0000-0000-000000000000}"/>
          </ac:picMkLst>
        </pc:picChg>
      </pc:sldChg>
      <pc:sldChg chg="addSp delSp modSp mod">
        <pc:chgData name="Yuriy Zabolotnyuk" userId="5293f801-6ede-4669-8a17-9af1adeb069e" providerId="ADAL" clId="{9C72D551-62FB-5E3D-901C-9F32929520A9}" dt="2026-07-12T19:41:52.008" v="2492" actId="5793"/>
        <pc:sldMkLst>
          <pc:docMk/>
          <pc:sldMk cId="0" sldId="277"/>
        </pc:sldMkLst>
        <pc:spChg chg="mod">
          <ac:chgData name="Yuriy Zabolotnyuk" userId="5293f801-6ede-4669-8a17-9af1adeb069e" providerId="ADAL" clId="{9C72D551-62FB-5E3D-901C-9F32929520A9}" dt="2026-07-12T19:41:52.008" v="2492" actId="5793"/>
          <ac:spMkLst>
            <pc:docMk/>
            <pc:sldMk cId="0" sldId="277"/>
            <ac:spMk id="2" creationId="{00000000-0000-0000-0000-000000000000}"/>
          </ac:spMkLst>
        </pc:spChg>
        <pc:picChg chg="mod">
          <ac:chgData name="Yuriy Zabolotnyuk" userId="5293f801-6ede-4669-8a17-9af1adeb069e" providerId="ADAL" clId="{9C72D551-62FB-5E3D-901C-9F32929520A9}" dt="2026-07-09T12:45:01.866" v="2149" actId="1076"/>
          <ac:picMkLst>
            <pc:docMk/>
            <pc:sldMk cId="0" sldId="277"/>
            <ac:picMk id="4042" creationId="{00000000-0000-0000-0000-000000000000}"/>
          </ac:picMkLst>
        </pc:picChg>
      </pc:sldChg>
      <pc:sldChg chg="addSp modSp mod">
        <pc:chgData name="Yuriy Zabolotnyuk" userId="5293f801-6ede-4669-8a17-9af1adeb069e" providerId="ADAL" clId="{9C72D551-62FB-5E3D-901C-9F32929520A9}" dt="2026-07-09T12:36:00.302" v="1939" actId="27636"/>
        <pc:sldMkLst>
          <pc:docMk/>
          <pc:sldMk cId="0" sldId="278"/>
        </pc:sldMkLst>
        <pc:spChg chg="mod">
          <ac:chgData name="Yuriy Zabolotnyuk" userId="5293f801-6ede-4669-8a17-9af1adeb069e" providerId="ADAL" clId="{9C72D551-62FB-5E3D-901C-9F32929520A9}" dt="2026-07-09T12:36:00.302" v="1939" actId="27636"/>
          <ac:spMkLst>
            <pc:docMk/>
            <pc:sldMk cId="0" sldId="278"/>
            <ac:spMk id="4044" creationId="{00000000-0000-0000-0000-000000000000}"/>
          </ac:spMkLst>
        </pc:spChg>
      </pc:sldChg>
      <pc:sldChg chg="modSp add del mod">
        <pc:chgData name="Yuriy Zabolotnyuk" userId="5293f801-6ede-4669-8a17-9af1adeb069e" providerId="ADAL" clId="{9C72D551-62FB-5E3D-901C-9F32929520A9}" dt="2026-07-12T19:43:32.976" v="2498" actId="27636"/>
        <pc:sldMkLst>
          <pc:docMk/>
          <pc:sldMk cId="0" sldId="279"/>
        </pc:sldMkLst>
        <pc:spChg chg="mod">
          <ac:chgData name="Yuriy Zabolotnyuk" userId="5293f801-6ede-4669-8a17-9af1adeb069e" providerId="ADAL" clId="{9C72D551-62FB-5E3D-901C-9F32929520A9}" dt="2026-07-12T19:43:32.976" v="2498" actId="27636"/>
          <ac:spMkLst>
            <pc:docMk/>
            <pc:sldMk cId="0" sldId="279"/>
            <ac:spMk id="4046" creationId="{00000000-0000-0000-0000-000000000000}"/>
          </ac:spMkLst>
        </pc:spChg>
      </pc:sldChg>
      <pc:sldChg chg="modSp mod">
        <pc:chgData name="Yuriy Zabolotnyuk" userId="5293f801-6ede-4669-8a17-9af1adeb069e" providerId="ADAL" clId="{9C72D551-62FB-5E3D-901C-9F32929520A9}" dt="2026-07-05T12:32:28.499" v="1258" actId="207"/>
        <pc:sldMkLst>
          <pc:docMk/>
          <pc:sldMk cId="0" sldId="281"/>
        </pc:sldMkLst>
      </pc:sldChg>
      <pc:sldChg chg="modSp del mod">
        <pc:chgData name="Yuriy Zabolotnyuk" userId="5293f801-6ede-4669-8a17-9af1adeb069e" providerId="ADAL" clId="{9C72D551-62FB-5E3D-901C-9F32929520A9}" dt="2026-07-12T19:43:11.903" v="2495" actId="2696"/>
        <pc:sldMkLst>
          <pc:docMk/>
          <pc:sldMk cId="0" sldId="282"/>
        </pc:sldMkLst>
      </pc:sldChg>
      <pc:sldChg chg="modSp mod">
        <pc:chgData name="Yuriy Zabolotnyuk" userId="5293f801-6ede-4669-8a17-9af1adeb069e" providerId="ADAL" clId="{9C72D551-62FB-5E3D-901C-9F32929520A9}" dt="2026-07-12T19:42:30.386" v="2494" actId="403"/>
        <pc:sldMkLst>
          <pc:docMk/>
          <pc:sldMk cId="0" sldId="283"/>
        </pc:sldMkLst>
        <pc:spChg chg="mod">
          <ac:chgData name="Yuriy Zabolotnyuk" userId="5293f801-6ede-4669-8a17-9af1adeb069e" providerId="ADAL" clId="{9C72D551-62FB-5E3D-901C-9F32929520A9}" dt="2026-07-12T19:42:30.386" v="2494" actId="403"/>
          <ac:spMkLst>
            <pc:docMk/>
            <pc:sldMk cId="0" sldId="283"/>
            <ac:spMk id="4036" creationId="{00000000-0000-0000-0000-000000000000}"/>
          </ac:spMkLst>
        </pc:spChg>
      </pc:sldChg>
      <pc:sldChg chg="modSp mod">
        <pc:chgData name="Yuriy Zabolotnyuk" userId="5293f801-6ede-4669-8a17-9af1adeb069e" providerId="ADAL" clId="{9C72D551-62FB-5E3D-901C-9F32929520A9}" dt="2026-07-12T19:19:10.499" v="2326" actId="14100"/>
        <pc:sldMkLst>
          <pc:docMk/>
          <pc:sldMk cId="0" sldId="284"/>
        </pc:sldMkLst>
        <pc:spChg chg="mod">
          <ac:chgData name="Yuriy Zabolotnyuk" userId="5293f801-6ede-4669-8a17-9af1adeb069e" providerId="ADAL" clId="{9C72D551-62FB-5E3D-901C-9F32929520A9}" dt="2026-07-12T19:19:10.499" v="2326" actId="14100"/>
          <ac:spMkLst>
            <pc:docMk/>
            <pc:sldMk cId="0" sldId="284"/>
            <ac:spMk id="4010" creationId="{00000000-0000-0000-0000-000000000000}"/>
          </ac:spMkLst>
        </pc:spChg>
      </pc:sldChg>
      <pc:sldChg chg="modSp mod">
        <pc:chgData name="Yuriy Zabolotnyuk" userId="5293f801-6ede-4669-8a17-9af1adeb069e" providerId="ADAL" clId="{9C72D551-62FB-5E3D-901C-9F32929520A9}" dt="2026-07-12T18:48:28.579" v="2190" actId="27636"/>
        <pc:sldMkLst>
          <pc:docMk/>
          <pc:sldMk cId="0" sldId="285"/>
        </pc:sldMkLst>
        <pc:spChg chg="mod">
          <ac:chgData name="Yuriy Zabolotnyuk" userId="5293f801-6ede-4669-8a17-9af1adeb069e" providerId="ADAL" clId="{9C72D551-62FB-5E3D-901C-9F32929520A9}" dt="2026-07-12T18:48:28.579" v="2190" actId="27636"/>
          <ac:spMkLst>
            <pc:docMk/>
            <pc:sldMk cId="0" sldId="285"/>
            <ac:spMk id="4010" creationId="{00000000-0000-0000-0000-000000000000}"/>
          </ac:spMkLst>
        </pc:spChg>
      </pc:sldChg>
      <pc:sldChg chg="modSp mod">
        <pc:chgData name="Yuriy Zabolotnyuk" userId="5293f801-6ede-4669-8a17-9af1adeb069e" providerId="ADAL" clId="{9C72D551-62FB-5E3D-901C-9F32929520A9}" dt="2026-07-12T19:20:33.767" v="2332" actId="14100"/>
        <pc:sldMkLst>
          <pc:docMk/>
          <pc:sldMk cId="0" sldId="286"/>
        </pc:sldMkLst>
        <pc:spChg chg="mod">
          <ac:chgData name="Yuriy Zabolotnyuk" userId="5293f801-6ede-4669-8a17-9af1adeb069e" providerId="ADAL" clId="{9C72D551-62FB-5E3D-901C-9F32929520A9}" dt="2026-07-12T19:20:33.767" v="2332" actId="14100"/>
          <ac:spMkLst>
            <pc:docMk/>
            <pc:sldMk cId="0" sldId="286"/>
            <ac:spMk id="4010" creationId="{00000000-0000-0000-0000-000000000000}"/>
          </ac:spMkLst>
        </pc:spChg>
      </pc:sldChg>
      <pc:sldChg chg="modSp mod">
        <pc:chgData name="Yuriy Zabolotnyuk" userId="5293f801-6ede-4669-8a17-9af1adeb069e" providerId="ADAL" clId="{9C72D551-62FB-5E3D-901C-9F32929520A9}" dt="2026-07-12T19:39:59.535" v="2463" actId="20577"/>
        <pc:sldMkLst>
          <pc:docMk/>
          <pc:sldMk cId="0" sldId="287"/>
        </pc:sldMkLst>
        <pc:spChg chg="mod">
          <ac:chgData name="Yuriy Zabolotnyuk" userId="5293f801-6ede-4669-8a17-9af1adeb069e" providerId="ADAL" clId="{9C72D551-62FB-5E3D-901C-9F32929520A9}" dt="2026-07-12T19:39:59.535" v="2463" actId="20577"/>
          <ac:spMkLst>
            <pc:docMk/>
            <pc:sldMk cId="0" sldId="287"/>
            <ac:spMk id="4010" creationId="{00000000-0000-0000-0000-000000000000}"/>
          </ac:spMkLst>
        </pc:spChg>
      </pc:sldChg>
      <pc:sldChg chg="modSp mod">
        <pc:chgData name="Yuriy Zabolotnyuk" userId="5293f801-6ede-4669-8a17-9af1adeb069e" providerId="ADAL" clId="{9C72D551-62FB-5E3D-901C-9F32929520A9}" dt="2026-07-12T19:40:45.994" v="2468" actId="15"/>
        <pc:sldMkLst>
          <pc:docMk/>
          <pc:sldMk cId="0" sldId="288"/>
        </pc:sldMkLst>
        <pc:spChg chg="mod">
          <ac:chgData name="Yuriy Zabolotnyuk" userId="5293f801-6ede-4669-8a17-9af1adeb069e" providerId="ADAL" clId="{9C72D551-62FB-5E3D-901C-9F32929520A9}" dt="2026-07-12T19:40:45.994" v="2468" actId="15"/>
          <ac:spMkLst>
            <pc:docMk/>
            <pc:sldMk cId="0" sldId="288"/>
            <ac:spMk id="4010" creationId="{00000000-0000-0000-0000-000000000000}"/>
          </ac:spMkLst>
        </pc:spChg>
      </pc:sldChg>
      <pc:sldChg chg="modSp mod">
        <pc:chgData name="Yuriy Zabolotnyuk" userId="5293f801-6ede-4669-8a17-9af1adeb069e" providerId="ADAL" clId="{9C72D551-62FB-5E3D-901C-9F32929520A9}" dt="2026-07-12T19:29:10.362" v="2366" actId="27636"/>
        <pc:sldMkLst>
          <pc:docMk/>
          <pc:sldMk cId="0" sldId="289"/>
        </pc:sldMkLst>
        <pc:spChg chg="mod">
          <ac:chgData name="Yuriy Zabolotnyuk" userId="5293f801-6ede-4669-8a17-9af1adeb069e" providerId="ADAL" clId="{9C72D551-62FB-5E3D-901C-9F32929520A9}" dt="2026-07-12T19:29:10.362" v="2366" actId="27636"/>
          <ac:spMkLst>
            <pc:docMk/>
            <pc:sldMk cId="0" sldId="289"/>
            <ac:spMk id="4010" creationId="{00000000-0000-0000-0000-000000000000}"/>
          </ac:spMkLst>
        </pc:spChg>
      </pc:sldChg>
      <pc:sldChg chg="modSp mod">
        <pc:chgData name="Yuriy Zabolotnyuk" userId="5293f801-6ede-4669-8a17-9af1adeb069e" providerId="ADAL" clId="{9C72D551-62FB-5E3D-901C-9F32929520A9}" dt="2026-07-12T19:22:06.914" v="2337" actId="14100"/>
        <pc:sldMkLst>
          <pc:docMk/>
          <pc:sldMk cId="0" sldId="290"/>
        </pc:sldMkLst>
        <pc:spChg chg="mod">
          <ac:chgData name="Yuriy Zabolotnyuk" userId="5293f801-6ede-4669-8a17-9af1adeb069e" providerId="ADAL" clId="{9C72D551-62FB-5E3D-901C-9F32929520A9}" dt="2026-07-12T19:22:06.914" v="2337" actId="14100"/>
          <ac:spMkLst>
            <pc:docMk/>
            <pc:sldMk cId="0" sldId="290"/>
            <ac:spMk id="4010" creationId="{00000000-0000-0000-0000-000000000000}"/>
          </ac:spMkLst>
        </pc:spChg>
      </pc:sldChg>
      <pc:sldChg chg="modSp mod">
        <pc:chgData name="Yuriy Zabolotnyuk" userId="5293f801-6ede-4669-8a17-9af1adeb069e" providerId="ADAL" clId="{9C72D551-62FB-5E3D-901C-9F32929520A9}" dt="2026-07-12T18:35:54.360" v="2185" actId="27636"/>
        <pc:sldMkLst>
          <pc:docMk/>
          <pc:sldMk cId="0" sldId="291"/>
        </pc:sldMkLst>
        <pc:spChg chg="mod">
          <ac:chgData name="Yuriy Zabolotnyuk" userId="5293f801-6ede-4669-8a17-9af1adeb069e" providerId="ADAL" clId="{9C72D551-62FB-5E3D-901C-9F32929520A9}" dt="2026-07-12T18:35:54.360" v="2185" actId="27636"/>
          <ac:spMkLst>
            <pc:docMk/>
            <pc:sldMk cId="0" sldId="291"/>
            <ac:spMk id="4010" creationId="{00000000-0000-0000-0000-000000000000}"/>
          </ac:spMkLst>
        </pc:spChg>
      </pc:sldChg>
      <pc:sldChg chg="del">
        <pc:chgData name="Yuriy Zabolotnyuk" userId="5293f801-6ede-4669-8a17-9af1adeb069e" providerId="ADAL" clId="{9C72D551-62FB-5E3D-901C-9F32929520A9}" dt="2026-07-12T19:41:16.549" v="2480" actId="2696"/>
        <pc:sldMkLst>
          <pc:docMk/>
          <pc:sldMk cId="0" sldId="292"/>
        </pc:sldMkLst>
      </pc:sldChg>
      <pc:sldChg chg="del">
        <pc:chgData name="Yuriy Zabolotnyuk" userId="5293f801-6ede-4669-8a17-9af1adeb069e" providerId="ADAL" clId="{9C72D551-62FB-5E3D-901C-9F32929520A9}" dt="2026-07-12T19:43:48.813" v="2499" actId="2696"/>
        <pc:sldMkLst>
          <pc:docMk/>
          <pc:sldMk cId="0" sldId="293"/>
        </pc:sldMkLst>
      </pc:sldChg>
      <pc:sldChg chg="modSp add mod">
        <pc:chgData name="Yuriy Zabolotnyuk" userId="5293f801-6ede-4669-8a17-9af1adeb069e" providerId="ADAL" clId="{9C72D551-62FB-5E3D-901C-9F32929520A9}" dt="2026-07-12T18:49:23.349" v="2209" actId="27636"/>
        <pc:sldMkLst>
          <pc:docMk/>
          <pc:sldMk cId="2299344772" sldId="294"/>
        </pc:sldMkLst>
        <pc:spChg chg="mod">
          <ac:chgData name="Yuriy Zabolotnyuk" userId="5293f801-6ede-4669-8a17-9af1adeb069e" providerId="ADAL" clId="{9C72D551-62FB-5E3D-901C-9F32929520A9}" dt="2026-07-12T18:49:23.349" v="2209" actId="27636"/>
          <ac:spMkLst>
            <pc:docMk/>
            <pc:sldMk cId="2299344772" sldId="294"/>
            <ac:spMk id="2" creationId="{00000000-0000-0000-0000-000000000000}"/>
          </ac:spMkLst>
        </pc:spChg>
        <pc:spChg chg="mod">
          <ac:chgData name="Yuriy Zabolotnyuk" userId="5293f801-6ede-4669-8a17-9af1adeb069e" providerId="ADAL" clId="{9C72D551-62FB-5E3D-901C-9F32929520A9}" dt="2026-07-12T18:48:28.499" v="2187" actId="27636"/>
          <ac:spMkLst>
            <pc:docMk/>
            <pc:sldMk cId="2299344772" sldId="294"/>
            <ac:spMk id="3" creationId="{00000000-0000-0000-0000-000000000000}"/>
          </ac:spMkLst>
        </pc:spChg>
        <pc:graphicFrameChg chg="modGraphic">
          <ac:chgData name="Yuriy Zabolotnyuk" userId="5293f801-6ede-4669-8a17-9af1adeb069e" providerId="ADAL" clId="{9C72D551-62FB-5E3D-901C-9F32929520A9}" dt="2026-07-12T18:48:38.196" v="2199" actId="207"/>
          <ac:graphicFrameMkLst>
            <pc:docMk/>
            <pc:sldMk cId="2299344772" sldId="294"/>
            <ac:graphicFrameMk id="5" creationId="{A6C082ED-0F45-4CE9-9170-2CF38117C639}"/>
          </ac:graphicFrameMkLst>
        </pc:graphicFrameChg>
      </pc:sldChg>
      <pc:sldChg chg="modSp add mod modNotesTx">
        <pc:chgData name="Yuriy Zabolotnyuk" userId="5293f801-6ede-4669-8a17-9af1adeb069e" providerId="ADAL" clId="{9C72D551-62FB-5E3D-901C-9F32929520A9}" dt="2026-07-12T18:52:11.258" v="2238" actId="207"/>
        <pc:sldMkLst>
          <pc:docMk/>
          <pc:sldMk cId="3208917286" sldId="295"/>
        </pc:sldMkLst>
        <pc:spChg chg="mod">
          <ac:chgData name="Yuriy Zabolotnyuk" userId="5293f801-6ede-4669-8a17-9af1adeb069e" providerId="ADAL" clId="{9C72D551-62FB-5E3D-901C-9F32929520A9}" dt="2026-07-12T18:52:11.258" v="2238" actId="207"/>
          <ac:spMkLst>
            <pc:docMk/>
            <pc:sldMk cId="3208917286" sldId="295"/>
            <ac:spMk id="2" creationId="{00000000-0000-0000-0000-000000000000}"/>
          </ac:spMkLst>
        </pc:spChg>
        <pc:graphicFrameChg chg="mod modGraphic">
          <ac:chgData name="Yuriy Zabolotnyuk" userId="5293f801-6ede-4669-8a17-9af1adeb069e" providerId="ADAL" clId="{9C72D551-62FB-5E3D-901C-9F32929520A9}" dt="2026-07-12T18:51:50.622" v="2228"/>
          <ac:graphicFrameMkLst>
            <pc:docMk/>
            <pc:sldMk cId="3208917286" sldId="295"/>
            <ac:graphicFrameMk id="7" creationId="{8E7FC657-401E-4DB0-BE94-6827AC48EA72}"/>
          </ac:graphicFrameMkLst>
        </pc:graphicFrameChg>
      </pc:sldChg>
      <pc:sldChg chg="modSp add del mod">
        <pc:chgData name="Yuriy Zabolotnyuk" userId="5293f801-6ede-4669-8a17-9af1adeb069e" providerId="ADAL" clId="{9C72D551-62FB-5E3D-901C-9F32929520A9}" dt="2026-07-12T18:52:05.927" v="2237"/>
        <pc:sldMkLst>
          <pc:docMk/>
          <pc:sldMk cId="2861969367" sldId="296"/>
        </pc:sldMkLst>
        <pc:spChg chg="mod">
          <ac:chgData name="Yuriy Zabolotnyuk" userId="5293f801-6ede-4669-8a17-9af1adeb069e" providerId="ADAL" clId="{9C72D551-62FB-5E3D-901C-9F32929520A9}" dt="2026-07-12T18:52:05.927" v="2237"/>
          <ac:spMkLst>
            <pc:docMk/>
            <pc:sldMk cId="2861969367" sldId="296"/>
            <ac:spMk id="2" creationId="{00000000-0000-0000-0000-000000000000}"/>
          </ac:spMkLst>
        </pc:spChg>
      </pc:sldChg>
      <pc:sldChg chg="addSp delSp modSp add mod">
        <pc:chgData name="Yuriy Zabolotnyuk" userId="5293f801-6ede-4669-8a17-9af1adeb069e" providerId="ADAL" clId="{9C72D551-62FB-5E3D-901C-9F32929520A9}" dt="2026-07-12T19:03:58.090" v="2277" actId="20577"/>
        <pc:sldMkLst>
          <pc:docMk/>
          <pc:sldMk cId="1649004157" sldId="358"/>
        </pc:sldMkLst>
        <pc:spChg chg="mod">
          <ac:chgData name="Yuriy Zabolotnyuk" userId="5293f801-6ede-4669-8a17-9af1adeb069e" providerId="ADAL" clId="{9C72D551-62FB-5E3D-901C-9F32929520A9}" dt="2026-07-12T19:03:58.090" v="2277" actId="20577"/>
          <ac:spMkLst>
            <pc:docMk/>
            <pc:sldMk cId="1649004157" sldId="358"/>
            <ac:spMk id="3" creationId="{00000000-0000-0000-0000-000000000000}"/>
          </ac:spMkLst>
        </pc:spChg>
        <pc:spChg chg="mod">
          <ac:chgData name="Yuriy Zabolotnyuk" userId="5293f801-6ede-4669-8a17-9af1adeb069e" providerId="ADAL" clId="{9C72D551-62FB-5E3D-901C-9F32929520A9}" dt="2026-07-12T18:56:15.207" v="2247" actId="14100"/>
          <ac:spMkLst>
            <pc:docMk/>
            <pc:sldMk cId="1649004157" sldId="358"/>
            <ac:spMk id="16387" creationId="{00000000-0000-0000-0000-000000000000}"/>
          </ac:spMkLst>
        </pc:spChg>
        <pc:graphicFrameChg chg="add mod modGraphic">
          <ac:chgData name="Yuriy Zabolotnyuk" userId="5293f801-6ede-4669-8a17-9af1adeb069e" providerId="ADAL" clId="{9C72D551-62FB-5E3D-901C-9F32929520A9}" dt="2026-07-12T19:03:37.299" v="2262" actId="404"/>
          <ac:graphicFrameMkLst>
            <pc:docMk/>
            <pc:sldMk cId="1649004157" sldId="358"/>
            <ac:graphicFrameMk id="4" creationId="{00CB18C6-4158-59C6-0E9C-E2906054BFD6}"/>
          </ac:graphicFrameMkLst>
        </pc:graphicFrameChg>
        <pc:graphicFrameChg chg="del mod">
          <ac:chgData name="Yuriy Zabolotnyuk" userId="5293f801-6ede-4669-8a17-9af1adeb069e" providerId="ADAL" clId="{9C72D551-62FB-5E3D-901C-9F32929520A9}" dt="2026-07-12T19:03:09.955" v="2254" actId="478"/>
          <ac:graphicFrameMkLst>
            <pc:docMk/>
            <pc:sldMk cId="1649004157" sldId="358"/>
            <ac:graphicFrameMk id="78851" creationId="{00000000-0000-0000-0000-000000000000}"/>
          </ac:graphicFrameMkLst>
        </pc:graphicFrameChg>
      </pc:sldChg>
      <pc:sldChg chg="addSp delSp modSp add mod modNotesTx">
        <pc:chgData name="Yuriy Zabolotnyuk" userId="5293f801-6ede-4669-8a17-9af1adeb069e" providerId="ADAL" clId="{9C72D551-62FB-5E3D-901C-9F32929520A9}" dt="2026-07-12T19:15:17.501" v="2323" actId="20577"/>
        <pc:sldMkLst>
          <pc:docMk/>
          <pc:sldMk cId="1298841316" sldId="359"/>
        </pc:sldMkLst>
        <pc:spChg chg="mod">
          <ac:chgData name="Yuriy Zabolotnyuk" userId="5293f801-6ede-4669-8a17-9af1adeb069e" providerId="ADAL" clId="{9C72D551-62FB-5E3D-901C-9F32929520A9}" dt="2026-07-12T19:12:35.510" v="2290" actId="20577"/>
          <ac:spMkLst>
            <pc:docMk/>
            <pc:sldMk cId="1298841316" sldId="359"/>
            <ac:spMk id="4013" creationId="{B4BF8F68-747F-0B07-AFF6-749D67272881}"/>
          </ac:spMkLst>
        </pc:spChg>
        <pc:spChg chg="del mod">
          <ac:chgData name="Yuriy Zabolotnyuk" userId="5293f801-6ede-4669-8a17-9af1adeb069e" providerId="ADAL" clId="{9C72D551-62FB-5E3D-901C-9F32929520A9}" dt="2026-07-12T19:13:49.405" v="2303" actId="478"/>
          <ac:spMkLst>
            <pc:docMk/>
            <pc:sldMk cId="1298841316" sldId="359"/>
            <ac:spMk id="4014" creationId="{5E1D18D8-5E2E-AB08-F474-18F0EB6268AC}"/>
          </ac:spMkLst>
        </pc:spChg>
        <pc:graphicFrameChg chg="add mod modGraphic">
          <ac:chgData name="Yuriy Zabolotnyuk" userId="5293f801-6ede-4669-8a17-9af1adeb069e" providerId="ADAL" clId="{9C72D551-62FB-5E3D-901C-9F32929520A9}" dt="2026-07-12T19:14:45.119" v="2321" actId="20577"/>
          <ac:graphicFrameMkLst>
            <pc:docMk/>
            <pc:sldMk cId="1298841316" sldId="359"/>
            <ac:graphicFrameMk id="2" creationId="{0D7F6DC9-5F76-A972-D3D9-22FEB5F34A54}"/>
          </ac:graphicFrameMkLst>
        </pc:graphicFrameChg>
      </pc:sldChg>
      <pc:sldChg chg="addSp delSp modSp add mod modNotesTx">
        <pc:chgData name="Yuriy Zabolotnyuk" userId="5293f801-6ede-4669-8a17-9af1adeb069e" providerId="ADAL" clId="{9C72D551-62FB-5E3D-901C-9F32929520A9}" dt="2026-07-12T19:47:26.679" v="2523" actId="1035"/>
        <pc:sldMkLst>
          <pc:docMk/>
          <pc:sldMk cId="2805182383" sldId="380"/>
        </pc:sldMkLst>
        <pc:spChg chg="mod">
          <ac:chgData name="Yuriy Zabolotnyuk" userId="5293f801-6ede-4669-8a17-9af1adeb069e" providerId="ADAL" clId="{9C72D551-62FB-5E3D-901C-9F32929520A9}" dt="2026-07-12T19:37:41.345" v="2448" actId="1076"/>
          <ac:spMkLst>
            <pc:docMk/>
            <pc:sldMk cId="2805182383" sldId="380"/>
            <ac:spMk id="5" creationId="{C31C7BDD-0663-7141-AFF9-874383E3B200}"/>
          </ac:spMkLst>
        </pc:spChg>
        <pc:spChg chg="mod">
          <ac:chgData name="Yuriy Zabolotnyuk" userId="5293f801-6ede-4669-8a17-9af1adeb069e" providerId="ADAL" clId="{9C72D551-62FB-5E3D-901C-9F32929520A9}" dt="2026-07-12T19:46:45.968" v="2508" actId="14100"/>
          <ac:spMkLst>
            <pc:docMk/>
            <pc:sldMk cId="2805182383" sldId="380"/>
            <ac:spMk id="8" creationId="{895F86D2-3C15-EC44-9A01-2354CF155582}"/>
          </ac:spMkLst>
        </pc:spChg>
        <pc:graphicFrameChg chg="add mod modGraphic">
          <ac:chgData name="Yuriy Zabolotnyuk" userId="5293f801-6ede-4669-8a17-9af1adeb069e" providerId="ADAL" clId="{9C72D551-62FB-5E3D-901C-9F32929520A9}" dt="2026-07-12T19:47:26.679" v="2523" actId="1035"/>
          <ac:graphicFrameMkLst>
            <pc:docMk/>
            <pc:sldMk cId="2805182383" sldId="380"/>
            <ac:graphicFrameMk id="2" creationId="{7A4010EF-0F37-BD34-13D7-22030CBF454F}"/>
          </ac:graphicFrameMkLst>
        </pc:graphicFrameChg>
        <pc:graphicFrameChg chg="del mod modGraphic">
          <ac:chgData name="Yuriy Zabolotnyuk" userId="5293f801-6ede-4669-8a17-9af1adeb069e" providerId="ADAL" clId="{9C72D551-62FB-5E3D-901C-9F32929520A9}" dt="2026-07-12T19:46:28.672" v="2503" actId="478"/>
          <ac:graphicFrameMkLst>
            <pc:docMk/>
            <pc:sldMk cId="2805182383" sldId="380"/>
            <ac:graphicFrameMk id="9" creationId="{A5512979-B0D4-FA4E-A17F-5FD0B7A26D5C}"/>
          </ac:graphicFrameMkLst>
        </pc:graphicFrameChg>
      </pc:sldChg>
      <pc:sldChg chg="delSp modSp add mod modNotes">
        <pc:chgData name="Yuriy Zabolotnyuk" userId="5293f801-6ede-4669-8a17-9af1adeb069e" providerId="ADAL" clId="{9C72D551-62FB-5E3D-901C-9F32929520A9}" dt="2026-07-12T19:31:32.595" v="2386"/>
        <pc:sldMkLst>
          <pc:docMk/>
          <pc:sldMk cId="3389817995" sldId="389"/>
        </pc:sldMkLst>
        <pc:spChg chg="del">
          <ac:chgData name="Yuriy Zabolotnyuk" userId="5293f801-6ede-4669-8a17-9af1adeb069e" providerId="ADAL" clId="{9C72D551-62FB-5E3D-901C-9F32929520A9}" dt="2026-07-12T19:30:44.877" v="2378" actId="478"/>
          <ac:spMkLst>
            <pc:docMk/>
            <pc:sldMk cId="3389817995" sldId="389"/>
            <ac:spMk id="2" creationId="{00000000-0000-0000-0000-000000000000}"/>
          </ac:spMkLst>
        </pc:spChg>
        <pc:spChg chg="mod">
          <ac:chgData name="Yuriy Zabolotnyuk" userId="5293f801-6ede-4669-8a17-9af1adeb069e" providerId="ADAL" clId="{9C72D551-62FB-5E3D-901C-9F32929520A9}" dt="2026-07-12T19:30:13.349" v="2372" actId="14100"/>
          <ac:spMkLst>
            <pc:docMk/>
            <pc:sldMk cId="3389817995" sldId="389"/>
            <ac:spMk id="3" creationId="{00000000-0000-0000-0000-000000000000}"/>
          </ac:spMkLst>
        </pc:spChg>
        <pc:spChg chg="mod">
          <ac:chgData name="Yuriy Zabolotnyuk" userId="5293f801-6ede-4669-8a17-9af1adeb069e" providerId="ADAL" clId="{9C72D551-62FB-5E3D-901C-9F32929520A9}" dt="2026-07-12T19:31:32.595" v="2386"/>
          <ac:spMkLst>
            <pc:docMk/>
            <pc:sldMk cId="3389817995" sldId="389"/>
            <ac:spMk id="17411" creationId="{00000000-0000-0000-0000-000000000000}"/>
          </ac:spMkLst>
        </pc:spChg>
        <pc:graphicFrameChg chg="mod modGraphic">
          <ac:chgData name="Yuriy Zabolotnyuk" userId="5293f801-6ede-4669-8a17-9af1adeb069e" providerId="ADAL" clId="{9C72D551-62FB-5E3D-901C-9F32929520A9}" dt="2026-07-12T19:31:14.197" v="2380" actId="207"/>
          <ac:graphicFrameMkLst>
            <pc:docMk/>
            <pc:sldMk cId="3389817995" sldId="389"/>
            <ac:graphicFrameMk id="5" creationId="{D7CD27E5-F6E6-8561-D040-A5DC8B1CB077}"/>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E71B85-FC51-472B-AB35-3397C6286C6A}"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AU"/>
        </a:p>
      </dgm:t>
    </dgm:pt>
    <dgm:pt modelId="{236BFD9F-EEE2-4C7E-8A7A-B344D1306E99}">
      <dgm:prSet phldrT="[Text]" custT="1"/>
      <dgm:spPr>
        <a:solidFill>
          <a:schemeClr val="bg2"/>
        </a:solidFill>
      </dgm:spPr>
      <dgm:t>
        <a:bodyPr/>
        <a:lstStyle/>
        <a:p>
          <a:r>
            <a:rPr lang="en-US" sz="2000" b="1" dirty="0">
              <a:solidFill>
                <a:schemeClr val="tx1"/>
              </a:solidFill>
            </a:rPr>
            <a:t>The credit spread, which captures credit risk as the difference between the yields-to-maturity on a corporate bond and a government bond</a:t>
          </a:r>
          <a:r>
            <a:rPr lang="en-US" sz="2000" dirty="0">
              <a:solidFill>
                <a:schemeClr val="tx1"/>
              </a:solidFill>
            </a:rPr>
            <a:t>.</a:t>
          </a:r>
          <a:endParaRPr lang="en-AU" sz="2000" dirty="0">
            <a:solidFill>
              <a:schemeClr val="tx1"/>
            </a:solidFill>
          </a:endParaRPr>
        </a:p>
      </dgm:t>
    </dgm:pt>
    <dgm:pt modelId="{4AA6EA7C-0924-4AD8-A22B-0A7267B34CEC}" type="parTrans" cxnId="{993A30C3-82A5-4F99-AFD4-A5450D3857A4}">
      <dgm:prSet/>
      <dgm:spPr/>
      <dgm:t>
        <a:bodyPr/>
        <a:lstStyle/>
        <a:p>
          <a:endParaRPr lang="en-AU"/>
        </a:p>
      </dgm:t>
    </dgm:pt>
    <dgm:pt modelId="{4F2A35C8-4945-47AC-A6A4-613ADAC0DC75}" type="sibTrans" cxnId="{993A30C3-82A5-4F99-AFD4-A5450D3857A4}">
      <dgm:prSet/>
      <dgm:spPr>
        <a:ln>
          <a:solidFill>
            <a:schemeClr val="accent3"/>
          </a:solidFill>
        </a:ln>
      </dgm:spPr>
      <dgm:t>
        <a:bodyPr/>
        <a:lstStyle/>
        <a:p>
          <a:endParaRPr lang="en-AU"/>
        </a:p>
      </dgm:t>
    </dgm:pt>
    <dgm:pt modelId="{FAED847A-48C8-4BF0-9298-085BAAEF8FDD}">
      <dgm:prSet custT="1"/>
      <dgm:spPr>
        <a:solidFill>
          <a:schemeClr val="bg2"/>
        </a:solidFill>
      </dgm:spPr>
      <dgm:t>
        <a:bodyPr/>
        <a:lstStyle/>
        <a:p>
          <a:r>
            <a:rPr lang="en-US" sz="2000" b="1" dirty="0">
              <a:solidFill>
                <a:schemeClr val="tx1"/>
              </a:solidFill>
            </a:rPr>
            <a:t>The credit valuation adjustment (CVA), which measures credit risk in present value terms as a percentage of par value.</a:t>
          </a:r>
          <a:endParaRPr lang="en-AU" sz="2000" dirty="0">
            <a:solidFill>
              <a:schemeClr val="tx1"/>
            </a:solidFill>
          </a:endParaRPr>
        </a:p>
      </dgm:t>
    </dgm:pt>
    <dgm:pt modelId="{C0D727B0-AD29-4EE8-BA86-90C9A52CA279}" type="parTrans" cxnId="{69DC216F-6B72-455B-B71B-C9059141EFE8}">
      <dgm:prSet/>
      <dgm:spPr/>
      <dgm:t>
        <a:bodyPr/>
        <a:lstStyle/>
        <a:p>
          <a:endParaRPr lang="en-AU"/>
        </a:p>
      </dgm:t>
    </dgm:pt>
    <dgm:pt modelId="{D754AD07-C6D0-47CC-950E-38A5A5ED7A44}" type="sibTrans" cxnId="{69DC216F-6B72-455B-B71B-C9059141EFE8}">
      <dgm:prSet/>
      <dgm:spPr/>
      <dgm:t>
        <a:bodyPr/>
        <a:lstStyle/>
        <a:p>
          <a:endParaRPr lang="en-AU"/>
        </a:p>
      </dgm:t>
    </dgm:pt>
    <dgm:pt modelId="{ECC63AFE-867F-415F-9BDD-9E24C1D79301}" type="pres">
      <dgm:prSet presAssocID="{2DE71B85-FC51-472B-AB35-3397C6286C6A}" presName="Name0" presStyleCnt="0">
        <dgm:presLayoutVars>
          <dgm:chMax val="7"/>
          <dgm:chPref val="7"/>
          <dgm:dir/>
        </dgm:presLayoutVars>
      </dgm:prSet>
      <dgm:spPr/>
    </dgm:pt>
    <dgm:pt modelId="{AC5D6898-D9DB-4192-BC8F-5208A2A95745}" type="pres">
      <dgm:prSet presAssocID="{2DE71B85-FC51-472B-AB35-3397C6286C6A}" presName="Name1" presStyleCnt="0"/>
      <dgm:spPr/>
    </dgm:pt>
    <dgm:pt modelId="{6C9E6FF7-9876-4180-8286-0F0E1454166F}" type="pres">
      <dgm:prSet presAssocID="{2DE71B85-FC51-472B-AB35-3397C6286C6A}" presName="cycle" presStyleCnt="0"/>
      <dgm:spPr/>
    </dgm:pt>
    <dgm:pt modelId="{9588241E-1865-4582-B54D-A22A89D778BE}" type="pres">
      <dgm:prSet presAssocID="{2DE71B85-FC51-472B-AB35-3397C6286C6A}" presName="srcNode" presStyleLbl="node1" presStyleIdx="0" presStyleCnt="2"/>
      <dgm:spPr/>
    </dgm:pt>
    <dgm:pt modelId="{96E761E3-F4CA-4E80-A925-2E802260141C}" type="pres">
      <dgm:prSet presAssocID="{2DE71B85-FC51-472B-AB35-3397C6286C6A}" presName="conn" presStyleLbl="parChTrans1D2" presStyleIdx="0" presStyleCnt="1"/>
      <dgm:spPr/>
    </dgm:pt>
    <dgm:pt modelId="{16F8E13E-B19F-43A4-9A09-1DD5A9F05059}" type="pres">
      <dgm:prSet presAssocID="{2DE71B85-FC51-472B-AB35-3397C6286C6A}" presName="extraNode" presStyleLbl="node1" presStyleIdx="0" presStyleCnt="2"/>
      <dgm:spPr/>
    </dgm:pt>
    <dgm:pt modelId="{77B14231-E03C-4D5C-93AD-F6CD4A4931BA}" type="pres">
      <dgm:prSet presAssocID="{2DE71B85-FC51-472B-AB35-3397C6286C6A}" presName="dstNode" presStyleLbl="node1" presStyleIdx="0" presStyleCnt="2"/>
      <dgm:spPr/>
    </dgm:pt>
    <dgm:pt modelId="{11F35B60-92E1-432C-9912-9831FCEAC10E}" type="pres">
      <dgm:prSet presAssocID="{236BFD9F-EEE2-4C7E-8A7A-B344D1306E99}" presName="text_1" presStyleLbl="node1" presStyleIdx="0" presStyleCnt="2" custScaleY="141177">
        <dgm:presLayoutVars>
          <dgm:bulletEnabled val="1"/>
        </dgm:presLayoutVars>
      </dgm:prSet>
      <dgm:spPr/>
    </dgm:pt>
    <dgm:pt modelId="{8AA7CB9D-1D00-45F1-A948-E1B9B77F79D9}" type="pres">
      <dgm:prSet presAssocID="{236BFD9F-EEE2-4C7E-8A7A-B344D1306E99}" presName="accent_1" presStyleCnt="0"/>
      <dgm:spPr/>
    </dgm:pt>
    <dgm:pt modelId="{CD04B828-7BD2-4290-B3AF-F6C65050B8F7}" type="pres">
      <dgm:prSet presAssocID="{236BFD9F-EEE2-4C7E-8A7A-B344D1306E99}" presName="accentRepeatNode" presStyleLbl="solidFgAcc1" presStyleIdx="0" presStyleCnt="2"/>
      <dgm:spPr>
        <a:ln>
          <a:solidFill>
            <a:schemeClr val="accent3"/>
          </a:solidFill>
        </a:ln>
      </dgm:spPr>
    </dgm:pt>
    <dgm:pt modelId="{ED6885EF-76C5-406C-9701-601065AC5C38}" type="pres">
      <dgm:prSet presAssocID="{FAED847A-48C8-4BF0-9298-085BAAEF8FDD}" presName="text_2" presStyleLbl="node1" presStyleIdx="1" presStyleCnt="2" custScaleY="147059">
        <dgm:presLayoutVars>
          <dgm:bulletEnabled val="1"/>
        </dgm:presLayoutVars>
      </dgm:prSet>
      <dgm:spPr/>
    </dgm:pt>
    <dgm:pt modelId="{CD9E3D8A-C1AE-413E-A205-351B14F0FC84}" type="pres">
      <dgm:prSet presAssocID="{FAED847A-48C8-4BF0-9298-085BAAEF8FDD}" presName="accent_2" presStyleCnt="0"/>
      <dgm:spPr/>
    </dgm:pt>
    <dgm:pt modelId="{3C8E39A2-F8F1-4A55-AF8E-D226DDA585D1}" type="pres">
      <dgm:prSet presAssocID="{FAED847A-48C8-4BF0-9298-085BAAEF8FDD}" presName="accentRepeatNode" presStyleLbl="solidFgAcc1" presStyleIdx="1" presStyleCnt="2"/>
      <dgm:spPr>
        <a:ln>
          <a:solidFill>
            <a:schemeClr val="accent3"/>
          </a:solidFill>
        </a:ln>
      </dgm:spPr>
    </dgm:pt>
  </dgm:ptLst>
  <dgm:cxnLst>
    <dgm:cxn modelId="{B9093E1E-2983-4CE9-AB55-CEDE635BFF6D}" type="presOf" srcId="{236BFD9F-EEE2-4C7E-8A7A-B344D1306E99}" destId="{11F35B60-92E1-432C-9912-9831FCEAC10E}" srcOrd="0" destOrd="0" presId="urn:microsoft.com/office/officeart/2008/layout/VerticalCurvedList"/>
    <dgm:cxn modelId="{C45B6C3F-355B-41DE-A555-8E26A69E5B79}" type="presOf" srcId="{FAED847A-48C8-4BF0-9298-085BAAEF8FDD}" destId="{ED6885EF-76C5-406C-9701-601065AC5C38}" srcOrd="0" destOrd="0" presId="urn:microsoft.com/office/officeart/2008/layout/VerticalCurvedList"/>
    <dgm:cxn modelId="{3CAD195D-7B30-47B0-B62C-F496E6F229AA}" type="presOf" srcId="{2DE71B85-FC51-472B-AB35-3397C6286C6A}" destId="{ECC63AFE-867F-415F-9BDD-9E24C1D79301}" srcOrd="0" destOrd="0" presId="urn:microsoft.com/office/officeart/2008/layout/VerticalCurvedList"/>
    <dgm:cxn modelId="{00466469-C926-4284-BE85-F98671A11D35}" type="presOf" srcId="{4F2A35C8-4945-47AC-A6A4-613ADAC0DC75}" destId="{96E761E3-F4CA-4E80-A925-2E802260141C}" srcOrd="0" destOrd="0" presId="urn:microsoft.com/office/officeart/2008/layout/VerticalCurvedList"/>
    <dgm:cxn modelId="{69DC216F-6B72-455B-B71B-C9059141EFE8}" srcId="{2DE71B85-FC51-472B-AB35-3397C6286C6A}" destId="{FAED847A-48C8-4BF0-9298-085BAAEF8FDD}" srcOrd="1" destOrd="0" parTransId="{C0D727B0-AD29-4EE8-BA86-90C9A52CA279}" sibTransId="{D754AD07-C6D0-47CC-950E-38A5A5ED7A44}"/>
    <dgm:cxn modelId="{993A30C3-82A5-4F99-AFD4-A5450D3857A4}" srcId="{2DE71B85-FC51-472B-AB35-3397C6286C6A}" destId="{236BFD9F-EEE2-4C7E-8A7A-B344D1306E99}" srcOrd="0" destOrd="0" parTransId="{4AA6EA7C-0924-4AD8-A22B-0A7267B34CEC}" sibTransId="{4F2A35C8-4945-47AC-A6A4-613ADAC0DC75}"/>
    <dgm:cxn modelId="{59445501-0B61-46F1-810D-B1D3BADF1EB6}" type="presParOf" srcId="{ECC63AFE-867F-415F-9BDD-9E24C1D79301}" destId="{AC5D6898-D9DB-4192-BC8F-5208A2A95745}" srcOrd="0" destOrd="0" presId="urn:microsoft.com/office/officeart/2008/layout/VerticalCurvedList"/>
    <dgm:cxn modelId="{DE52A95B-80C3-47A6-BF0E-AFE41E768A41}" type="presParOf" srcId="{AC5D6898-D9DB-4192-BC8F-5208A2A95745}" destId="{6C9E6FF7-9876-4180-8286-0F0E1454166F}" srcOrd="0" destOrd="0" presId="urn:microsoft.com/office/officeart/2008/layout/VerticalCurvedList"/>
    <dgm:cxn modelId="{29683475-BB76-4E23-9302-374FF324237B}" type="presParOf" srcId="{6C9E6FF7-9876-4180-8286-0F0E1454166F}" destId="{9588241E-1865-4582-B54D-A22A89D778BE}" srcOrd="0" destOrd="0" presId="urn:microsoft.com/office/officeart/2008/layout/VerticalCurvedList"/>
    <dgm:cxn modelId="{EB8AF0E3-54CD-4BCE-8E70-0EA6232B6981}" type="presParOf" srcId="{6C9E6FF7-9876-4180-8286-0F0E1454166F}" destId="{96E761E3-F4CA-4E80-A925-2E802260141C}" srcOrd="1" destOrd="0" presId="urn:microsoft.com/office/officeart/2008/layout/VerticalCurvedList"/>
    <dgm:cxn modelId="{F2CE31E9-C3AB-42B0-B640-07727BC2BFEA}" type="presParOf" srcId="{6C9E6FF7-9876-4180-8286-0F0E1454166F}" destId="{16F8E13E-B19F-43A4-9A09-1DD5A9F05059}" srcOrd="2" destOrd="0" presId="urn:microsoft.com/office/officeart/2008/layout/VerticalCurvedList"/>
    <dgm:cxn modelId="{13C55D0F-ADA9-4EC3-81EE-6CF2094280E7}" type="presParOf" srcId="{6C9E6FF7-9876-4180-8286-0F0E1454166F}" destId="{77B14231-E03C-4D5C-93AD-F6CD4A4931BA}" srcOrd="3" destOrd="0" presId="urn:microsoft.com/office/officeart/2008/layout/VerticalCurvedList"/>
    <dgm:cxn modelId="{EDF05F58-2A0D-4F1B-B639-7EFF287E7198}" type="presParOf" srcId="{AC5D6898-D9DB-4192-BC8F-5208A2A95745}" destId="{11F35B60-92E1-432C-9912-9831FCEAC10E}" srcOrd="1" destOrd="0" presId="urn:microsoft.com/office/officeart/2008/layout/VerticalCurvedList"/>
    <dgm:cxn modelId="{5D7FDCB5-0FC1-4FF6-AF62-808999150E47}" type="presParOf" srcId="{AC5D6898-D9DB-4192-BC8F-5208A2A95745}" destId="{8AA7CB9D-1D00-45F1-A948-E1B9B77F79D9}" srcOrd="2" destOrd="0" presId="urn:microsoft.com/office/officeart/2008/layout/VerticalCurvedList"/>
    <dgm:cxn modelId="{C237F5F4-169F-4E43-B3F2-E4F0542ACD31}" type="presParOf" srcId="{8AA7CB9D-1D00-45F1-A948-E1B9B77F79D9}" destId="{CD04B828-7BD2-4290-B3AF-F6C65050B8F7}" srcOrd="0" destOrd="0" presId="urn:microsoft.com/office/officeart/2008/layout/VerticalCurvedList"/>
    <dgm:cxn modelId="{8847EBE4-1F8B-4367-9756-BDB9FFF60B77}" type="presParOf" srcId="{AC5D6898-D9DB-4192-BC8F-5208A2A95745}" destId="{ED6885EF-76C5-406C-9701-601065AC5C38}" srcOrd="3" destOrd="0" presId="urn:microsoft.com/office/officeart/2008/layout/VerticalCurvedList"/>
    <dgm:cxn modelId="{76DD39E5-E52E-4E4D-9088-BDCB3ED56470}" type="presParOf" srcId="{AC5D6898-D9DB-4192-BC8F-5208A2A95745}" destId="{CD9E3D8A-C1AE-413E-A205-351B14F0FC84}" srcOrd="4" destOrd="0" presId="urn:microsoft.com/office/officeart/2008/layout/VerticalCurvedList"/>
    <dgm:cxn modelId="{35F45D32-E08F-402B-9764-4BB66B7D082A}" type="presParOf" srcId="{CD9E3D8A-C1AE-413E-A205-351B14F0FC84}" destId="{3C8E39A2-F8F1-4A55-AF8E-D226DDA585D1}"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F662DB4-8440-4EF0-87CA-83F0D500D17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AU"/>
        </a:p>
      </dgm:t>
    </dgm:pt>
    <dgm:pt modelId="{A6D4A26C-E2D2-470C-B222-6DC0B1F9B719}">
      <dgm:prSet phldrT="[Text]" custT="1"/>
      <dgm:spPr>
        <a:solidFill>
          <a:schemeClr val="bg2"/>
        </a:solidFill>
      </dgm:spPr>
      <dgm:t>
        <a:bodyPr/>
        <a:lstStyle/>
        <a:p>
          <a:r>
            <a:rPr lang="en-US" altLang="en-US" sz="2000" b="1" dirty="0">
              <a:solidFill>
                <a:schemeClr val="tx1"/>
              </a:solidFill>
            </a:rPr>
            <a:t>Expected exposure</a:t>
          </a:r>
        </a:p>
      </dgm:t>
    </dgm:pt>
    <dgm:pt modelId="{54EB5E5F-7A57-454E-85D4-0B31A88B1216}" type="parTrans" cxnId="{486491B0-786F-40BD-BE16-5EBC8A7022A2}">
      <dgm:prSet/>
      <dgm:spPr/>
      <dgm:t>
        <a:bodyPr/>
        <a:lstStyle/>
        <a:p>
          <a:endParaRPr lang="en-AU"/>
        </a:p>
      </dgm:t>
    </dgm:pt>
    <dgm:pt modelId="{087E2344-8EAB-41C9-82CC-FAE0107E09CB}" type="sibTrans" cxnId="{486491B0-786F-40BD-BE16-5EBC8A7022A2}">
      <dgm:prSet/>
      <dgm:spPr/>
      <dgm:t>
        <a:bodyPr/>
        <a:lstStyle/>
        <a:p>
          <a:endParaRPr lang="en-AU"/>
        </a:p>
      </dgm:t>
    </dgm:pt>
    <dgm:pt modelId="{CFA6B6D5-49CC-4D9F-A552-2B372F5AF4F3}">
      <dgm:prSet phldrT="[Text]" custT="1"/>
      <dgm:spPr>
        <a:solidFill>
          <a:schemeClr val="bg2"/>
        </a:solidFill>
      </dgm:spPr>
      <dgm:t>
        <a:bodyPr/>
        <a:lstStyle/>
        <a:p>
          <a:r>
            <a:rPr lang="en-US" altLang="en-US" sz="2000" b="1" dirty="0">
              <a:solidFill>
                <a:schemeClr val="tx1"/>
              </a:solidFill>
            </a:rPr>
            <a:t>Recovery Rate and Loss Given Default (LGD)</a:t>
          </a:r>
        </a:p>
      </dgm:t>
    </dgm:pt>
    <dgm:pt modelId="{2BD27A8F-507E-4047-B673-9AFF45EDCABC}" type="parTrans" cxnId="{4A56BAB6-C3D6-41D4-BE7A-F0D620BD142E}">
      <dgm:prSet/>
      <dgm:spPr/>
      <dgm:t>
        <a:bodyPr/>
        <a:lstStyle/>
        <a:p>
          <a:endParaRPr lang="en-AU"/>
        </a:p>
      </dgm:t>
    </dgm:pt>
    <dgm:pt modelId="{1E9ED467-9520-4A89-9EFA-F1981CFAEA3C}" type="sibTrans" cxnId="{4A56BAB6-C3D6-41D4-BE7A-F0D620BD142E}">
      <dgm:prSet/>
      <dgm:spPr/>
      <dgm:t>
        <a:bodyPr/>
        <a:lstStyle/>
        <a:p>
          <a:endParaRPr lang="en-AU"/>
        </a:p>
      </dgm:t>
    </dgm:pt>
    <dgm:pt modelId="{96D0B1CD-B02E-4694-A9B4-C8873B1BE7BE}">
      <dgm:prSet phldrT="[Text]" custT="1"/>
      <dgm:spPr>
        <a:solidFill>
          <a:schemeClr val="bg2"/>
        </a:solidFill>
      </dgm:spPr>
      <dgm:t>
        <a:bodyPr/>
        <a:lstStyle/>
        <a:p>
          <a:r>
            <a:rPr lang="en-US" altLang="en-US" sz="2000" b="1" dirty="0">
              <a:solidFill>
                <a:schemeClr val="tx1"/>
              </a:solidFill>
            </a:rPr>
            <a:t>Probability of Default</a:t>
          </a:r>
        </a:p>
      </dgm:t>
    </dgm:pt>
    <dgm:pt modelId="{E8684D82-08B1-47BA-803E-10E726455370}" type="parTrans" cxnId="{F8396F3A-DDE4-4408-B482-A6DF691CA106}">
      <dgm:prSet/>
      <dgm:spPr/>
      <dgm:t>
        <a:bodyPr/>
        <a:lstStyle/>
        <a:p>
          <a:endParaRPr lang="en-AU"/>
        </a:p>
      </dgm:t>
    </dgm:pt>
    <dgm:pt modelId="{75287587-9672-43EC-9C23-B5C50304D607}" type="sibTrans" cxnId="{F8396F3A-DDE4-4408-B482-A6DF691CA106}">
      <dgm:prSet/>
      <dgm:spPr/>
      <dgm:t>
        <a:bodyPr/>
        <a:lstStyle/>
        <a:p>
          <a:endParaRPr lang="en-AU"/>
        </a:p>
      </dgm:t>
    </dgm:pt>
    <dgm:pt modelId="{F42C8DF8-4B60-2942-93A0-CCBFEA096303}">
      <dgm:prSet custT="1"/>
      <dgm:spPr/>
      <dgm:t>
        <a:bodyPr/>
        <a:lstStyle/>
        <a:p>
          <a:r>
            <a:rPr lang="en-US" sz="2200" dirty="0"/>
            <a:t>The recovery rate is the percentage of the loss that is recovered. The LGD is amount of the loss if default occurs, after considering recovery.</a:t>
          </a:r>
          <a:endParaRPr lang="en-US" sz="2200" dirty="0">
            <a:latin typeface="Arial"/>
            <a:cs typeface="Arial"/>
          </a:endParaRPr>
        </a:p>
      </dgm:t>
    </dgm:pt>
    <dgm:pt modelId="{6CBACA8F-10CF-AD41-AD33-E4B8AD789B36}" type="parTrans" cxnId="{7BCD2DFE-F65D-6844-858F-4531055B4EE4}">
      <dgm:prSet/>
      <dgm:spPr/>
      <dgm:t>
        <a:bodyPr/>
        <a:lstStyle/>
        <a:p>
          <a:endParaRPr lang="en-US"/>
        </a:p>
      </dgm:t>
    </dgm:pt>
    <dgm:pt modelId="{4C7C33FE-7365-B643-B9A3-C9C9B1412934}" type="sibTrans" cxnId="{7BCD2DFE-F65D-6844-858F-4531055B4EE4}">
      <dgm:prSet/>
      <dgm:spPr/>
      <dgm:t>
        <a:bodyPr/>
        <a:lstStyle/>
        <a:p>
          <a:endParaRPr lang="en-US"/>
        </a:p>
      </dgm:t>
    </dgm:pt>
    <dgm:pt modelId="{4970DB1C-8476-0447-9A2A-088D6286562B}">
      <dgm:prSet custT="1"/>
      <dgm:spPr/>
      <dgm:t>
        <a:bodyPr/>
        <a:lstStyle/>
        <a:p>
          <a:endParaRPr lang="en-US" sz="2200" dirty="0"/>
        </a:p>
      </dgm:t>
    </dgm:pt>
    <dgm:pt modelId="{9F79BE09-FBE7-0846-97E7-1FBF09517BFA}" type="parTrans" cxnId="{7BE21433-6218-2C4E-AAF8-F1C7C1E6C4F6}">
      <dgm:prSet/>
      <dgm:spPr/>
      <dgm:t>
        <a:bodyPr/>
        <a:lstStyle/>
        <a:p>
          <a:endParaRPr lang="en-US"/>
        </a:p>
      </dgm:t>
    </dgm:pt>
    <dgm:pt modelId="{D01B5D18-FADD-E04B-AECE-406449AD2703}" type="sibTrans" cxnId="{7BE21433-6218-2C4E-AAF8-F1C7C1E6C4F6}">
      <dgm:prSet/>
      <dgm:spPr/>
      <dgm:t>
        <a:bodyPr/>
        <a:lstStyle/>
        <a:p>
          <a:endParaRPr lang="en-US"/>
        </a:p>
      </dgm:t>
    </dgm:pt>
    <dgm:pt modelId="{F9DB5E55-BC85-B442-B2A2-D327D8977CEF}">
      <dgm:prSet custT="1"/>
      <dgm:spPr/>
      <dgm:t>
        <a:bodyPr/>
        <a:lstStyle/>
        <a:p>
          <a:r>
            <a:rPr lang="en-US" sz="2200" dirty="0"/>
            <a:t>The projected amount the investor could lose if an event of default occurs, before considering recovery.</a:t>
          </a:r>
        </a:p>
      </dgm:t>
    </dgm:pt>
    <dgm:pt modelId="{560A3A41-28E2-E649-9D3C-08A132E12788}" type="parTrans" cxnId="{500C6EEF-6A1E-4241-922C-1FEF07C7CBD5}">
      <dgm:prSet/>
      <dgm:spPr/>
      <dgm:t>
        <a:bodyPr/>
        <a:lstStyle/>
        <a:p>
          <a:endParaRPr lang="en-US"/>
        </a:p>
      </dgm:t>
    </dgm:pt>
    <dgm:pt modelId="{E82F519F-F9DF-C04A-BC08-1058F4751B98}" type="sibTrans" cxnId="{500C6EEF-6A1E-4241-922C-1FEF07C7CBD5}">
      <dgm:prSet/>
      <dgm:spPr/>
      <dgm:t>
        <a:bodyPr/>
        <a:lstStyle/>
        <a:p>
          <a:endParaRPr lang="en-US"/>
        </a:p>
      </dgm:t>
    </dgm:pt>
    <dgm:pt modelId="{C02CD429-FEBF-4BA2-9735-85F6BFC6FF6E}" type="pres">
      <dgm:prSet presAssocID="{6F662DB4-8440-4EF0-87CA-83F0D500D17E}" presName="linear" presStyleCnt="0">
        <dgm:presLayoutVars>
          <dgm:animLvl val="lvl"/>
          <dgm:resizeHandles val="exact"/>
        </dgm:presLayoutVars>
      </dgm:prSet>
      <dgm:spPr/>
    </dgm:pt>
    <dgm:pt modelId="{D4E027F1-3634-4B54-A1B3-2022C91FB12B}" type="pres">
      <dgm:prSet presAssocID="{A6D4A26C-E2D2-470C-B222-6DC0B1F9B719}" presName="parentText" presStyleLbl="node1" presStyleIdx="0" presStyleCnt="3" custScaleY="41039" custLinFactNeighborY="-57866">
        <dgm:presLayoutVars>
          <dgm:chMax val="0"/>
          <dgm:bulletEnabled val="1"/>
        </dgm:presLayoutVars>
      </dgm:prSet>
      <dgm:spPr/>
    </dgm:pt>
    <dgm:pt modelId="{7B56B959-459C-44D6-B292-8B07E986FDF0}" type="pres">
      <dgm:prSet presAssocID="{A6D4A26C-E2D2-470C-B222-6DC0B1F9B719}" presName="childText" presStyleLbl="revTx" presStyleIdx="0" presStyleCnt="3" custScaleX="98230" custScaleY="117773" custLinFactNeighborY="-19852">
        <dgm:presLayoutVars>
          <dgm:bulletEnabled val="1"/>
        </dgm:presLayoutVars>
      </dgm:prSet>
      <dgm:spPr/>
    </dgm:pt>
    <dgm:pt modelId="{13E195D7-769E-4359-9FA3-833D6597318C}" type="pres">
      <dgm:prSet presAssocID="{CFA6B6D5-49CC-4D9F-A552-2B372F5AF4F3}" presName="parentText" presStyleLbl="node1" presStyleIdx="1" presStyleCnt="3" custScaleY="41405" custLinFactNeighborY="-16122">
        <dgm:presLayoutVars>
          <dgm:chMax val="0"/>
          <dgm:bulletEnabled val="1"/>
        </dgm:presLayoutVars>
      </dgm:prSet>
      <dgm:spPr/>
    </dgm:pt>
    <dgm:pt modelId="{E06E048A-F838-1640-8D83-3174875C0AB6}" type="pres">
      <dgm:prSet presAssocID="{CFA6B6D5-49CC-4D9F-A552-2B372F5AF4F3}" presName="childText" presStyleLbl="revTx" presStyleIdx="1" presStyleCnt="3" custScaleX="98230" custScaleY="122880" custLinFactNeighborX="885" custLinFactNeighborY="-14711">
        <dgm:presLayoutVars>
          <dgm:bulletEnabled val="1"/>
        </dgm:presLayoutVars>
      </dgm:prSet>
      <dgm:spPr/>
    </dgm:pt>
    <dgm:pt modelId="{5A70AA9A-7498-48B6-B41A-EBF0F01D1680}" type="pres">
      <dgm:prSet presAssocID="{96D0B1CD-B02E-4694-A9B4-C8873B1BE7BE}" presName="parentText" presStyleLbl="node1" presStyleIdx="2" presStyleCnt="3" custScaleY="40396" custLinFactNeighborY="-26434">
        <dgm:presLayoutVars>
          <dgm:chMax val="0"/>
          <dgm:bulletEnabled val="1"/>
        </dgm:presLayoutVars>
      </dgm:prSet>
      <dgm:spPr/>
    </dgm:pt>
    <dgm:pt modelId="{A35A886C-DA81-784C-A8F3-ED1D1A65F802}" type="pres">
      <dgm:prSet presAssocID="{96D0B1CD-B02E-4694-A9B4-C8873B1BE7BE}" presName="childText" presStyleLbl="revTx" presStyleIdx="2" presStyleCnt="3" custScaleX="98230" custScaleY="103146" custLinFactNeighborY="-22484">
        <dgm:presLayoutVars>
          <dgm:bulletEnabled val="1"/>
        </dgm:presLayoutVars>
      </dgm:prSet>
      <dgm:spPr/>
    </dgm:pt>
  </dgm:ptLst>
  <dgm:cxnLst>
    <dgm:cxn modelId="{9640FE04-F56C-4A68-82B5-6055D2051555}" type="presOf" srcId="{A6D4A26C-E2D2-470C-B222-6DC0B1F9B719}" destId="{D4E027F1-3634-4B54-A1B3-2022C91FB12B}" srcOrd="0" destOrd="0" presId="urn:microsoft.com/office/officeart/2005/8/layout/vList2"/>
    <dgm:cxn modelId="{C3A1911A-7745-7C47-BBED-CB0C9F300362}" type="presOf" srcId="{4970DB1C-8476-0447-9A2A-088D6286562B}" destId="{A35A886C-DA81-784C-A8F3-ED1D1A65F802}" srcOrd="0" destOrd="0" presId="urn:microsoft.com/office/officeart/2005/8/layout/vList2"/>
    <dgm:cxn modelId="{7BE21433-6218-2C4E-AAF8-F1C7C1E6C4F6}" srcId="{96D0B1CD-B02E-4694-A9B4-C8873B1BE7BE}" destId="{4970DB1C-8476-0447-9A2A-088D6286562B}" srcOrd="0" destOrd="0" parTransId="{9F79BE09-FBE7-0846-97E7-1FBF09517BFA}" sibTransId="{D01B5D18-FADD-E04B-AECE-406449AD2703}"/>
    <dgm:cxn modelId="{F8396F3A-DDE4-4408-B482-A6DF691CA106}" srcId="{6F662DB4-8440-4EF0-87CA-83F0D500D17E}" destId="{96D0B1CD-B02E-4694-A9B4-C8873B1BE7BE}" srcOrd="2" destOrd="0" parTransId="{E8684D82-08B1-47BA-803E-10E726455370}" sibTransId="{75287587-9672-43EC-9C23-B5C50304D607}"/>
    <dgm:cxn modelId="{C7BE6A58-09C2-4D89-8B8B-564EE0A35EDC}" type="presOf" srcId="{6F662DB4-8440-4EF0-87CA-83F0D500D17E}" destId="{C02CD429-FEBF-4BA2-9735-85F6BFC6FF6E}" srcOrd="0" destOrd="0" presId="urn:microsoft.com/office/officeart/2005/8/layout/vList2"/>
    <dgm:cxn modelId="{24B5A363-14E6-E944-BA4C-C807D9BB793B}" type="presOf" srcId="{F42C8DF8-4B60-2942-93A0-CCBFEA096303}" destId="{E06E048A-F838-1640-8D83-3174875C0AB6}" srcOrd="0" destOrd="0" presId="urn:microsoft.com/office/officeart/2005/8/layout/vList2"/>
    <dgm:cxn modelId="{FEBDA577-AC93-7649-86FE-1CAD39043AC0}" type="presOf" srcId="{F9DB5E55-BC85-B442-B2A2-D327D8977CEF}" destId="{7B56B959-459C-44D6-B292-8B07E986FDF0}" srcOrd="0" destOrd="0" presId="urn:microsoft.com/office/officeart/2005/8/layout/vList2"/>
    <dgm:cxn modelId="{C91F6D82-0681-41CC-8231-5383E69A9E19}" type="presOf" srcId="{96D0B1CD-B02E-4694-A9B4-C8873B1BE7BE}" destId="{5A70AA9A-7498-48B6-B41A-EBF0F01D1680}" srcOrd="0" destOrd="0" presId="urn:microsoft.com/office/officeart/2005/8/layout/vList2"/>
    <dgm:cxn modelId="{486491B0-786F-40BD-BE16-5EBC8A7022A2}" srcId="{6F662DB4-8440-4EF0-87CA-83F0D500D17E}" destId="{A6D4A26C-E2D2-470C-B222-6DC0B1F9B719}" srcOrd="0" destOrd="0" parTransId="{54EB5E5F-7A57-454E-85D4-0B31A88B1216}" sibTransId="{087E2344-8EAB-41C9-82CC-FAE0107E09CB}"/>
    <dgm:cxn modelId="{4A56BAB6-C3D6-41D4-BE7A-F0D620BD142E}" srcId="{6F662DB4-8440-4EF0-87CA-83F0D500D17E}" destId="{CFA6B6D5-49CC-4D9F-A552-2B372F5AF4F3}" srcOrd="1" destOrd="0" parTransId="{2BD27A8F-507E-4047-B673-9AFF45EDCABC}" sibTransId="{1E9ED467-9520-4A89-9EFA-F1981CFAEA3C}"/>
    <dgm:cxn modelId="{1DB7C4EE-25FB-4F04-ABD0-3720ED0E0C43}" type="presOf" srcId="{CFA6B6D5-49CC-4D9F-A552-2B372F5AF4F3}" destId="{13E195D7-769E-4359-9FA3-833D6597318C}" srcOrd="0" destOrd="0" presId="urn:microsoft.com/office/officeart/2005/8/layout/vList2"/>
    <dgm:cxn modelId="{500C6EEF-6A1E-4241-922C-1FEF07C7CBD5}" srcId="{A6D4A26C-E2D2-470C-B222-6DC0B1F9B719}" destId="{F9DB5E55-BC85-B442-B2A2-D327D8977CEF}" srcOrd="0" destOrd="0" parTransId="{560A3A41-28E2-E649-9D3C-08A132E12788}" sibTransId="{E82F519F-F9DF-C04A-BC08-1058F4751B98}"/>
    <dgm:cxn modelId="{7BCD2DFE-F65D-6844-858F-4531055B4EE4}" srcId="{CFA6B6D5-49CC-4D9F-A552-2B372F5AF4F3}" destId="{F42C8DF8-4B60-2942-93A0-CCBFEA096303}" srcOrd="0" destOrd="0" parTransId="{6CBACA8F-10CF-AD41-AD33-E4B8AD789B36}" sibTransId="{4C7C33FE-7365-B643-B9A3-C9C9B1412934}"/>
    <dgm:cxn modelId="{46E4682E-9053-47F4-BFF8-B1C43302A722}" type="presParOf" srcId="{C02CD429-FEBF-4BA2-9735-85F6BFC6FF6E}" destId="{D4E027F1-3634-4B54-A1B3-2022C91FB12B}" srcOrd="0" destOrd="0" presId="urn:microsoft.com/office/officeart/2005/8/layout/vList2"/>
    <dgm:cxn modelId="{9931FE6B-2BD4-2D46-8B25-922F1E710C1D}" type="presParOf" srcId="{C02CD429-FEBF-4BA2-9735-85F6BFC6FF6E}" destId="{7B56B959-459C-44D6-B292-8B07E986FDF0}" srcOrd="1" destOrd="0" presId="urn:microsoft.com/office/officeart/2005/8/layout/vList2"/>
    <dgm:cxn modelId="{5C53B5E6-09ED-4F65-9767-8F76B3E037BC}" type="presParOf" srcId="{C02CD429-FEBF-4BA2-9735-85F6BFC6FF6E}" destId="{13E195D7-769E-4359-9FA3-833D6597318C}" srcOrd="2" destOrd="0" presId="urn:microsoft.com/office/officeart/2005/8/layout/vList2"/>
    <dgm:cxn modelId="{00D8D2CF-E9AC-5540-A24F-1473BD1C837E}" type="presParOf" srcId="{C02CD429-FEBF-4BA2-9735-85F6BFC6FF6E}" destId="{E06E048A-F838-1640-8D83-3174875C0AB6}" srcOrd="3" destOrd="0" presId="urn:microsoft.com/office/officeart/2005/8/layout/vList2"/>
    <dgm:cxn modelId="{24EB1300-25EF-404E-B9C6-DE0947C660BE}" type="presParOf" srcId="{C02CD429-FEBF-4BA2-9735-85F6BFC6FF6E}" destId="{5A70AA9A-7498-48B6-B41A-EBF0F01D1680}" srcOrd="4" destOrd="0" presId="urn:microsoft.com/office/officeart/2005/8/layout/vList2"/>
    <dgm:cxn modelId="{74F1A279-B917-924F-BE1A-0D2F961FCD0B}" type="presParOf" srcId="{C02CD429-FEBF-4BA2-9735-85F6BFC6FF6E}" destId="{A35A886C-DA81-784C-A8F3-ED1D1A65F802}"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E761E3-F4CA-4E80-A925-2E802260141C}">
      <dsp:nvSpPr>
        <dsp:cNvPr id="0" name=""/>
        <dsp:cNvSpPr/>
      </dsp:nvSpPr>
      <dsp:spPr>
        <a:xfrm>
          <a:off x="-4361295" y="-673826"/>
          <a:ext cx="5233850" cy="5233850"/>
        </a:xfrm>
        <a:prstGeom prst="blockArc">
          <a:avLst>
            <a:gd name="adj1" fmla="val 18900000"/>
            <a:gd name="adj2" fmla="val 2700000"/>
            <a:gd name="adj3" fmla="val 413"/>
          </a:avLst>
        </a:prstGeom>
        <a:noFill/>
        <a:ln w="12700" cap="flat" cmpd="sng" algn="ctr">
          <a:solidFill>
            <a:schemeClr val="accent3"/>
          </a:solidFill>
          <a:prstDash val="solid"/>
          <a:miter lim="800000"/>
        </a:ln>
        <a:effectLst/>
      </dsp:spPr>
      <dsp:style>
        <a:lnRef idx="2">
          <a:scrgbClr r="0" g="0" b="0"/>
        </a:lnRef>
        <a:fillRef idx="0">
          <a:scrgbClr r="0" g="0" b="0"/>
        </a:fillRef>
        <a:effectRef idx="0">
          <a:scrgbClr r="0" g="0" b="0"/>
        </a:effectRef>
        <a:fontRef idx="minor"/>
      </dsp:style>
    </dsp:sp>
    <dsp:sp modelId="{11F35B60-92E1-432C-9912-9831FCEAC10E}">
      <dsp:nvSpPr>
        <dsp:cNvPr id="0" name=""/>
        <dsp:cNvSpPr/>
      </dsp:nvSpPr>
      <dsp:spPr>
        <a:xfrm>
          <a:off x="714380" y="326606"/>
          <a:ext cx="6808919" cy="1567359"/>
        </a:xfrm>
        <a:prstGeom prst="rect">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1228" tIns="50800" rIns="50800" bIns="508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The credit spread, which captures credit risk as the difference between the yields-to-maturity on a corporate bond and a government bond</a:t>
          </a:r>
          <a:r>
            <a:rPr lang="en-US" sz="2000" kern="1200" dirty="0">
              <a:solidFill>
                <a:schemeClr val="tx1"/>
              </a:solidFill>
            </a:rPr>
            <a:t>.</a:t>
          </a:r>
          <a:endParaRPr lang="en-AU" sz="2000" kern="1200" dirty="0">
            <a:solidFill>
              <a:schemeClr val="tx1"/>
            </a:solidFill>
          </a:endParaRPr>
        </a:p>
      </dsp:txBody>
      <dsp:txXfrm>
        <a:off x="714380" y="326606"/>
        <a:ext cx="6808919" cy="1567359"/>
      </dsp:txXfrm>
    </dsp:sp>
    <dsp:sp modelId="{CD04B828-7BD2-4290-B3AF-F6C65050B8F7}">
      <dsp:nvSpPr>
        <dsp:cNvPr id="0" name=""/>
        <dsp:cNvSpPr/>
      </dsp:nvSpPr>
      <dsp:spPr>
        <a:xfrm>
          <a:off x="20499" y="416406"/>
          <a:ext cx="1387761" cy="1387761"/>
        </a:xfrm>
        <a:prstGeom prst="ellipse">
          <a:avLst/>
        </a:prstGeom>
        <a:solidFill>
          <a:schemeClr val="lt1">
            <a:hueOff val="0"/>
            <a:satOff val="0"/>
            <a:lumOff val="0"/>
            <a:alphaOff val="0"/>
          </a:schemeClr>
        </a:solidFill>
        <a:ln w="12700"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dsp:style>
    </dsp:sp>
    <dsp:sp modelId="{ED6885EF-76C5-406C-9701-601065AC5C38}">
      <dsp:nvSpPr>
        <dsp:cNvPr id="0" name=""/>
        <dsp:cNvSpPr/>
      </dsp:nvSpPr>
      <dsp:spPr>
        <a:xfrm>
          <a:off x="714380" y="1959580"/>
          <a:ext cx="6808919" cy="1632662"/>
        </a:xfrm>
        <a:prstGeom prst="rect">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1228" tIns="50800" rIns="50800" bIns="508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The credit valuation adjustment (CVA), which measures credit risk in present value terms as a percentage of par value.</a:t>
          </a:r>
          <a:endParaRPr lang="en-AU" sz="2000" kern="1200" dirty="0">
            <a:solidFill>
              <a:schemeClr val="tx1"/>
            </a:solidFill>
          </a:endParaRPr>
        </a:p>
      </dsp:txBody>
      <dsp:txXfrm>
        <a:off x="714380" y="1959580"/>
        <a:ext cx="6808919" cy="1632662"/>
      </dsp:txXfrm>
    </dsp:sp>
    <dsp:sp modelId="{3C8E39A2-F8F1-4A55-AF8E-D226DDA585D1}">
      <dsp:nvSpPr>
        <dsp:cNvPr id="0" name=""/>
        <dsp:cNvSpPr/>
      </dsp:nvSpPr>
      <dsp:spPr>
        <a:xfrm>
          <a:off x="20499" y="2082030"/>
          <a:ext cx="1387761" cy="1387761"/>
        </a:xfrm>
        <a:prstGeom prst="ellipse">
          <a:avLst/>
        </a:prstGeom>
        <a:solidFill>
          <a:schemeClr val="lt1">
            <a:hueOff val="0"/>
            <a:satOff val="0"/>
            <a:lumOff val="0"/>
            <a:alphaOff val="0"/>
          </a:schemeClr>
        </a:solidFill>
        <a:ln w="12700"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E027F1-3634-4B54-A1B3-2022C91FB12B}">
      <dsp:nvSpPr>
        <dsp:cNvPr id="0" name=""/>
        <dsp:cNvSpPr/>
      </dsp:nvSpPr>
      <dsp:spPr>
        <a:xfrm>
          <a:off x="0" y="0"/>
          <a:ext cx="7696200" cy="499362"/>
        </a:xfrm>
        <a:prstGeom prst="roundRect">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altLang="en-US" sz="2000" b="1" kern="1200" dirty="0">
              <a:solidFill>
                <a:schemeClr val="tx1"/>
              </a:solidFill>
            </a:rPr>
            <a:t>Expected exposure</a:t>
          </a:r>
        </a:p>
      </dsp:txBody>
      <dsp:txXfrm>
        <a:off x="24377" y="24377"/>
        <a:ext cx="7647446" cy="450608"/>
      </dsp:txXfrm>
    </dsp:sp>
    <dsp:sp modelId="{7B56B959-459C-44D6-B292-8B07E986FDF0}">
      <dsp:nvSpPr>
        <dsp:cNvPr id="0" name=""/>
        <dsp:cNvSpPr/>
      </dsp:nvSpPr>
      <dsp:spPr>
        <a:xfrm>
          <a:off x="68111" y="593818"/>
          <a:ext cx="7559977" cy="1267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4354" tIns="27940" rIns="156464" bIns="27940" numCol="1" spcCol="1270" anchor="t" anchorCtr="0">
          <a:noAutofit/>
        </a:bodyPr>
        <a:lstStyle/>
        <a:p>
          <a:pPr marL="228600" lvl="1" indent="-228600" algn="l" defTabSz="977900">
            <a:lnSpc>
              <a:spcPct val="90000"/>
            </a:lnSpc>
            <a:spcBef>
              <a:spcPct val="0"/>
            </a:spcBef>
            <a:spcAft>
              <a:spcPct val="20000"/>
            </a:spcAft>
            <a:buChar char="•"/>
          </a:pPr>
          <a:r>
            <a:rPr lang="en-US" sz="2200" kern="1200" dirty="0"/>
            <a:t>The projected amount the investor could lose if an event of default occurs, before considering recovery.</a:t>
          </a:r>
        </a:p>
      </dsp:txBody>
      <dsp:txXfrm>
        <a:off x="68111" y="593818"/>
        <a:ext cx="7559977" cy="1267708"/>
      </dsp:txXfrm>
    </dsp:sp>
    <dsp:sp modelId="{13E195D7-769E-4359-9FA3-833D6597318C}">
      <dsp:nvSpPr>
        <dsp:cNvPr id="0" name=""/>
        <dsp:cNvSpPr/>
      </dsp:nvSpPr>
      <dsp:spPr>
        <a:xfrm>
          <a:off x="0" y="1929549"/>
          <a:ext cx="7696200" cy="503816"/>
        </a:xfrm>
        <a:prstGeom prst="roundRect">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altLang="en-US" sz="2000" b="1" kern="1200" dirty="0">
              <a:solidFill>
                <a:schemeClr val="tx1"/>
              </a:solidFill>
            </a:rPr>
            <a:t>Recovery Rate and Loss Given Default (LGD)</a:t>
          </a:r>
        </a:p>
      </dsp:txBody>
      <dsp:txXfrm>
        <a:off x="24594" y="1954143"/>
        <a:ext cx="7647012" cy="454628"/>
      </dsp:txXfrm>
    </dsp:sp>
    <dsp:sp modelId="{E06E048A-F838-1640-8D83-3174875C0AB6}">
      <dsp:nvSpPr>
        <dsp:cNvPr id="0" name=""/>
        <dsp:cNvSpPr/>
      </dsp:nvSpPr>
      <dsp:spPr>
        <a:xfrm>
          <a:off x="136222" y="2427898"/>
          <a:ext cx="7559977" cy="1322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4354" tIns="27940" rIns="156464" bIns="27940" numCol="1" spcCol="1270" anchor="t" anchorCtr="0">
          <a:noAutofit/>
        </a:bodyPr>
        <a:lstStyle/>
        <a:p>
          <a:pPr marL="228600" lvl="1" indent="-228600" algn="l" defTabSz="977900">
            <a:lnSpc>
              <a:spcPct val="90000"/>
            </a:lnSpc>
            <a:spcBef>
              <a:spcPct val="0"/>
            </a:spcBef>
            <a:spcAft>
              <a:spcPct val="20000"/>
            </a:spcAft>
            <a:buChar char="•"/>
          </a:pPr>
          <a:r>
            <a:rPr lang="en-US" sz="2200" kern="1200" dirty="0"/>
            <a:t>The recovery rate is the percentage of the loss that is recovered. The LGD is amount of the loss if default occurs, after considering recovery.</a:t>
          </a:r>
          <a:endParaRPr lang="en-US" sz="2200" kern="1200" dirty="0">
            <a:latin typeface="Arial"/>
            <a:cs typeface="Arial"/>
          </a:endParaRPr>
        </a:p>
      </dsp:txBody>
      <dsp:txXfrm>
        <a:off x="136222" y="2427898"/>
        <a:ext cx="7559977" cy="1322680"/>
      </dsp:txXfrm>
    </dsp:sp>
    <dsp:sp modelId="{5A70AA9A-7498-48B6-B41A-EBF0F01D1680}">
      <dsp:nvSpPr>
        <dsp:cNvPr id="0" name=""/>
        <dsp:cNvSpPr/>
      </dsp:nvSpPr>
      <dsp:spPr>
        <a:xfrm>
          <a:off x="0" y="3645047"/>
          <a:ext cx="7696200" cy="491538"/>
        </a:xfrm>
        <a:prstGeom prst="roundRect">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altLang="en-US" sz="2000" b="1" kern="1200" dirty="0">
              <a:solidFill>
                <a:schemeClr val="tx1"/>
              </a:solidFill>
            </a:rPr>
            <a:t>Probability of Default</a:t>
          </a:r>
        </a:p>
      </dsp:txBody>
      <dsp:txXfrm>
        <a:off x="23995" y="3669042"/>
        <a:ext cx="7648210" cy="443548"/>
      </dsp:txXfrm>
    </dsp:sp>
    <dsp:sp modelId="{A35A886C-DA81-784C-A8F3-ED1D1A65F802}">
      <dsp:nvSpPr>
        <dsp:cNvPr id="0" name=""/>
        <dsp:cNvSpPr/>
      </dsp:nvSpPr>
      <dsp:spPr>
        <a:xfrm>
          <a:off x="68111" y="4147535"/>
          <a:ext cx="7559977" cy="11102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4354" tIns="27940" rIns="156464" bIns="27940" numCol="1" spcCol="1270" anchor="t" anchorCtr="0">
          <a:noAutofit/>
        </a:bodyPr>
        <a:lstStyle/>
        <a:p>
          <a:pPr marL="228600" lvl="1" indent="-228600" algn="l" defTabSz="977900">
            <a:lnSpc>
              <a:spcPct val="90000"/>
            </a:lnSpc>
            <a:spcBef>
              <a:spcPct val="0"/>
            </a:spcBef>
            <a:spcAft>
              <a:spcPct val="20000"/>
            </a:spcAft>
            <a:buChar char="•"/>
          </a:pPr>
          <a:endParaRPr lang="en-US" sz="2200" kern="1200" dirty="0"/>
        </a:p>
      </dsp:txBody>
      <dsp:txXfrm>
        <a:off x="68111" y="4147535"/>
        <a:ext cx="7559977" cy="1110263"/>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D0D3E168-E06C-4270-93A1-BA6F395C0456}" type="datetimeFigureOut">
              <a:rPr lang="en-US"/>
              <a:pPr>
                <a:defRPr/>
              </a:pPr>
              <a:t>7/12/26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30D07607-43F6-4AEA-9890-00BBE9F451C8}" type="slidenum">
              <a:rPr lang="en-US" altLang="en-US"/>
              <a:pPr/>
              <a:t>‹#›</a:t>
            </a:fld>
            <a:endParaRPr lang="en-US" altLang="en-US"/>
          </a:p>
        </p:txBody>
      </p:sp>
    </p:spTree>
    <p:extLst>
      <p:ext uri="{BB962C8B-B14F-4D97-AF65-F5344CB8AC3E}">
        <p14:creationId xmlns:p14="http://schemas.microsoft.com/office/powerpoint/2010/main" val="30934397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Today we move from market risk (Sessions 2 to 4) into credit risk. The core deliverable is the Merton (1974) structural model, equity as a call option on assets</a:t>
            </a:r>
            <a:r>
              <a:rPr lang="en-US" dirty="0"/>
              <a:t>. </a:t>
            </a:r>
            <a:r>
              <a:rPr dirty="0"/>
              <a:t>By the end of session students will calibrate Merton from equity data and price credit spreads in Python.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Objectives 1 and 2 map to Hull Ch. 17 and Jorion Ch. 19 theory. Objectives 3 to 5 map to the Python lab and are directly assessed in Assignment 2</a:t>
            </a:r>
            <a:r>
              <a:rPr lang="en-US" dirty="0"/>
              <a: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Block 1 sets up the vocabulary and data landscape. PD/LGD/EAD/EL are the lingua franca of credit risk; transition matrices show how PD evolves over time and across rating categories.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Stress the asymmetry: credit payoffs are option-like (capped gains, large downside). Hull Ch. 17 section 17.1 defines PD, LGD, EAD. Jorion Ch. 19 gives the Basel capital treatment. The EL formula is the cornerstone: every subsequent formula refines one of the three terms.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400" dirty="0"/>
              <a:t>2. </a:t>
            </a:r>
            <a:r>
              <a:rPr lang="en-AU" sz="1400" dirty="0" err="1"/>
              <a:t>Modeling</a:t>
            </a:r>
            <a:r>
              <a:rPr lang="en-AU" sz="1400" dirty="0"/>
              <a:t> Credit Risk and the Credit Valuation Adjustment</a:t>
            </a:r>
          </a:p>
          <a:p>
            <a:pPr marL="228600" marR="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LOS: Explain expected exposure, the loss given default, the probability of default, and the credit valuation adjustment.</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The terms “default risk” and “credit risk” may be used interchangeably in practice, but in this chapter the two are different. Default risk is the narrower term because it addresses the likelihood of an event of default. Credit risk is the broader term because it considers both the default probability and how much is expected to be lost if default occurs. </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In this chapter the corporate bond and the default risk-free government bond are assumed have the same taxation and liquidity to focus on the default risk and expected loss as the key determinants of the credit spread and CVA.</a:t>
            </a:r>
            <a:endParaRPr lang="en-US" dirty="0"/>
          </a:p>
        </p:txBody>
      </p:sp>
      <p:sp>
        <p:nvSpPr>
          <p:cNvPr id="4" name="Slide Number Placeholder 3"/>
          <p:cNvSpPr>
            <a:spLocks noGrp="1"/>
          </p:cNvSpPr>
          <p:nvPr>
            <p:ph type="sldNum" sz="quarter" idx="10"/>
          </p:nvPr>
        </p:nvSpPr>
        <p:spPr/>
        <p:txBody>
          <a:bodyPr/>
          <a:lstStyle/>
          <a:p>
            <a:fld id="{9A4F8672-8174-4157-9CD7-BC591DEEF2E8}" type="slidenum">
              <a:rPr lang="en-AU" smtClean="0"/>
              <a:t>5</a:t>
            </a:fld>
            <a:endParaRPr lang="en-AU"/>
          </a:p>
        </p:txBody>
      </p:sp>
    </p:spTree>
    <p:extLst>
      <p:ext uri="{BB962C8B-B14F-4D97-AF65-F5344CB8AC3E}">
        <p14:creationId xmlns:p14="http://schemas.microsoft.com/office/powerpoint/2010/main" val="28514119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dirty="0"/>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most common event of default is nonpayment of a coupon or principal payment but the bond prospectus could identify other events, such as violation of a covenant.</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 related term to the LGD is loss severity, which is 1 - recovery rate.</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In credit risk modeling, risk-neutral probabilities of default are used rather than historical (or actual) default experience.</a:t>
            </a:r>
          </a:p>
        </p:txBody>
      </p:sp>
      <p:sp>
        <p:nvSpPr>
          <p:cNvPr id="4" name="Slide Number Placeholder 3"/>
          <p:cNvSpPr>
            <a:spLocks noGrp="1"/>
          </p:cNvSpPr>
          <p:nvPr>
            <p:ph type="sldNum" sz="quarter" idx="10"/>
          </p:nvPr>
        </p:nvSpPr>
        <p:spPr/>
        <p:txBody>
          <a:bodyPr/>
          <a:lstStyle/>
          <a:p>
            <a:fld id="{9A4F8672-8174-4157-9CD7-BC591DEEF2E8}" type="slidenum">
              <a:rPr lang="en-AU" smtClean="0"/>
              <a:t>6</a:t>
            </a:fld>
            <a:endParaRPr lang="en-AU"/>
          </a:p>
        </p:txBody>
      </p:sp>
    </p:spTree>
    <p:extLst>
      <p:ext uri="{BB962C8B-B14F-4D97-AF65-F5344CB8AC3E}">
        <p14:creationId xmlns:p14="http://schemas.microsoft.com/office/powerpoint/2010/main" val="28514119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TextEdit="1"/>
          </p:cNvSpPr>
          <p:nvPr>
            <p:ph type="sldImg"/>
          </p:nvPr>
        </p:nvSpPr>
        <p:spPr bwMode="auto">
          <a:noFill/>
          <a:ln>
            <a:solidFill>
              <a:srgbClr val="000000"/>
            </a:solidFill>
            <a:miter lim="800000"/>
            <a:headEnd/>
            <a:tailEnd/>
          </a:ln>
        </p:spPr>
      </p:sp>
      <p:sp>
        <p:nvSpPr>
          <p:cNvPr id="48131" name="Rectangle 3"/>
          <p:cNvSpPr>
            <a:spLocks noGrp="1"/>
          </p:cNvSpPr>
          <p:nvPr>
            <p:ph type="body" idx="1"/>
          </p:nvPr>
        </p:nvSpPr>
        <p:spPr bwMode="auto">
          <a:noFill/>
        </p:spPr>
        <p:txBody>
          <a:bodyPr wrap="square" numCol="1" anchor="t" anchorCtr="0" compatLnSpc="1">
            <a:prstTxWarp prst="textNoShape">
              <a:avLst/>
            </a:prstTxWarp>
          </a:bodyPr>
          <a:lstStyle/>
          <a:p>
            <a:endParaRPr lang="en-US"/>
          </a:p>
        </p:txBody>
      </p:sp>
    </p:spTree>
    <p:extLst>
      <p:ext uri="{BB962C8B-B14F-4D97-AF65-F5344CB8AC3E}">
        <p14:creationId xmlns:p14="http://schemas.microsoft.com/office/powerpoint/2010/main" val="1148241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These numbers come from Moody's historical data</a:t>
            </a:r>
            <a:r>
              <a:rPr lang="en-US" dirty="0"/>
              <a:t>.</a:t>
            </a:r>
          </a:p>
          <a:p>
            <a:r>
              <a:rPr lang="en-US" dirty="0"/>
              <a:t>F</a:t>
            </a:r>
            <a:r>
              <a:rPr dirty="0"/>
              <a:t>or an investment-grade firm EL is tiny, but UL can be large because PD is correlated across borrowers.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Supplementary reading: Altman and </a:t>
            </a:r>
            <a:r>
              <a:rPr dirty="0" err="1"/>
              <a:t>Rijken</a:t>
            </a:r>
            <a:r>
              <a:rPr dirty="0"/>
              <a:t> (2004) explains why agencies lag the market - they deliberately smooth ratings to reduce rating cliffs. Contrast with CDS-implied or Merton-implied PD, which are point-in-time (PIT). Both appear in the lab.</a:t>
            </a:r>
          </a:p>
          <a:p>
            <a:endParaRPr dirty="0"/>
          </a:p>
          <a:p>
            <a:r>
              <a:rPr dirty="0"/>
              <a:t>Default rates updated to the real Moody's 1970-2013 one-year averages (Hull Table 19.1), the same table the Session 5 notebook loads. Point out B moved from the old 4.60% to 3.90% and </a:t>
            </a:r>
            <a:r>
              <a:rPr dirty="0" err="1"/>
              <a:t>Caa</a:t>
            </a:r>
            <a:r>
              <a:rPr dirty="0"/>
              <a:t>-C to 15.89% - these are the sourced figures now.</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Walk through the matrix structure: row = current rating, column = next-year rating. The Python lab Section 1 plots this as a seaborn heatmap so students can see the near-diagonal concentration. If a firm is currently rated B, what is the 2-year cumulative PD? Lead into the matrix exponentiation concept.</a:t>
            </a:r>
          </a:p>
          <a:p>
            <a:endParaRPr dirty="0"/>
          </a:p>
          <a:p>
            <a:r>
              <a:rPr dirty="0"/>
              <a:t>The notebook loads the real published S&amp;P 1981-2024 transition matrix, not an illustrative one. BBB has about a 3.8% chance of being junk-rated or in default within a year - migration risk, not just default. Session 6 feeds this matrix straight into </a:t>
            </a:r>
            <a:r>
              <a:rPr dirty="0" err="1"/>
              <a:t>CreditMetrics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C9AB8-05D0-E6D4-794C-8723548BA1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873655-CF5F-0C38-E24D-462D803DE1D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65A9063-878C-6759-0BC5-F7F9123109A8}"/>
              </a:ext>
            </a:extLst>
          </p:cNvPr>
          <p:cNvSpPr>
            <a:spLocks noGrp="1"/>
          </p:cNvSpPr>
          <p:nvPr>
            <p:ph type="body" sz="quarter" idx="3"/>
          </p:nvPr>
        </p:nvSpPr>
        <p:spPr/>
        <p:txBody>
          <a:bodyPr/>
          <a:lstStyle/>
          <a:p>
            <a:r>
              <a:rPr dirty="0"/>
              <a:t>Walk through the matrix structure: row = current rating, column = next-year rating. The Python lab Section 1 plots this as a seaborn heatmap so students can see the near-diagonal concentration. If a firm is currently rated B, what is the 2-year cumulative PD? Lead into the matrix exponentiation concept.</a:t>
            </a:r>
          </a:p>
        </p:txBody>
      </p:sp>
      <p:sp>
        <p:nvSpPr>
          <p:cNvPr id="4" name="Slide Number Placeholder 3">
            <a:extLst>
              <a:ext uri="{FF2B5EF4-FFF2-40B4-BE49-F238E27FC236}">
                <a16:creationId xmlns:a16="http://schemas.microsoft.com/office/drawing/2014/main" id="{2F1A5773-240C-D435-3141-1BFB8162E210}"/>
              </a:ext>
            </a:extLst>
          </p:cNvPr>
          <p:cNvSpPr>
            <a:spLocks noGrp="1"/>
          </p:cNvSpPr>
          <p:nvPr>
            <p:ph type="sldNum" sz="quarter" idx="5"/>
          </p:nvPr>
        </p:nvSpPr>
        <p:spPr/>
      </p:sp>
    </p:spTree>
    <p:extLst>
      <p:ext uri="{BB962C8B-B14F-4D97-AF65-F5344CB8AC3E}">
        <p14:creationId xmlns:p14="http://schemas.microsoft.com/office/powerpoint/2010/main" val="35175604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one-year transition matrix is a complete default-probability machine. Raising it to the power t gives the t-year outcomes, and its Default column is the cumulative default probability Q(t). From Q(t) read off the four quantities the profession quotes: marginal/unconditional (Q(t)-Q(t-1)), conditional (that divided by survival to t-1), and the hazard rate lambda = -ln[S(t)/S(t-1)]. The lab computes all of these on the real S&amp;P 1981-2024 matrix for BBB and B. Marginal is 'seen from today'; conditional is 'given you have survived' - they diverge as the survival base shrinks. Session 6 turns the hazard curve into reduced-form intensity models and uses it to price CVA.</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TextEdit="1"/>
          </p:cNvSpPr>
          <p:nvPr>
            <p:ph type="sldImg"/>
          </p:nvPr>
        </p:nvSpPr>
        <p:spPr bwMode="auto">
          <a:noFill/>
          <a:ln>
            <a:solidFill>
              <a:srgbClr val="000000"/>
            </a:solidFill>
            <a:miter lim="800000"/>
            <a:headEnd/>
            <a:tailEnd/>
          </a:ln>
        </p:spPr>
      </p:sp>
      <p:sp>
        <p:nvSpPr>
          <p:cNvPr id="49155" name="Rectangle 3"/>
          <p:cNvSpPr>
            <a:spLocks noGrp="1"/>
          </p:cNvSpPr>
          <p:nvPr>
            <p:ph type="body" idx="1"/>
          </p:nvPr>
        </p:nvSpPr>
        <p:spPr bwMode="auto">
          <a:noFill/>
        </p:spPr>
        <p:txBody>
          <a:bodyPr wrap="square" numCol="1" anchor="t" anchorCtr="0" compatLnSpc="1">
            <a:prstTxWarp prst="textNoShape">
              <a:avLst/>
            </a:prstTxWarp>
            <a:normAutofit fontScale="92500" lnSpcReduction="10000"/>
          </a:bodyPr>
          <a:lstStyle/>
          <a:p>
            <a:r>
              <a:rPr lang="en-US" dirty="0"/>
              <a:t>Assume that an A rated 10-year corporate bond will have a modified duration of 7.2 at the end of the year given stable yields and spreads. For each possible transition, the analyst can calculate the expected percentage price change as the product of the modified duration and the change in the spread:</a:t>
            </a:r>
          </a:p>
          <a:p>
            <a:endParaRPr lang="en-US" dirty="0"/>
          </a:p>
          <a:p>
            <a:r>
              <a:rPr lang="en-US" dirty="0"/>
              <a:t>From A to AAA:	−7.2 × (0.60% − 1.10%) = +3.60%.</a:t>
            </a:r>
          </a:p>
          <a:p>
            <a:r>
              <a:rPr lang="en-US" dirty="0"/>
              <a:t>From A to AA:	−7.2 × (0.90% − 1.10%) = +1.44%.</a:t>
            </a:r>
          </a:p>
          <a:p>
            <a:r>
              <a:rPr lang="en-US" dirty="0"/>
              <a:t>From A to BBB:	−7.2 × (1.50% − 1.10%) = −2.88%.</a:t>
            </a:r>
          </a:p>
          <a:p>
            <a:r>
              <a:rPr lang="en-US" dirty="0"/>
              <a:t>From A to BB:	−7.2 × (3.40% − 1.10%) = −16.56%.</a:t>
            </a:r>
          </a:p>
          <a:p>
            <a:r>
              <a:rPr lang="en-US" dirty="0"/>
              <a:t>From A to B:		−7.2 × (6.50% − 1.10%) = −38.88%.</a:t>
            </a:r>
          </a:p>
          <a:p>
            <a:r>
              <a:rPr lang="en-US" dirty="0"/>
              <a:t>From A to CCC/CC/C:	−7.2 × (9.50% − 1.10%) = −60.48%.</a:t>
            </a:r>
          </a:p>
          <a:p>
            <a:endParaRPr lang="en-US" dirty="0"/>
          </a:p>
          <a:p>
            <a:r>
              <a:rPr lang="en-US" dirty="0"/>
              <a:t>The expected percentage change in bond value for an A rated corporate bond is found by multiplying each expected percentage price change for a possible credit transition by its respective transition probability found in the row associated with the A rating and summing the products:</a:t>
            </a:r>
          </a:p>
          <a:p>
            <a:endParaRPr lang="en-US" dirty="0"/>
          </a:p>
          <a:p>
            <a:r>
              <a:rPr lang="en-US" dirty="0"/>
              <a:t>(0.0005 × 3.60%) + (0.0250 × 1.44%) + (0.8750 × 0%) + (0.0840 × −2.88%) + (0.0075 × −16.56%) + (0.0060 × −38.88%) + (0.0012 × −60.48%) = −0.6342%</a:t>
            </a:r>
          </a:p>
          <a:p>
            <a:endParaRPr lang="en-US" dirty="0"/>
          </a:p>
          <a:p>
            <a:r>
              <a:rPr lang="en-US" dirty="0"/>
              <a:t>Therefore, the expected return on the bond over the next year is its yield to maturity minus 0.6342%, assuming no default. </a:t>
            </a:r>
          </a:p>
        </p:txBody>
      </p:sp>
    </p:spTree>
    <p:extLst>
      <p:ext uri="{BB962C8B-B14F-4D97-AF65-F5344CB8AC3E}">
        <p14:creationId xmlns:p14="http://schemas.microsoft.com/office/powerpoint/2010/main" val="3502429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Ratings are a starting point, not the answer. Cover issuer vs issue ratings and notching, how to read watch/outlook (with the notch rules of thumb), and the well-known limitations - lag, through-the-cycle stability, and the 2008 structured-credit failures. This complements the market-implied PDs from the model side.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Seniority sets recovery, and recovery sets LGD - the piece of expected loss the rest of the session takes as given. Walk the capital-structure ladder and the real recovery-by-seniority numbers (the same table the notebook uses), and connect the waterfall to LGD.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fundamental, bottom-up complement to the quantitative models: the analyst's Four Cs. Capacity is where the credit ratios live (leverage vs coverage vs cash-flow) - students should be able to spread a 10-K and compute these, tying straight to the EDGAR data used in the Altman section.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Traditional credit analysis made quantitative. The 'Capacity' C becomes the S&amp;P key-ratio panel: coverage (EBIT/EBITDA interest coverage), cash-flow leverage (FFO/debt, free-op-cash-flow/debt), profitability (pre-tax ROC, operating margin) and leverage (debt/cap). Each rating band has published medians, so you can map a firm's ratios to an implied rating and flag firms sitting below their actual rating - the Bergen Brunswig early-warning idea. The lab computes all of this on the real EDGAR 10-K data used for Altman: Ford screens two notches light (operating loss, 82% debt/cap), while Walmart is the teachable false positive - thin retail margins drag it below an industrial median ladder even though it is a true AA. The screen flags; the analyst judges (Fridson's over-classification limitation).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Block 2 is the mathematical heart of Session 5. The Merton model is the theoretical foundation for the structural approach to credit risk. Walk the intuition slowly before showing the algebra; then the formulas land naturally. Key paper: Merton (1974).</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balance-sheet analogy: Assets = Equity + Debt. In option language, a call on the assets struck at the debt equals the equity. The call option perspective means high-leverage firms have equity behaving like deep-out-of-the-money options, very sensitive to asset volatility. This is why equity vol (sigma_E) is the market-observable input we need.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Equation 1: Black-Scholes call pricing on firm assets. Equation 2: Ito's lemma linking equity vol to asset vol via the call delta N(d1). The lab uses scipy.optimize.fsolve to calibrate (V, sigma_V) simultaneously. Emphasise: N(minus d2) is the risk-neutral PD, it does not require a physical default-rate estimate, only market data.</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distinction between risk-neutral PD (uses r) and physical PD (uses mu) matters for pricing versus real-world risk assessment. Regulatory capital under Basel uses historical PDs (physical), while CDS pricing uses risk-neutral. The lab computes the risk-neutral version for comparability with bond market spreads.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Walk through the approximation: for small PD, ln(1 minus PD times LGD) is about minus PD times LGD, so spread is about PD times LGD. A BBB firm with PD = 0.18% and LGD = 45% implies a theoretical spread of about 8 bps, far below observed spreads. The gap (the credit spread puzzle) is explored by Elton et al. (2001): taxes, liquidity premium, systematic risk premium.</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Medium Leverage scenario from Session_05_Lab.ipynb Section 3. Walk through the fsolve logic: two equations, two unknowns. The initial guess (V about E+D, sigma_V about sigma_E times E/V) is almost always close enough for convergence. Ask students: what happens if equity drops 40% overnight? Recompute PD; the nonlinearity is striking and motivates early-warning uses of the model.</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2D surface from the lab shows: near V=D, PD is very sensitive; far above, PD is near-zero and insensitive to volatility. This is the option-delta intuition. Point students to the lab Section 4 contour plot; they should generate it for their own exam firms and comment on where each firm sits on the surface.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Block 3 bridges from the Merton model to market-observable prices. Credit spreads are priced in the bond and CDS markets; understanding their determinants is essential for Assignment 2 and for interpreting real-world credit risk signals.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spread puzzle is a live research area. Elton et al. (2001) decompose the spread into expected default loss, tax premium (corporate bond income taxed higher), and systematic risk premium. In the lab, students compare Merton theoretical spreads with stylised market spreads by rating category. Good discussion question: is the gap exploitable?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formula step by step: B(T) = PV(recovery if default) + PV(full payment if no default). Then spread = risky yield minus risk-free yield, which is minus ln(B / D e^{-rT}) / T. The upward slope for IG firms: conditional PD rises with time as assets could drift lower. The inverted shape for distressed: if you survive 1 year you are less likely to default at 5.</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A4F8672-8174-4157-9CD7-BC591DEEF2E8}" type="slidenum">
              <a:rPr lang="en-AU" smtClean="0"/>
              <a:t>28</a:t>
            </a:fld>
            <a:endParaRPr lang="en-AU"/>
          </a:p>
        </p:txBody>
      </p:sp>
    </p:spTree>
    <p:extLst>
      <p:ext uri="{BB962C8B-B14F-4D97-AF65-F5344CB8AC3E}">
        <p14:creationId xmlns:p14="http://schemas.microsoft.com/office/powerpoint/2010/main" val="14580967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bridge from PD to price. Value the bond with no default (VND) on the risk-free curve, then subtract a CVA built from expected exposure x LGD x PD, discounted. Fair value = VND - CVA, and the resulting YTM over the benchmark IS the credit spread. The lab reproduces the CFA table exactly (CVA 4.0731), then runs the same engine on a real BBB bond with the real Treasury curve and market spread - the extracted spread round-trips to ~94 bp, confirming the CVA model and the s = lambda x LGD shortcut agree.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Elton et al. is a key supplementary reading; students who read it will understand why arbitrage between Merton spreads and bond spreads is not possible without bearing systematic risk and tax costs. This limits the free lunch of selling credit protection.</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practical skills: knowing the drivers of spreads (so you can form a view) and spread duration (so you can size the P&amp;L of a spread move). The excess-return decomposition is exactly how a credit PM thinks about carry versus mark-to-market versus losses.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Different segments, different questions. High-yield is about survival and recovery; sovereigns add the ability and willingness to pay and the local- vs foreign-currency distinction; municipals split into GO (taxing power) and revenue (project cash flows). Useful for students who go into rates, EM, or public finance.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Altman </a:t>
            </a:r>
            <a:r>
              <a:rPr lang="en-US" dirty="0"/>
              <a:t>i</a:t>
            </a:r>
            <a:r>
              <a:rPr dirty="0"/>
              <a:t>s the accounting-based counterpart to the market-based Merton model. It is still widely used as a first-pass screen and underlies many internal scorecards. Contrast the two information sets: Merton reads the equity market in real time; the Z-score reads the last financial statements. Good models triangulate both. The five ratios are all computable from </a:t>
            </a:r>
            <a:r>
              <a:rPr dirty="0" err="1"/>
              <a:t>yfinance</a:t>
            </a:r>
            <a:r>
              <a:rPr dirty="0"/>
              <a:t> .</a:t>
            </a:r>
            <a:r>
              <a:rPr dirty="0" err="1"/>
              <a:t>balance_sheet</a:t>
            </a:r>
            <a:r>
              <a:rPr dirty="0"/>
              <a:t> / .financials for their own firm.</a:t>
            </a:r>
          </a:p>
          <a:p>
            <a:endParaRPr dirty="0"/>
          </a:p>
          <a:p>
            <a:r>
              <a:rPr dirty="0"/>
              <a:t>The lab applies Altman to six real balance sheets spanning AAA to single-B. Apple is the teaching nuance: the market-cap term inflates original Z, but book-value Z'' flags its buyback-driven negative retained earnings. The logistic scorecard on the UCI data is the bridge to how retail credit is actually scored - recent delinquency dominates every demographic.</a:t>
            </a:r>
          </a:p>
          <a:p>
            <a:endParaRPr dirty="0"/>
          </a:p>
          <a:p>
            <a:r>
              <a:rPr dirty="0"/>
              <a:t>Balance-sheet inputs are read straight from SEC EDGAR's XBRL API (</a:t>
            </a:r>
            <a:r>
              <a:rPr dirty="0" err="1"/>
              <a:t>data.sec.gov</a:t>
            </a:r>
            <a:r>
              <a:rPr dirty="0"/>
              <a:t>), latest 10-K per firm. Note Ford: its latest 10-K shows an operating LOSS, so Altman flags it distress on both Z and Z'' - the model catching a real deterioration.</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one of the most important conceptual distinctions in credit and a common exam trap. The market-implied (risk-neutral) PD embeds a risk premium, so it overstates the actual probability of default, sometimes by 4 to 10 times. Use Q for pricing derivatives and marking books; use P (historical / Merton real-world) for capital, expected loss and scenario analysis. Hull's Table 17.4 shows the empirical gap across rating grades.</a:t>
            </a:r>
          </a:p>
          <a:p>
            <a:endParaRPr/>
          </a:p>
          <a:p>
            <a:r>
              <a:t>The notebook computes this table live from FRED spreads: for high grades the market charges many multiples of the historical default rate (the risk premium); deep in junk the two PDs converge because most of a CCC spread really is expected default.</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statistical counterpart to Merton and Altman: when there is no share price, banks estimate PD directly from data. The lab fits a logistic regression on 30,000 real UCI borrowers (AUC ~0.71) and shows that recent repayment status dominates any demographic - exactly what real behavioural scorecards find. Emphasise validation (AUC/Gini/KS/PSI) as the day-job of model-risk teams.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Block 4: hands-on. Session_05_Lab.ipynb has 6 sections aligned with today's slides. Students should work in order; the worked-example firm in the lab matches the worked example slide.</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merton_calibrate() function in the lab is the core Assignment 2 tool. Walk through the fsolve setup carefully - convergence issues appear if V0 or sv0 are too far off. Encourage students to save their firm's calibrated (V, sigma_V, DD, PD) as a CSV snapshot for Assignment 2 reproducibility.</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Hull Ch. 17 is the primary text: covers historical PD, risk-neutral PD, Merton, KMV, intensity models, and CDS. Jorion Ch. 19 gives the practitioner and regulatory framing. Merton (1974) is 8 pages and very readable for its age, essential supplementary. Elton et al. is the definitive spread decomposition study; Altman and Rijken explains rating lag.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4115700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950961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1330155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Aarhus University Summer School 2026</a:t>
            </a:r>
          </a:p>
        </p:txBody>
      </p:sp>
      <p:sp>
        <p:nvSpPr>
          <p:cNvPr id="7" name="Slide Number Placeholder 6"/>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4159761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Aarhus University Summer School 2026</a:t>
            </a:r>
          </a:p>
        </p:txBody>
      </p:sp>
      <p:sp>
        <p:nvSpPr>
          <p:cNvPr id="9" name="Slide Number Placeholder 8"/>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14538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Aarhus University Summer School 2026</a:t>
            </a:r>
          </a:p>
        </p:txBody>
      </p:sp>
      <p:sp>
        <p:nvSpPr>
          <p:cNvPr id="5" name="Slide Number Placeholder 4"/>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2965185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Aarhus University Summer School 2026</a:t>
            </a:r>
          </a:p>
        </p:txBody>
      </p:sp>
      <p:sp>
        <p:nvSpPr>
          <p:cNvPr id="4" name="Slide Number Placeholder 3"/>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3000429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Aarhus University Summer School 2026</a:t>
            </a:r>
          </a:p>
        </p:txBody>
      </p:sp>
      <p:sp>
        <p:nvSpPr>
          <p:cNvPr id="7" name="Slide Number Placeholder 6"/>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917986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Aarhus University Summer School 2026</a:t>
            </a:r>
          </a:p>
        </p:txBody>
      </p:sp>
      <p:sp>
        <p:nvSpPr>
          <p:cNvPr id="7" name="Slide Number Placeholder 6"/>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1196803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318535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21847734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3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23099" y="365125"/>
            <a:ext cx="11345799" cy="1325563"/>
          </a:xfrm>
        </p:spPr>
        <p:txBody>
          <a:bodyPr lIns="0" tIns="0" rIns="0" bIns="0" anchor="t">
            <a:normAutofit/>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423101" y="1681163"/>
            <a:ext cx="6438105" cy="823912"/>
          </a:xfrm>
        </p:spPr>
        <p:txBody>
          <a:bodyPr lIns="0" tIns="0" rIns="0" bIns="0" anchor="t"/>
          <a:lstStyle>
            <a:lvl1pPr marL="0" indent="0">
              <a:buNone/>
              <a:defRPr sz="2400" b="1">
                <a:solidFill>
                  <a:schemeClr val="accent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423101" y="2671763"/>
            <a:ext cx="6438105" cy="3684588"/>
          </a:xfrm>
        </p:spPr>
        <p:txBody>
          <a:bodyPr lIns="0" tIns="0" rIns="0" bIns="0">
            <a:normAutofit/>
          </a:bodyPr>
          <a:lstStyle>
            <a:lvl1pPr marL="0" indent="0">
              <a:buFontTx/>
              <a:buNone/>
              <a:defRPr sz="2133"/>
            </a:lvl1pPr>
            <a:lvl2pPr marL="457189" indent="0">
              <a:buFontTx/>
              <a:buNone/>
              <a:defRPr sz="2400"/>
            </a:lvl2pPr>
            <a:lvl3pPr marL="914377" indent="0">
              <a:buFontTx/>
              <a:buNone/>
              <a:defRPr sz="2400"/>
            </a:lvl3pPr>
            <a:lvl4pPr marL="1371566" indent="0">
              <a:buFontTx/>
              <a:buNone/>
              <a:defRPr sz="2400"/>
            </a:lvl4pPr>
            <a:lvl5pPr marL="1828754" indent="0">
              <a:buFontTx/>
              <a:buNone/>
              <a:defRPr sz="2400"/>
            </a:lvl5pPr>
          </a:lstStyle>
          <a:p>
            <a:pPr lvl="0"/>
            <a:r>
              <a:rPr lang="en-US"/>
              <a:t>Click to edit Master text styles</a:t>
            </a:r>
          </a:p>
        </p:txBody>
      </p:sp>
      <p:sp>
        <p:nvSpPr>
          <p:cNvPr id="6" name="Content Placeholder 5"/>
          <p:cNvSpPr>
            <a:spLocks noGrp="1"/>
          </p:cNvSpPr>
          <p:nvPr>
            <p:ph sz="quarter" idx="4"/>
          </p:nvPr>
        </p:nvSpPr>
        <p:spPr>
          <a:xfrm>
            <a:off x="7299767" y="1723424"/>
            <a:ext cx="4453672" cy="3168811"/>
          </a:xfrm>
          <a:solidFill>
            <a:schemeClr val="tx1"/>
          </a:solidFill>
        </p:spPr>
        <p:txBody>
          <a:bodyPr lIns="360000" tIns="360000" rIns="360000" bIns="360000" anchor="ctr"/>
          <a:lstStyle>
            <a:lvl1pPr marL="0" indent="0" algn="l">
              <a:buFontTx/>
              <a:buNone/>
              <a:defRPr sz="24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820502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New Title Content Slide">
    <p:spTree>
      <p:nvGrpSpPr>
        <p:cNvPr id="1" name=""/>
        <p:cNvGrpSpPr/>
        <p:nvPr/>
      </p:nvGrpSpPr>
      <p:grpSpPr>
        <a:xfrm>
          <a:off x="0" y="0"/>
          <a:ext cx="0" cy="0"/>
          <a:chOff x="0" y="0"/>
          <a:chExt cx="0" cy="0"/>
        </a:xfrm>
      </p:grpSpPr>
      <p:sp>
        <p:nvSpPr>
          <p:cNvPr id="2" name="Title 1"/>
          <p:cNvSpPr>
            <a:spLocks noGrp="1"/>
          </p:cNvSpPr>
          <p:nvPr>
            <p:ph type="title"/>
          </p:nvPr>
        </p:nvSpPr>
        <p:spPr>
          <a:xfrm>
            <a:off x="423099" y="365126"/>
            <a:ext cx="11345799" cy="1076813"/>
          </a:xfrm>
        </p:spPr>
        <p:txBody>
          <a:bodyPr lIns="0" tIns="0" rIns="0" bIns="0" anchor="t">
            <a:normAutofit/>
          </a:bodyPr>
          <a:lstStyle>
            <a:lvl1pPr algn="ctr">
              <a:defRPr sz="3200"/>
            </a:lvl1pPr>
          </a:lstStyle>
          <a:p>
            <a:r>
              <a:rPr lang="en-US"/>
              <a:t>Click to edit Master title style</a:t>
            </a:r>
            <a:endParaRPr lang="en-US" dirty="0"/>
          </a:p>
        </p:txBody>
      </p:sp>
      <p:sp>
        <p:nvSpPr>
          <p:cNvPr id="4" name="Content Placeholder 3"/>
          <p:cNvSpPr>
            <a:spLocks noGrp="1"/>
          </p:cNvSpPr>
          <p:nvPr>
            <p:ph sz="half" idx="2"/>
          </p:nvPr>
        </p:nvSpPr>
        <p:spPr>
          <a:xfrm>
            <a:off x="423100" y="1535723"/>
            <a:ext cx="11345797" cy="4501661"/>
          </a:xfrm>
        </p:spPr>
        <p:txBody>
          <a:bodyPr lIns="0" tIns="0" rIns="0" bIns="0">
            <a:normAutofit/>
          </a:bodyPr>
          <a:lstStyle>
            <a:lvl1pPr marL="228594" indent="-228594">
              <a:buClr>
                <a:schemeClr val="accent1"/>
              </a:buClr>
              <a:buFont typeface="Arial" panose="020B0604020202020204" pitchFamily="34" charset="0"/>
              <a:buChar char="•"/>
              <a:defRPr sz="2667"/>
            </a:lvl1pPr>
            <a:lvl2pPr marL="685783" indent="-228594">
              <a:buClr>
                <a:schemeClr val="accent1"/>
              </a:buClr>
              <a:buFont typeface="Arial" panose="020B0604020202020204" pitchFamily="34" charset="0"/>
              <a:buChar char="•"/>
              <a:defRPr sz="2667"/>
            </a:lvl2pPr>
            <a:lvl3pPr marL="1142971" indent="-228594">
              <a:buClr>
                <a:schemeClr val="accent1"/>
              </a:buClr>
              <a:buFont typeface="Arial" panose="020B0604020202020204" pitchFamily="34" charset="0"/>
              <a:buChar char="•"/>
              <a:defRPr sz="2667"/>
            </a:lvl3pPr>
            <a:lvl4pPr marL="1600160" indent="-228594">
              <a:buClr>
                <a:schemeClr val="accent1"/>
              </a:buClr>
              <a:buFont typeface="Arial" panose="020B0604020202020204" pitchFamily="34" charset="0"/>
              <a:buChar char="•"/>
              <a:defRPr sz="2667"/>
            </a:lvl4pPr>
            <a:lvl5pPr marL="2057349" indent="-228594">
              <a:buClr>
                <a:schemeClr val="accent1"/>
              </a:buClr>
              <a:buFont typeface="Arial" panose="020B0604020202020204" pitchFamily="34" charset="0"/>
              <a:buChar char="•"/>
              <a:defRPr sz="26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203823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New Title Content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CCE42D8-5361-9940-B797-FFC03759880E}"/>
              </a:ext>
            </a:extLst>
          </p:cNvPr>
          <p:cNvPicPr>
            <a:picLocks noChangeAspect="1"/>
          </p:cNvPicPr>
          <p:nvPr/>
        </p:nvPicPr>
        <p:blipFill>
          <a:blip r:embed="rId2"/>
          <a:srcRect/>
          <a:stretch/>
        </p:blipFill>
        <p:spPr>
          <a:xfrm>
            <a:off x="0" y="1"/>
            <a:ext cx="12192000" cy="6858000"/>
          </a:xfrm>
          <a:prstGeom prst="rect">
            <a:avLst/>
          </a:prstGeom>
        </p:spPr>
      </p:pic>
      <p:sp>
        <p:nvSpPr>
          <p:cNvPr id="2" name="Title 1"/>
          <p:cNvSpPr>
            <a:spLocks noGrp="1"/>
          </p:cNvSpPr>
          <p:nvPr>
            <p:ph type="title"/>
          </p:nvPr>
        </p:nvSpPr>
        <p:spPr>
          <a:xfrm>
            <a:off x="423099" y="365126"/>
            <a:ext cx="11345799" cy="924413"/>
          </a:xfrm>
        </p:spPr>
        <p:txBody>
          <a:bodyPr lIns="0" tIns="0" rIns="0" bIns="0" anchor="t">
            <a:normAutofit/>
          </a:bodyPr>
          <a:lstStyle>
            <a:lvl1pPr algn="ctr">
              <a:defRPr sz="3200"/>
            </a:lvl1pPr>
          </a:lstStyle>
          <a:p>
            <a:r>
              <a:rPr lang="en-US"/>
              <a:t>Click to edit Master title style</a:t>
            </a:r>
            <a:endParaRPr lang="en-US" dirty="0"/>
          </a:p>
        </p:txBody>
      </p:sp>
      <p:sp>
        <p:nvSpPr>
          <p:cNvPr id="4" name="Content Placeholder 3"/>
          <p:cNvSpPr>
            <a:spLocks noGrp="1"/>
          </p:cNvSpPr>
          <p:nvPr>
            <p:ph sz="half" idx="2"/>
          </p:nvPr>
        </p:nvSpPr>
        <p:spPr>
          <a:xfrm>
            <a:off x="423100" y="1383323"/>
            <a:ext cx="11345797" cy="4380169"/>
          </a:xfrm>
        </p:spPr>
        <p:txBody>
          <a:bodyPr lIns="0" tIns="0" rIns="0" bIns="0">
            <a:normAutofit/>
          </a:bodyPr>
          <a:lstStyle>
            <a:lvl1pPr marL="228594" indent="-228594">
              <a:buClr>
                <a:schemeClr val="accent1"/>
              </a:buClr>
              <a:buFont typeface="Arial" panose="020B0604020202020204" pitchFamily="34" charset="0"/>
              <a:buChar char="•"/>
              <a:defRPr sz="2667"/>
            </a:lvl1pPr>
            <a:lvl2pPr marL="685783" indent="-228594">
              <a:buClr>
                <a:schemeClr val="accent1"/>
              </a:buClr>
              <a:buFont typeface="Arial" panose="020B0604020202020204" pitchFamily="34" charset="0"/>
              <a:buChar char="•"/>
              <a:defRPr sz="2667"/>
            </a:lvl2pPr>
            <a:lvl3pPr marL="1142971" indent="-228594">
              <a:buClr>
                <a:schemeClr val="accent1"/>
              </a:buClr>
              <a:buFont typeface="Arial" panose="020B0604020202020204" pitchFamily="34" charset="0"/>
              <a:buChar char="•"/>
              <a:defRPr sz="2667"/>
            </a:lvl3pPr>
            <a:lvl4pPr marL="1600160" indent="-228594">
              <a:buClr>
                <a:schemeClr val="accent1"/>
              </a:buClr>
              <a:buFont typeface="Arial" panose="020B0604020202020204" pitchFamily="34" charset="0"/>
              <a:buChar char="•"/>
              <a:defRPr sz="2667"/>
            </a:lvl4pPr>
            <a:lvl5pPr marL="2057349" indent="-228594">
              <a:buClr>
                <a:schemeClr val="accent1"/>
              </a:buClr>
              <a:buFont typeface="Arial" panose="020B0604020202020204" pitchFamily="34" charset="0"/>
              <a:buChar char="•"/>
              <a:defRPr sz="26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a:extLst>
              <a:ext uri="{FF2B5EF4-FFF2-40B4-BE49-F238E27FC236}">
                <a16:creationId xmlns:a16="http://schemas.microsoft.com/office/drawing/2014/main" id="{423224AA-A183-CA4A-BDDA-A7ED236E648B}"/>
              </a:ext>
            </a:extLst>
          </p:cNvPr>
          <p:cNvPicPr>
            <a:picLocks noChangeAspect="1"/>
          </p:cNvPicPr>
          <p:nvPr/>
        </p:nvPicPr>
        <p:blipFill>
          <a:blip r:embed="rId3"/>
          <a:srcRect/>
          <a:stretch/>
        </p:blipFill>
        <p:spPr>
          <a:xfrm>
            <a:off x="8875618" y="5748384"/>
            <a:ext cx="3316380" cy="1109616"/>
          </a:xfrm>
          <a:prstGeom prst="rect">
            <a:avLst/>
          </a:prstGeom>
        </p:spPr>
      </p:pic>
    </p:spTree>
    <p:extLst>
      <p:ext uri="{BB962C8B-B14F-4D97-AF65-F5344CB8AC3E}">
        <p14:creationId xmlns:p14="http://schemas.microsoft.com/office/powerpoint/2010/main" val="26311648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2314D-F56C-2D2F-97D9-F1714A9861D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79986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Aarhus University Summer School 2026</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977878-5A46-4A4D-987F-065558C472F5}" type="slidenum">
              <a:rPr lang="en-US" smtClean="0"/>
              <a:t>‹#›</a:t>
            </a:fld>
            <a:endParaRPr lang="en-US"/>
          </a:p>
        </p:txBody>
      </p:sp>
    </p:spTree>
    <p:extLst>
      <p:ext uri="{BB962C8B-B14F-4D97-AF65-F5344CB8AC3E}">
        <p14:creationId xmlns:p14="http://schemas.microsoft.com/office/powerpoint/2010/main" val="2450784130"/>
      </p:ext>
    </p:extLst>
  </p:cSld>
  <p:clrMap bg1="lt1" tx1="dk1" bg2="lt2" tx2="dk2" accent1="accent1" accent2="accent2" accent3="accent3" accent4="accent4" accent5="accent5" accent6="accent6" hlink="hlink" folHlink="folHlink"/>
  <p:sldLayoutIdLst>
    <p:sldLayoutId id="2147484118" r:id="rId1"/>
    <p:sldLayoutId id="2147484119" r:id="rId2"/>
    <p:sldLayoutId id="2147484120" r:id="rId3"/>
    <p:sldLayoutId id="2147484121" r:id="rId4"/>
    <p:sldLayoutId id="2147484122" r:id="rId5"/>
    <p:sldLayoutId id="2147484123" r:id="rId6"/>
    <p:sldLayoutId id="2147484124" r:id="rId7"/>
    <p:sldLayoutId id="2147484125" r:id="rId8"/>
    <p:sldLayoutId id="2147484126" r:id="rId9"/>
    <p:sldLayoutId id="2147484127" r:id="rId10"/>
    <p:sldLayoutId id="2147484128" r:id="rId11"/>
    <p:sldLayoutId id="2147484129" r:id="rId12"/>
    <p:sldLayoutId id="2147484130" r:id="rId13"/>
    <p:sldLayoutId id="2147484059" r:id="rId14"/>
    <p:sldLayoutId id="2147484017" r:id="rId15"/>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099" y="2112962"/>
            <a:ext cx="7273101" cy="2306638"/>
          </a:xfrm>
        </p:spPr>
        <p:txBody>
          <a:bodyPr anchor="t">
            <a:normAutofit/>
          </a:bodyPr>
          <a:lstStyle/>
          <a:p>
            <a:r>
              <a:rPr lang="en-US" dirty="0"/>
              <a:t>FINANCIAL RISK MANAGEMENT AND ENGINEERING</a:t>
            </a:r>
            <a:br>
              <a:rPr lang="en-US" dirty="0"/>
            </a:br>
            <a:br>
              <a:rPr lang="en-US" dirty="0"/>
            </a:br>
            <a:r>
              <a:rPr lang="en-US" dirty="0"/>
              <a:t>Session 5: Credit Risk I: Default Probability, Spreads and Ratings</a:t>
            </a:r>
          </a:p>
        </p:txBody>
      </p:sp>
      <p:pic>
        <p:nvPicPr>
          <p:cNvPr id="4" name="Picture 3" descr="New guidelines for the logo structure and university seal">
            <a:extLst>
              <a:ext uri="{FF2B5EF4-FFF2-40B4-BE49-F238E27FC236}">
                <a16:creationId xmlns:a16="http://schemas.microsoft.com/office/drawing/2014/main" id="{D6F9100D-02AF-EE22-EDE3-68F783F22630}"/>
              </a:ext>
            </a:extLst>
          </p:cNvPr>
          <p:cNvPicPr>
            <a:picLocks noChangeAspect="1"/>
          </p:cNvPicPr>
          <p:nvPr/>
        </p:nvPicPr>
        <p:blipFill>
          <a:blip r:embed="rId3"/>
          <a:srcRect t="42767" r="4" b="4"/>
          <a:stretch>
            <a:fillRect/>
          </a:stretch>
        </p:blipFill>
        <p:spPr>
          <a:xfrm>
            <a:off x="423101" y="2671763"/>
            <a:ext cx="6438105" cy="3684588"/>
          </a:xfrm>
          <a:prstGeom prst="rect">
            <a:avLst/>
          </a:prstGeom>
          <a:noFill/>
        </p:spPr>
      </p:pic>
      <p:pic>
        <p:nvPicPr>
          <p:cNvPr id="6" name="Picture 5" descr="AU's segl">
            <a:extLst>
              <a:ext uri="{FF2B5EF4-FFF2-40B4-BE49-F238E27FC236}">
                <a16:creationId xmlns:a16="http://schemas.microsoft.com/office/drawing/2014/main" id="{49BE1E43-6F81-3C41-C30C-E25204F4EEF2}"/>
              </a:ext>
            </a:extLst>
          </p:cNvPr>
          <p:cNvPicPr>
            <a:picLocks noChangeAspect="1"/>
          </p:cNvPicPr>
          <p:nvPr/>
        </p:nvPicPr>
        <p:blipFill>
          <a:blip r:embed="rId4"/>
          <a:stretch>
            <a:fillRect/>
          </a:stretch>
        </p:blipFill>
        <p:spPr>
          <a:xfrm>
            <a:off x="8153400" y="1905000"/>
            <a:ext cx="3048000" cy="304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Learning Objectives</a:t>
            </a:r>
            <a:endParaRPr b="1" dirty="0">
              <a:latin typeface="Arial" panose="020B0604020202020204" pitchFamily="34" charset="0"/>
              <a:cs typeface="Arial" panose="020B0604020202020204" pitchFamily="34" charset="0"/>
            </a:endParaRPr>
          </a:p>
        </p:txBody>
      </p:sp>
      <p:sp>
        <p:nvSpPr>
          <p:cNvPr id="4004" name="Content Placeholder"/>
          <p:cNvSpPr>
            <a:spLocks noGrp="1"/>
          </p:cNvSpPr>
          <p:nvPr>
            <p:ph sz="half" idx="2"/>
          </p:nvPr>
        </p:nvSpPr>
        <p:spPr/>
        <p:txBody>
          <a:bodyPr wrap="square">
            <a:normAutofit/>
          </a:bodyPr>
          <a:lstStyle/>
          <a:p>
            <a:pPr marL="0" indent="0">
              <a:buNone/>
            </a:pPr>
            <a:r>
              <a:rPr lang="en-CA" b="1" dirty="0"/>
              <a:t>By the end of this session, you will be able to:</a:t>
            </a:r>
          </a:p>
          <a:p>
            <a:r>
              <a:rPr lang="en-CA" dirty="0"/>
              <a:t>1. Define PD, LGD, EAD, and EL and explain how credit ratings encode default probability</a:t>
            </a:r>
          </a:p>
          <a:p>
            <a:r>
              <a:rPr lang="en-CA" dirty="0"/>
              <a:t>2. Derive the Merton (1974) structural model: equity as a call option on firm assets</a:t>
            </a:r>
          </a:p>
          <a:p>
            <a:r>
              <a:rPr lang="en-CA" dirty="0"/>
              <a:t>3. Compute distance-to-default (DD) and risk-neutral PD from observable equity data</a:t>
            </a:r>
          </a:p>
          <a:p>
            <a:r>
              <a:rPr lang="en-CA" dirty="0"/>
              <a:t>4. Price a credit spread using the Merton model and interpret its term structure</a:t>
            </a:r>
          </a:p>
          <a:p>
            <a:r>
              <a:rPr lang="en-CA" dirty="0"/>
              <a:t>5. Implement Merton calibration in Python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Block 1: Credit Risk Landscape</a:t>
            </a:r>
            <a:endParaRPr b="1" dirty="0">
              <a:latin typeface="Arial" panose="020B0604020202020204" pitchFamily="34" charset="0"/>
              <a:cs typeface="Arial" panose="020B0604020202020204" pitchFamily="34" charset="0"/>
            </a:endParaRPr>
          </a:p>
        </p:txBody>
      </p:sp>
      <p:sp>
        <p:nvSpPr>
          <p:cNvPr id="4006" name="Content Placeholder"/>
          <p:cNvSpPr>
            <a:spLocks noGrp="1"/>
          </p:cNvSpPr>
          <p:nvPr>
            <p:ph sz="half" idx="2"/>
          </p:nvPr>
        </p:nvSpPr>
        <p:spPr/>
        <p:txBody>
          <a:bodyPr wrap="square">
            <a:normAutofit/>
          </a:bodyPr>
          <a:lstStyle/>
          <a:p>
            <a:pPr marL="0" indent="0">
              <a:buNone/>
            </a:pPr>
            <a:r>
              <a:rPr lang="en-CA" sz="2800" b="1" dirty="0"/>
              <a:t>Default probability, loss metrics, ratings agencies and transition matrices</a:t>
            </a:r>
          </a:p>
          <a:p>
            <a:r>
              <a:rPr lang="en-CA" sz="2800" dirty="0"/>
              <a:t>The vocabulary and data landscape of credit risk before any modelling</a:t>
            </a:r>
          </a:p>
          <a:p>
            <a:r>
              <a:rPr lang="en-CA" sz="2800" dirty="0"/>
              <a:t>PD, LGD, EAD and EL</a:t>
            </a:r>
          </a:p>
          <a:p>
            <a:r>
              <a:rPr lang="en-CA" sz="2800" dirty="0"/>
              <a:t>Transition matrices show how PD evolves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What Is Credit Risk?</a:t>
            </a:r>
            <a:endParaRPr b="1" dirty="0">
              <a:latin typeface="Arial" panose="020B0604020202020204" pitchFamily="34" charset="0"/>
              <a:cs typeface="Arial" panose="020B0604020202020204" pitchFamily="34" charset="0"/>
            </a:endParaRPr>
          </a:p>
        </p:txBody>
      </p:sp>
      <p:pic>
        <p:nvPicPr>
          <p:cNvPr id="4008" name="Picture 4007" descr="f_el.png"/>
          <p:cNvPicPr>
            <a:picLocks noChangeAspect="1"/>
          </p:cNvPicPr>
          <p:nvPr/>
        </p:nvPicPr>
        <p:blipFill>
          <a:blip r:embed="rId3"/>
          <a:stretch>
            <a:fillRect/>
          </a:stretch>
        </p:blipFill>
        <p:spPr>
          <a:xfrm>
            <a:off x="3967077" y="1048512"/>
            <a:ext cx="4254797" cy="475488"/>
          </a:xfrm>
          <a:prstGeom prst="rect">
            <a:avLst/>
          </a:prstGeom>
        </p:spPr>
      </p:pic>
      <p:sp>
        <p:nvSpPr>
          <p:cNvPr id="2" name="Content Placeholder"/>
          <p:cNvSpPr>
            <a:spLocks noGrp="1"/>
          </p:cNvSpPr>
          <p:nvPr>
            <p:ph sz="half" idx="2"/>
          </p:nvPr>
        </p:nvSpPr>
        <p:spPr>
          <a:xfrm>
            <a:off x="420624" y="1776984"/>
            <a:ext cx="11347704" cy="3785616"/>
          </a:xfrm>
        </p:spPr>
        <p:txBody>
          <a:bodyPr wrap="square">
            <a:normAutofit fontScale="92500"/>
          </a:bodyPr>
          <a:lstStyle/>
          <a:p>
            <a:pPr marL="0" indent="0">
              <a:buNone/>
            </a:pPr>
            <a:r>
              <a:rPr lang="en-CA" b="1" dirty="0"/>
              <a:t>Credit risk is the oldest and largest risk in banking - bank loans are credit instruments</a:t>
            </a:r>
          </a:p>
          <a:p>
            <a:r>
              <a:rPr lang="en-CA" dirty="0"/>
              <a:t>Risk that a borrower or counterparty fails to meet contractual obligations</a:t>
            </a:r>
          </a:p>
          <a:p>
            <a:r>
              <a:rPr lang="en-CA" dirty="0"/>
              <a:t>Three dimensions: default probability (PD), loss severity (LGD), exposure (EAD)</a:t>
            </a:r>
          </a:p>
          <a:p>
            <a:r>
              <a:rPr lang="en-CA" dirty="0"/>
              <a:t>Expected Loss = PD x LGD x EAD is the fundamental credit equation</a:t>
            </a:r>
          </a:p>
          <a:p>
            <a:r>
              <a:rPr lang="en-CA" dirty="0"/>
              <a:t>Unexpected loss (UL) drives regulatory capital under Basel II/III</a:t>
            </a:r>
          </a:p>
          <a:p>
            <a:r>
              <a:rPr lang="en-CA" dirty="0"/>
              <a:t>Credit risk differs from market risk: not symmetric, loss driven by defaults</a:t>
            </a:r>
          </a:p>
          <a:p>
            <a:r>
              <a:rPr lang="en-CA" dirty="0"/>
              <a:t>Two modelling traditions: structural (Merton) versus reduced-form (intensity) models</a:t>
            </a:r>
          </a:p>
          <a:p>
            <a:r>
              <a:rPr lang="en-CA" dirty="0"/>
              <a:t>Rating agencies (S&amp;P, Moody's, Fitch) quantify PD through credit ratings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30277"/>
          </a:xfrm>
        </p:spPr>
        <p:txBody>
          <a:bodyPr>
            <a:normAutofit fontScale="90000"/>
          </a:bodyPr>
          <a:lstStyle/>
          <a:p>
            <a:pPr algn="ctr"/>
            <a:r>
              <a:rPr lang="en-AU" sz="3200" b="1" dirty="0">
                <a:latin typeface="Arial" panose="020B0604020202020204" pitchFamily="34" charset="0"/>
                <a:cs typeface="Arial" panose="020B0604020202020204" pitchFamily="34" charset="0"/>
              </a:rPr>
              <a:t>Credit Risk And </a:t>
            </a:r>
            <a:br>
              <a:rPr lang="en-AU" sz="3200" b="1" dirty="0">
                <a:latin typeface="Arial" panose="020B0604020202020204" pitchFamily="34" charset="0"/>
                <a:cs typeface="Arial" panose="020B0604020202020204" pitchFamily="34" charset="0"/>
              </a:rPr>
            </a:br>
            <a:r>
              <a:rPr lang="en-AU" sz="3200" b="1" dirty="0">
                <a:latin typeface="Arial" panose="020B0604020202020204" pitchFamily="34" charset="0"/>
                <a:cs typeface="Arial" panose="020B0604020202020204" pitchFamily="34" charset="0"/>
              </a:rPr>
              <a:t>The Credit Valuation Adjustment</a:t>
            </a:r>
          </a:p>
        </p:txBody>
      </p:sp>
      <p:sp>
        <p:nvSpPr>
          <p:cNvPr id="3" name="Content Placeholder 2"/>
          <p:cNvSpPr>
            <a:spLocks noGrp="1"/>
          </p:cNvSpPr>
          <p:nvPr>
            <p:ph idx="1"/>
          </p:nvPr>
        </p:nvSpPr>
        <p:spPr>
          <a:xfrm>
            <a:off x="1960910" y="1447801"/>
            <a:ext cx="8375904" cy="4724399"/>
          </a:xfrm>
        </p:spPr>
        <p:txBody>
          <a:bodyPr>
            <a:normAutofit/>
          </a:bodyPr>
          <a:lstStyle/>
          <a:p>
            <a:pPr indent="-180000">
              <a:spcBef>
                <a:spcPts val="600"/>
              </a:spcBef>
              <a:spcAft>
                <a:spcPts val="600"/>
              </a:spcAft>
            </a:pPr>
            <a:r>
              <a:rPr lang="en-US" altLang="en-US" sz="2400" dirty="0"/>
              <a:t>The credit risk on a bond can be measured by:</a:t>
            </a:r>
          </a:p>
          <a:p>
            <a:pPr marL="2880" indent="0">
              <a:spcBef>
                <a:spcPts val="600"/>
              </a:spcBef>
              <a:spcAft>
                <a:spcPts val="600"/>
              </a:spcAft>
              <a:buNone/>
            </a:pPr>
            <a:endParaRPr lang="en-US" altLang="en-US" sz="2400" dirty="0"/>
          </a:p>
          <a:p>
            <a:pPr indent="-180000">
              <a:spcBef>
                <a:spcPts val="600"/>
              </a:spcBef>
              <a:spcAft>
                <a:spcPts val="600"/>
              </a:spcAft>
            </a:pPr>
            <a:endParaRPr lang="en-US" altLang="en-US" sz="2400" dirty="0"/>
          </a:p>
          <a:p>
            <a:pPr indent="-180000">
              <a:spcBef>
                <a:spcPts val="600"/>
              </a:spcBef>
              <a:spcAft>
                <a:spcPts val="600"/>
              </a:spcAft>
            </a:pPr>
            <a:endParaRPr lang="en-US" altLang="en-US" sz="2400" dirty="0"/>
          </a:p>
          <a:p>
            <a:pPr indent="-180000">
              <a:spcBef>
                <a:spcPts val="600"/>
              </a:spcBef>
              <a:spcAft>
                <a:spcPts val="600"/>
              </a:spcAft>
            </a:pPr>
            <a:endParaRPr lang="en-US" altLang="en-US" sz="2400" dirty="0"/>
          </a:p>
          <a:p>
            <a:pPr indent="-180000">
              <a:spcBef>
                <a:spcPts val="600"/>
              </a:spcBef>
              <a:spcAft>
                <a:spcPts val="600"/>
              </a:spcAft>
            </a:pPr>
            <a:endParaRPr lang="en-US" altLang="en-US" sz="2400" dirty="0"/>
          </a:p>
          <a:p>
            <a:pPr indent="-180000">
              <a:spcBef>
                <a:spcPts val="600"/>
              </a:spcBef>
              <a:spcAft>
                <a:spcPts val="600"/>
              </a:spcAft>
            </a:pPr>
            <a:endParaRPr lang="en-US" altLang="en-US" sz="2400" dirty="0"/>
          </a:p>
          <a:p>
            <a:pPr indent="-180000">
              <a:spcBef>
                <a:spcPts val="600"/>
              </a:spcBef>
              <a:spcAft>
                <a:spcPts val="600"/>
              </a:spcAft>
            </a:pPr>
            <a:endParaRPr lang="en-US" altLang="en-US" sz="2400" dirty="0"/>
          </a:p>
          <a:p>
            <a:pPr indent="-180000">
              <a:spcBef>
                <a:spcPts val="600"/>
              </a:spcBef>
              <a:spcAft>
                <a:spcPts val="600"/>
              </a:spcAft>
            </a:pPr>
            <a:r>
              <a:rPr lang="en-US" altLang="en-US" sz="2400" dirty="0"/>
              <a:t>Both measures depend on the expected exposure, the loss given default, and the probability of default.</a:t>
            </a:r>
          </a:p>
          <a:p>
            <a:pPr indent="-180000">
              <a:spcBef>
                <a:spcPts val="600"/>
              </a:spcBef>
              <a:spcAft>
                <a:spcPts val="600"/>
              </a:spcAft>
            </a:pPr>
            <a:endParaRPr lang="en-US" altLang="en-US" sz="2400" dirty="0"/>
          </a:p>
          <a:p>
            <a:pPr indent="-180000">
              <a:spcBef>
                <a:spcPts val="600"/>
              </a:spcBef>
              <a:spcAft>
                <a:spcPts val="600"/>
              </a:spcAft>
            </a:pPr>
            <a:endParaRPr lang="en-US" altLang="en-US" sz="2400" dirty="0"/>
          </a:p>
          <a:p>
            <a:pPr marL="204048" lvl="1" indent="0">
              <a:spcBef>
                <a:spcPts val="600"/>
              </a:spcBef>
              <a:spcAft>
                <a:spcPts val="600"/>
              </a:spcAft>
              <a:buNone/>
            </a:pPr>
            <a:endParaRPr lang="en-US" altLang="en-US" dirty="0"/>
          </a:p>
          <a:p>
            <a:pPr lvl="1"/>
            <a:endParaRPr lang="en-AU" sz="2200" dirty="0"/>
          </a:p>
        </p:txBody>
      </p:sp>
      <p:sp>
        <p:nvSpPr>
          <p:cNvPr id="4" name="Slide Number Placeholder 3"/>
          <p:cNvSpPr>
            <a:spLocks noGrp="1"/>
          </p:cNvSpPr>
          <p:nvPr>
            <p:ph type="sldNum" sz="quarter" idx="12"/>
          </p:nvPr>
        </p:nvSpPr>
        <p:spPr/>
        <p:txBody>
          <a:bodyPr/>
          <a:lstStyle/>
          <a:p>
            <a:fld id="{4E4A4924-7CC3-4BF6-9C5C-A8E770D15754}" type="slidenum">
              <a:rPr lang="en-AU" smtClean="0"/>
              <a:t>5</a:t>
            </a:fld>
            <a:endParaRPr lang="en-AU"/>
          </a:p>
        </p:txBody>
      </p:sp>
      <p:graphicFrame>
        <p:nvGraphicFramePr>
          <p:cNvPr id="5" name="Diagram 4">
            <a:extLst>
              <a:ext uri="{FF2B5EF4-FFF2-40B4-BE49-F238E27FC236}">
                <a16:creationId xmlns:a16="http://schemas.microsoft.com/office/drawing/2014/main" id="{A6C082ED-0F45-4CE9-9170-2CF38117C639}"/>
              </a:ext>
            </a:extLst>
          </p:cNvPr>
          <p:cNvGraphicFramePr/>
          <p:nvPr>
            <p:extLst>
              <p:ext uri="{D42A27DB-BD31-4B8C-83A1-F6EECF244321}">
                <p14:modId xmlns:p14="http://schemas.microsoft.com/office/powerpoint/2010/main" val="112939496"/>
              </p:ext>
            </p:extLst>
          </p:nvPr>
        </p:nvGraphicFramePr>
        <p:xfrm>
          <a:off x="1905000" y="1676400"/>
          <a:ext cx="7543800" cy="38861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99344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3032" y="330590"/>
            <a:ext cx="8375904" cy="643207"/>
          </a:xfrm>
        </p:spPr>
        <p:txBody>
          <a:bodyPr>
            <a:normAutofit/>
          </a:bodyPr>
          <a:lstStyle/>
          <a:p>
            <a:pPr algn="ctr"/>
            <a:r>
              <a:rPr lang="en-AU" sz="3200" dirty="0">
                <a:latin typeface="Arial" panose="020B0604020202020204" pitchFamily="34" charset="0"/>
                <a:cs typeface="Arial" panose="020B0604020202020204" pitchFamily="34" charset="0"/>
              </a:rPr>
              <a:t>Determinants Of Credit Risk</a:t>
            </a:r>
          </a:p>
        </p:txBody>
      </p:sp>
      <p:sp>
        <p:nvSpPr>
          <p:cNvPr id="4" name="Slide Number Placeholder 3"/>
          <p:cNvSpPr>
            <a:spLocks noGrp="1"/>
          </p:cNvSpPr>
          <p:nvPr>
            <p:ph type="sldNum" sz="quarter" idx="12"/>
          </p:nvPr>
        </p:nvSpPr>
        <p:spPr/>
        <p:txBody>
          <a:bodyPr/>
          <a:lstStyle/>
          <a:p>
            <a:fld id="{4E4A4924-7CC3-4BF6-9C5C-A8E770D15754}" type="slidenum">
              <a:rPr lang="en-AU" smtClean="0"/>
              <a:t>6</a:t>
            </a:fld>
            <a:endParaRPr lang="en-AU"/>
          </a:p>
        </p:txBody>
      </p:sp>
      <p:cxnSp>
        <p:nvCxnSpPr>
          <p:cNvPr id="9" name="Straight Connector 8"/>
          <p:cNvCxnSpPr/>
          <p:nvPr/>
        </p:nvCxnSpPr>
        <p:spPr>
          <a:xfrm>
            <a:off x="2667000" y="2895600"/>
            <a:ext cx="0" cy="152400"/>
          </a:xfrm>
          <a:prstGeom prst="line">
            <a:avLst/>
          </a:prstGeom>
          <a:ln w="12700">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6" name="Slide Number Placeholder 3">
            <a:extLst>
              <a:ext uri="{FF2B5EF4-FFF2-40B4-BE49-F238E27FC236}">
                <a16:creationId xmlns:a16="http://schemas.microsoft.com/office/drawing/2014/main" id="{29361915-7BF5-4E27-BD6F-BCC22DE88ED4}"/>
              </a:ext>
            </a:extLst>
          </p:cNvPr>
          <p:cNvSpPr txBox="1">
            <a:spLocks/>
          </p:cNvSpPr>
          <p:nvPr/>
        </p:nvSpPr>
        <p:spPr bwMode="white">
          <a:xfrm>
            <a:off x="14075064" y="6434408"/>
            <a:ext cx="783936"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E4A4924-7CC3-4BF6-9C5C-A8E770D15754}" type="slidenum">
              <a:rPr lang="en-AU"/>
              <a:pPr/>
              <a:t>6</a:t>
            </a:fld>
            <a:endParaRPr lang="en-AU" dirty="0"/>
          </a:p>
        </p:txBody>
      </p:sp>
      <p:graphicFrame>
        <p:nvGraphicFramePr>
          <p:cNvPr id="7" name="Diagram 6">
            <a:extLst>
              <a:ext uri="{FF2B5EF4-FFF2-40B4-BE49-F238E27FC236}">
                <a16:creationId xmlns:a16="http://schemas.microsoft.com/office/drawing/2014/main" id="{8E7FC657-401E-4DB0-BE94-6827AC48EA72}"/>
              </a:ext>
            </a:extLst>
          </p:cNvPr>
          <p:cNvGraphicFramePr/>
          <p:nvPr>
            <p:extLst>
              <p:ext uri="{D42A27DB-BD31-4B8C-83A1-F6EECF244321}">
                <p14:modId xmlns:p14="http://schemas.microsoft.com/office/powerpoint/2010/main" val="2976478656"/>
              </p:ext>
            </p:extLst>
          </p:nvPr>
        </p:nvGraphicFramePr>
        <p:xfrm>
          <a:off x="2209800" y="990600"/>
          <a:ext cx="7696200" cy="5867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4">
            <a:extLst>
              <a:ext uri="{FF2B5EF4-FFF2-40B4-BE49-F238E27FC236}">
                <a16:creationId xmlns:a16="http://schemas.microsoft.com/office/drawing/2014/main" id="{4765B82C-CC8A-4501-951B-35B47577F11F}"/>
              </a:ext>
            </a:extLst>
          </p:cNvPr>
          <p:cNvSpPr/>
          <p:nvPr/>
        </p:nvSpPr>
        <p:spPr>
          <a:xfrm>
            <a:off x="2286010" y="5073799"/>
            <a:ext cx="7238991" cy="769441"/>
          </a:xfrm>
          <a:prstGeom prst="rect">
            <a:avLst/>
          </a:prstGeom>
        </p:spPr>
        <p:txBody>
          <a:bodyPr wrap="square">
            <a:spAutoFit/>
          </a:bodyPr>
          <a:lstStyle/>
          <a:p>
            <a:pPr marL="342900" indent="-342900">
              <a:buFont typeface="Arial" panose="020B0604020202020204" pitchFamily="34" charset="0"/>
              <a:buChar char="•"/>
            </a:pPr>
            <a:r>
              <a:rPr lang="en-US" sz="2200" dirty="0"/>
              <a:t>The probability that a bond issuer will not meet its contractual interest and principal obligations on schedule.</a:t>
            </a:r>
          </a:p>
        </p:txBody>
      </p:sp>
    </p:spTree>
    <p:extLst>
      <p:ext uri="{BB962C8B-B14F-4D97-AF65-F5344CB8AC3E}">
        <p14:creationId xmlns:p14="http://schemas.microsoft.com/office/powerpoint/2010/main" val="3208917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ctrTitle" idx="4294967295"/>
          </p:nvPr>
        </p:nvSpPr>
        <p:spPr>
          <a:xfrm>
            <a:off x="1066800" y="152400"/>
            <a:ext cx="10134600" cy="533400"/>
          </a:xfrm>
        </p:spPr>
        <p:txBody>
          <a:bodyPr>
            <a:noAutofit/>
          </a:bodyPr>
          <a:lstStyle/>
          <a:p>
            <a:r>
              <a:rPr lang="en-US" sz="3200" b="1" dirty="0">
                <a:latin typeface="Arial" panose="020B0604020202020204" pitchFamily="34" charset="0"/>
                <a:cs typeface="Arial" panose="020B0604020202020204" pitchFamily="34" charset="0"/>
              </a:rPr>
              <a:t>Getting Default Probabilities From Historical Data</a:t>
            </a:r>
          </a:p>
        </p:txBody>
      </p:sp>
      <p:sp>
        <p:nvSpPr>
          <p:cNvPr id="3" name="Subtitle 2"/>
          <p:cNvSpPr>
            <a:spLocks noGrp="1"/>
          </p:cNvSpPr>
          <p:nvPr>
            <p:ph type="subTitle" idx="4294967295"/>
          </p:nvPr>
        </p:nvSpPr>
        <p:spPr>
          <a:xfrm>
            <a:off x="1219200" y="762000"/>
            <a:ext cx="9677400" cy="5594350"/>
          </a:xfrm>
        </p:spPr>
        <p:txBody>
          <a:bodyPr>
            <a:normAutofit/>
          </a:bodyPr>
          <a:lstStyle/>
          <a:p>
            <a:pPr marL="90488" indent="0">
              <a:spcBef>
                <a:spcPct val="0"/>
              </a:spcBef>
              <a:buFont typeface="Wingdings" pitchFamily="2" charset="2"/>
              <a:buChar char="§"/>
            </a:pPr>
            <a:r>
              <a:rPr lang="en-US" sz="2300" dirty="0">
                <a:latin typeface="+mj-lt"/>
                <a:cs typeface="Times New Roman" pitchFamily="18" charset="0"/>
              </a:rPr>
              <a:t>One of the methods to estimate probability of default is to look back at historical data:</a:t>
            </a:r>
          </a:p>
          <a:p>
            <a:pPr marL="90488" indent="0">
              <a:spcBef>
                <a:spcPct val="0"/>
              </a:spcBef>
              <a:buFont typeface="Wingdings" pitchFamily="2" charset="2"/>
              <a:buChar char="§"/>
            </a:pPr>
            <a:r>
              <a:rPr lang="en-US" sz="2300" dirty="0">
                <a:latin typeface="+mj-lt"/>
                <a:cs typeface="Times New Roman" pitchFamily="18" charset="0"/>
              </a:rPr>
              <a:t>Below are the cumulative default rates for bonds with different credit ratings (Moody’s, 1983-2023):</a:t>
            </a:r>
          </a:p>
          <a:p>
            <a:pPr marL="90488" indent="0">
              <a:spcBef>
                <a:spcPct val="0"/>
              </a:spcBef>
              <a:buFont typeface="Wingdings" pitchFamily="2" charset="2"/>
              <a:buChar char="§"/>
            </a:pPr>
            <a:endParaRPr lang="en-US" sz="2300" dirty="0">
              <a:latin typeface="+mj-lt"/>
              <a:cs typeface="Times New Roman" pitchFamily="18" charset="0"/>
            </a:endParaRPr>
          </a:p>
          <a:p>
            <a:pPr marL="90488" indent="0">
              <a:spcBef>
                <a:spcPct val="0"/>
              </a:spcBef>
              <a:buFont typeface="Wingdings" pitchFamily="2" charset="2"/>
              <a:buChar char="§"/>
            </a:pPr>
            <a:endParaRPr lang="en-US" sz="2300" dirty="0">
              <a:latin typeface="+mj-lt"/>
              <a:cs typeface="Times New Roman" pitchFamily="18" charset="0"/>
            </a:endParaRPr>
          </a:p>
          <a:p>
            <a:pPr marL="90488" indent="0">
              <a:spcBef>
                <a:spcPct val="0"/>
              </a:spcBef>
              <a:buFont typeface="Wingdings" pitchFamily="2" charset="2"/>
              <a:buChar char="§"/>
            </a:pPr>
            <a:endParaRPr lang="en-US" sz="2300" dirty="0">
              <a:latin typeface="+mj-lt"/>
              <a:cs typeface="Times New Roman" pitchFamily="18" charset="0"/>
            </a:endParaRPr>
          </a:p>
          <a:p>
            <a:pPr marL="90488" indent="0">
              <a:spcBef>
                <a:spcPct val="0"/>
              </a:spcBef>
              <a:buFont typeface="Wingdings" pitchFamily="2" charset="2"/>
              <a:buChar char="§"/>
            </a:pPr>
            <a:endParaRPr lang="en-US" sz="2300" dirty="0">
              <a:latin typeface="+mj-lt"/>
              <a:cs typeface="Times New Roman" pitchFamily="18" charset="0"/>
            </a:endParaRPr>
          </a:p>
          <a:p>
            <a:pPr marL="90488" indent="0">
              <a:spcBef>
                <a:spcPct val="0"/>
              </a:spcBef>
              <a:buFont typeface="Wingdings" pitchFamily="2" charset="2"/>
              <a:buChar char="§"/>
            </a:pPr>
            <a:endParaRPr lang="en-US" sz="2300" dirty="0">
              <a:latin typeface="+mj-lt"/>
              <a:cs typeface="Times New Roman" pitchFamily="18" charset="0"/>
            </a:endParaRPr>
          </a:p>
          <a:p>
            <a:pPr marL="90488" indent="0">
              <a:spcBef>
                <a:spcPct val="0"/>
              </a:spcBef>
              <a:buFont typeface="Wingdings" pitchFamily="2" charset="2"/>
              <a:buChar char="§"/>
            </a:pPr>
            <a:endParaRPr lang="en-US" sz="2300" dirty="0">
              <a:latin typeface="+mj-lt"/>
              <a:cs typeface="Times New Roman" pitchFamily="18" charset="0"/>
            </a:endParaRPr>
          </a:p>
          <a:p>
            <a:pPr marL="90488" indent="0">
              <a:spcBef>
                <a:spcPct val="0"/>
              </a:spcBef>
              <a:buFont typeface="Wingdings" pitchFamily="2" charset="2"/>
              <a:buChar char="§"/>
            </a:pPr>
            <a:endParaRPr lang="en-US" sz="2300" dirty="0">
              <a:latin typeface="+mj-lt"/>
              <a:cs typeface="Times New Roman" pitchFamily="18" charset="0"/>
            </a:endParaRPr>
          </a:p>
          <a:p>
            <a:pPr marL="90488" indent="0">
              <a:spcBef>
                <a:spcPct val="0"/>
              </a:spcBef>
              <a:buFont typeface="Wingdings" pitchFamily="2" charset="2"/>
              <a:buChar char="§"/>
            </a:pPr>
            <a:endParaRPr lang="en-US" sz="2300" dirty="0">
              <a:latin typeface="+mj-lt"/>
              <a:cs typeface="Times New Roman" pitchFamily="18" charset="0"/>
            </a:endParaRPr>
          </a:p>
          <a:p>
            <a:pPr marL="90488" indent="0">
              <a:spcBef>
                <a:spcPct val="0"/>
              </a:spcBef>
              <a:buFont typeface="Wingdings" pitchFamily="2" charset="2"/>
              <a:buChar char="§"/>
            </a:pPr>
            <a:endParaRPr lang="en-US" sz="2300" dirty="0">
              <a:latin typeface="+mj-lt"/>
              <a:cs typeface="Times New Roman" pitchFamily="18" charset="0"/>
            </a:endParaRPr>
          </a:p>
          <a:p>
            <a:pPr marL="90488" indent="0">
              <a:spcBef>
                <a:spcPct val="0"/>
              </a:spcBef>
              <a:buFont typeface="Wingdings" pitchFamily="2" charset="2"/>
              <a:buChar char="§"/>
            </a:pPr>
            <a:endParaRPr lang="en-US" sz="2300" dirty="0">
              <a:latin typeface="+mj-lt"/>
              <a:cs typeface="Times New Roman" pitchFamily="18" charset="0"/>
            </a:endParaRPr>
          </a:p>
          <a:p>
            <a:pPr marL="90488" indent="0">
              <a:spcBef>
                <a:spcPct val="0"/>
              </a:spcBef>
              <a:buFont typeface="Wingdings" pitchFamily="2" charset="2"/>
              <a:buChar char="§"/>
            </a:pPr>
            <a:r>
              <a:rPr lang="en-US" sz="2400" dirty="0">
                <a:latin typeface="+mj-lt"/>
              </a:rPr>
              <a:t>A company with an initial credit rating of Baa has a probability of </a:t>
            </a:r>
            <a:r>
              <a:rPr lang="en-US" sz="2400" b="1" dirty="0">
                <a:latin typeface="+mj-lt"/>
              </a:rPr>
              <a:t>0.15%</a:t>
            </a:r>
            <a:r>
              <a:rPr lang="en-US" sz="2400" dirty="0">
                <a:latin typeface="+mj-lt"/>
              </a:rPr>
              <a:t> of defaulting by the end of the first year, </a:t>
            </a:r>
            <a:r>
              <a:rPr lang="en-US" sz="2400" b="1" dirty="0">
                <a:latin typeface="+mj-lt"/>
              </a:rPr>
              <a:t>0.4%</a:t>
            </a:r>
            <a:r>
              <a:rPr lang="en-US" sz="2400" dirty="0">
                <a:latin typeface="+mj-lt"/>
              </a:rPr>
              <a:t> by the end of the second year, and so on</a:t>
            </a:r>
          </a:p>
          <a:p>
            <a:pPr marL="90488" indent="0">
              <a:spcBef>
                <a:spcPct val="0"/>
              </a:spcBef>
              <a:buNone/>
            </a:pPr>
            <a:endParaRPr lang="en-US" sz="2300" dirty="0">
              <a:latin typeface="+mj-lt"/>
              <a:cs typeface="Times New Roman" pitchFamily="18" charset="0"/>
            </a:endParaRPr>
          </a:p>
        </p:txBody>
      </p:sp>
      <p:sp>
        <p:nvSpPr>
          <p:cNvPr id="2" name="Slide Number Placeholder 1"/>
          <p:cNvSpPr>
            <a:spLocks noGrp="1"/>
          </p:cNvSpPr>
          <p:nvPr>
            <p:ph type="sldNum" sz="quarter" idx="12"/>
          </p:nvPr>
        </p:nvSpPr>
        <p:spPr/>
        <p:txBody>
          <a:bodyPr/>
          <a:lstStyle/>
          <a:p>
            <a:fld id="{2DF9D68F-9103-4ED7-B98C-3059709D8893}" type="slidenum">
              <a:rPr lang="en-US" smtClean="0"/>
              <a:pPr/>
              <a:t>7</a:t>
            </a:fld>
            <a:endParaRPr lang="en-US"/>
          </a:p>
        </p:txBody>
      </p:sp>
      <p:graphicFrame>
        <p:nvGraphicFramePr>
          <p:cNvPr id="4" name="Table 3">
            <a:extLst>
              <a:ext uri="{FF2B5EF4-FFF2-40B4-BE49-F238E27FC236}">
                <a16:creationId xmlns:a16="http://schemas.microsoft.com/office/drawing/2014/main" id="{00CB18C6-4158-59C6-0E9C-E2906054BFD6}"/>
              </a:ext>
            </a:extLst>
          </p:cNvPr>
          <p:cNvGraphicFramePr>
            <a:graphicFrameLocks noGrp="1"/>
          </p:cNvGraphicFramePr>
          <p:nvPr>
            <p:extLst>
              <p:ext uri="{D42A27DB-BD31-4B8C-83A1-F6EECF244321}">
                <p14:modId xmlns:p14="http://schemas.microsoft.com/office/powerpoint/2010/main" val="3377164123"/>
              </p:ext>
            </p:extLst>
          </p:nvPr>
        </p:nvGraphicFramePr>
        <p:xfrm>
          <a:off x="2133600" y="2209800"/>
          <a:ext cx="6438900" cy="2604296"/>
        </p:xfrm>
        <a:graphic>
          <a:graphicData uri="http://schemas.openxmlformats.org/drawingml/2006/table">
            <a:tbl>
              <a:tblPr/>
              <a:tblGrid>
                <a:gridCol w="1073150">
                  <a:extLst>
                    <a:ext uri="{9D8B030D-6E8A-4147-A177-3AD203B41FA5}">
                      <a16:colId xmlns:a16="http://schemas.microsoft.com/office/drawing/2014/main" val="327648334"/>
                    </a:ext>
                  </a:extLst>
                </a:gridCol>
                <a:gridCol w="1073150">
                  <a:extLst>
                    <a:ext uri="{9D8B030D-6E8A-4147-A177-3AD203B41FA5}">
                      <a16:colId xmlns:a16="http://schemas.microsoft.com/office/drawing/2014/main" val="691341322"/>
                    </a:ext>
                  </a:extLst>
                </a:gridCol>
                <a:gridCol w="1073150">
                  <a:extLst>
                    <a:ext uri="{9D8B030D-6E8A-4147-A177-3AD203B41FA5}">
                      <a16:colId xmlns:a16="http://schemas.microsoft.com/office/drawing/2014/main" val="1217659046"/>
                    </a:ext>
                  </a:extLst>
                </a:gridCol>
                <a:gridCol w="1073150">
                  <a:extLst>
                    <a:ext uri="{9D8B030D-6E8A-4147-A177-3AD203B41FA5}">
                      <a16:colId xmlns:a16="http://schemas.microsoft.com/office/drawing/2014/main" val="770502581"/>
                    </a:ext>
                  </a:extLst>
                </a:gridCol>
                <a:gridCol w="1073150">
                  <a:extLst>
                    <a:ext uri="{9D8B030D-6E8A-4147-A177-3AD203B41FA5}">
                      <a16:colId xmlns:a16="http://schemas.microsoft.com/office/drawing/2014/main" val="1327346670"/>
                    </a:ext>
                  </a:extLst>
                </a:gridCol>
                <a:gridCol w="1073150">
                  <a:extLst>
                    <a:ext uri="{9D8B030D-6E8A-4147-A177-3AD203B41FA5}">
                      <a16:colId xmlns:a16="http://schemas.microsoft.com/office/drawing/2014/main" val="3013517145"/>
                    </a:ext>
                  </a:extLst>
                </a:gridCol>
              </a:tblGrid>
              <a:tr h="325537">
                <a:tc>
                  <a:txBody>
                    <a:bodyPr/>
                    <a:lstStyle/>
                    <a:p>
                      <a:pPr algn="l" fontAlgn="b">
                        <a:buNone/>
                      </a:pPr>
                      <a:r>
                        <a:rPr lang="en-CA" sz="2000" b="1" i="0" u="none" strike="noStrike" dirty="0">
                          <a:solidFill>
                            <a:srgbClr val="000000"/>
                          </a:solidFill>
                          <a:effectLst/>
                          <a:latin typeface="Aptos Narrow" panose="020B0004020202020204" pitchFamily="34" charset="0"/>
                        </a:rPr>
                        <a:t>Years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1" i="0" u="none" strike="noStrike">
                          <a:solidFill>
                            <a:srgbClr val="000000"/>
                          </a:solidFill>
                          <a:effectLst/>
                          <a:latin typeface="Aptos Narrow" panose="020B000402020202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1" i="0" u="none" strike="noStrike">
                          <a:solidFill>
                            <a:srgbClr val="000000"/>
                          </a:solidFill>
                          <a:effectLst/>
                          <a:latin typeface="Aptos Narrow" panose="020B000402020202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1" i="0" u="none" strike="noStrike">
                          <a:solidFill>
                            <a:srgbClr val="000000"/>
                          </a:solidFill>
                          <a:effectLst/>
                          <a:latin typeface="Aptos Narrow" panose="020B000402020202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1" i="0" u="none" strike="noStrike">
                          <a:solidFill>
                            <a:srgbClr val="000000"/>
                          </a:solidFill>
                          <a:effectLst/>
                          <a:latin typeface="Aptos Narrow" panose="020B000402020202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1" i="0" u="none" strike="noStrike">
                          <a:solidFill>
                            <a:srgbClr val="000000"/>
                          </a:solidFill>
                          <a:effectLst/>
                          <a:latin typeface="Aptos Narrow" panose="020B0004020202020204" pitchFamily="34"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62717992"/>
                  </a:ext>
                </a:extLst>
              </a:tr>
              <a:tr h="325537">
                <a:tc>
                  <a:txBody>
                    <a:bodyPr/>
                    <a:lstStyle/>
                    <a:p>
                      <a:pPr algn="l" fontAlgn="b">
                        <a:buNone/>
                      </a:pPr>
                      <a:r>
                        <a:rPr lang="en-CA" sz="2000" b="1" i="0" u="none" strike="noStrike">
                          <a:solidFill>
                            <a:srgbClr val="000000"/>
                          </a:solidFill>
                          <a:effectLst/>
                          <a:latin typeface="Aptos Narrow" panose="020B0004020202020204" pitchFamily="34" charset="0"/>
                        </a:rPr>
                        <a:t>Aaa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0.01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0.01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0.08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0.09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88986095"/>
                  </a:ext>
                </a:extLst>
              </a:tr>
              <a:tr h="325537">
                <a:tc>
                  <a:txBody>
                    <a:bodyPr/>
                    <a:lstStyle/>
                    <a:p>
                      <a:pPr algn="l" fontAlgn="b">
                        <a:buNone/>
                      </a:pPr>
                      <a:r>
                        <a:rPr lang="en-CA" sz="2000" b="1" i="0" u="none" strike="noStrike">
                          <a:solidFill>
                            <a:srgbClr val="000000"/>
                          </a:solidFill>
                          <a:effectLst/>
                          <a:latin typeface="Aptos Narrow" panose="020B0004020202020204" pitchFamily="34" charset="0"/>
                        </a:rPr>
                        <a:t>Aa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0.02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0.06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0.11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0.29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0.67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96931130"/>
                  </a:ext>
                </a:extLst>
              </a:tr>
              <a:tr h="325537">
                <a:tc>
                  <a:txBody>
                    <a:bodyPr/>
                    <a:lstStyle/>
                    <a:p>
                      <a:pPr algn="l" fontAlgn="b">
                        <a:buNone/>
                      </a:pPr>
                      <a:r>
                        <a:rPr lang="en-CA" sz="2000" b="1" i="0" u="none" strike="noStrike">
                          <a:solidFill>
                            <a:srgbClr val="000000"/>
                          </a:solidFill>
                          <a:effectLst/>
                          <a:latin typeface="Aptos Narrow" panose="020B0004020202020204" pitchFamily="34" charset="0"/>
                        </a:rPr>
                        <a:t>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0.06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0.15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0.29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0.61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1.41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16661376"/>
                  </a:ext>
                </a:extLst>
              </a:tr>
              <a:tr h="325537">
                <a:tc>
                  <a:txBody>
                    <a:bodyPr/>
                    <a:lstStyle/>
                    <a:p>
                      <a:pPr algn="l" fontAlgn="b">
                        <a:buNone/>
                      </a:pPr>
                      <a:r>
                        <a:rPr lang="en-CA" sz="2000" b="1" i="0" u="none" strike="noStrike">
                          <a:solidFill>
                            <a:srgbClr val="000000"/>
                          </a:solidFill>
                          <a:effectLst/>
                          <a:latin typeface="Aptos Narrow" panose="020B0004020202020204" pitchFamily="34" charset="0"/>
                        </a:rPr>
                        <a:t>Baa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0.15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0.7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1.39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3.02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18340325"/>
                  </a:ext>
                </a:extLst>
              </a:tr>
              <a:tr h="325537">
                <a:tc>
                  <a:txBody>
                    <a:bodyPr/>
                    <a:lstStyle/>
                    <a:p>
                      <a:pPr algn="l" fontAlgn="b">
                        <a:buNone/>
                      </a:pPr>
                      <a:r>
                        <a:rPr lang="en-CA" sz="2000" b="1" i="0" u="none" strike="noStrike">
                          <a:solidFill>
                            <a:srgbClr val="000000"/>
                          </a:solidFill>
                          <a:effectLst/>
                          <a:latin typeface="Aptos Narrow" panose="020B0004020202020204" pitchFamily="34" charset="0"/>
                        </a:rPr>
                        <a:t>Ba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0.84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2.33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4.11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7.82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02786762"/>
                  </a:ext>
                </a:extLst>
              </a:tr>
              <a:tr h="325537">
                <a:tc>
                  <a:txBody>
                    <a:bodyPr/>
                    <a:lstStyle/>
                    <a:p>
                      <a:pPr algn="l" fontAlgn="b">
                        <a:buNone/>
                      </a:pPr>
                      <a:r>
                        <a:rPr lang="en-CA" sz="2000" b="1" i="0" u="none" strike="noStrike">
                          <a:solidFill>
                            <a:srgbClr val="000000"/>
                          </a:solidFill>
                          <a:effectLst/>
                          <a:latin typeface="Aptos Narrow" panose="020B0004020202020204" pitchFamily="34" charset="0"/>
                        </a:rPr>
                        <a:t>B</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3.19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7.51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11.9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19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28.3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1710275"/>
                  </a:ext>
                </a:extLst>
              </a:tr>
              <a:tr h="325537">
                <a:tc>
                  <a:txBody>
                    <a:bodyPr/>
                    <a:lstStyle/>
                    <a:p>
                      <a:pPr algn="l" fontAlgn="b">
                        <a:buNone/>
                      </a:pPr>
                      <a:r>
                        <a:rPr lang="en-CA" sz="2000" b="1" i="0" u="none" strike="noStrike">
                          <a:solidFill>
                            <a:srgbClr val="000000"/>
                          </a:solidFill>
                          <a:effectLst/>
                          <a:latin typeface="Aptos Narrow" panose="020B0004020202020204" pitchFamily="34" charset="0"/>
                        </a:rPr>
                        <a:t>Caa-C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10.2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17.6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23.8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a:solidFill>
                            <a:srgbClr val="000000"/>
                          </a:solidFill>
                          <a:effectLst/>
                          <a:latin typeface="Aptos Narrow" panose="020B0004020202020204" pitchFamily="34" charset="0"/>
                        </a:rPr>
                        <a:t>31.9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CA" sz="2000" b="0" i="0" u="none" strike="noStrike" dirty="0">
                          <a:solidFill>
                            <a:srgbClr val="000000"/>
                          </a:solidFill>
                          <a:effectLst/>
                          <a:latin typeface="Aptos Narrow" panose="020B0004020202020204" pitchFamily="34" charset="0"/>
                        </a:rPr>
                        <a:t>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4286538"/>
                  </a:ext>
                </a:extLst>
              </a:tr>
            </a:tbl>
          </a:graphicData>
        </a:graphic>
      </p:graphicFrame>
    </p:spTree>
    <p:extLst>
      <p:ext uri="{BB962C8B-B14F-4D97-AF65-F5344CB8AC3E}">
        <p14:creationId xmlns:p14="http://schemas.microsoft.com/office/powerpoint/2010/main" val="1649004157"/>
      </p:ext>
    </p:extLst>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Key Credit Risk Metrics</a:t>
            </a:r>
            <a:endParaRPr b="1" dirty="0">
              <a:latin typeface="Arial" panose="020B0604020202020204" pitchFamily="34" charset="0"/>
              <a:cs typeface="Arial" panose="020B0604020202020204" pitchFamily="34" charset="0"/>
            </a:endParaRPr>
          </a:p>
        </p:txBody>
      </p:sp>
      <p:sp>
        <p:nvSpPr>
          <p:cNvPr id="4010" name="Content Placeholder"/>
          <p:cNvSpPr>
            <a:spLocks noGrp="1"/>
          </p:cNvSpPr>
          <p:nvPr>
            <p:ph sz="half" idx="2"/>
          </p:nvPr>
        </p:nvSpPr>
        <p:spPr>
          <a:xfrm>
            <a:off x="423100" y="914400"/>
            <a:ext cx="11345797" cy="5578474"/>
          </a:xfrm>
        </p:spPr>
        <p:txBody>
          <a:bodyPr wrap="square">
            <a:normAutofit fontScale="92500" lnSpcReduction="10000"/>
          </a:bodyPr>
          <a:lstStyle/>
          <a:p>
            <a:pPr marL="0" indent="0">
              <a:buNone/>
            </a:pPr>
            <a:r>
              <a:rPr lang="en-CA" b="1" dirty="0"/>
              <a:t>Definitions</a:t>
            </a:r>
          </a:p>
          <a:p>
            <a:r>
              <a:rPr lang="en-CA" dirty="0"/>
              <a:t>PD: probability of default (1-year or multi-year)</a:t>
            </a:r>
          </a:p>
          <a:p>
            <a:r>
              <a:rPr lang="en-CA" dirty="0"/>
              <a:t>LGD: loss given default = 1 minus recovery rate</a:t>
            </a:r>
          </a:p>
          <a:p>
            <a:r>
              <a:rPr lang="en-CA" dirty="0"/>
              <a:t>EAD: exposure at default (outstanding balance)</a:t>
            </a:r>
          </a:p>
          <a:p>
            <a:r>
              <a:rPr lang="en-CA" dirty="0"/>
              <a:t>UL = sqrt(EAD^2 x PD x LGD^2 + EAD^2 x LGD^2 x variance of PD)</a:t>
            </a:r>
          </a:p>
          <a:p>
            <a:pPr marL="0" indent="0">
              <a:buNone/>
            </a:pPr>
            <a:r>
              <a:rPr lang="en-CA" b="1" dirty="0"/>
              <a:t>Typical magnitudes</a:t>
            </a:r>
          </a:p>
          <a:p>
            <a:r>
              <a:rPr lang="en-CA" dirty="0"/>
              <a:t>AAA / Aaa: PD about 0.01% p.a.</a:t>
            </a:r>
          </a:p>
          <a:p>
            <a:r>
              <a:rPr lang="en-CA" dirty="0"/>
              <a:t>BBB / Baa: PD about 0.18% p.a.</a:t>
            </a:r>
          </a:p>
          <a:p>
            <a:r>
              <a:rPr lang="en-CA" dirty="0"/>
              <a:t>BB / Ba: PD about 1.08% p.a.</a:t>
            </a:r>
          </a:p>
          <a:p>
            <a:r>
              <a:rPr lang="en-CA" dirty="0"/>
              <a:t>B / B: PD about 4.60% p.a.</a:t>
            </a:r>
          </a:p>
          <a:p>
            <a:r>
              <a:rPr lang="en-CA" dirty="0"/>
              <a:t>CCC and below: PD about 15 to 30% p.a.</a:t>
            </a:r>
          </a:p>
          <a:p>
            <a:r>
              <a:rPr lang="en-CA" dirty="0"/>
              <a:t>Average LGD about 45% (senior unsecured bonds)</a:t>
            </a:r>
          </a:p>
          <a:p>
            <a:r>
              <a:rPr lang="en-CA" dirty="0"/>
              <a:t>LGD can exceed 90% for subordinated debt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Credit Ratings and Default Rates</a:t>
            </a:r>
            <a:endParaRPr b="1" dirty="0">
              <a:latin typeface="Arial" panose="020B0604020202020204" pitchFamily="34" charset="0"/>
              <a:cs typeface="Arial" panose="020B0604020202020204" pitchFamily="34" charset="0"/>
            </a:endParaRPr>
          </a:p>
        </p:txBody>
      </p:sp>
      <p:sp>
        <p:nvSpPr>
          <p:cNvPr id="4012" name="Content Placeholder"/>
          <p:cNvSpPr>
            <a:spLocks noGrp="1"/>
          </p:cNvSpPr>
          <p:nvPr>
            <p:ph sz="half" idx="2"/>
          </p:nvPr>
        </p:nvSpPr>
        <p:spPr>
          <a:xfrm>
            <a:off x="423100" y="990601"/>
            <a:ext cx="11345797" cy="5502274"/>
          </a:xfrm>
        </p:spPr>
        <p:txBody>
          <a:bodyPr wrap="square">
            <a:normAutofit/>
          </a:bodyPr>
          <a:lstStyle/>
          <a:p>
            <a:pPr marL="0" indent="0">
              <a:buNone/>
            </a:pPr>
            <a:r>
              <a:rPr lang="en-CA" b="1" dirty="0"/>
              <a:t>Ratings agencies</a:t>
            </a:r>
          </a:p>
          <a:p>
            <a:r>
              <a:rPr lang="en-CA" dirty="0"/>
              <a:t>S&amp;P, Moody's, Fitch: the Big Three</a:t>
            </a:r>
          </a:p>
          <a:p>
            <a:r>
              <a:rPr lang="en-CA" dirty="0"/>
              <a:t>Ratings based on financial ratios plus qualitative assessment</a:t>
            </a:r>
          </a:p>
          <a:p>
            <a:r>
              <a:rPr lang="en-CA" dirty="0"/>
              <a:t>Investment grade: BBB minus / Baa3 and above</a:t>
            </a:r>
          </a:p>
          <a:p>
            <a:r>
              <a:rPr lang="en-CA" dirty="0"/>
              <a:t>Sub-investment (high-yield): BB plus / Ba1 and below</a:t>
            </a:r>
          </a:p>
          <a:p>
            <a:r>
              <a:rPr lang="en-CA" dirty="0"/>
              <a:t>Issuer rating versus issue rating may differ</a:t>
            </a:r>
          </a:p>
          <a:p>
            <a:r>
              <a:rPr lang="en-CA" dirty="0"/>
              <a:t>Ratings are through-the-cycle (TTC) - stable by design</a:t>
            </a:r>
          </a:p>
          <a:p>
            <a:r>
              <a:rPr lang="en-CA" dirty="0"/>
              <a:t>Altman and Rijken (2004): agencies trade speed for stability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Rating Transition Matrices</a:t>
            </a:r>
            <a:endParaRPr b="1" dirty="0">
              <a:latin typeface="Arial" panose="020B0604020202020204" pitchFamily="34" charset="0"/>
              <a:cs typeface="Arial" panose="020B0604020202020204" pitchFamily="34" charset="0"/>
            </a:endParaRPr>
          </a:p>
        </p:txBody>
      </p:sp>
      <p:sp>
        <p:nvSpPr>
          <p:cNvPr id="4014" name="Content Placeholder"/>
          <p:cNvSpPr>
            <a:spLocks noGrp="1"/>
          </p:cNvSpPr>
          <p:nvPr>
            <p:ph sz="half" idx="2"/>
          </p:nvPr>
        </p:nvSpPr>
        <p:spPr/>
        <p:txBody>
          <a:bodyPr wrap="square">
            <a:normAutofit fontScale="92500" lnSpcReduction="10000"/>
          </a:bodyPr>
          <a:lstStyle/>
          <a:p>
            <a:pPr marL="0" indent="0">
              <a:buNone/>
            </a:pPr>
            <a:r>
              <a:rPr lang="en-CA" b="1" dirty="0"/>
              <a:t>Agencies publish annual matrices; regulators require banks to validate internal ratings against them (Basel II, Pillar 1 IRB approach)</a:t>
            </a:r>
          </a:p>
          <a:p>
            <a:r>
              <a:rPr lang="en-CA" dirty="0"/>
              <a:t>A transition matrix shows the probability of moving from one rating to another in 1 year</a:t>
            </a:r>
          </a:p>
          <a:p>
            <a:r>
              <a:rPr lang="en-CA" dirty="0"/>
              <a:t>Diagonal entries about 85 to 93%: most issuers retain their rating year-on-year</a:t>
            </a:r>
          </a:p>
          <a:p>
            <a:r>
              <a:rPr lang="en-CA" dirty="0"/>
              <a:t>Lower-right entry = default absorbing state (once in default, stays in default)</a:t>
            </a:r>
          </a:p>
          <a:p>
            <a:r>
              <a:rPr lang="en-CA" dirty="0"/>
              <a:t>Used in multi-period PD: P(default in T years) via matrix exponentiation M to the power T</a:t>
            </a:r>
          </a:p>
          <a:p>
            <a:r>
              <a:rPr lang="en-CA" dirty="0"/>
              <a:t>Key insight: CCC/C issuers have about a 26% chance of default within 1 year (S&amp;P 1981-2024)</a:t>
            </a:r>
          </a:p>
          <a:p>
            <a:r>
              <a:rPr lang="en-CA" dirty="0"/>
              <a:t>Real matrix used in the lab: S&amp;P 1981-2024 one-year global average (2024 Annual Global Corporate Default and Rating Transition Study, Table 21)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E4A34-6A3D-A2F8-08F4-CA2AD3FF7091}"/>
            </a:ext>
          </a:extLst>
        </p:cNvPr>
        <p:cNvGrpSpPr/>
        <p:nvPr/>
      </p:nvGrpSpPr>
      <p:grpSpPr>
        <a:xfrm>
          <a:off x="0" y="0"/>
          <a:ext cx="0" cy="0"/>
          <a:chOff x="0" y="0"/>
          <a:chExt cx="0" cy="0"/>
        </a:xfrm>
      </p:grpSpPr>
      <p:sp>
        <p:nvSpPr>
          <p:cNvPr id="4013" name="Title">
            <a:extLst>
              <a:ext uri="{FF2B5EF4-FFF2-40B4-BE49-F238E27FC236}">
                <a16:creationId xmlns:a16="http://schemas.microsoft.com/office/drawing/2014/main" id="{B4BF8F68-747F-0B07-AFF6-749D67272881}"/>
              </a:ext>
            </a:extLst>
          </p:cNvPr>
          <p:cNvSpPr>
            <a:spLocks noGrp="1"/>
          </p:cNvSpPr>
          <p:nvPr>
            <p:ph type="title"/>
          </p:nvPr>
        </p:nvSpPr>
        <p:spPr/>
        <p:txBody>
          <a:bodyPr/>
          <a:lstStyle/>
          <a:p>
            <a:r>
              <a:rPr lang="en-CA" b="1" dirty="0">
                <a:latin typeface="Arial" panose="020B0604020202020204" pitchFamily="34" charset="0"/>
                <a:cs typeface="Arial" panose="020B0604020202020204" pitchFamily="34" charset="0"/>
              </a:rPr>
              <a:t>Rating Transition Matrix Example</a:t>
            </a:r>
            <a:endParaRPr b="1" dirty="0">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0D7F6DC9-5F76-A972-D3D9-22FEB5F34A54}"/>
              </a:ext>
            </a:extLst>
          </p:cNvPr>
          <p:cNvGraphicFramePr>
            <a:graphicFrameLocks noGrp="1"/>
          </p:cNvGraphicFramePr>
          <p:nvPr>
            <p:extLst>
              <p:ext uri="{D42A27DB-BD31-4B8C-83A1-F6EECF244321}">
                <p14:modId xmlns:p14="http://schemas.microsoft.com/office/powerpoint/2010/main" val="2224374467"/>
              </p:ext>
            </p:extLst>
          </p:nvPr>
        </p:nvGraphicFramePr>
        <p:xfrm>
          <a:off x="1752600" y="1600200"/>
          <a:ext cx="8077200" cy="2987676"/>
        </p:xfrm>
        <a:graphic>
          <a:graphicData uri="http://schemas.openxmlformats.org/drawingml/2006/table">
            <a:tbl>
              <a:tblPr/>
              <a:tblGrid>
                <a:gridCol w="1615440">
                  <a:extLst>
                    <a:ext uri="{9D8B030D-6E8A-4147-A177-3AD203B41FA5}">
                      <a16:colId xmlns:a16="http://schemas.microsoft.com/office/drawing/2014/main" val="1638165864"/>
                    </a:ext>
                  </a:extLst>
                </a:gridCol>
                <a:gridCol w="1615440">
                  <a:extLst>
                    <a:ext uri="{9D8B030D-6E8A-4147-A177-3AD203B41FA5}">
                      <a16:colId xmlns:a16="http://schemas.microsoft.com/office/drawing/2014/main" val="4192832720"/>
                    </a:ext>
                  </a:extLst>
                </a:gridCol>
                <a:gridCol w="1615440">
                  <a:extLst>
                    <a:ext uri="{9D8B030D-6E8A-4147-A177-3AD203B41FA5}">
                      <a16:colId xmlns:a16="http://schemas.microsoft.com/office/drawing/2014/main" val="2207884863"/>
                    </a:ext>
                  </a:extLst>
                </a:gridCol>
                <a:gridCol w="1615440">
                  <a:extLst>
                    <a:ext uri="{9D8B030D-6E8A-4147-A177-3AD203B41FA5}">
                      <a16:colId xmlns:a16="http://schemas.microsoft.com/office/drawing/2014/main" val="3487586081"/>
                    </a:ext>
                  </a:extLst>
                </a:gridCol>
                <a:gridCol w="1615440">
                  <a:extLst>
                    <a:ext uri="{9D8B030D-6E8A-4147-A177-3AD203B41FA5}">
                      <a16:colId xmlns:a16="http://schemas.microsoft.com/office/drawing/2014/main" val="2821012488"/>
                    </a:ext>
                  </a:extLst>
                </a:gridCol>
              </a:tblGrid>
              <a:tr h="472599">
                <a:tc>
                  <a:txBody>
                    <a:bodyPr/>
                    <a:lstStyle/>
                    <a:p>
                      <a:pPr marL="0" marR="0">
                        <a:buNone/>
                      </a:pPr>
                      <a:r>
                        <a:rPr lang="en-CA" sz="2400" b="1">
                          <a:effectLst/>
                          <a:latin typeface="Helvetica" pitchFamily="2" charset="0"/>
                        </a:rPr>
                        <a:t>start year/end year</a:t>
                      </a:r>
                      <a:endParaRPr lang="en-CA" sz="2400">
                        <a:effectLst/>
                        <a:latin typeface="Helvetica" pitchFamily="2" charset="0"/>
                      </a:endParaRP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marL="0" marR="0">
                        <a:buNone/>
                      </a:pPr>
                      <a:r>
                        <a:rPr lang="en-CA" sz="2400" b="1">
                          <a:effectLst/>
                          <a:latin typeface="Helvetica" pitchFamily="2" charset="0"/>
                        </a:rPr>
                        <a:t>A</a:t>
                      </a:r>
                      <a:endParaRPr lang="en-CA" sz="2400">
                        <a:effectLst/>
                        <a:latin typeface="Helvetica" pitchFamily="2" charset="0"/>
                      </a:endParaRP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marL="0" marR="0">
                        <a:buNone/>
                      </a:pPr>
                      <a:r>
                        <a:rPr lang="en-CA" sz="2400" b="1">
                          <a:effectLst/>
                          <a:latin typeface="Helvetica" pitchFamily="2" charset="0"/>
                        </a:rPr>
                        <a:t>B</a:t>
                      </a:r>
                      <a:endParaRPr lang="en-CA" sz="2400">
                        <a:effectLst/>
                        <a:latin typeface="Helvetica" pitchFamily="2" charset="0"/>
                      </a:endParaRP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marL="0" marR="0">
                        <a:buNone/>
                      </a:pPr>
                      <a:r>
                        <a:rPr lang="en-CA" sz="2400" b="1">
                          <a:effectLst/>
                          <a:latin typeface="Helvetica" pitchFamily="2" charset="0"/>
                        </a:rPr>
                        <a:t>C</a:t>
                      </a:r>
                      <a:endParaRPr lang="en-CA" sz="2400">
                        <a:effectLst/>
                        <a:latin typeface="Helvetica" pitchFamily="2" charset="0"/>
                      </a:endParaRP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marL="0" marR="0">
                        <a:buNone/>
                      </a:pPr>
                      <a:r>
                        <a:rPr lang="en-CA" sz="2400" b="1">
                          <a:effectLst/>
                          <a:latin typeface="Helvetica" pitchFamily="2" charset="0"/>
                        </a:rPr>
                        <a:t>D</a:t>
                      </a:r>
                      <a:endParaRPr lang="en-CA" sz="2400">
                        <a:effectLst/>
                        <a:latin typeface="Helvetica" pitchFamily="2" charset="0"/>
                      </a:endParaRP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489895"/>
                  </a:ext>
                </a:extLst>
              </a:tr>
              <a:tr h="472599">
                <a:tc>
                  <a:txBody>
                    <a:bodyPr/>
                    <a:lstStyle/>
                    <a:p>
                      <a:pPr marL="0" marR="0">
                        <a:buNone/>
                      </a:pPr>
                      <a:r>
                        <a:rPr lang="en-CA" sz="2400" b="1">
                          <a:effectLst/>
                          <a:latin typeface="Helvetica" pitchFamily="2" charset="0"/>
                        </a:rPr>
                        <a:t>A</a:t>
                      </a:r>
                      <a:endParaRPr lang="en-CA" sz="2400">
                        <a:effectLst/>
                        <a:latin typeface="Helvetica" pitchFamily="2" charset="0"/>
                      </a:endParaRP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marL="0" marR="0" algn="r">
                        <a:buNone/>
                      </a:pPr>
                      <a:r>
                        <a:rPr lang="en-CA" sz="2400" dirty="0">
                          <a:effectLst/>
                          <a:latin typeface="Helvetica" pitchFamily="2" charset="0"/>
                        </a:rPr>
                        <a:t>92.00</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marL="0" marR="0" algn="r">
                        <a:buNone/>
                      </a:pPr>
                      <a:r>
                        <a:rPr lang="en-CA" sz="2400" dirty="0">
                          <a:effectLst/>
                          <a:latin typeface="Helvetica" pitchFamily="2" charset="0"/>
                        </a:rPr>
                        <a:t>7.00</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marL="0" marR="0" algn="r">
                        <a:buNone/>
                      </a:pPr>
                      <a:r>
                        <a:rPr lang="en-CA" sz="2400">
                          <a:effectLst/>
                          <a:latin typeface="Helvetica" pitchFamily="2" charset="0"/>
                        </a:rPr>
                        <a:t>0.80</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marL="0" marR="0" algn="r">
                        <a:buNone/>
                      </a:pPr>
                      <a:r>
                        <a:rPr lang="en-CA" sz="2400">
                          <a:effectLst/>
                          <a:latin typeface="Helvetica" pitchFamily="2" charset="0"/>
                        </a:rPr>
                        <a:t>0.20</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81027482"/>
                  </a:ext>
                </a:extLst>
              </a:tr>
              <a:tr h="472599">
                <a:tc>
                  <a:txBody>
                    <a:bodyPr/>
                    <a:lstStyle/>
                    <a:p>
                      <a:pPr marL="0" marR="0">
                        <a:buNone/>
                      </a:pPr>
                      <a:r>
                        <a:rPr lang="en-CA" sz="2400" b="1">
                          <a:effectLst/>
                          <a:latin typeface="Helvetica" pitchFamily="2" charset="0"/>
                        </a:rPr>
                        <a:t>B</a:t>
                      </a:r>
                      <a:endParaRPr lang="en-CA" sz="2400">
                        <a:effectLst/>
                        <a:latin typeface="Helvetica" pitchFamily="2" charset="0"/>
                      </a:endParaRP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marL="0" marR="0" algn="r">
                        <a:buNone/>
                      </a:pPr>
                      <a:r>
                        <a:rPr lang="en-CA" sz="2400">
                          <a:effectLst/>
                          <a:latin typeface="Helvetica" pitchFamily="2" charset="0"/>
                        </a:rPr>
                        <a:t>5.00</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marL="0" marR="0" algn="r">
                        <a:buNone/>
                      </a:pPr>
                      <a:r>
                        <a:rPr lang="en-CA" sz="2400">
                          <a:effectLst/>
                          <a:latin typeface="Helvetica" pitchFamily="2" charset="0"/>
                        </a:rPr>
                        <a:t>86.00</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marL="0" marR="0" algn="r">
                        <a:buNone/>
                      </a:pPr>
                      <a:r>
                        <a:rPr lang="en-CA" sz="2400">
                          <a:effectLst/>
                          <a:latin typeface="Helvetica" pitchFamily="2" charset="0"/>
                        </a:rPr>
                        <a:t>7.00</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marL="0" marR="0" algn="r">
                        <a:buNone/>
                      </a:pPr>
                      <a:r>
                        <a:rPr lang="en-CA" sz="2400">
                          <a:effectLst/>
                          <a:latin typeface="Helvetica" pitchFamily="2" charset="0"/>
                        </a:rPr>
                        <a:t>2.00</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0541632"/>
                  </a:ext>
                </a:extLst>
              </a:tr>
              <a:tr h="472599">
                <a:tc>
                  <a:txBody>
                    <a:bodyPr/>
                    <a:lstStyle/>
                    <a:p>
                      <a:pPr marL="0" marR="0">
                        <a:buNone/>
                      </a:pPr>
                      <a:r>
                        <a:rPr lang="en-CA" sz="2400" b="1">
                          <a:effectLst/>
                          <a:latin typeface="Helvetica" pitchFamily="2" charset="0"/>
                        </a:rPr>
                        <a:t>C</a:t>
                      </a:r>
                      <a:endParaRPr lang="en-CA" sz="2400">
                        <a:effectLst/>
                        <a:latin typeface="Helvetica" pitchFamily="2" charset="0"/>
                      </a:endParaRP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marL="0" marR="0" algn="r">
                        <a:buNone/>
                      </a:pPr>
                      <a:r>
                        <a:rPr lang="en-CA" sz="2400">
                          <a:effectLst/>
                          <a:latin typeface="Helvetica" pitchFamily="2" charset="0"/>
                        </a:rPr>
                        <a:t>1.00</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marL="0" marR="0" algn="r">
                        <a:buNone/>
                      </a:pPr>
                      <a:r>
                        <a:rPr lang="en-CA" sz="2400">
                          <a:effectLst/>
                          <a:latin typeface="Helvetica" pitchFamily="2" charset="0"/>
                        </a:rPr>
                        <a:t>12.00</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marL="0" marR="0" algn="r">
                        <a:buNone/>
                      </a:pPr>
                      <a:r>
                        <a:rPr lang="en-CA" sz="2400">
                          <a:effectLst/>
                          <a:latin typeface="Helvetica" pitchFamily="2" charset="0"/>
                        </a:rPr>
                        <a:t>77.00</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marL="0" marR="0" algn="r">
                        <a:buNone/>
                      </a:pPr>
                      <a:r>
                        <a:rPr lang="en-CA" sz="2400">
                          <a:effectLst/>
                          <a:latin typeface="Helvetica" pitchFamily="2" charset="0"/>
                        </a:rPr>
                        <a:t>10.00</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38877533"/>
                  </a:ext>
                </a:extLst>
              </a:tr>
              <a:tr h="472599">
                <a:tc>
                  <a:txBody>
                    <a:bodyPr/>
                    <a:lstStyle/>
                    <a:p>
                      <a:pPr marL="0" marR="0">
                        <a:buNone/>
                      </a:pPr>
                      <a:r>
                        <a:rPr lang="en-CA" sz="2400" b="1">
                          <a:effectLst/>
                          <a:latin typeface="Helvetica" pitchFamily="2" charset="0"/>
                        </a:rPr>
                        <a:t>D</a:t>
                      </a:r>
                      <a:endParaRPr lang="en-CA" sz="2400">
                        <a:effectLst/>
                        <a:latin typeface="Helvetica" pitchFamily="2" charset="0"/>
                      </a:endParaRP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marL="0" marR="0" algn="r">
                        <a:buNone/>
                      </a:pPr>
                      <a:r>
                        <a:rPr lang="en-CA" sz="2400">
                          <a:effectLst/>
                          <a:latin typeface="Helvetica" pitchFamily="2" charset="0"/>
                        </a:rPr>
                        <a:t>0.00</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marL="0" marR="0" algn="r">
                        <a:buNone/>
                      </a:pPr>
                      <a:r>
                        <a:rPr lang="en-CA" sz="2400">
                          <a:effectLst/>
                          <a:latin typeface="Helvetica" pitchFamily="2" charset="0"/>
                        </a:rPr>
                        <a:t>0.00</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marL="0" marR="0" algn="r">
                        <a:buNone/>
                      </a:pPr>
                      <a:r>
                        <a:rPr lang="en-CA" sz="2400">
                          <a:effectLst/>
                          <a:latin typeface="Helvetica" pitchFamily="2" charset="0"/>
                        </a:rPr>
                        <a:t>0.00</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marL="0" marR="0" algn="r">
                        <a:buNone/>
                      </a:pPr>
                      <a:r>
                        <a:rPr lang="en-CA" sz="2400" dirty="0">
                          <a:effectLst/>
                          <a:latin typeface="Helvetica" pitchFamily="2" charset="0"/>
                        </a:rPr>
                        <a:t>100.00</a:t>
                      </a:r>
                    </a:p>
                  </a:txBody>
                  <a:tcPr marL="47625" marR="47625" marT="0" marB="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87718591"/>
                  </a:ext>
                </a:extLst>
              </a:tr>
            </a:tbl>
          </a:graphicData>
        </a:graphic>
      </p:graphicFrame>
    </p:spTree>
    <p:extLst>
      <p:ext uri="{BB962C8B-B14F-4D97-AF65-F5344CB8AC3E}">
        <p14:creationId xmlns:p14="http://schemas.microsoft.com/office/powerpoint/2010/main" val="1298841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Default Probabilities: Marginal, Conditional, Cumulative and Hazard</a:t>
            </a:r>
            <a:endParaRPr b="1" dirty="0">
              <a:latin typeface="Arial" panose="020B0604020202020204" pitchFamily="34" charset="0"/>
              <a:cs typeface="Arial" panose="020B0604020202020204" pitchFamily="34" charset="0"/>
            </a:endParaRPr>
          </a:p>
        </p:txBody>
      </p:sp>
      <p:sp>
        <p:nvSpPr>
          <p:cNvPr id="4010" name="Content Placeholder"/>
          <p:cNvSpPr>
            <a:spLocks noGrp="1"/>
          </p:cNvSpPr>
          <p:nvPr>
            <p:ph sz="half" idx="2"/>
          </p:nvPr>
        </p:nvSpPr>
        <p:spPr>
          <a:xfrm>
            <a:off x="423099" y="1456929"/>
            <a:ext cx="11345797" cy="5578474"/>
          </a:xfrm>
        </p:spPr>
        <p:txBody>
          <a:bodyPr wrap="square">
            <a:normAutofit/>
          </a:bodyPr>
          <a:lstStyle/>
          <a:p>
            <a:r>
              <a:rPr lang="en-CA" b="1" dirty="0"/>
              <a:t>A transition matrix is a full default-probability machine</a:t>
            </a:r>
          </a:p>
          <a:p>
            <a:r>
              <a:rPr lang="en-CA" b="0" dirty="0"/>
              <a:t>Cumulative default by year t: Q(t) = the Default column of M raised to the power t; survival S(t) = 1 - Q(t)</a:t>
            </a:r>
          </a:p>
          <a:p>
            <a:r>
              <a:rPr lang="en-CA" b="0" dirty="0"/>
              <a:t>Marginal (unconditional) PD = Q(t) - Q(t-1); the matrix's own D column is the year-1 marginal</a:t>
            </a:r>
          </a:p>
          <a:p>
            <a:r>
              <a:rPr lang="en-CA" b="0" dirty="0"/>
              <a:t>Conditional PD (given survival) = [Q(t) - Q(t-1)] / [1 - Q(t-1)]; hazard rate lambda_t = -ln[S(t)/S(t-1)]</a:t>
            </a:r>
          </a:p>
          <a:p>
            <a:r>
              <a:rPr lang="en-CA" b="1" dirty="0"/>
              <a:t>On the real S&amp;P 1981-2024 matrix (lab)</a:t>
            </a:r>
          </a:p>
          <a:p>
            <a:r>
              <a:rPr lang="en-CA" b="0" dirty="0"/>
              <a:t>BBB hazard builds from ~0.15% (yr 1) to ~0.49% (yr 7); B from ~3.4% to ~5.3% - marginal and conditional diverge as the survival base erodes</a:t>
            </a:r>
          </a:p>
          <a:p>
            <a:r>
              <a:rPr lang="en-CA" b="0" dirty="0"/>
              <a:t>Session 6 turns this hazard curve into the engine of reduced-form models and prices a CVA from it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itle 1"/>
          <p:cNvSpPr>
            <a:spLocks noGrp="1"/>
          </p:cNvSpPr>
          <p:nvPr>
            <p:ph type="ctrTitle" idx="4294967295"/>
          </p:nvPr>
        </p:nvSpPr>
        <p:spPr>
          <a:xfrm>
            <a:off x="1752600" y="152400"/>
            <a:ext cx="8610600" cy="609600"/>
          </a:xfrm>
        </p:spPr>
        <p:txBody>
          <a:bodyPr>
            <a:noAutofit/>
          </a:bodyPr>
          <a:lstStyle/>
          <a:p>
            <a:r>
              <a:rPr lang="en-US" sz="3200" b="1" dirty="0">
                <a:latin typeface="Arial" panose="020B0604020202020204" pitchFamily="34" charset="0"/>
                <a:cs typeface="Arial" panose="020B0604020202020204" pitchFamily="34" charset="0"/>
              </a:rPr>
              <a:t>Transition Matrix And Bond Price</a:t>
            </a:r>
          </a:p>
        </p:txBody>
      </p:sp>
      <p:sp>
        <p:nvSpPr>
          <p:cNvPr id="3" name="Subtitle 2"/>
          <p:cNvSpPr>
            <a:spLocks noGrp="1"/>
          </p:cNvSpPr>
          <p:nvPr>
            <p:ph type="subTitle" idx="4294967295"/>
          </p:nvPr>
        </p:nvSpPr>
        <p:spPr>
          <a:xfrm>
            <a:off x="838200" y="4724400"/>
            <a:ext cx="9470736" cy="1752600"/>
          </a:xfrm>
        </p:spPr>
        <p:txBody>
          <a:bodyPr>
            <a:noAutofit/>
          </a:bodyPr>
          <a:lstStyle/>
          <a:p>
            <a:pPr marL="9144" indent="0">
              <a:buNone/>
            </a:pPr>
            <a:r>
              <a:rPr lang="en-US" sz="2000" dirty="0">
                <a:cs typeface="Times New Roman" pitchFamily="18" charset="0"/>
              </a:rPr>
              <a:t>Now, assume that you have an A-rated 10-year corporate bond with modified duration of 7.2. How will its price change if it gets:</a:t>
            </a:r>
          </a:p>
          <a:p>
            <a:r>
              <a:rPr lang="en-US" sz="2000" dirty="0">
                <a:cs typeface="Times New Roman" pitchFamily="18" charset="0"/>
              </a:rPr>
              <a:t>Upgraded to AA: +1.44%</a:t>
            </a:r>
          </a:p>
          <a:p>
            <a:r>
              <a:rPr lang="en-US" sz="2000" dirty="0">
                <a:cs typeface="Times New Roman" pitchFamily="18" charset="0"/>
              </a:rPr>
              <a:t>Downgraded to BB: -16.56%</a:t>
            </a:r>
          </a:p>
          <a:p>
            <a:r>
              <a:rPr lang="en-US" sz="2000" dirty="0">
                <a:cs typeface="Times New Roman" pitchFamily="18" charset="0"/>
              </a:rPr>
              <a:t>Downgraded to C: -60.48%</a:t>
            </a:r>
          </a:p>
        </p:txBody>
      </p:sp>
      <p:graphicFrame>
        <p:nvGraphicFramePr>
          <p:cNvPr id="5" name="Table 4">
            <a:extLst>
              <a:ext uri="{FF2B5EF4-FFF2-40B4-BE49-F238E27FC236}">
                <a16:creationId xmlns:a16="http://schemas.microsoft.com/office/drawing/2014/main" id="{D7CD27E5-F6E6-8561-D040-A5DC8B1CB077}"/>
              </a:ext>
            </a:extLst>
          </p:cNvPr>
          <p:cNvGraphicFramePr>
            <a:graphicFrameLocks noGrp="1"/>
          </p:cNvGraphicFramePr>
          <p:nvPr>
            <p:extLst>
              <p:ext uri="{D42A27DB-BD31-4B8C-83A1-F6EECF244321}">
                <p14:modId xmlns:p14="http://schemas.microsoft.com/office/powerpoint/2010/main" val="1442351869"/>
              </p:ext>
            </p:extLst>
          </p:nvPr>
        </p:nvGraphicFramePr>
        <p:xfrm>
          <a:off x="1066800" y="990600"/>
          <a:ext cx="9102725" cy="3505200"/>
        </p:xfrm>
        <a:graphic>
          <a:graphicData uri="http://schemas.openxmlformats.org/drawingml/2006/table">
            <a:tbl>
              <a:tblPr firstRow="1" firstCol="1" bandRow="1">
                <a:tableStyleId>{073A0DAA-6AF3-43AB-8588-CEC1D06C72B9}</a:tableStyleId>
              </a:tblPr>
              <a:tblGrid>
                <a:gridCol w="1010789">
                  <a:extLst>
                    <a:ext uri="{9D8B030D-6E8A-4147-A177-3AD203B41FA5}">
                      <a16:colId xmlns:a16="http://schemas.microsoft.com/office/drawing/2014/main" val="2533733476"/>
                    </a:ext>
                  </a:extLst>
                </a:gridCol>
                <a:gridCol w="1011492">
                  <a:extLst>
                    <a:ext uri="{9D8B030D-6E8A-4147-A177-3AD203B41FA5}">
                      <a16:colId xmlns:a16="http://schemas.microsoft.com/office/drawing/2014/main" val="3022356523"/>
                    </a:ext>
                  </a:extLst>
                </a:gridCol>
                <a:gridCol w="1011492">
                  <a:extLst>
                    <a:ext uri="{9D8B030D-6E8A-4147-A177-3AD203B41FA5}">
                      <a16:colId xmlns:a16="http://schemas.microsoft.com/office/drawing/2014/main" val="1832484077"/>
                    </a:ext>
                  </a:extLst>
                </a:gridCol>
                <a:gridCol w="1011492">
                  <a:extLst>
                    <a:ext uri="{9D8B030D-6E8A-4147-A177-3AD203B41FA5}">
                      <a16:colId xmlns:a16="http://schemas.microsoft.com/office/drawing/2014/main" val="3881270823"/>
                    </a:ext>
                  </a:extLst>
                </a:gridCol>
                <a:gridCol w="1011492">
                  <a:extLst>
                    <a:ext uri="{9D8B030D-6E8A-4147-A177-3AD203B41FA5}">
                      <a16:colId xmlns:a16="http://schemas.microsoft.com/office/drawing/2014/main" val="3395890670"/>
                    </a:ext>
                  </a:extLst>
                </a:gridCol>
                <a:gridCol w="1011492">
                  <a:extLst>
                    <a:ext uri="{9D8B030D-6E8A-4147-A177-3AD203B41FA5}">
                      <a16:colId xmlns:a16="http://schemas.microsoft.com/office/drawing/2014/main" val="769590350"/>
                    </a:ext>
                  </a:extLst>
                </a:gridCol>
                <a:gridCol w="1011492">
                  <a:extLst>
                    <a:ext uri="{9D8B030D-6E8A-4147-A177-3AD203B41FA5}">
                      <a16:colId xmlns:a16="http://schemas.microsoft.com/office/drawing/2014/main" val="775107585"/>
                    </a:ext>
                  </a:extLst>
                </a:gridCol>
                <a:gridCol w="1011492">
                  <a:extLst>
                    <a:ext uri="{9D8B030D-6E8A-4147-A177-3AD203B41FA5}">
                      <a16:colId xmlns:a16="http://schemas.microsoft.com/office/drawing/2014/main" val="2309468161"/>
                    </a:ext>
                  </a:extLst>
                </a:gridCol>
                <a:gridCol w="1011492">
                  <a:extLst>
                    <a:ext uri="{9D8B030D-6E8A-4147-A177-3AD203B41FA5}">
                      <a16:colId xmlns:a16="http://schemas.microsoft.com/office/drawing/2014/main" val="3957363833"/>
                    </a:ext>
                  </a:extLst>
                </a:gridCol>
              </a:tblGrid>
              <a:tr h="584200">
                <a:tc>
                  <a:txBody>
                    <a:bodyPr/>
                    <a:lstStyle/>
                    <a:p>
                      <a:r>
                        <a:rPr lang="en-CA" sz="1800" kern="100">
                          <a:solidFill>
                            <a:schemeClr val="tx1"/>
                          </a:solidFill>
                          <a:effectLst/>
                        </a:rPr>
                        <a:t>From/To</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AAA</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AA</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dirty="0">
                          <a:solidFill>
                            <a:schemeClr val="tx1"/>
                          </a:solidFill>
                          <a:effectLst/>
                        </a:rPr>
                        <a:t>A</a:t>
                      </a:r>
                      <a:endParaRPr lang="en-CA" sz="18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BBB</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BB</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B</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CCC, CC, C</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D</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extLst>
                  <a:ext uri="{0D108BD9-81ED-4DB2-BD59-A6C34878D82A}">
                    <a16:rowId xmlns:a16="http://schemas.microsoft.com/office/drawing/2014/main" val="981492123"/>
                  </a:ext>
                </a:extLst>
              </a:tr>
              <a:tr h="292100">
                <a:tc>
                  <a:txBody>
                    <a:bodyPr/>
                    <a:lstStyle/>
                    <a:p>
                      <a:r>
                        <a:rPr lang="en-CA" sz="1800" kern="100" dirty="0">
                          <a:solidFill>
                            <a:schemeClr val="tx1"/>
                          </a:solidFill>
                          <a:effectLst/>
                        </a:rPr>
                        <a:t>AAA</a:t>
                      </a:r>
                      <a:endParaRPr lang="en-CA" sz="18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90.00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9.00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0.60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0.15</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0.10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0.10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0.05</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0.00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extLst>
                  <a:ext uri="{0D108BD9-81ED-4DB2-BD59-A6C34878D82A}">
                    <a16:rowId xmlns:a16="http://schemas.microsoft.com/office/drawing/2014/main" val="1060907582"/>
                  </a:ext>
                </a:extLst>
              </a:tr>
              <a:tr h="292100">
                <a:tc>
                  <a:txBody>
                    <a:bodyPr/>
                    <a:lstStyle/>
                    <a:p>
                      <a:r>
                        <a:rPr lang="en-CA" sz="1800" kern="100">
                          <a:solidFill>
                            <a:schemeClr val="tx1"/>
                          </a:solidFill>
                          <a:effectLst/>
                        </a:rPr>
                        <a:t>AA</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1.50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88.00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9.50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0.75</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0.15</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0.05</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0.03</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0.02</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extLst>
                  <a:ext uri="{0D108BD9-81ED-4DB2-BD59-A6C34878D82A}">
                    <a16:rowId xmlns:a16="http://schemas.microsoft.com/office/drawing/2014/main" val="4079448495"/>
                  </a:ext>
                </a:extLst>
              </a:tr>
              <a:tr h="292100">
                <a:tc>
                  <a:txBody>
                    <a:bodyPr/>
                    <a:lstStyle/>
                    <a:p>
                      <a:r>
                        <a:rPr lang="en-CA" sz="1800" kern="100">
                          <a:solidFill>
                            <a:schemeClr val="tx1"/>
                          </a:solidFill>
                          <a:effectLst/>
                        </a:rPr>
                        <a:t>A</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dirty="0">
                          <a:solidFill>
                            <a:schemeClr val="tx1"/>
                          </a:solidFill>
                          <a:effectLst/>
                        </a:rPr>
                        <a:t>0.05</a:t>
                      </a:r>
                      <a:endParaRPr lang="en-CA" sz="18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2.50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87.50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8.40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0.75</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0.60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0.12</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0.08</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extLst>
                  <a:ext uri="{0D108BD9-81ED-4DB2-BD59-A6C34878D82A}">
                    <a16:rowId xmlns:a16="http://schemas.microsoft.com/office/drawing/2014/main" val="726322620"/>
                  </a:ext>
                </a:extLst>
              </a:tr>
              <a:tr h="292100">
                <a:tc>
                  <a:txBody>
                    <a:bodyPr/>
                    <a:lstStyle/>
                    <a:p>
                      <a:r>
                        <a:rPr lang="en-CA" sz="1800" kern="100" dirty="0">
                          <a:solidFill>
                            <a:schemeClr val="tx1"/>
                          </a:solidFill>
                          <a:effectLst/>
                        </a:rPr>
                        <a:t>BBB</a:t>
                      </a:r>
                      <a:endParaRPr lang="en-CA" sz="18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dirty="0">
                          <a:solidFill>
                            <a:schemeClr val="tx1"/>
                          </a:solidFill>
                          <a:effectLst/>
                        </a:rPr>
                        <a:t>0.02</a:t>
                      </a:r>
                      <a:endParaRPr lang="en-CA" sz="18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0.30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4.80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85.50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6.95</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1.75</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0.45</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0.23</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extLst>
                  <a:ext uri="{0D108BD9-81ED-4DB2-BD59-A6C34878D82A}">
                    <a16:rowId xmlns:a16="http://schemas.microsoft.com/office/drawing/2014/main" val="892009047"/>
                  </a:ext>
                </a:extLst>
              </a:tr>
              <a:tr h="292100">
                <a:tc>
                  <a:txBody>
                    <a:bodyPr/>
                    <a:lstStyle/>
                    <a:p>
                      <a:r>
                        <a:rPr lang="en-CA" sz="1800" kern="100">
                          <a:solidFill>
                            <a:schemeClr val="tx1"/>
                          </a:solidFill>
                          <a:effectLst/>
                        </a:rPr>
                        <a:t>BB</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0.01</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dirty="0">
                          <a:solidFill>
                            <a:schemeClr val="tx1"/>
                          </a:solidFill>
                          <a:effectLst/>
                        </a:rPr>
                        <a:t>0.06</a:t>
                      </a:r>
                      <a:endParaRPr lang="en-CA" sz="18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0.30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7.75</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79.50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8.75</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2.38</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1.25</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extLst>
                  <a:ext uri="{0D108BD9-81ED-4DB2-BD59-A6C34878D82A}">
                    <a16:rowId xmlns:a16="http://schemas.microsoft.com/office/drawing/2014/main" val="490961507"/>
                  </a:ext>
                </a:extLst>
              </a:tr>
              <a:tr h="292100">
                <a:tc>
                  <a:txBody>
                    <a:bodyPr/>
                    <a:lstStyle/>
                    <a:p>
                      <a:r>
                        <a:rPr lang="en-CA" sz="1800" kern="100">
                          <a:solidFill>
                            <a:schemeClr val="tx1"/>
                          </a:solidFill>
                          <a:effectLst/>
                        </a:rPr>
                        <a:t>B</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0.00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dirty="0">
                          <a:solidFill>
                            <a:schemeClr val="tx1"/>
                          </a:solidFill>
                          <a:effectLst/>
                        </a:rPr>
                        <a:t>0.05</a:t>
                      </a:r>
                      <a:endParaRPr lang="en-CA" sz="18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0.15</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1.40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9.15</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76.60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8.45</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4.20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extLst>
                  <a:ext uri="{0D108BD9-81ED-4DB2-BD59-A6C34878D82A}">
                    <a16:rowId xmlns:a16="http://schemas.microsoft.com/office/drawing/2014/main" val="1294134669"/>
                  </a:ext>
                </a:extLst>
              </a:tr>
              <a:tr h="584200">
                <a:tc>
                  <a:txBody>
                    <a:bodyPr/>
                    <a:lstStyle/>
                    <a:p>
                      <a:r>
                        <a:rPr lang="en-CA" sz="1800" kern="100">
                          <a:solidFill>
                            <a:schemeClr val="tx1"/>
                          </a:solidFill>
                          <a:effectLst/>
                        </a:rPr>
                        <a:t>CCC, CC, C</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0.00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0.01</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0.12</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0.87</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1.65</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18.50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49.25</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29.60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extLst>
                  <a:ext uri="{0D108BD9-81ED-4DB2-BD59-A6C34878D82A}">
                    <a16:rowId xmlns:a16="http://schemas.microsoft.com/office/drawing/2014/main" val="1761207869"/>
                  </a:ext>
                </a:extLst>
              </a:tr>
              <a:tr h="584200">
                <a:tc>
                  <a:txBody>
                    <a:bodyPr/>
                    <a:lstStyle/>
                    <a:p>
                      <a:r>
                        <a:rPr lang="en-CA" sz="1800" kern="100" dirty="0">
                          <a:solidFill>
                            <a:schemeClr val="tx1"/>
                          </a:solidFill>
                          <a:effectLst/>
                        </a:rPr>
                        <a:t>Credit Spread</a:t>
                      </a:r>
                      <a:endParaRPr lang="en-CA" sz="18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0.60%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0.90%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1.10%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1.50%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3.40%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6.50%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a:solidFill>
                            <a:schemeClr val="tx1"/>
                          </a:solidFill>
                          <a:effectLst/>
                        </a:rPr>
                        <a:t>9.50%</a:t>
                      </a:r>
                      <a:endParaRPr lang="en-CA" sz="1800" kern="10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tc>
                  <a:txBody>
                    <a:bodyPr/>
                    <a:lstStyle/>
                    <a:p>
                      <a:r>
                        <a:rPr lang="en-CA" sz="1800" kern="100" dirty="0">
                          <a:solidFill>
                            <a:schemeClr val="tx1"/>
                          </a:solidFill>
                          <a:effectLst/>
                        </a:rPr>
                        <a:t> </a:t>
                      </a:r>
                      <a:endParaRPr lang="en-CA" sz="18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chemeClr val="bg1"/>
                    </a:solidFill>
                  </a:tcPr>
                </a:tc>
                <a:extLst>
                  <a:ext uri="{0D108BD9-81ED-4DB2-BD59-A6C34878D82A}">
                    <a16:rowId xmlns:a16="http://schemas.microsoft.com/office/drawing/2014/main" val="636821849"/>
                  </a:ext>
                </a:extLst>
              </a:tr>
            </a:tbl>
          </a:graphicData>
        </a:graphic>
      </p:graphicFrame>
    </p:spTree>
    <p:extLst>
      <p:ext uri="{BB962C8B-B14F-4D97-AF65-F5344CB8AC3E}">
        <p14:creationId xmlns:p14="http://schemas.microsoft.com/office/powerpoint/2010/main" val="3389817995"/>
      </p:ext>
    </p:extLst>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Rating Agencies in Practice</a:t>
            </a:r>
            <a:endParaRPr b="1" dirty="0">
              <a:latin typeface="Arial" panose="020B0604020202020204" pitchFamily="34" charset="0"/>
              <a:cs typeface="Arial" panose="020B0604020202020204" pitchFamily="34" charset="0"/>
            </a:endParaRPr>
          </a:p>
        </p:txBody>
      </p:sp>
      <p:sp>
        <p:nvSpPr>
          <p:cNvPr id="4010" name="Content Placeholder"/>
          <p:cNvSpPr>
            <a:spLocks noGrp="1"/>
          </p:cNvSpPr>
          <p:nvPr>
            <p:ph sz="half" idx="2"/>
          </p:nvPr>
        </p:nvSpPr>
        <p:spPr>
          <a:xfrm>
            <a:off x="423100" y="1143000"/>
            <a:ext cx="11345797" cy="5349874"/>
          </a:xfrm>
        </p:spPr>
        <p:txBody>
          <a:bodyPr wrap="square">
            <a:normAutofit fontScale="92500" lnSpcReduction="10000"/>
          </a:bodyPr>
          <a:lstStyle/>
          <a:p>
            <a:r>
              <a:rPr lang="en-CA" b="1" dirty="0"/>
              <a:t>Issuer rating vs issue rating: the notching process</a:t>
            </a:r>
          </a:p>
          <a:p>
            <a:r>
              <a:rPr lang="en-CA" b="0" dirty="0"/>
              <a:t>The issuer rating usually applies to senior unsecured debt; individual issues are notched for seniority and loss severity</a:t>
            </a:r>
          </a:p>
          <a:p>
            <a:r>
              <a:rPr lang="en-CA" b="0" dirty="0"/>
              <a:t>Secured / senior issues are notched up; subordinated issues are notched down</a:t>
            </a:r>
          </a:p>
          <a:p>
            <a:r>
              <a:rPr lang="en-CA" b="1" dirty="0"/>
              <a:t>Credit watch and outlook</a:t>
            </a:r>
          </a:p>
          <a:p>
            <a:r>
              <a:rPr lang="en-CA" b="0" dirty="0"/>
              <a:t>Watch = a review is under way, a change likely soon (direction indicated); outlook = likely direction over 6 months to 2 years</a:t>
            </a:r>
          </a:p>
          <a:p>
            <a:r>
              <a:rPr lang="en-CA" b="0" dirty="0"/>
              <a:t>Rule of thumb (Moody's): downgrade watch -2 notches, upgrade watch +2, negative outlook -1, positive +1</a:t>
            </a:r>
          </a:p>
          <a:p>
            <a:r>
              <a:rPr lang="en-CA" b="1" dirty="0"/>
              <a:t>The risks of relying on ratings</a:t>
            </a:r>
          </a:p>
          <a:p>
            <a:r>
              <a:rPr lang="en-CA" b="0" dirty="0"/>
              <a:t>Ratings are through-the-cycle and lag the market; they measure RELATIVE, not absolute, risk</a:t>
            </a:r>
          </a:p>
          <a:p>
            <a:r>
              <a:rPr lang="en-CA" b="0" dirty="0"/>
              <a:t>They can be wrong (structured credit, 2008) and say little about spread volatility or liquidity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Seniority, Priority of Claims and Recovery</a:t>
            </a:r>
            <a:endParaRPr b="1" dirty="0">
              <a:latin typeface="Arial" panose="020B0604020202020204" pitchFamily="34" charset="0"/>
              <a:cs typeface="Arial" panose="020B0604020202020204" pitchFamily="34" charset="0"/>
            </a:endParaRPr>
          </a:p>
        </p:txBody>
      </p:sp>
      <p:sp>
        <p:nvSpPr>
          <p:cNvPr id="4010" name="Content Placeholder"/>
          <p:cNvSpPr>
            <a:spLocks noGrp="1"/>
          </p:cNvSpPr>
          <p:nvPr>
            <p:ph sz="half" idx="2"/>
          </p:nvPr>
        </p:nvSpPr>
        <p:spPr>
          <a:xfrm>
            <a:off x="423100" y="914400"/>
            <a:ext cx="11345797" cy="5578474"/>
          </a:xfrm>
        </p:spPr>
        <p:txBody>
          <a:bodyPr wrap="square">
            <a:normAutofit fontScale="92500" lnSpcReduction="10000"/>
          </a:bodyPr>
          <a:lstStyle/>
          <a:p>
            <a:r>
              <a:rPr lang="en-CA" b="1" dirty="0"/>
              <a:t>The capital-structure ranking (priority of payment)</a:t>
            </a:r>
          </a:p>
          <a:p>
            <a:r>
              <a:rPr lang="en-CA" b="0" dirty="0"/>
              <a:t>Secured debt &gt; senior unsecured &gt; senior subordinated &gt; subordinated &gt; junior subordinated &gt; equity</a:t>
            </a:r>
          </a:p>
          <a:p>
            <a:r>
              <a:rPr lang="en-CA" b="0" dirty="0"/>
              <a:t>Creditors at the same rank are treated equally - 'pari passu'</a:t>
            </a:r>
          </a:p>
          <a:p>
            <a:r>
              <a:rPr lang="en-CA" b="1" dirty="0"/>
              <a:t>What it means in default</a:t>
            </a:r>
          </a:p>
          <a:p>
            <a:r>
              <a:rPr lang="en-CA" b="0" dirty="0"/>
              <a:t>Higher seniority = first claim on cash flows and assets = higher recovery</a:t>
            </a:r>
          </a:p>
          <a:p>
            <a:r>
              <a:rPr lang="en-CA" b="0" dirty="0"/>
              <a:t>Real recoveries (Moody's 1982-2013): senior secured ~52%, senior unsecured ~37%, subordinated ~31%, junior sub ~25%</a:t>
            </a:r>
          </a:p>
          <a:p>
            <a:r>
              <a:rPr lang="en-CA" b="0" dirty="0"/>
              <a:t>LGD = 1 - recovery; seniority drives loss SEVERITY, not the probability of default</a:t>
            </a:r>
          </a:p>
          <a:p>
            <a:r>
              <a:rPr lang="en-CA" b="1" dirty="0"/>
              <a:t>The bankruptcy waterfall</a:t>
            </a:r>
          </a:p>
          <a:p>
            <a:r>
              <a:rPr lang="en-CA" b="0" dirty="0"/>
              <a:t>Absolute priority: senior classes are paid in full before junior classes receive anything (with practical deviations)</a:t>
            </a:r>
          </a:p>
          <a:p>
            <a:r>
              <a:rPr lang="en-CA" b="0" dirty="0"/>
              <a:t>Impaired classes (those receiving less than full value) vote on the plan of reorganization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Traditional Credit Analysis: The Four Cs</a:t>
            </a:r>
            <a:endParaRPr b="1" dirty="0">
              <a:latin typeface="Arial" panose="020B0604020202020204" pitchFamily="34" charset="0"/>
              <a:cs typeface="Arial" panose="020B0604020202020204" pitchFamily="34" charset="0"/>
            </a:endParaRPr>
          </a:p>
        </p:txBody>
      </p:sp>
      <p:sp>
        <p:nvSpPr>
          <p:cNvPr id="4010" name="Content Placeholder"/>
          <p:cNvSpPr>
            <a:spLocks noGrp="1"/>
          </p:cNvSpPr>
          <p:nvPr>
            <p:ph sz="half" idx="2"/>
          </p:nvPr>
        </p:nvSpPr>
        <p:spPr>
          <a:xfrm>
            <a:off x="423100" y="1066800"/>
            <a:ext cx="11345797" cy="5426074"/>
          </a:xfrm>
        </p:spPr>
        <p:txBody>
          <a:bodyPr wrap="square">
            <a:normAutofit lnSpcReduction="10000"/>
          </a:bodyPr>
          <a:lstStyle/>
          <a:p>
            <a:r>
              <a:rPr lang="en-CA" b="1" dirty="0"/>
              <a:t>Capacity - the ability to service debt</a:t>
            </a:r>
          </a:p>
          <a:p>
            <a:pPr lvl="1"/>
            <a:r>
              <a:rPr lang="en-CA" b="0" dirty="0"/>
              <a:t>Industry analysis (Porter's five forces), then issuer fundamentals</a:t>
            </a:r>
          </a:p>
          <a:p>
            <a:pPr lvl="1"/>
            <a:r>
              <a:rPr lang="en-CA" b="0" dirty="0"/>
              <a:t>Leverage: Debt/EBITDA, (net) Debt/EBITDA, Debt/Capital, FFO/Debt</a:t>
            </a:r>
          </a:p>
          <a:p>
            <a:pPr lvl="1"/>
            <a:r>
              <a:rPr lang="en-CA" b="0" dirty="0"/>
              <a:t>Coverage: EBITDA/Interest, EBIT/Interest; cash flow: EBITDA, FFO, free cash flow</a:t>
            </a:r>
          </a:p>
          <a:p>
            <a:r>
              <a:rPr lang="en-CA" b="1" dirty="0"/>
              <a:t>Collateral - asset value behind the claim</a:t>
            </a:r>
          </a:p>
          <a:p>
            <a:pPr lvl="1"/>
            <a:r>
              <a:rPr lang="en-CA" b="0" dirty="0"/>
              <a:t>Matters most for weaker issuers (loss severity); quality and liquidity of the assets</a:t>
            </a:r>
          </a:p>
          <a:p>
            <a:r>
              <a:rPr lang="en-CA" b="1" dirty="0"/>
              <a:t>Covenants - the contractual protections</a:t>
            </a:r>
          </a:p>
          <a:p>
            <a:pPr lvl="1"/>
            <a:r>
              <a:rPr lang="en-CA" b="0" dirty="0"/>
              <a:t>Affirmative (what the issuer must do) and negative (limits on new debt, liens, distributions)</a:t>
            </a:r>
          </a:p>
          <a:p>
            <a:r>
              <a:rPr lang="en-CA" b="1" dirty="0"/>
              <a:t>Character - management quality and integrity</a:t>
            </a:r>
          </a:p>
          <a:p>
            <a:pPr lvl="1"/>
            <a:r>
              <a:rPr lang="en-CA" b="0" dirty="0"/>
              <a:t>Strategy, track record, accounting choices, governance, and prudent use of debt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Fundamental Credit Ratios: The S&amp;P Scorecard</a:t>
            </a:r>
            <a:endParaRPr b="1" dirty="0">
              <a:latin typeface="Arial" panose="020B0604020202020204" pitchFamily="34" charset="0"/>
              <a:cs typeface="Arial" panose="020B0604020202020204" pitchFamily="34" charset="0"/>
            </a:endParaRPr>
          </a:p>
        </p:txBody>
      </p:sp>
      <p:sp>
        <p:nvSpPr>
          <p:cNvPr id="4010" name="Content Placeholder"/>
          <p:cNvSpPr>
            <a:spLocks noGrp="1"/>
          </p:cNvSpPr>
          <p:nvPr>
            <p:ph sz="half" idx="2"/>
          </p:nvPr>
        </p:nvSpPr>
        <p:spPr>
          <a:xfrm>
            <a:off x="423100" y="1295400"/>
            <a:ext cx="11345797" cy="5197474"/>
          </a:xfrm>
        </p:spPr>
        <p:txBody>
          <a:bodyPr wrap="square">
            <a:normAutofit/>
          </a:bodyPr>
          <a:lstStyle/>
          <a:p>
            <a:r>
              <a:rPr lang="en-CA" b="1" dirty="0"/>
              <a:t>Capacity to pay, made quantitative</a:t>
            </a:r>
          </a:p>
          <a:p>
            <a:r>
              <a:rPr lang="en-CA" b="0" dirty="0"/>
              <a:t>The S&amp;P key-ratio panel: EBIT &amp; EBITDA interest coverage; free-operating-cash-flow/debt; pre-tax return on capital; operating margin; total debt/capitalization</a:t>
            </a:r>
          </a:p>
          <a:p>
            <a:r>
              <a:rPr lang="en-CA" b="0" dirty="0"/>
              <a:t>Each rating band has published median ratios - map a firm's ratios to the nearest band, then compare to its actual rating</a:t>
            </a:r>
          </a:p>
          <a:p>
            <a:r>
              <a:rPr lang="en-CA" b="1" dirty="0"/>
              <a:t>On the real 10-K data (lab)</a:t>
            </a:r>
          </a:p>
          <a:p>
            <a:r>
              <a:rPr lang="en-CA" b="0" dirty="0"/>
              <a:t>Same SEC EDGAR filings as Altman: Ford's operating loss and 82% debt/cap screen two notches below BBB-, echoing its Altman distress flag</a:t>
            </a:r>
          </a:p>
          <a:p>
            <a:r>
              <a:rPr lang="en-CA" b="0" dirty="0"/>
              <a:t>Caveat: thin-margin retailers (Walmart) map low on an industrial ladder - scoring models over-classify; a screen to read with judgement, not a verdict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Block 2: Merton (1974) Structural Model</a:t>
            </a:r>
            <a:endParaRPr b="1" dirty="0">
              <a:latin typeface="Arial" panose="020B0604020202020204" pitchFamily="34" charset="0"/>
              <a:cs typeface="Arial" panose="020B0604020202020204" pitchFamily="34" charset="0"/>
            </a:endParaRPr>
          </a:p>
        </p:txBody>
      </p:sp>
      <p:sp>
        <p:nvSpPr>
          <p:cNvPr id="4016" name="Content Placeholder"/>
          <p:cNvSpPr>
            <a:spLocks noGrp="1"/>
          </p:cNvSpPr>
          <p:nvPr>
            <p:ph sz="half" idx="2"/>
          </p:nvPr>
        </p:nvSpPr>
        <p:spPr/>
        <p:txBody>
          <a:bodyPr wrap="square">
            <a:normAutofit/>
          </a:bodyPr>
          <a:lstStyle/>
          <a:p>
            <a:pPr marL="0" indent="0">
              <a:buNone/>
            </a:pPr>
            <a:r>
              <a:rPr lang="en-CA" b="1" dirty="0"/>
              <a:t>Equity as a call option - distance-to-default and risk-neutral PD</a:t>
            </a:r>
          </a:p>
          <a:p>
            <a:r>
              <a:rPr lang="en-CA" dirty="0"/>
              <a:t>Apply Black-Scholes option pricing to the entire liability structure of the firm</a:t>
            </a:r>
          </a:p>
          <a:p>
            <a:r>
              <a:rPr lang="en-CA" dirty="0"/>
              <a:t>Calibrate latent asset value and volatility from observable equity data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Merton Model - Intuition</a:t>
            </a:r>
            <a:endParaRPr b="1" dirty="0">
              <a:latin typeface="Arial" panose="020B0604020202020204" pitchFamily="34" charset="0"/>
              <a:cs typeface="Arial" panose="020B0604020202020204" pitchFamily="34" charset="0"/>
            </a:endParaRPr>
          </a:p>
        </p:txBody>
      </p:sp>
      <p:sp>
        <p:nvSpPr>
          <p:cNvPr id="4018" name="Content Placeholder"/>
          <p:cNvSpPr>
            <a:spLocks noGrp="1"/>
          </p:cNvSpPr>
          <p:nvPr>
            <p:ph sz="half" idx="2"/>
          </p:nvPr>
        </p:nvSpPr>
        <p:spPr>
          <a:xfrm>
            <a:off x="423100" y="1219201"/>
            <a:ext cx="11345797" cy="4818184"/>
          </a:xfrm>
        </p:spPr>
        <p:txBody>
          <a:bodyPr wrap="square">
            <a:normAutofit/>
          </a:bodyPr>
          <a:lstStyle/>
          <a:p>
            <a:pPr marL="0" indent="0">
              <a:buNone/>
            </a:pPr>
            <a:r>
              <a:rPr lang="en-CA" b="1" dirty="0"/>
              <a:t>Merton (1974) applies Black-Scholes option pricing to the entire liability structure of the firm</a:t>
            </a:r>
          </a:p>
          <a:p>
            <a:r>
              <a:rPr lang="en-CA" dirty="0"/>
              <a:t>A firm has assets V, debt with face value D due at time T</a:t>
            </a:r>
          </a:p>
          <a:p>
            <a:r>
              <a:rPr lang="en-CA" dirty="0"/>
              <a:t>At maturity: shareholders get max[V</a:t>
            </a:r>
            <a:r>
              <a:rPr lang="en-CA" baseline="-25000" dirty="0"/>
              <a:t>T</a:t>
            </a:r>
            <a:r>
              <a:rPr lang="en-CA" dirty="0"/>
              <a:t>-D, 0], so equity is a call option on assets</a:t>
            </a:r>
          </a:p>
          <a:p>
            <a:r>
              <a:rPr lang="en-CA" dirty="0"/>
              <a:t>Debt holders get min[V</a:t>
            </a:r>
            <a:r>
              <a:rPr lang="en-CA" baseline="-25000" dirty="0"/>
              <a:t>T</a:t>
            </a:r>
            <a:r>
              <a:rPr lang="en-CA" dirty="0"/>
              <a:t>, D], so risky bond = riskless bond minus put option on assets</a:t>
            </a:r>
          </a:p>
          <a:p>
            <a:r>
              <a:rPr lang="en-CA" dirty="0"/>
              <a:t>Default occurs when asset value V</a:t>
            </a:r>
            <a:r>
              <a:rPr lang="en-CA" baseline="-25000" dirty="0"/>
              <a:t>T</a:t>
            </a:r>
            <a:r>
              <a:rPr lang="en-CA" dirty="0"/>
              <a:t> is below D (assets cannot cover debt)</a:t>
            </a:r>
          </a:p>
          <a:p>
            <a:r>
              <a:rPr lang="en-CA" dirty="0"/>
              <a:t>We observe equity price E and equity volatility </a:t>
            </a:r>
            <a:r>
              <a:rPr lang="en-CA" dirty="0" err="1"/>
              <a:t>σ</a:t>
            </a:r>
            <a:r>
              <a:rPr lang="en-CA" baseline="-25000" dirty="0" err="1"/>
              <a:t>E</a:t>
            </a:r>
            <a:r>
              <a:rPr lang="en-CA" dirty="0"/>
              <a:t>; assets V and </a:t>
            </a:r>
            <a:r>
              <a:rPr lang="en-CA" dirty="0" err="1"/>
              <a:t>σ</a:t>
            </a:r>
            <a:r>
              <a:rPr lang="en-CA" baseline="-25000" dirty="0" err="1"/>
              <a:t>V</a:t>
            </a:r>
            <a:r>
              <a:rPr lang="en-CA" baseline="-25000" dirty="0"/>
              <a:t> </a:t>
            </a:r>
            <a:r>
              <a:rPr lang="en-CA" dirty="0"/>
              <a:t>are latent</a:t>
            </a:r>
          </a:p>
          <a:p>
            <a:r>
              <a:rPr lang="en-CA" dirty="0"/>
              <a:t>Black-Scholes gives us two equations in two unknowns (V, </a:t>
            </a:r>
            <a:r>
              <a:rPr lang="en-CA" dirty="0" err="1"/>
              <a:t>σ</a:t>
            </a:r>
            <a:r>
              <a:rPr lang="en-CA" baseline="-25000" dirty="0" err="1"/>
              <a:t>v</a:t>
            </a:r>
            <a:r>
              <a:rPr lang="en-CA" dirty="0"/>
              <a:t>)</a:t>
            </a:r>
          </a:p>
          <a:p>
            <a:r>
              <a:rPr lang="en-CA" dirty="0"/>
              <a:t>Once calibrated: distance-to-default and risk-neutral PD follow directly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Merton Model - Key Formulas</a:t>
            </a:r>
            <a:endParaRPr b="1" dirty="0">
              <a:latin typeface="Arial" panose="020B0604020202020204" pitchFamily="34" charset="0"/>
              <a:cs typeface="Arial" panose="020B0604020202020204" pitchFamily="34" charset="0"/>
            </a:endParaRPr>
          </a:p>
        </p:txBody>
      </p:sp>
      <p:pic>
        <p:nvPicPr>
          <p:cNvPr id="4020" name="Picture 4019" descr="f_bs.png"/>
          <p:cNvPicPr>
            <a:picLocks noChangeAspect="1"/>
          </p:cNvPicPr>
          <p:nvPr/>
        </p:nvPicPr>
        <p:blipFill>
          <a:blip r:embed="rId3"/>
          <a:stretch>
            <a:fillRect/>
          </a:stretch>
        </p:blipFill>
        <p:spPr>
          <a:xfrm>
            <a:off x="3851573" y="914399"/>
            <a:ext cx="4976860" cy="527539"/>
          </a:xfrm>
          <a:prstGeom prst="rect">
            <a:avLst/>
          </a:prstGeom>
        </p:spPr>
      </p:pic>
      <p:pic>
        <p:nvPicPr>
          <p:cNvPr id="4021" name="Picture 4020" descr="f_d1d2.png"/>
          <p:cNvPicPr>
            <a:picLocks noChangeAspect="1"/>
          </p:cNvPicPr>
          <p:nvPr/>
        </p:nvPicPr>
        <p:blipFill>
          <a:blip r:embed="rId4"/>
          <a:stretch>
            <a:fillRect/>
          </a:stretch>
        </p:blipFill>
        <p:spPr>
          <a:xfrm>
            <a:off x="3429000" y="1588551"/>
            <a:ext cx="6065051" cy="898526"/>
          </a:xfrm>
          <a:prstGeom prst="rect">
            <a:avLst/>
          </a:prstGeom>
        </p:spPr>
      </p:pic>
      <p:pic>
        <p:nvPicPr>
          <p:cNvPr id="4022" name="Picture 4021" descr="f_vollink.png"/>
          <p:cNvPicPr>
            <a:picLocks noChangeAspect="1"/>
          </p:cNvPicPr>
          <p:nvPr/>
        </p:nvPicPr>
        <p:blipFill>
          <a:blip r:embed="rId5"/>
          <a:stretch>
            <a:fillRect/>
          </a:stretch>
        </p:blipFill>
        <p:spPr>
          <a:xfrm>
            <a:off x="4267200" y="2699004"/>
            <a:ext cx="3259328" cy="475488"/>
          </a:xfrm>
          <a:prstGeom prst="rect">
            <a:avLst/>
          </a:prstGeom>
        </p:spPr>
      </p:pic>
      <p:sp>
        <p:nvSpPr>
          <p:cNvPr id="2" name="Content Placeholder"/>
          <p:cNvSpPr>
            <a:spLocks noGrp="1"/>
          </p:cNvSpPr>
          <p:nvPr>
            <p:ph sz="half" idx="2"/>
          </p:nvPr>
        </p:nvSpPr>
        <p:spPr>
          <a:xfrm>
            <a:off x="420624" y="3511296"/>
            <a:ext cx="11347704" cy="2542032"/>
          </a:xfrm>
        </p:spPr>
        <p:txBody>
          <a:bodyPr wrap="square">
            <a:normAutofit fontScale="70000" lnSpcReduction="20000"/>
          </a:bodyPr>
          <a:lstStyle/>
          <a:p>
            <a:pPr marL="0" indent="0">
              <a:buNone/>
            </a:pPr>
            <a:r>
              <a:rPr lang="en-CA" b="1" dirty="0"/>
              <a:t>Two equations, two unknowns - solve numerically given E, </a:t>
            </a:r>
            <a:r>
              <a:rPr lang="en-CA" dirty="0" err="1"/>
              <a:t>σ</a:t>
            </a:r>
            <a:r>
              <a:rPr lang="en-CA" baseline="-25000" dirty="0" err="1"/>
              <a:t>E</a:t>
            </a:r>
            <a:r>
              <a:rPr lang="en-CA" b="1" dirty="0"/>
              <a:t>, D</a:t>
            </a:r>
          </a:p>
          <a:p>
            <a:r>
              <a:rPr lang="en-CA" dirty="0"/>
              <a:t>E = current market cap (observable)</a:t>
            </a:r>
          </a:p>
          <a:p>
            <a:r>
              <a:rPr lang="en-CA" dirty="0"/>
              <a:t>V = current asset value (latent, to be solved)</a:t>
            </a:r>
          </a:p>
          <a:p>
            <a:r>
              <a:rPr lang="en-CA" dirty="0"/>
              <a:t>D = face value of debt (from balance sheet)</a:t>
            </a:r>
          </a:p>
          <a:p>
            <a:r>
              <a:rPr lang="en-CA" dirty="0"/>
              <a:t>r = risk-free rate (for example 1-year T-bill)</a:t>
            </a:r>
          </a:p>
          <a:p>
            <a:r>
              <a:rPr lang="en-CA" dirty="0"/>
              <a:t>T = debt maturity (often 1 year)</a:t>
            </a:r>
          </a:p>
          <a:p>
            <a:r>
              <a:rPr lang="en-CA" dirty="0" err="1"/>
              <a:t>σ</a:t>
            </a:r>
            <a:r>
              <a:rPr lang="en-CA" baseline="-25000" dirty="0" err="1"/>
              <a:t>V</a:t>
            </a:r>
            <a:r>
              <a:rPr lang="en-CA" baseline="-25000" dirty="0"/>
              <a:t> </a:t>
            </a:r>
            <a:r>
              <a:rPr lang="en-CA" dirty="0"/>
              <a:t>= asset volatility (latent, to be solved)</a:t>
            </a:r>
          </a:p>
          <a:p>
            <a:r>
              <a:rPr lang="en-CA" dirty="0"/>
              <a:t>N(.) = standard normal CDF; risk-neutral PD = N(-d2)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Distance to Default</a:t>
            </a:r>
            <a:endParaRPr b="1" dirty="0">
              <a:latin typeface="Arial" panose="020B0604020202020204" pitchFamily="34" charset="0"/>
              <a:cs typeface="Arial" panose="020B0604020202020204" pitchFamily="34" charset="0"/>
            </a:endParaRPr>
          </a:p>
        </p:txBody>
      </p:sp>
      <p:pic>
        <p:nvPicPr>
          <p:cNvPr id="4022" name="Picture 4021" descr="f_dd.png"/>
          <p:cNvPicPr>
            <a:picLocks noChangeAspect="1"/>
          </p:cNvPicPr>
          <p:nvPr/>
        </p:nvPicPr>
        <p:blipFill>
          <a:blip r:embed="rId3"/>
          <a:stretch>
            <a:fillRect/>
          </a:stretch>
        </p:blipFill>
        <p:spPr>
          <a:xfrm>
            <a:off x="3962399" y="804672"/>
            <a:ext cx="3870783" cy="956203"/>
          </a:xfrm>
          <a:prstGeom prst="rect">
            <a:avLst/>
          </a:prstGeom>
        </p:spPr>
      </p:pic>
      <p:pic>
        <p:nvPicPr>
          <p:cNvPr id="4023" name="Picture 4022" descr="f_pd.png"/>
          <p:cNvPicPr>
            <a:picLocks noChangeAspect="1"/>
          </p:cNvPicPr>
          <p:nvPr/>
        </p:nvPicPr>
        <p:blipFill>
          <a:blip r:embed="rId4"/>
          <a:stretch>
            <a:fillRect/>
          </a:stretch>
        </p:blipFill>
        <p:spPr>
          <a:xfrm>
            <a:off x="2743200" y="1828800"/>
            <a:ext cx="6529793" cy="475488"/>
          </a:xfrm>
          <a:prstGeom prst="rect">
            <a:avLst/>
          </a:prstGeom>
        </p:spPr>
      </p:pic>
      <p:sp>
        <p:nvSpPr>
          <p:cNvPr id="2" name="Content Placeholder"/>
          <p:cNvSpPr>
            <a:spLocks noGrp="1"/>
          </p:cNvSpPr>
          <p:nvPr>
            <p:ph sz="half" idx="2"/>
          </p:nvPr>
        </p:nvSpPr>
        <p:spPr>
          <a:xfrm>
            <a:off x="420624" y="2889504"/>
            <a:ext cx="11347704" cy="3163824"/>
          </a:xfrm>
        </p:spPr>
        <p:txBody>
          <a:bodyPr wrap="square">
            <a:normAutofit lnSpcReduction="10000"/>
          </a:bodyPr>
          <a:lstStyle/>
          <a:p>
            <a:pPr marL="0" indent="0">
              <a:buNone/>
            </a:pPr>
            <a:r>
              <a:rPr lang="en-CA" b="1" dirty="0"/>
              <a:t>KMV-Merton distance-to-default - the industry workhorse</a:t>
            </a:r>
          </a:p>
          <a:p>
            <a:r>
              <a:rPr lang="en-CA" dirty="0"/>
              <a:t>DD = number of sigma units between current asset value and default point</a:t>
            </a:r>
          </a:p>
          <a:p>
            <a:r>
              <a:rPr lang="en-CA" dirty="0"/>
              <a:t>Large DD means far from default means low PD</a:t>
            </a:r>
          </a:p>
          <a:p>
            <a:r>
              <a:rPr lang="en-CA" dirty="0"/>
              <a:t>Small or negative DD means near or past the default barrier</a:t>
            </a:r>
          </a:p>
          <a:p>
            <a:r>
              <a:rPr lang="en-CA" dirty="0"/>
              <a:t>mu = physical drift (expected asset return); use r for risk-neutral</a:t>
            </a:r>
          </a:p>
          <a:p>
            <a:r>
              <a:rPr lang="en-CA" dirty="0"/>
              <a:t>KMV / Moody's Analytics commercialised this as the EDF metric</a:t>
            </a:r>
          </a:p>
          <a:p>
            <a:r>
              <a:rPr lang="en-CA" dirty="0"/>
              <a:t>Typical investment-grade firm: DD above 4; distressed firm: DD below 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PD, Credit Spread and Expected Loss</a:t>
            </a:r>
            <a:endParaRPr b="1" dirty="0">
              <a:latin typeface="Arial" panose="020B0604020202020204" pitchFamily="34" charset="0"/>
              <a:cs typeface="Arial" panose="020B0604020202020204" pitchFamily="34" charset="0"/>
            </a:endParaRPr>
          </a:p>
        </p:txBody>
      </p:sp>
      <p:pic>
        <p:nvPicPr>
          <p:cNvPr id="4024" name="Picture 4023" descr="f_pd.png"/>
          <p:cNvPicPr>
            <a:picLocks noChangeAspect="1"/>
          </p:cNvPicPr>
          <p:nvPr/>
        </p:nvPicPr>
        <p:blipFill>
          <a:blip r:embed="rId3"/>
          <a:stretch>
            <a:fillRect/>
          </a:stretch>
        </p:blipFill>
        <p:spPr>
          <a:xfrm>
            <a:off x="2829579" y="990600"/>
            <a:ext cx="6529793" cy="475488"/>
          </a:xfrm>
          <a:prstGeom prst="rect">
            <a:avLst/>
          </a:prstGeom>
        </p:spPr>
      </p:pic>
      <p:pic>
        <p:nvPicPr>
          <p:cNvPr id="4025" name="Picture 4024" descr="f_spread.png"/>
          <p:cNvPicPr>
            <a:picLocks noChangeAspect="1"/>
          </p:cNvPicPr>
          <p:nvPr/>
        </p:nvPicPr>
        <p:blipFill>
          <a:blip r:embed="rId4"/>
          <a:stretch>
            <a:fillRect/>
          </a:stretch>
        </p:blipFill>
        <p:spPr>
          <a:xfrm>
            <a:off x="4009735" y="1553474"/>
            <a:ext cx="5755220" cy="656326"/>
          </a:xfrm>
          <a:prstGeom prst="rect">
            <a:avLst/>
          </a:prstGeom>
        </p:spPr>
      </p:pic>
      <p:pic>
        <p:nvPicPr>
          <p:cNvPr id="4026" name="Picture 4025" descr="f_el.png"/>
          <p:cNvPicPr>
            <a:picLocks noChangeAspect="1"/>
          </p:cNvPicPr>
          <p:nvPr/>
        </p:nvPicPr>
        <p:blipFill>
          <a:blip r:embed="rId5"/>
          <a:stretch>
            <a:fillRect/>
          </a:stretch>
        </p:blipFill>
        <p:spPr>
          <a:xfrm>
            <a:off x="3968601" y="2359152"/>
            <a:ext cx="3651399" cy="408056"/>
          </a:xfrm>
          <a:prstGeom prst="rect">
            <a:avLst/>
          </a:prstGeom>
        </p:spPr>
      </p:pic>
      <p:sp>
        <p:nvSpPr>
          <p:cNvPr id="2" name="Content Placeholder"/>
          <p:cNvSpPr>
            <a:spLocks noGrp="1"/>
          </p:cNvSpPr>
          <p:nvPr>
            <p:ph sz="half" idx="2"/>
          </p:nvPr>
        </p:nvSpPr>
        <p:spPr>
          <a:xfrm>
            <a:off x="420624" y="3102864"/>
            <a:ext cx="11347704" cy="2950464"/>
          </a:xfrm>
        </p:spPr>
        <p:txBody>
          <a:bodyPr wrap="square">
            <a:normAutofit fontScale="85000" lnSpcReduction="20000"/>
          </a:bodyPr>
          <a:lstStyle/>
          <a:p>
            <a:pPr marL="0" indent="0">
              <a:buNone/>
            </a:pPr>
            <a:r>
              <a:rPr lang="en-CA" b="1" dirty="0"/>
              <a:t>Connecting Merton to the credit spread market and Basel capital</a:t>
            </a:r>
          </a:p>
          <a:p>
            <a:r>
              <a:rPr lang="en-CA" dirty="0"/>
              <a:t>PD = N(-d2): probability asset value falls below debt at T</a:t>
            </a:r>
          </a:p>
          <a:p>
            <a:r>
              <a:rPr lang="en-CA" dirty="0"/>
              <a:t>Spread s is the excess yield over risk-free demanded by bond investors</a:t>
            </a:r>
          </a:p>
          <a:p>
            <a:r>
              <a:rPr lang="en-CA" dirty="0"/>
              <a:t>Full Merton spread: s = -ln[N(d2) + (V/D) </a:t>
            </a:r>
            <a:r>
              <a:rPr lang="en-CA" dirty="0" err="1"/>
              <a:t>e</a:t>
            </a:r>
            <a:r>
              <a:rPr lang="en-CA" baseline="30000" dirty="0" err="1"/>
              <a:t>rT</a:t>
            </a:r>
            <a:r>
              <a:rPr lang="en-CA" dirty="0" err="1"/>
              <a:t>N</a:t>
            </a:r>
            <a:r>
              <a:rPr lang="en-CA" dirty="0"/>
              <a:t>(-d1)] / T</a:t>
            </a:r>
          </a:p>
          <a:p>
            <a:r>
              <a:rPr lang="en-CA" dirty="0"/>
              <a:t>LGD about 45% for senior unsecured (Moody's historical average)</a:t>
            </a:r>
          </a:p>
          <a:p>
            <a:r>
              <a:rPr lang="en-CA" dirty="0"/>
              <a:t>EAD = current loan or bond notional exposure</a:t>
            </a:r>
          </a:p>
          <a:p>
            <a:r>
              <a:rPr lang="en-CA" dirty="0"/>
              <a:t>EL is the accounting provision (IFRS 9 / Basel expected loss)</a:t>
            </a:r>
          </a:p>
          <a:p>
            <a:r>
              <a:rPr lang="en-CA" dirty="0"/>
              <a:t>Capital requirement covers </a:t>
            </a:r>
            <a:r>
              <a:rPr lang="en-CA" b="1" dirty="0"/>
              <a:t>unexpected loss = VaR(loss) - EL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Merton Model - Worked Example</a:t>
            </a:r>
            <a:endParaRPr b="1" dirty="0">
              <a:latin typeface="Arial" panose="020B0604020202020204" pitchFamily="34" charset="0"/>
              <a:cs typeface="Arial" panose="020B0604020202020204" pitchFamily="34" charset="0"/>
            </a:endParaRPr>
          </a:p>
        </p:txBody>
      </p:sp>
      <p:pic>
        <p:nvPicPr>
          <p:cNvPr id="4026" name="Picture 4025" descr="f_bs.png"/>
          <p:cNvPicPr>
            <a:picLocks noChangeAspect="1"/>
          </p:cNvPicPr>
          <p:nvPr/>
        </p:nvPicPr>
        <p:blipFill>
          <a:blip r:embed="rId3"/>
          <a:stretch>
            <a:fillRect/>
          </a:stretch>
        </p:blipFill>
        <p:spPr>
          <a:xfrm>
            <a:off x="3851573" y="838200"/>
            <a:ext cx="4485805" cy="475488"/>
          </a:xfrm>
          <a:prstGeom prst="rect">
            <a:avLst/>
          </a:prstGeom>
        </p:spPr>
      </p:pic>
      <p:pic>
        <p:nvPicPr>
          <p:cNvPr id="4027" name="Picture 4026" descr="f_vollink.png"/>
          <p:cNvPicPr>
            <a:picLocks noChangeAspect="1"/>
          </p:cNvPicPr>
          <p:nvPr/>
        </p:nvPicPr>
        <p:blipFill>
          <a:blip r:embed="rId4"/>
          <a:stretch>
            <a:fillRect/>
          </a:stretch>
        </p:blipFill>
        <p:spPr>
          <a:xfrm>
            <a:off x="4464812" y="1353312"/>
            <a:ext cx="3259328" cy="475488"/>
          </a:xfrm>
          <a:prstGeom prst="rect">
            <a:avLst/>
          </a:prstGeom>
        </p:spPr>
      </p:pic>
      <p:sp>
        <p:nvSpPr>
          <p:cNvPr id="2" name="Content Placeholder"/>
          <p:cNvSpPr>
            <a:spLocks noGrp="1"/>
          </p:cNvSpPr>
          <p:nvPr>
            <p:ph sz="half" idx="2"/>
          </p:nvPr>
        </p:nvSpPr>
        <p:spPr>
          <a:xfrm>
            <a:off x="420624" y="1915013"/>
            <a:ext cx="11347704" cy="4138315"/>
          </a:xfrm>
        </p:spPr>
        <p:txBody>
          <a:bodyPr wrap="square">
            <a:normAutofit fontScale="85000" lnSpcReduction="20000"/>
          </a:bodyPr>
          <a:lstStyle/>
          <a:p>
            <a:pPr marL="0" indent="0">
              <a:buNone/>
            </a:pPr>
            <a:r>
              <a:rPr lang="en-CA" b="1" dirty="0"/>
              <a:t>Given (calibrating distance-to-default from observable equity data)</a:t>
            </a:r>
          </a:p>
          <a:p>
            <a:r>
              <a:rPr lang="en-CA" dirty="0"/>
              <a:t>Market cap E = 50B USD; equity volatility </a:t>
            </a:r>
            <a:r>
              <a:rPr lang="en-CA" dirty="0" err="1"/>
              <a:t>σ</a:t>
            </a:r>
            <a:r>
              <a:rPr lang="en-CA" baseline="-25000" dirty="0" err="1"/>
              <a:t>E</a:t>
            </a:r>
            <a:r>
              <a:rPr lang="en-CA" dirty="0"/>
              <a:t>= 30% p.a.</a:t>
            </a:r>
          </a:p>
          <a:p>
            <a:r>
              <a:rPr lang="en-CA" dirty="0"/>
              <a:t>Total debt D = 70B USD; risk-free rate r = 4.5%; debt maturity T = 1 year</a:t>
            </a:r>
          </a:p>
          <a:p>
            <a:r>
              <a:rPr lang="en-CA" dirty="0"/>
              <a:t>Solve for asset value V and asset volatility </a:t>
            </a:r>
            <a:r>
              <a:rPr lang="en-CA" dirty="0" err="1"/>
              <a:t>σ</a:t>
            </a:r>
            <a:r>
              <a:rPr lang="en-CA" baseline="-25000" dirty="0" err="1"/>
              <a:t>V</a:t>
            </a:r>
            <a:r>
              <a:rPr lang="en-CA" dirty="0"/>
              <a:t>, then compute DD and PD</a:t>
            </a:r>
          </a:p>
          <a:p>
            <a:pPr marL="0" indent="0">
              <a:buNone/>
            </a:pPr>
            <a:r>
              <a:rPr lang="en-CA" b="1" dirty="0"/>
              <a:t>Solution</a:t>
            </a:r>
          </a:p>
          <a:p>
            <a:r>
              <a:rPr lang="en-CA" dirty="0"/>
              <a:t>Initial guess: V0 = E + D = 120B USD; σ</a:t>
            </a:r>
            <a:r>
              <a:rPr lang="en-CA" baseline="-25000" dirty="0"/>
              <a:t>V0</a:t>
            </a:r>
            <a:r>
              <a:rPr lang="en-CA" dirty="0"/>
              <a:t>= </a:t>
            </a:r>
            <a:r>
              <a:rPr lang="en-CA" dirty="0" err="1"/>
              <a:t>σ</a:t>
            </a:r>
            <a:r>
              <a:rPr lang="en-CA" baseline="-25000" dirty="0" err="1"/>
              <a:t>E</a:t>
            </a:r>
            <a:r>
              <a:rPr lang="en-CA" dirty="0"/>
              <a:t> x E/V</a:t>
            </a:r>
            <a:r>
              <a:rPr lang="en-CA" baseline="-25000" dirty="0"/>
              <a:t>0</a:t>
            </a:r>
            <a:r>
              <a:rPr lang="en-CA" dirty="0"/>
              <a:t> = 12.5%</a:t>
            </a:r>
          </a:p>
          <a:p>
            <a:r>
              <a:rPr lang="en-CA" dirty="0"/>
              <a:t>Solve the two-equation system numerically (fsolve)</a:t>
            </a:r>
          </a:p>
          <a:p>
            <a:r>
              <a:rPr lang="en-CA" dirty="0"/>
              <a:t>Converges to: V about 116.9B USD, </a:t>
            </a:r>
            <a:r>
              <a:rPr lang="en-CA" dirty="0" err="1"/>
              <a:t>σ</a:t>
            </a:r>
            <a:r>
              <a:rPr lang="en-CA" baseline="-25000" dirty="0" err="1"/>
              <a:t>V</a:t>
            </a:r>
            <a:r>
              <a:rPr lang="en-CA" dirty="0"/>
              <a:t> about 12.8%</a:t>
            </a:r>
          </a:p>
          <a:p>
            <a:r>
              <a:rPr lang="en-CA" dirty="0"/>
              <a:t>d1 = 4.82, d2 = 4.30, DD = 4.30</a:t>
            </a:r>
          </a:p>
          <a:p>
            <a:r>
              <a:rPr lang="en-CA" dirty="0"/>
              <a:t>Risk-neutral PD = N(-4.30) about 0.0008%</a:t>
            </a:r>
          </a:p>
          <a:p>
            <a:r>
              <a:rPr lang="en-CA" dirty="0"/>
              <a:t>Answer: DD = 4.30 standard deviations; PD about 0.001%, well above investment-grade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PD Sensitivity: Leverage and Volatility</a:t>
            </a:r>
            <a:endParaRPr b="1" dirty="0">
              <a:latin typeface="Arial" panose="020B0604020202020204" pitchFamily="34" charset="0"/>
              <a:cs typeface="Arial" panose="020B0604020202020204" pitchFamily="34" charset="0"/>
            </a:endParaRPr>
          </a:p>
        </p:txBody>
      </p:sp>
      <p:sp>
        <p:nvSpPr>
          <p:cNvPr id="4028" name="Content Placeholder"/>
          <p:cNvSpPr>
            <a:spLocks noGrp="1"/>
          </p:cNvSpPr>
          <p:nvPr>
            <p:ph sz="half" idx="2"/>
          </p:nvPr>
        </p:nvSpPr>
        <p:spPr/>
        <p:txBody>
          <a:bodyPr wrap="square">
            <a:normAutofit fontScale="92500" lnSpcReduction="20000"/>
          </a:bodyPr>
          <a:lstStyle/>
          <a:p>
            <a:pPr marL="0" indent="0">
              <a:buNone/>
            </a:pPr>
            <a:r>
              <a:rPr lang="en-CA" b="1" dirty="0"/>
              <a:t>Merton PD = N(-d2) maps the entire leverage/volatility state space to a probability</a:t>
            </a:r>
          </a:p>
          <a:p>
            <a:r>
              <a:rPr lang="en-CA" dirty="0"/>
              <a:t>PD is highly nonlinear: small changes in V/D near 1.0 cause large PD swings</a:t>
            </a:r>
          </a:p>
          <a:p>
            <a:r>
              <a:rPr lang="en-CA" dirty="0"/>
              <a:t>Higher asset volatility means higher PD for a given leverage (all else equal)</a:t>
            </a:r>
          </a:p>
          <a:p>
            <a:r>
              <a:rPr lang="en-CA" dirty="0"/>
              <a:t>Upward-sloping spread curve: investment-grade (V/D above 1.5)</a:t>
            </a:r>
          </a:p>
          <a:p>
            <a:r>
              <a:rPr lang="en-CA" dirty="0"/>
              <a:t>Hump-shaped or downward-sloping curve: distressed (V/D near 1.0)</a:t>
            </a:r>
          </a:p>
          <a:p>
            <a:r>
              <a:rPr lang="en-CA" dirty="0"/>
              <a:t>Lab Section 4: 2D PD surface over (V/D, </a:t>
            </a:r>
            <a:r>
              <a:rPr lang="en-CA" dirty="0" err="1"/>
              <a:t>σ</a:t>
            </a:r>
            <a:r>
              <a:rPr lang="en-CA" baseline="-25000" dirty="0" err="1"/>
              <a:t>V</a:t>
            </a:r>
            <a:r>
              <a:rPr lang="en-CA" dirty="0"/>
              <a:t>), the key insight visualised</a:t>
            </a:r>
          </a:p>
          <a:p>
            <a:endParaRPr lang="en-CA" dirty="0"/>
          </a:p>
          <a:p>
            <a:pPr marL="0" indent="0">
              <a:buNone/>
            </a:pPr>
            <a:r>
              <a:rPr lang="en-CA" b="1" dirty="0"/>
              <a:t>Key Merton limitations</a:t>
            </a:r>
          </a:p>
          <a:p>
            <a:r>
              <a:rPr lang="en-CA" dirty="0"/>
              <a:t>Single debt maturity; constant risk-free rate; no liquidity premium</a:t>
            </a:r>
          </a:p>
          <a:p>
            <a:r>
              <a:rPr lang="en-CA" dirty="0"/>
              <a:t>Continuous asset trading assumed (no jumps)</a:t>
            </a:r>
          </a:p>
          <a:p>
            <a:r>
              <a:rPr lang="en-CA" dirty="0"/>
              <a:t>Explains only a fraction of observed credit spreads (Elton et al. 2001)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Block 3: Credit Spreads</a:t>
            </a:r>
            <a:endParaRPr b="1" dirty="0">
              <a:latin typeface="Arial" panose="020B0604020202020204" pitchFamily="34" charset="0"/>
              <a:cs typeface="Arial" panose="020B0604020202020204" pitchFamily="34" charset="0"/>
            </a:endParaRPr>
          </a:p>
        </p:txBody>
      </p:sp>
      <p:sp>
        <p:nvSpPr>
          <p:cNvPr id="4030" name="Content Placeholder"/>
          <p:cNvSpPr>
            <a:spLocks noGrp="1"/>
          </p:cNvSpPr>
          <p:nvPr>
            <p:ph sz="half" idx="2"/>
          </p:nvPr>
        </p:nvSpPr>
        <p:spPr/>
        <p:txBody>
          <a:bodyPr wrap="square">
            <a:normAutofit/>
          </a:bodyPr>
          <a:lstStyle/>
          <a:p>
            <a:pPr marL="0" indent="0">
              <a:buNone/>
            </a:pPr>
            <a:r>
              <a:rPr lang="en-CA" b="1" dirty="0"/>
              <a:t>Theoretical pricing, term structure and the spread puzzle</a:t>
            </a:r>
          </a:p>
          <a:p>
            <a:r>
              <a:rPr lang="en-CA" dirty="0"/>
              <a:t>From the structural model to prices quoted in the bond and CDS markets</a:t>
            </a:r>
          </a:p>
          <a:p>
            <a:r>
              <a:rPr lang="en-CA" dirty="0"/>
              <a:t>Why observed spreads sit far above the Merton expected-loss component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Credit Spreads - Theory</a:t>
            </a:r>
            <a:endParaRPr b="1" dirty="0">
              <a:latin typeface="Arial" panose="020B0604020202020204" pitchFamily="34" charset="0"/>
              <a:cs typeface="Arial" panose="020B0604020202020204" pitchFamily="34" charset="0"/>
            </a:endParaRPr>
          </a:p>
        </p:txBody>
      </p:sp>
      <p:pic>
        <p:nvPicPr>
          <p:cNvPr id="4032" name="Picture 4031" descr="f_mertonspread.png"/>
          <p:cNvPicPr>
            <a:picLocks noChangeAspect="1"/>
          </p:cNvPicPr>
          <p:nvPr/>
        </p:nvPicPr>
        <p:blipFill>
          <a:blip r:embed="rId3"/>
          <a:stretch>
            <a:fillRect/>
          </a:stretch>
        </p:blipFill>
        <p:spPr>
          <a:xfrm>
            <a:off x="3581400" y="1129636"/>
            <a:ext cx="4628323" cy="624605"/>
          </a:xfrm>
          <a:prstGeom prst="rect">
            <a:avLst/>
          </a:prstGeom>
        </p:spPr>
      </p:pic>
      <p:sp>
        <p:nvSpPr>
          <p:cNvPr id="2" name="Content Placeholder"/>
          <p:cNvSpPr>
            <a:spLocks noGrp="1"/>
          </p:cNvSpPr>
          <p:nvPr>
            <p:ph sz="half" idx="2"/>
          </p:nvPr>
        </p:nvSpPr>
        <p:spPr>
          <a:xfrm>
            <a:off x="420624" y="2267712"/>
            <a:ext cx="11347704" cy="3785616"/>
          </a:xfrm>
        </p:spPr>
        <p:txBody>
          <a:bodyPr wrap="square">
            <a:normAutofit fontScale="92500" lnSpcReduction="10000"/>
          </a:bodyPr>
          <a:lstStyle/>
          <a:p>
            <a:pPr marL="0" indent="0">
              <a:buNone/>
            </a:pPr>
            <a:r>
              <a:rPr lang="en-CA" b="1" dirty="0"/>
              <a:t>Credit spreads are the market price of credit risk - linking PD, LGD and risk premia</a:t>
            </a:r>
          </a:p>
          <a:p>
            <a:r>
              <a:rPr lang="en-CA" dirty="0"/>
              <a:t>Credit spread = excess yield on a risky bond over the risk-free rate of equal maturity</a:t>
            </a:r>
          </a:p>
          <a:p>
            <a:r>
              <a:rPr lang="en-CA" dirty="0"/>
              <a:t>Observable: OAS (option-adjusted spread) on corporate bonds; CDS premium</a:t>
            </a:r>
          </a:p>
          <a:p>
            <a:r>
              <a:rPr lang="en-CA" dirty="0"/>
              <a:t>Merton theoretical spread shown above (upward-sloping for IG, hump-shaped for distressed)</a:t>
            </a:r>
          </a:p>
          <a:p>
            <a:r>
              <a:rPr lang="en-CA" dirty="0"/>
              <a:t>The spread puzzle: Merton spreads are far below observed spreads</a:t>
            </a:r>
          </a:p>
          <a:p>
            <a:r>
              <a:rPr lang="en-CA" dirty="0"/>
              <a:t>Elton et al. (2001): about 37% of AAA spread = expected loss, rest = taxes and risk premium</a:t>
            </a:r>
          </a:p>
          <a:p>
            <a:r>
              <a:rPr lang="en-CA" dirty="0"/>
              <a:t>CDS versus bond spread: CDS is cleaner - no embedded options, liquidity terms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Credit Spread Formula and Term Structure</a:t>
            </a:r>
            <a:endParaRPr b="1" dirty="0">
              <a:latin typeface="Arial" panose="020B0604020202020204" pitchFamily="34" charset="0"/>
              <a:cs typeface="Arial" panose="020B0604020202020204" pitchFamily="34" charset="0"/>
            </a:endParaRPr>
          </a:p>
        </p:txBody>
      </p:sp>
      <p:pic>
        <p:nvPicPr>
          <p:cNvPr id="4034" name="Picture 4033" descr="f_bond.png"/>
          <p:cNvPicPr>
            <a:picLocks noChangeAspect="1"/>
          </p:cNvPicPr>
          <p:nvPr/>
        </p:nvPicPr>
        <p:blipFill>
          <a:blip r:embed="rId3"/>
          <a:stretch>
            <a:fillRect/>
          </a:stretch>
        </p:blipFill>
        <p:spPr>
          <a:xfrm>
            <a:off x="3440589" y="1066800"/>
            <a:ext cx="5307773" cy="475488"/>
          </a:xfrm>
          <a:prstGeom prst="rect">
            <a:avLst/>
          </a:prstGeom>
        </p:spPr>
      </p:pic>
      <p:pic>
        <p:nvPicPr>
          <p:cNvPr id="4035" name="Picture 4034" descr="f_bondspread.png"/>
          <p:cNvPicPr>
            <a:picLocks noChangeAspect="1"/>
          </p:cNvPicPr>
          <p:nvPr/>
        </p:nvPicPr>
        <p:blipFill>
          <a:blip r:embed="rId4"/>
          <a:stretch>
            <a:fillRect/>
          </a:stretch>
        </p:blipFill>
        <p:spPr>
          <a:xfrm>
            <a:off x="3886201" y="1524000"/>
            <a:ext cx="3699022" cy="589919"/>
          </a:xfrm>
          <a:prstGeom prst="rect">
            <a:avLst/>
          </a:prstGeom>
        </p:spPr>
      </p:pic>
      <p:sp>
        <p:nvSpPr>
          <p:cNvPr id="2" name="Content Placeholder"/>
          <p:cNvSpPr>
            <a:spLocks noGrp="1"/>
          </p:cNvSpPr>
          <p:nvPr>
            <p:ph sz="half" idx="2"/>
          </p:nvPr>
        </p:nvSpPr>
        <p:spPr>
          <a:xfrm>
            <a:off x="420624" y="2362200"/>
            <a:ext cx="11347704" cy="3691128"/>
          </a:xfrm>
        </p:spPr>
        <p:txBody>
          <a:bodyPr wrap="square">
            <a:normAutofit/>
          </a:bodyPr>
          <a:lstStyle/>
          <a:p>
            <a:pPr marL="0" indent="0">
              <a:buNone/>
            </a:pPr>
            <a:r>
              <a:rPr lang="en-CA" b="1" dirty="0"/>
              <a:t>Bond investors require a premium above risk-free to compensate for default risk</a:t>
            </a:r>
          </a:p>
          <a:p>
            <a:r>
              <a:rPr lang="en-CA" dirty="0"/>
              <a:t>B(T): risky bond value from the Merton framework</a:t>
            </a:r>
          </a:p>
          <a:p>
            <a:r>
              <a:rPr lang="en-CA" dirty="0"/>
              <a:t>N(d2) = probability debt is paid in full (risk-neutral); N(-d1) = probability lenders inherit the firm</a:t>
            </a:r>
          </a:p>
          <a:p>
            <a:r>
              <a:rPr lang="en-CA" dirty="0"/>
              <a:t>Spread is in annualised terms; in bps, multiply by 10,000</a:t>
            </a:r>
          </a:p>
          <a:p>
            <a:r>
              <a:rPr lang="en-CA" dirty="0"/>
              <a:t>Investment-grade: spread rises with maturity (upward slope)</a:t>
            </a:r>
          </a:p>
          <a:p>
            <a:r>
              <a:rPr lang="en-CA" dirty="0"/>
              <a:t>Distressed: short-term spread very high, an inverted shape</a:t>
            </a:r>
          </a:p>
          <a:p>
            <a:r>
              <a:rPr lang="en-CA" dirty="0"/>
              <a:t>Intuition: near default, 1-year PD is far above 5-year conditional PD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1C7BDD-0663-7141-AFF9-874383E3B200}"/>
              </a:ext>
            </a:extLst>
          </p:cNvPr>
          <p:cNvSpPr>
            <a:spLocks noGrp="1"/>
          </p:cNvSpPr>
          <p:nvPr>
            <p:ph type="title"/>
          </p:nvPr>
        </p:nvSpPr>
        <p:spPr>
          <a:xfrm>
            <a:off x="1752600" y="457198"/>
            <a:ext cx="7772400" cy="609600"/>
          </a:xfrm>
        </p:spPr>
        <p:txBody>
          <a:bodyPr>
            <a:normAutofit/>
          </a:bodyPr>
          <a:lstStyle/>
          <a:p>
            <a:r>
              <a:rPr lang="en-US" sz="3200" b="1" dirty="0">
                <a:latin typeface="Arial" panose="020B0604020202020204" pitchFamily="34" charset="0"/>
                <a:cs typeface="Arial" panose="020B0604020202020204" pitchFamily="34" charset="0"/>
              </a:rPr>
              <a:t>Credit Value Adjustment Calculation</a:t>
            </a:r>
          </a:p>
        </p:txBody>
      </p:sp>
      <p:sp>
        <p:nvSpPr>
          <p:cNvPr id="4" name="Slide Number Placeholder 3"/>
          <p:cNvSpPr>
            <a:spLocks noGrp="1"/>
          </p:cNvSpPr>
          <p:nvPr>
            <p:ph type="sldNum" sz="quarter" idx="12"/>
          </p:nvPr>
        </p:nvSpPr>
        <p:spPr/>
        <p:txBody>
          <a:bodyPr/>
          <a:lstStyle/>
          <a:p>
            <a:fld id="{4E4A4924-7CC3-4BF6-9C5C-A8E770D15754}" type="slidenum">
              <a:rPr lang="en-AU" smtClean="0"/>
              <a:t>28</a:t>
            </a:fld>
            <a:endParaRPr lang="en-AU"/>
          </a:p>
        </p:txBody>
      </p:sp>
      <p:sp>
        <p:nvSpPr>
          <p:cNvPr id="8" name="TextBox 7">
            <a:extLst>
              <a:ext uri="{FF2B5EF4-FFF2-40B4-BE49-F238E27FC236}">
                <a16:creationId xmlns:a16="http://schemas.microsoft.com/office/drawing/2014/main" id="{895F86D2-3C15-EC44-9A01-2354CF155582}"/>
              </a:ext>
            </a:extLst>
          </p:cNvPr>
          <p:cNvSpPr txBox="1"/>
          <p:nvPr/>
        </p:nvSpPr>
        <p:spPr>
          <a:xfrm>
            <a:off x="685800" y="1295400"/>
            <a:ext cx="10668000" cy="1823933"/>
          </a:xfrm>
          <a:prstGeom prst="rect">
            <a:avLst/>
          </a:prstGeom>
          <a:noFill/>
        </p:spPr>
        <p:txBody>
          <a:bodyPr wrap="square" rtlCol="0">
            <a:noAutofit/>
          </a:bodyPr>
          <a:lstStyle/>
          <a:p>
            <a:r>
              <a:rPr lang="en-US" sz="2000" dirty="0"/>
              <a:t>An analyst believes that the credit risk on a 3-year, 8% annual payment corporate bond can be expressed by an annual probability of default 2% and a recovery rate of 35%. Given that the government yield curve is flat at 3%, calculate the credit spread and credit valuation adjustment for the bond.</a:t>
            </a:r>
          </a:p>
          <a:p>
            <a:r>
              <a:rPr lang="en-US" sz="2000" dirty="0"/>
              <a:t>This table summarizes the preliminary results, the calculations are shown on the following slides.</a:t>
            </a:r>
          </a:p>
          <a:p>
            <a:endParaRPr lang="en-US" sz="2000" dirty="0"/>
          </a:p>
        </p:txBody>
      </p:sp>
      <p:graphicFrame>
        <p:nvGraphicFramePr>
          <p:cNvPr id="2" name="Table 1">
            <a:extLst>
              <a:ext uri="{FF2B5EF4-FFF2-40B4-BE49-F238E27FC236}">
                <a16:creationId xmlns:a16="http://schemas.microsoft.com/office/drawing/2014/main" id="{7A4010EF-0F37-BD34-13D7-22030CBF454F}"/>
              </a:ext>
            </a:extLst>
          </p:cNvPr>
          <p:cNvGraphicFramePr>
            <a:graphicFrameLocks noGrp="1"/>
          </p:cNvGraphicFramePr>
          <p:nvPr>
            <p:extLst>
              <p:ext uri="{D42A27DB-BD31-4B8C-83A1-F6EECF244321}">
                <p14:modId xmlns:p14="http://schemas.microsoft.com/office/powerpoint/2010/main" val="1474949624"/>
              </p:ext>
            </p:extLst>
          </p:nvPr>
        </p:nvGraphicFramePr>
        <p:xfrm>
          <a:off x="812793" y="3048000"/>
          <a:ext cx="9855207" cy="3602142"/>
        </p:xfrm>
        <a:graphic>
          <a:graphicData uri="http://schemas.openxmlformats.org/drawingml/2006/table">
            <a:tbl>
              <a:tblPr firstRow="1" bandRow="1">
                <a:tableStyleId>{5940675A-B579-460E-94D1-54222C63F5DA}</a:tableStyleId>
              </a:tblPr>
              <a:tblGrid>
                <a:gridCol w="1095023">
                  <a:extLst>
                    <a:ext uri="{9D8B030D-6E8A-4147-A177-3AD203B41FA5}">
                      <a16:colId xmlns:a16="http://schemas.microsoft.com/office/drawing/2014/main" val="2271135793"/>
                    </a:ext>
                  </a:extLst>
                </a:gridCol>
                <a:gridCol w="1095023">
                  <a:extLst>
                    <a:ext uri="{9D8B030D-6E8A-4147-A177-3AD203B41FA5}">
                      <a16:colId xmlns:a16="http://schemas.microsoft.com/office/drawing/2014/main" val="2651049951"/>
                    </a:ext>
                  </a:extLst>
                </a:gridCol>
                <a:gridCol w="1095023">
                  <a:extLst>
                    <a:ext uri="{9D8B030D-6E8A-4147-A177-3AD203B41FA5}">
                      <a16:colId xmlns:a16="http://schemas.microsoft.com/office/drawing/2014/main" val="1417514717"/>
                    </a:ext>
                  </a:extLst>
                </a:gridCol>
                <a:gridCol w="1095023">
                  <a:extLst>
                    <a:ext uri="{9D8B030D-6E8A-4147-A177-3AD203B41FA5}">
                      <a16:colId xmlns:a16="http://schemas.microsoft.com/office/drawing/2014/main" val="3177245066"/>
                    </a:ext>
                  </a:extLst>
                </a:gridCol>
                <a:gridCol w="1095023">
                  <a:extLst>
                    <a:ext uri="{9D8B030D-6E8A-4147-A177-3AD203B41FA5}">
                      <a16:colId xmlns:a16="http://schemas.microsoft.com/office/drawing/2014/main" val="2351538909"/>
                    </a:ext>
                  </a:extLst>
                </a:gridCol>
                <a:gridCol w="1095023">
                  <a:extLst>
                    <a:ext uri="{9D8B030D-6E8A-4147-A177-3AD203B41FA5}">
                      <a16:colId xmlns:a16="http://schemas.microsoft.com/office/drawing/2014/main" val="1223876377"/>
                    </a:ext>
                  </a:extLst>
                </a:gridCol>
                <a:gridCol w="1095023">
                  <a:extLst>
                    <a:ext uri="{9D8B030D-6E8A-4147-A177-3AD203B41FA5}">
                      <a16:colId xmlns:a16="http://schemas.microsoft.com/office/drawing/2014/main" val="1202881150"/>
                    </a:ext>
                  </a:extLst>
                </a:gridCol>
                <a:gridCol w="1095023">
                  <a:extLst>
                    <a:ext uri="{9D8B030D-6E8A-4147-A177-3AD203B41FA5}">
                      <a16:colId xmlns:a16="http://schemas.microsoft.com/office/drawing/2014/main" val="1421927376"/>
                    </a:ext>
                  </a:extLst>
                </a:gridCol>
                <a:gridCol w="1095023">
                  <a:extLst>
                    <a:ext uri="{9D8B030D-6E8A-4147-A177-3AD203B41FA5}">
                      <a16:colId xmlns:a16="http://schemas.microsoft.com/office/drawing/2014/main" val="2679096403"/>
                    </a:ext>
                  </a:extLst>
                </a:gridCol>
              </a:tblGrid>
              <a:tr h="961989">
                <a:tc>
                  <a:txBody>
                    <a:bodyPr/>
                    <a:lstStyle/>
                    <a:p>
                      <a:pPr algn="ctr" fontAlgn="b"/>
                      <a:r>
                        <a:rPr lang="en-US" sz="1800" u="none" strike="noStrike" dirty="0">
                          <a:solidFill>
                            <a:schemeClr val="tx1"/>
                          </a:solidFill>
                          <a:effectLst/>
                        </a:rPr>
                        <a:t>Date</a:t>
                      </a:r>
                      <a:endParaRPr lang="en-US" sz="1800" b="0" i="0" u="none" strike="noStrike" dirty="0">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dirty="0">
                          <a:solidFill>
                            <a:schemeClr val="tx1"/>
                          </a:solidFill>
                          <a:effectLst/>
                        </a:rPr>
                        <a:t>Exposure</a:t>
                      </a:r>
                      <a:endParaRPr lang="en-US" sz="1800" b="0" i="0" u="none" strike="noStrike" dirty="0">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dirty="0">
                          <a:solidFill>
                            <a:schemeClr val="tx1"/>
                          </a:solidFill>
                          <a:effectLst/>
                        </a:rPr>
                        <a:t>Recovery</a:t>
                      </a:r>
                      <a:endParaRPr lang="en-US" sz="1800" b="0" i="0" u="none" strike="noStrike" dirty="0">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dirty="0">
                          <a:solidFill>
                            <a:schemeClr val="tx1"/>
                          </a:solidFill>
                          <a:effectLst/>
                        </a:rPr>
                        <a:t>LGD</a:t>
                      </a:r>
                      <a:endParaRPr lang="en-US" sz="1800" b="0" i="0" u="none" strike="noStrike" dirty="0">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dirty="0">
                          <a:solidFill>
                            <a:schemeClr val="tx1"/>
                          </a:solidFill>
                          <a:effectLst/>
                        </a:rPr>
                        <a:t>POD</a:t>
                      </a:r>
                      <a:endParaRPr lang="en-US" sz="1800" b="0" i="0" u="none" strike="noStrike" dirty="0">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dirty="0">
                          <a:solidFill>
                            <a:schemeClr val="tx1"/>
                          </a:solidFill>
                          <a:effectLst/>
                        </a:rPr>
                        <a:t>POS</a:t>
                      </a:r>
                      <a:endParaRPr lang="en-US" sz="1800" b="0" i="0" u="none" strike="noStrike" dirty="0">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dirty="0">
                          <a:solidFill>
                            <a:schemeClr val="tx1"/>
                          </a:solidFill>
                          <a:effectLst/>
                        </a:rPr>
                        <a:t>Expected Loss</a:t>
                      </a:r>
                      <a:endParaRPr lang="en-US" sz="1800" b="0" i="0" u="none" strike="noStrike" dirty="0">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dirty="0">
                          <a:solidFill>
                            <a:schemeClr val="tx1"/>
                          </a:solidFill>
                          <a:effectLst/>
                        </a:rPr>
                        <a:t>DF</a:t>
                      </a:r>
                      <a:endParaRPr lang="en-US" sz="1800" b="0" i="0" u="none" strike="noStrike" dirty="0">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dirty="0">
                          <a:solidFill>
                            <a:schemeClr val="tx1"/>
                          </a:solidFill>
                          <a:effectLst/>
                        </a:rPr>
                        <a:t>PV of Expected Loss</a:t>
                      </a:r>
                      <a:endParaRPr lang="en-US" sz="1800" b="0" i="0" u="none" strike="noStrike" dirty="0">
                        <a:solidFill>
                          <a:schemeClr val="tx1"/>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043085633"/>
                  </a:ext>
                </a:extLst>
              </a:tr>
              <a:tr h="352584">
                <a:tc>
                  <a:txBody>
                    <a:bodyPr/>
                    <a:lstStyle/>
                    <a:p>
                      <a:pPr algn="ctr" fontAlgn="b"/>
                      <a:r>
                        <a:rPr lang="en-US" sz="1800" u="none" strike="noStrike" dirty="0">
                          <a:solidFill>
                            <a:schemeClr val="tx1"/>
                          </a:solidFill>
                          <a:effectLst/>
                        </a:rPr>
                        <a:t>0</a:t>
                      </a:r>
                      <a:endParaRPr lang="en-US" sz="1800" b="0" i="0" u="none" strike="noStrike" dirty="0">
                        <a:solidFill>
                          <a:schemeClr val="tx1"/>
                        </a:solidFill>
                        <a:effectLst/>
                        <a:latin typeface="Calibri" panose="020F0502020204030204" pitchFamily="34" charset="0"/>
                      </a:endParaRPr>
                    </a:p>
                  </a:txBody>
                  <a:tcPr marL="9525" marR="9525" marT="9525" marB="0" anchor="b"/>
                </a:tc>
                <a:tc>
                  <a:txBody>
                    <a:bodyPr/>
                    <a:lstStyle/>
                    <a:p>
                      <a:pPr algn="ctr" fontAlgn="b"/>
                      <a:endParaRPr lang="en-US" sz="1800" b="0" i="0" u="none" strike="noStrike" dirty="0">
                        <a:solidFill>
                          <a:schemeClr val="tx1"/>
                        </a:solidFill>
                        <a:effectLst/>
                        <a:latin typeface="Calibri" panose="020F0502020204030204" pitchFamily="34" charset="0"/>
                      </a:endParaRPr>
                    </a:p>
                  </a:txBody>
                  <a:tcPr marL="9525" marR="9525" marT="9525" marB="0" anchor="b"/>
                </a:tc>
                <a:tc>
                  <a:txBody>
                    <a:bodyPr/>
                    <a:lstStyle/>
                    <a:p>
                      <a:pPr algn="ctr" fontAlgn="b"/>
                      <a:endParaRPr lang="en-US" sz="1800" b="0" i="0" u="none" strike="noStrike" dirty="0">
                        <a:solidFill>
                          <a:schemeClr val="tx1"/>
                        </a:solidFill>
                        <a:effectLst/>
                        <a:latin typeface="Calibri" panose="020F0502020204030204" pitchFamily="34" charset="0"/>
                      </a:endParaRPr>
                    </a:p>
                  </a:txBody>
                  <a:tcPr marL="9525" marR="9525" marT="9525" marB="0" anchor="b"/>
                </a:tc>
                <a:tc>
                  <a:txBody>
                    <a:bodyPr/>
                    <a:lstStyle/>
                    <a:p>
                      <a:pPr algn="ctr" fontAlgn="b"/>
                      <a:endParaRPr lang="en-US" sz="1800" b="0" i="0" u="none" strike="noStrike" dirty="0">
                        <a:solidFill>
                          <a:schemeClr val="tx1"/>
                        </a:solidFill>
                        <a:effectLst/>
                        <a:latin typeface="Calibri" panose="020F0502020204030204" pitchFamily="34" charset="0"/>
                      </a:endParaRPr>
                    </a:p>
                  </a:txBody>
                  <a:tcPr marL="9525" marR="9525" marT="9525" marB="0" anchor="b"/>
                </a:tc>
                <a:tc>
                  <a:txBody>
                    <a:bodyPr/>
                    <a:lstStyle/>
                    <a:p>
                      <a:pPr algn="ctr" fontAlgn="b"/>
                      <a:endParaRPr lang="en-US" sz="1800" b="0" i="0" u="none" strike="noStrike" dirty="0">
                        <a:solidFill>
                          <a:schemeClr val="tx1"/>
                        </a:solidFill>
                        <a:effectLst/>
                        <a:latin typeface="Calibri" panose="020F0502020204030204" pitchFamily="34" charset="0"/>
                      </a:endParaRPr>
                    </a:p>
                  </a:txBody>
                  <a:tcPr marL="9525" marR="9525" marT="9525" marB="0" anchor="b"/>
                </a:tc>
                <a:tc>
                  <a:txBody>
                    <a:bodyPr/>
                    <a:lstStyle/>
                    <a:p>
                      <a:pPr algn="ctr" fontAlgn="b"/>
                      <a:endParaRPr lang="en-US" sz="1800" b="0" i="0" u="none" strike="noStrike" dirty="0">
                        <a:solidFill>
                          <a:schemeClr val="tx1"/>
                        </a:solidFill>
                        <a:effectLst/>
                        <a:latin typeface="Calibri" panose="020F0502020204030204" pitchFamily="34" charset="0"/>
                      </a:endParaRPr>
                    </a:p>
                  </a:txBody>
                  <a:tcPr marL="9525" marR="9525" marT="9525" marB="0" anchor="b"/>
                </a:tc>
                <a:tc>
                  <a:txBody>
                    <a:bodyPr/>
                    <a:lstStyle/>
                    <a:p>
                      <a:pPr algn="ctr" fontAlgn="b"/>
                      <a:endParaRPr lang="en-US" sz="1800" b="0" i="0" u="none" strike="noStrike" dirty="0">
                        <a:solidFill>
                          <a:schemeClr val="tx1"/>
                        </a:solidFill>
                        <a:effectLst/>
                        <a:latin typeface="Calibri" panose="020F0502020204030204" pitchFamily="34" charset="0"/>
                      </a:endParaRPr>
                    </a:p>
                  </a:txBody>
                  <a:tcPr marL="9525" marR="9525" marT="9525" marB="0" anchor="b"/>
                </a:tc>
                <a:tc>
                  <a:txBody>
                    <a:bodyPr/>
                    <a:lstStyle/>
                    <a:p>
                      <a:pPr algn="ctr" fontAlgn="b"/>
                      <a:endParaRPr lang="en-US" sz="1800" b="0" i="0" u="none" strike="noStrike" dirty="0">
                        <a:solidFill>
                          <a:schemeClr val="tx1"/>
                        </a:solidFill>
                        <a:effectLst/>
                        <a:latin typeface="Calibri" panose="020F0502020204030204" pitchFamily="34" charset="0"/>
                      </a:endParaRPr>
                    </a:p>
                  </a:txBody>
                  <a:tcPr marL="9525" marR="9525" marT="9525" marB="0" anchor="b"/>
                </a:tc>
                <a:tc>
                  <a:txBody>
                    <a:bodyPr/>
                    <a:lstStyle/>
                    <a:p>
                      <a:pPr algn="l" fontAlgn="b"/>
                      <a:endParaRPr lang="en-US" sz="1800" b="0" i="0" u="none" strike="noStrike" dirty="0">
                        <a:solidFill>
                          <a:schemeClr val="tx1"/>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2004561"/>
                  </a:ext>
                </a:extLst>
              </a:tr>
              <a:tr h="644995">
                <a:tc>
                  <a:txBody>
                    <a:bodyPr/>
                    <a:lstStyle/>
                    <a:p>
                      <a:pPr algn="ctr" fontAlgn="b"/>
                      <a:r>
                        <a:rPr lang="en-US" sz="1800" u="none" strike="noStrike">
                          <a:solidFill>
                            <a:schemeClr val="tx1"/>
                          </a:solidFill>
                          <a:effectLst/>
                        </a:rPr>
                        <a:t>1</a:t>
                      </a:r>
                      <a:endParaRPr lang="en-US" sz="1800" b="0" i="0" u="none" strike="noStrike">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dirty="0">
                          <a:solidFill>
                            <a:schemeClr val="tx1"/>
                          </a:solidFill>
                          <a:effectLst/>
                        </a:rPr>
                        <a:t>117.5673</a:t>
                      </a:r>
                      <a:endParaRPr lang="en-US" sz="1800" b="0" i="0" u="none" strike="noStrike" dirty="0">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dirty="0">
                          <a:solidFill>
                            <a:schemeClr val="tx1"/>
                          </a:solidFill>
                          <a:effectLst/>
                        </a:rPr>
                        <a:t>41.1486</a:t>
                      </a:r>
                      <a:endParaRPr lang="en-US" sz="1800" b="0" i="0" u="none" strike="noStrike" dirty="0">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a:solidFill>
                            <a:schemeClr val="tx1"/>
                          </a:solidFill>
                          <a:effectLst/>
                        </a:rPr>
                        <a:t>76.4188</a:t>
                      </a:r>
                      <a:endParaRPr lang="en-US" sz="1800" b="0" i="0" u="none" strike="noStrike">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dirty="0">
                          <a:solidFill>
                            <a:schemeClr val="tx1"/>
                          </a:solidFill>
                          <a:effectLst/>
                        </a:rPr>
                        <a:t>2.0000%</a:t>
                      </a:r>
                      <a:endParaRPr lang="en-US" sz="1800" b="0" i="0" u="none" strike="noStrike" dirty="0">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a:solidFill>
                            <a:schemeClr val="tx1"/>
                          </a:solidFill>
                          <a:effectLst/>
                        </a:rPr>
                        <a:t>98.0000%</a:t>
                      </a:r>
                      <a:endParaRPr lang="en-US" sz="1800" b="0" i="0" u="none" strike="noStrike">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a:solidFill>
                            <a:schemeClr val="tx1"/>
                          </a:solidFill>
                          <a:effectLst/>
                        </a:rPr>
                        <a:t>1.5284</a:t>
                      </a:r>
                      <a:endParaRPr lang="en-US" sz="1800" b="0" i="0" u="none" strike="noStrike">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dirty="0">
                          <a:solidFill>
                            <a:schemeClr val="tx1"/>
                          </a:solidFill>
                          <a:effectLst/>
                        </a:rPr>
                        <a:t>0.970874</a:t>
                      </a:r>
                      <a:endParaRPr lang="en-US" sz="1800" b="0" i="0" u="none" strike="noStrike" dirty="0">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dirty="0">
                          <a:solidFill>
                            <a:schemeClr val="tx1"/>
                          </a:solidFill>
                          <a:effectLst/>
                        </a:rPr>
                        <a:t>1.4839</a:t>
                      </a:r>
                      <a:endParaRPr lang="en-US" sz="1800" b="0" i="0" u="none" strike="noStrike" dirty="0">
                        <a:solidFill>
                          <a:schemeClr val="tx1"/>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77631523"/>
                  </a:ext>
                </a:extLst>
              </a:tr>
              <a:tr h="644995">
                <a:tc>
                  <a:txBody>
                    <a:bodyPr/>
                    <a:lstStyle/>
                    <a:p>
                      <a:pPr algn="ctr" fontAlgn="b"/>
                      <a:r>
                        <a:rPr lang="en-US" sz="1800" u="none" strike="noStrike">
                          <a:solidFill>
                            <a:schemeClr val="tx1"/>
                          </a:solidFill>
                          <a:effectLst/>
                        </a:rPr>
                        <a:t>2</a:t>
                      </a:r>
                      <a:endParaRPr lang="en-US" sz="1800" b="0" i="0" u="none" strike="noStrike">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a:solidFill>
                            <a:schemeClr val="tx1"/>
                          </a:solidFill>
                          <a:effectLst/>
                        </a:rPr>
                        <a:t>112.8544</a:t>
                      </a:r>
                      <a:endParaRPr lang="en-US" sz="1800" b="0" i="0" u="none" strike="noStrike">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dirty="0">
                          <a:solidFill>
                            <a:schemeClr val="tx1"/>
                          </a:solidFill>
                          <a:effectLst/>
                        </a:rPr>
                        <a:t>39.4990</a:t>
                      </a:r>
                      <a:endParaRPr lang="en-US" sz="1800" b="0" i="0" u="none" strike="noStrike" dirty="0">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a:solidFill>
                            <a:schemeClr val="tx1"/>
                          </a:solidFill>
                          <a:effectLst/>
                        </a:rPr>
                        <a:t>73.3553</a:t>
                      </a:r>
                      <a:endParaRPr lang="en-US" sz="1800" b="0" i="0" u="none" strike="noStrike">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a:solidFill>
                            <a:schemeClr val="tx1"/>
                          </a:solidFill>
                          <a:effectLst/>
                        </a:rPr>
                        <a:t>1.9600%</a:t>
                      </a:r>
                      <a:endParaRPr lang="en-US" sz="1800" b="0" i="0" u="none" strike="noStrike">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a:solidFill>
                            <a:schemeClr val="tx1"/>
                          </a:solidFill>
                          <a:effectLst/>
                        </a:rPr>
                        <a:t>96.0400%</a:t>
                      </a:r>
                      <a:endParaRPr lang="en-US" sz="1800" b="0" i="0" u="none" strike="noStrike">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a:solidFill>
                            <a:schemeClr val="tx1"/>
                          </a:solidFill>
                          <a:effectLst/>
                        </a:rPr>
                        <a:t>1.4378</a:t>
                      </a:r>
                      <a:endParaRPr lang="en-US" sz="1800" b="0" i="0" u="none" strike="noStrike">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a:solidFill>
                            <a:schemeClr val="tx1"/>
                          </a:solidFill>
                          <a:effectLst/>
                        </a:rPr>
                        <a:t>0.942596</a:t>
                      </a:r>
                      <a:endParaRPr lang="en-US" sz="1800" b="0" i="0" u="none" strike="noStrike">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dirty="0">
                          <a:solidFill>
                            <a:schemeClr val="tx1"/>
                          </a:solidFill>
                          <a:effectLst/>
                        </a:rPr>
                        <a:t>1.3552</a:t>
                      </a:r>
                      <a:endParaRPr lang="en-US" sz="1800" b="0" i="0" u="none" strike="noStrike" dirty="0">
                        <a:solidFill>
                          <a:schemeClr val="tx1"/>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41065978"/>
                  </a:ext>
                </a:extLst>
              </a:tr>
              <a:tr h="644995">
                <a:tc>
                  <a:txBody>
                    <a:bodyPr/>
                    <a:lstStyle/>
                    <a:p>
                      <a:pPr algn="ctr" fontAlgn="b"/>
                      <a:r>
                        <a:rPr lang="en-US" sz="1800" u="none" strike="noStrike">
                          <a:solidFill>
                            <a:schemeClr val="tx1"/>
                          </a:solidFill>
                          <a:effectLst/>
                        </a:rPr>
                        <a:t>3</a:t>
                      </a:r>
                      <a:endParaRPr lang="en-US" sz="1800" b="0" i="0" u="none" strike="noStrike">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dirty="0">
                          <a:solidFill>
                            <a:schemeClr val="tx1"/>
                          </a:solidFill>
                          <a:effectLst/>
                        </a:rPr>
                        <a:t>108.0000</a:t>
                      </a:r>
                      <a:endParaRPr lang="en-US" sz="1800" b="0" i="0" u="none" strike="noStrike" dirty="0">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a:solidFill>
                            <a:schemeClr val="tx1"/>
                          </a:solidFill>
                          <a:effectLst/>
                        </a:rPr>
                        <a:t>37.8000</a:t>
                      </a:r>
                      <a:endParaRPr lang="en-US" sz="1800" b="0" i="0" u="none" strike="noStrike">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dirty="0">
                          <a:solidFill>
                            <a:schemeClr val="tx1"/>
                          </a:solidFill>
                          <a:effectLst/>
                        </a:rPr>
                        <a:t>70.2000</a:t>
                      </a:r>
                      <a:endParaRPr lang="en-US" sz="1800" b="0" i="0" u="none" strike="noStrike" dirty="0">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sng" strike="noStrike" dirty="0">
                          <a:solidFill>
                            <a:schemeClr val="tx1"/>
                          </a:solidFill>
                          <a:effectLst/>
                        </a:rPr>
                        <a:t>1.9208%</a:t>
                      </a:r>
                      <a:endParaRPr lang="en-US" sz="1800" b="0" i="0" u="sng" strike="noStrike" dirty="0">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a:solidFill>
                            <a:schemeClr val="tx1"/>
                          </a:solidFill>
                          <a:effectLst/>
                        </a:rPr>
                        <a:t>94.1192%</a:t>
                      </a:r>
                      <a:endParaRPr lang="en-US" sz="1800" b="0" i="0" u="none" strike="noStrike">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a:solidFill>
                            <a:schemeClr val="tx1"/>
                          </a:solidFill>
                          <a:effectLst/>
                        </a:rPr>
                        <a:t>1.3484</a:t>
                      </a:r>
                      <a:endParaRPr lang="en-US" sz="1800" b="0" i="0" u="none" strike="noStrike">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a:solidFill>
                            <a:schemeClr val="tx1"/>
                          </a:solidFill>
                          <a:effectLst/>
                        </a:rPr>
                        <a:t>0.915142</a:t>
                      </a:r>
                      <a:endParaRPr lang="en-US" sz="1800" b="0" i="0" u="none" strike="noStrike">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sng" strike="noStrike" dirty="0">
                          <a:solidFill>
                            <a:schemeClr val="tx1"/>
                          </a:solidFill>
                          <a:effectLst/>
                        </a:rPr>
                        <a:t>1.2340</a:t>
                      </a:r>
                      <a:endParaRPr lang="en-US" sz="1800" b="0" i="0" u="sng" strike="noStrike" dirty="0">
                        <a:solidFill>
                          <a:schemeClr val="tx1"/>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781346813"/>
                  </a:ext>
                </a:extLst>
              </a:tr>
              <a:tr h="352584">
                <a:tc>
                  <a:txBody>
                    <a:bodyPr/>
                    <a:lstStyle/>
                    <a:p>
                      <a:pPr algn="ctr" fontAlgn="b"/>
                      <a:endParaRPr lang="en-US" sz="1800" b="0" i="0" u="none" strike="noStrike">
                        <a:solidFill>
                          <a:schemeClr val="tx1"/>
                        </a:solidFill>
                        <a:effectLst/>
                        <a:latin typeface="Calibri" panose="020F0502020204030204" pitchFamily="34" charset="0"/>
                      </a:endParaRPr>
                    </a:p>
                  </a:txBody>
                  <a:tcPr marL="9525" marR="9525" marT="9525" marB="0" anchor="b"/>
                </a:tc>
                <a:tc>
                  <a:txBody>
                    <a:bodyPr/>
                    <a:lstStyle/>
                    <a:p>
                      <a:pPr algn="ctr" fontAlgn="b"/>
                      <a:endParaRPr lang="en-US" sz="1800" b="0" i="0" u="none" strike="noStrike" dirty="0">
                        <a:solidFill>
                          <a:schemeClr val="tx1"/>
                        </a:solidFill>
                        <a:effectLst/>
                        <a:latin typeface="Calibri" panose="020F0502020204030204" pitchFamily="34" charset="0"/>
                      </a:endParaRPr>
                    </a:p>
                  </a:txBody>
                  <a:tcPr marL="9525" marR="9525" marT="9525" marB="0" anchor="b"/>
                </a:tc>
                <a:tc>
                  <a:txBody>
                    <a:bodyPr/>
                    <a:lstStyle/>
                    <a:p>
                      <a:pPr algn="ctr" fontAlgn="b"/>
                      <a:endParaRPr lang="en-US" sz="1800" b="0" i="0" u="none" strike="noStrike" dirty="0">
                        <a:solidFill>
                          <a:schemeClr val="tx1"/>
                        </a:solidFill>
                        <a:effectLst/>
                        <a:latin typeface="Calibri" panose="020F0502020204030204" pitchFamily="34" charset="0"/>
                      </a:endParaRPr>
                    </a:p>
                  </a:txBody>
                  <a:tcPr marL="9525" marR="9525" marT="9525" marB="0" anchor="b"/>
                </a:tc>
                <a:tc>
                  <a:txBody>
                    <a:bodyPr/>
                    <a:lstStyle/>
                    <a:p>
                      <a:pPr algn="ctr" fontAlgn="b"/>
                      <a:endParaRPr lang="en-US" sz="1800" b="0" i="0" u="none" strike="noStrike">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a:solidFill>
                            <a:schemeClr val="tx1"/>
                          </a:solidFill>
                          <a:effectLst/>
                        </a:rPr>
                        <a:t>5.8808%</a:t>
                      </a:r>
                      <a:endParaRPr lang="en-US" sz="1800" b="0" i="0" u="none" strike="noStrike">
                        <a:solidFill>
                          <a:schemeClr val="tx1"/>
                        </a:solidFill>
                        <a:effectLst/>
                        <a:latin typeface="Calibri" panose="020F0502020204030204" pitchFamily="34" charset="0"/>
                      </a:endParaRPr>
                    </a:p>
                  </a:txBody>
                  <a:tcPr marL="9525" marR="9525" marT="9525" marB="0" anchor="b"/>
                </a:tc>
                <a:tc>
                  <a:txBody>
                    <a:bodyPr/>
                    <a:lstStyle/>
                    <a:p>
                      <a:pPr algn="ctr" fontAlgn="b"/>
                      <a:endParaRPr lang="en-US" sz="1800" b="0" i="0" u="none" strike="noStrike" dirty="0">
                        <a:solidFill>
                          <a:schemeClr val="tx1"/>
                        </a:solidFill>
                        <a:effectLst/>
                        <a:latin typeface="Calibri" panose="020F0502020204030204" pitchFamily="34" charset="0"/>
                      </a:endParaRPr>
                    </a:p>
                  </a:txBody>
                  <a:tcPr marL="9525" marR="9525" marT="9525" marB="0" anchor="b"/>
                </a:tc>
                <a:tc>
                  <a:txBody>
                    <a:bodyPr/>
                    <a:lstStyle/>
                    <a:p>
                      <a:pPr algn="ctr" fontAlgn="b"/>
                      <a:endParaRPr lang="en-US" sz="1800" b="0" i="0" u="none" strike="noStrike" dirty="0">
                        <a:solidFill>
                          <a:schemeClr val="tx1"/>
                        </a:solidFill>
                        <a:effectLst/>
                        <a:latin typeface="Calibri" panose="020F0502020204030204" pitchFamily="34" charset="0"/>
                      </a:endParaRPr>
                    </a:p>
                  </a:txBody>
                  <a:tcPr marL="9525" marR="9525" marT="9525" marB="0" anchor="b"/>
                </a:tc>
                <a:tc>
                  <a:txBody>
                    <a:bodyPr/>
                    <a:lstStyle/>
                    <a:p>
                      <a:pPr algn="ctr" fontAlgn="b"/>
                      <a:endParaRPr lang="en-US" sz="1800" b="0" i="0" u="none" strike="noStrike" dirty="0">
                        <a:solidFill>
                          <a:schemeClr val="tx1"/>
                        </a:solidFill>
                        <a:effectLst/>
                        <a:latin typeface="Calibri" panose="020F0502020204030204" pitchFamily="34" charset="0"/>
                      </a:endParaRPr>
                    </a:p>
                  </a:txBody>
                  <a:tcPr marL="9525" marR="9525" marT="9525" marB="0" anchor="b"/>
                </a:tc>
                <a:tc>
                  <a:txBody>
                    <a:bodyPr/>
                    <a:lstStyle/>
                    <a:p>
                      <a:pPr algn="ctr" fontAlgn="b"/>
                      <a:r>
                        <a:rPr lang="en-US" sz="1800" u="none" strike="noStrike" dirty="0">
                          <a:solidFill>
                            <a:schemeClr val="tx1"/>
                          </a:solidFill>
                          <a:effectLst/>
                        </a:rPr>
                        <a:t>4.0731</a:t>
                      </a:r>
                      <a:endParaRPr lang="en-US" sz="1800" b="0" i="0" u="none" strike="noStrike" dirty="0">
                        <a:solidFill>
                          <a:schemeClr val="tx1"/>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5882334"/>
                  </a:ext>
                </a:extLst>
              </a:tr>
            </a:tbl>
          </a:graphicData>
        </a:graphic>
      </p:graphicFrame>
    </p:spTree>
    <p:extLst>
      <p:ext uri="{BB962C8B-B14F-4D97-AF65-F5344CB8AC3E}">
        <p14:creationId xmlns:p14="http://schemas.microsoft.com/office/powerpoint/2010/main" val="28051823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Valuing a Risky Bond: CVA and the Credit Spread</a:t>
            </a:r>
            <a:endParaRPr b="1" dirty="0">
              <a:latin typeface="Arial" panose="020B0604020202020204" pitchFamily="34" charset="0"/>
              <a:cs typeface="Arial" panose="020B0604020202020204" pitchFamily="34" charset="0"/>
            </a:endParaRPr>
          </a:p>
        </p:txBody>
      </p:sp>
      <p:sp>
        <p:nvSpPr>
          <p:cNvPr id="4010" name="Content Placeholder"/>
          <p:cNvSpPr>
            <a:spLocks noGrp="1"/>
          </p:cNvSpPr>
          <p:nvPr>
            <p:ph sz="half" idx="2"/>
          </p:nvPr>
        </p:nvSpPr>
        <p:spPr>
          <a:xfrm>
            <a:off x="423100" y="914400"/>
            <a:ext cx="11345797" cy="5578474"/>
          </a:xfrm>
        </p:spPr>
        <p:txBody>
          <a:bodyPr wrap="square">
            <a:normAutofit fontScale="92500" lnSpcReduction="20000"/>
          </a:bodyPr>
          <a:lstStyle/>
          <a:p>
            <a:r>
              <a:rPr lang="en-CA" b="1" dirty="0"/>
              <a:t>The arbitrage-free credit-risk model</a:t>
            </a:r>
          </a:p>
          <a:p>
            <a:r>
              <a:rPr lang="en-CA" b="0" dirty="0"/>
              <a:t>Value the bond assuming NO default (VND) on the risk-free (benchmark) curve</a:t>
            </a:r>
          </a:p>
          <a:p>
            <a:r>
              <a:rPr lang="en-CA" b="0" dirty="0"/>
              <a:t>Per date: expected exposure, LGD = exposure x (1 - recovery), conditional PD (POD) and survival (POS)</a:t>
            </a:r>
          </a:p>
          <a:p>
            <a:r>
              <a:rPr lang="en-CA" b="0" dirty="0"/>
              <a:t>CVA = present value of the expected losses (LGD x POD, discounted); Fair value = VND - CVA</a:t>
            </a:r>
          </a:p>
          <a:p>
            <a:r>
              <a:rPr lang="en-CA" b="0" dirty="0"/>
              <a:t>Credit spread = the fair-value yield-to-maturity minus the benchmark yield</a:t>
            </a:r>
          </a:p>
          <a:p>
            <a:r>
              <a:rPr lang="en-CA" b="1" dirty="0"/>
              <a:t>Worked example</a:t>
            </a:r>
          </a:p>
          <a:p>
            <a:r>
              <a:rPr lang="en-CA" b="0" dirty="0"/>
              <a:t>3-year 8% bond, benchmark flat 3%, PD 2%/yr, recovery 35%: VND 114.14, CVA 4.07, spread ~135 bp</a:t>
            </a:r>
          </a:p>
          <a:p>
            <a:r>
              <a:rPr lang="en-CA" b="1" dirty="0"/>
              <a:t>On real data (lab)</a:t>
            </a:r>
          </a:p>
          <a:p>
            <a:r>
              <a:rPr lang="en-CA" b="0" dirty="0"/>
              <a:t>5-year BBB bond, real FRED Treasury curve + market BBB spread (94 bp): CVA ~4.4, extracted spread ~98 bp</a:t>
            </a:r>
          </a:p>
          <a:p>
            <a:r>
              <a:rPr lang="en-CA" b="0" dirty="0"/>
              <a:t>The model round-trips to the market spread - the CVA is that spread capitalised into a dollar charge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Credit Spreads - Empirical Evidence</a:t>
            </a:r>
            <a:endParaRPr b="1" dirty="0">
              <a:latin typeface="Arial" panose="020B0604020202020204" pitchFamily="34" charset="0"/>
              <a:cs typeface="Arial" panose="020B0604020202020204" pitchFamily="34" charset="0"/>
            </a:endParaRPr>
          </a:p>
        </p:txBody>
      </p:sp>
      <p:sp>
        <p:nvSpPr>
          <p:cNvPr id="4036" name="Content Placeholder"/>
          <p:cNvSpPr>
            <a:spLocks noGrp="1"/>
          </p:cNvSpPr>
          <p:nvPr>
            <p:ph sz="half" idx="2"/>
          </p:nvPr>
        </p:nvSpPr>
        <p:spPr>
          <a:xfrm>
            <a:off x="1143000" y="1441939"/>
            <a:ext cx="10625897" cy="4595446"/>
          </a:xfrm>
        </p:spPr>
        <p:txBody>
          <a:bodyPr wrap="square">
            <a:normAutofit/>
          </a:bodyPr>
          <a:lstStyle/>
          <a:p>
            <a:pPr marL="0" indent="0">
              <a:buNone/>
            </a:pPr>
            <a:r>
              <a:rPr lang="en-CA" sz="2400" b="1" dirty="0"/>
              <a:t>Stylised facts</a:t>
            </a:r>
          </a:p>
          <a:p>
            <a:r>
              <a:rPr lang="en-CA" sz="2400" dirty="0"/>
              <a:t>IG corporate spreads: typically 30 to 200 bps over UST</a:t>
            </a:r>
          </a:p>
          <a:p>
            <a:r>
              <a:rPr lang="en-CA" sz="2400" dirty="0"/>
              <a:t>HY (high-yield): 200 to 800 plus bps, spiking in recessions</a:t>
            </a:r>
          </a:p>
          <a:p>
            <a:r>
              <a:rPr lang="en-CA" sz="2400" dirty="0"/>
              <a:t>GFC 2008: AAA tranche spreads jumped 500 plus bps. </a:t>
            </a:r>
          </a:p>
          <a:p>
            <a:r>
              <a:rPr lang="en-CA" sz="2400" dirty="0"/>
              <a:t>COVID 2020: IG spreads briefly tripled in March 2020</a:t>
            </a:r>
          </a:p>
          <a:p>
            <a:r>
              <a:rPr lang="en-CA" sz="2400" dirty="0"/>
              <a:t>CDS and bond spreads typically move together</a:t>
            </a:r>
          </a:p>
          <a:p>
            <a:r>
              <a:rPr lang="en-CA" sz="2400" dirty="0"/>
              <a:t>Spread is about EL plus risk premium (liquidity plus systemic)</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What Drives Credit Spreads (and Spread Duration)</a:t>
            </a:r>
            <a:endParaRPr b="1" dirty="0">
              <a:latin typeface="Arial" panose="020B0604020202020204" pitchFamily="34" charset="0"/>
              <a:cs typeface="Arial" panose="020B0604020202020204" pitchFamily="34" charset="0"/>
            </a:endParaRPr>
          </a:p>
        </p:txBody>
      </p:sp>
      <p:sp>
        <p:nvSpPr>
          <p:cNvPr id="4010" name="Content Placeholder"/>
          <p:cNvSpPr>
            <a:spLocks noGrp="1"/>
          </p:cNvSpPr>
          <p:nvPr>
            <p:ph sz="half" idx="2"/>
          </p:nvPr>
        </p:nvSpPr>
        <p:spPr>
          <a:xfrm>
            <a:off x="423100" y="914400"/>
            <a:ext cx="11345797" cy="5578474"/>
          </a:xfrm>
        </p:spPr>
        <p:txBody>
          <a:bodyPr wrap="square">
            <a:normAutofit fontScale="92500" lnSpcReduction="10000"/>
          </a:bodyPr>
          <a:lstStyle/>
          <a:p>
            <a:r>
              <a:rPr lang="en-CA" b="1" dirty="0"/>
              <a:t>What moves credit spreads</a:t>
            </a:r>
          </a:p>
          <a:p>
            <a:r>
              <a:rPr lang="en-CA" b="0" dirty="0"/>
              <a:t>The credit cycle and macro conditions - spreads widen in downturns, tighten in expansions</a:t>
            </a:r>
          </a:p>
          <a:p>
            <a:r>
              <a:rPr lang="en-CA" b="0" dirty="0"/>
              <a:t>Financial-market conditions and liquidity; the supply of and demand for credit</a:t>
            </a:r>
          </a:p>
          <a:p>
            <a:r>
              <a:rPr lang="en-CA" b="0" dirty="0"/>
              <a:t>Issuer-specific news: earnings, leverage, rating actions, M&amp;A</a:t>
            </a:r>
          </a:p>
          <a:p>
            <a:r>
              <a:rPr lang="en-CA" b="1" dirty="0"/>
              <a:t>Spread duration - the price impact of a spread move</a:t>
            </a:r>
          </a:p>
          <a:p>
            <a:r>
              <a:rPr lang="en-CA" b="0" dirty="0"/>
              <a:t>% change in price is approximately = (spread duration) x (change in spread)</a:t>
            </a:r>
          </a:p>
          <a:p>
            <a:r>
              <a:rPr lang="en-CA" b="0" dirty="0"/>
              <a:t>A bond with 5-year spread duration loses ~5% for a +100 bp spread widening</a:t>
            </a:r>
          </a:p>
          <a:p>
            <a:r>
              <a:rPr lang="en-CA" b="0" dirty="0"/>
              <a:t>Longer maturity and lower coupon raise spread duration - the key risk measure for a credit book</a:t>
            </a:r>
          </a:p>
          <a:p>
            <a:r>
              <a:rPr lang="en-CA" b="1" dirty="0"/>
              <a:t>Excess return</a:t>
            </a:r>
          </a:p>
          <a:p>
            <a:r>
              <a:rPr lang="en-CA" b="0" dirty="0"/>
              <a:t>Excess return ~ spread income - (spread duration x change in spread) - (default rate x loss severity)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Special Segments: High-Yield, Sovereign and Municipal</a:t>
            </a:r>
            <a:endParaRPr b="1" dirty="0">
              <a:latin typeface="Arial" panose="020B0604020202020204" pitchFamily="34" charset="0"/>
              <a:cs typeface="Arial" panose="020B0604020202020204" pitchFamily="34" charset="0"/>
            </a:endParaRPr>
          </a:p>
        </p:txBody>
      </p:sp>
      <p:sp>
        <p:nvSpPr>
          <p:cNvPr id="4010" name="Content Placeholder"/>
          <p:cNvSpPr>
            <a:spLocks noGrp="1"/>
          </p:cNvSpPr>
          <p:nvPr>
            <p:ph sz="half" idx="2"/>
          </p:nvPr>
        </p:nvSpPr>
        <p:spPr>
          <a:xfrm>
            <a:off x="423100" y="1143000"/>
            <a:ext cx="11345797" cy="5349874"/>
          </a:xfrm>
        </p:spPr>
        <p:txBody>
          <a:bodyPr wrap="square">
            <a:normAutofit fontScale="92500" lnSpcReduction="20000"/>
          </a:bodyPr>
          <a:lstStyle/>
          <a:p>
            <a:r>
              <a:rPr lang="en-CA" b="1" dirty="0"/>
              <a:t>High-yield credit</a:t>
            </a:r>
          </a:p>
          <a:p>
            <a:pPr lvl="1"/>
            <a:r>
              <a:rPr lang="en-CA" b="0" dirty="0"/>
              <a:t>Liquidity, refinancing risk, and recovery dominate; the full capital structure and covenants matter</a:t>
            </a:r>
          </a:p>
          <a:p>
            <a:pPr lvl="1"/>
            <a:r>
              <a:rPr lang="en-CA" b="0" dirty="0"/>
              <a:t>Increasingly equity-like: watch the equity cushion, the maturity wall, and cash burn</a:t>
            </a:r>
          </a:p>
          <a:p>
            <a:r>
              <a:rPr lang="en-CA" b="1" dirty="0"/>
              <a:t>Sovereign credit</a:t>
            </a:r>
          </a:p>
          <a:p>
            <a:pPr lvl="1"/>
            <a:r>
              <a:rPr lang="en-CA" b="0" dirty="0"/>
              <a:t>Political and economic profile: institutions, growth, competitiveness</a:t>
            </a:r>
          </a:p>
          <a:p>
            <a:pPr lvl="1"/>
            <a:r>
              <a:rPr lang="en-CA" b="0" dirty="0"/>
              <a:t>Flexibility and performance: fiscal balance and debt burden, external liquidity, monetary flexibility, currency status</a:t>
            </a:r>
          </a:p>
          <a:p>
            <a:pPr lvl="1"/>
            <a:r>
              <a:rPr lang="en-CA" b="0" dirty="0"/>
              <a:t>Local-currency vs foreign-currency ratings can differ (a government can print its own currency)</a:t>
            </a:r>
          </a:p>
          <a:p>
            <a:r>
              <a:rPr lang="en-CA" b="1" dirty="0"/>
              <a:t>Non-sovereign / municipal</a:t>
            </a:r>
          </a:p>
          <a:p>
            <a:pPr lvl="1"/>
            <a:r>
              <a:rPr lang="en-CA" b="0" dirty="0"/>
              <a:t>General-obligation (GO) bonds: backed by taxing power - analyse tax base, demographics, revenue volatility</a:t>
            </a:r>
          </a:p>
          <a:p>
            <a:pPr lvl="1"/>
            <a:r>
              <a:rPr lang="en-CA" b="0" dirty="0"/>
              <a:t>Revenue bonds: backed by a specific project's cash flows (debt-service coverage ratio)</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Altman Z-Score and Accounting-Based Scoring</a:t>
            </a:r>
            <a:endParaRPr b="1" dirty="0">
              <a:latin typeface="Arial" panose="020B0604020202020204" pitchFamily="34" charset="0"/>
              <a:cs typeface="Arial" panose="020B0604020202020204" pitchFamily="34" charset="0"/>
            </a:endParaRPr>
          </a:p>
        </p:txBody>
      </p:sp>
      <p:pic>
        <p:nvPicPr>
          <p:cNvPr id="4040" name="Picture 4039" descr="f_altman.png"/>
          <p:cNvPicPr>
            <a:picLocks noChangeAspect="1"/>
          </p:cNvPicPr>
          <p:nvPr/>
        </p:nvPicPr>
        <p:blipFill>
          <a:blip r:embed="rId3"/>
          <a:stretch>
            <a:fillRect/>
          </a:stretch>
        </p:blipFill>
        <p:spPr>
          <a:xfrm>
            <a:off x="2667000" y="1300651"/>
            <a:ext cx="7352511" cy="405945"/>
          </a:xfrm>
          <a:prstGeom prst="rect">
            <a:avLst/>
          </a:prstGeom>
        </p:spPr>
      </p:pic>
      <p:sp>
        <p:nvSpPr>
          <p:cNvPr id="2" name="Content Placeholder"/>
          <p:cNvSpPr>
            <a:spLocks noGrp="1"/>
          </p:cNvSpPr>
          <p:nvPr>
            <p:ph sz="half" idx="2"/>
          </p:nvPr>
        </p:nvSpPr>
        <p:spPr>
          <a:xfrm>
            <a:off x="420624" y="2267712"/>
            <a:ext cx="11347704" cy="3785616"/>
          </a:xfrm>
        </p:spPr>
        <p:txBody>
          <a:bodyPr wrap="square">
            <a:normAutofit/>
          </a:bodyPr>
          <a:lstStyle/>
          <a:p>
            <a:pPr marL="0" indent="0">
              <a:buNone/>
              <a:defRPr sz="2000"/>
            </a:pPr>
            <a:r>
              <a:rPr lang="en-CA" sz="2000" b="1" dirty="0"/>
              <a:t>Discriminant scoring from accounting ratios</a:t>
            </a:r>
          </a:p>
          <a:p>
            <a:pPr>
              <a:defRPr sz="2000"/>
            </a:pPr>
            <a:r>
              <a:rPr lang="en-CA" sz="2000" dirty="0"/>
              <a:t>X1 = working capital / total assets</a:t>
            </a:r>
          </a:p>
          <a:p>
            <a:pPr>
              <a:defRPr sz="2000"/>
            </a:pPr>
            <a:r>
              <a:rPr lang="en-CA" sz="2000" dirty="0"/>
              <a:t>X2 = retained earnings / total assets</a:t>
            </a:r>
          </a:p>
          <a:p>
            <a:pPr>
              <a:defRPr sz="2000"/>
            </a:pPr>
            <a:r>
              <a:rPr lang="en-CA" sz="2000" dirty="0"/>
              <a:t>X3 = EBIT / total assets</a:t>
            </a:r>
          </a:p>
          <a:p>
            <a:pPr>
              <a:defRPr sz="2000"/>
            </a:pPr>
            <a:r>
              <a:rPr lang="en-CA" sz="2000" dirty="0"/>
              <a:t>X4 = market equity / total liabilities</a:t>
            </a:r>
          </a:p>
          <a:p>
            <a:pPr>
              <a:defRPr sz="2000"/>
            </a:pPr>
            <a:r>
              <a:rPr lang="en-CA" sz="2000" dirty="0"/>
              <a:t>X5 = sales / total assets</a:t>
            </a:r>
          </a:p>
          <a:p>
            <a:pPr>
              <a:defRPr sz="2000"/>
            </a:pPr>
            <a:r>
              <a:rPr lang="en-CA" sz="2000" dirty="0"/>
              <a:t>Altman (1968): discriminant analysis on accounting ratios</a:t>
            </a:r>
          </a:p>
          <a:p>
            <a:pPr>
              <a:defRPr sz="2000"/>
            </a:pPr>
            <a:r>
              <a:rPr lang="en-CA" sz="2000" dirty="0"/>
              <a:t>Z above 2.99 means safe; Z below 1.81 means distress zone; 1.81 to 2.99 is the grey zone</a:t>
            </a:r>
          </a:p>
          <a:p>
            <a:pPr>
              <a:defRPr sz="2000"/>
            </a:pPr>
            <a:r>
              <a:rPr lang="en-CA" sz="2000" dirty="0"/>
              <a:t>Complements market-based Merton with balance-sheet data; basis of bank scorecards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Real-World versus Risk-Neutral Default Probabilities</a:t>
            </a:r>
            <a:endParaRPr b="1" dirty="0">
              <a:latin typeface="Arial" panose="020B0604020202020204" pitchFamily="34" charset="0"/>
              <a:cs typeface="Arial" panose="020B0604020202020204" pitchFamily="34" charset="0"/>
            </a:endParaRPr>
          </a:p>
        </p:txBody>
      </p:sp>
      <p:pic>
        <p:nvPicPr>
          <p:cNvPr id="4042" name="Picture 4041" descr="f_qpd.png"/>
          <p:cNvPicPr>
            <a:picLocks noChangeAspect="1"/>
          </p:cNvPicPr>
          <p:nvPr/>
        </p:nvPicPr>
        <p:blipFill>
          <a:blip r:embed="rId3"/>
          <a:stretch>
            <a:fillRect/>
          </a:stretch>
        </p:blipFill>
        <p:spPr>
          <a:xfrm>
            <a:off x="3810000" y="1056367"/>
            <a:ext cx="3667636" cy="771144"/>
          </a:xfrm>
          <a:prstGeom prst="rect">
            <a:avLst/>
          </a:prstGeom>
        </p:spPr>
      </p:pic>
      <p:sp>
        <p:nvSpPr>
          <p:cNvPr id="2" name="Content Placeholder"/>
          <p:cNvSpPr>
            <a:spLocks noGrp="1"/>
          </p:cNvSpPr>
          <p:nvPr>
            <p:ph sz="half" idx="2"/>
          </p:nvPr>
        </p:nvSpPr>
        <p:spPr>
          <a:xfrm>
            <a:off x="420624" y="1981200"/>
            <a:ext cx="11347704" cy="4072128"/>
          </a:xfrm>
        </p:spPr>
        <p:txBody>
          <a:bodyPr wrap="square">
            <a:normAutofit fontScale="77500" lnSpcReduction="20000"/>
          </a:bodyPr>
          <a:lstStyle/>
          <a:p>
            <a:pPr marL="0" indent="0">
              <a:buNone/>
            </a:pPr>
            <a:r>
              <a:rPr lang="en-CA" b="1" dirty="0"/>
              <a:t>Two different PDs</a:t>
            </a:r>
          </a:p>
          <a:p>
            <a:r>
              <a:rPr lang="en-CA" dirty="0"/>
              <a:t>Real-world (physical) PD: from historical default frequencies (rating agencies)</a:t>
            </a:r>
          </a:p>
          <a:p>
            <a:r>
              <a:rPr lang="en-CA" dirty="0"/>
              <a:t>Risk-neutral PD: implied by bond/CDS prices; Q-PD is about spread / (1 minus recovery)</a:t>
            </a:r>
          </a:p>
          <a:p>
            <a:r>
              <a:rPr lang="en-CA" dirty="0"/>
              <a:t>Risk-neutral PD is almost always LARGER than physical</a:t>
            </a:r>
          </a:p>
          <a:p>
            <a:r>
              <a:rPr lang="en-CA" dirty="0"/>
              <a:t>Gap widens for high-quality, illiquid names</a:t>
            </a:r>
          </a:p>
          <a:p>
            <a:pPr marL="0" indent="0">
              <a:buNone/>
            </a:pPr>
            <a:r>
              <a:rPr lang="en-CA" b="1" dirty="0"/>
              <a:t>Why, and which to use</a:t>
            </a:r>
          </a:p>
          <a:p>
            <a:r>
              <a:rPr lang="en-CA" dirty="0"/>
              <a:t>Gap = credit risk premium plus liquidity plus uncertainty/illiquidity of recovery</a:t>
            </a:r>
          </a:p>
          <a:p>
            <a:r>
              <a:rPr lang="en-CA" dirty="0"/>
              <a:t>Investors demand extra return for systematic default risk (defaults cluster in recessions)</a:t>
            </a:r>
          </a:p>
          <a:p>
            <a:r>
              <a:rPr lang="en-CA" dirty="0"/>
              <a:t>Pricing / valuation uses risk-neutral (Q)</a:t>
            </a:r>
          </a:p>
          <a:p>
            <a:r>
              <a:rPr lang="en-CA" dirty="0"/>
              <a:t>Risk management / capital / PD over horizon uses real-world (P); never mix the two</a:t>
            </a:r>
          </a:p>
          <a:p>
            <a:r>
              <a:rPr lang="en-CA" dirty="0"/>
              <a:t>Live example (FRED ICE BofA OAS, Jul 2026): AA spread-implied PD ~0.9% vs ~0.02% historical - about 40x; the wedge shrinks toward 1x at CCC</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Data-Driven PD: Logistic-Regression Scorecards</a:t>
            </a:r>
            <a:endParaRPr b="1" dirty="0">
              <a:latin typeface="Arial" panose="020B0604020202020204" pitchFamily="34" charset="0"/>
              <a:cs typeface="Arial" panose="020B0604020202020204" pitchFamily="34" charset="0"/>
            </a:endParaRPr>
          </a:p>
        </p:txBody>
      </p:sp>
      <p:sp>
        <p:nvSpPr>
          <p:cNvPr id="4036" name="Content Placeholder"/>
          <p:cNvSpPr>
            <a:spLocks noGrp="1"/>
          </p:cNvSpPr>
          <p:nvPr>
            <p:ph sz="half" idx="2"/>
          </p:nvPr>
        </p:nvSpPr>
        <p:spPr>
          <a:xfrm>
            <a:off x="1143000" y="1066801"/>
            <a:ext cx="10625897" cy="4970584"/>
          </a:xfrm>
        </p:spPr>
        <p:txBody>
          <a:bodyPr wrap="square">
            <a:normAutofit/>
          </a:bodyPr>
          <a:lstStyle/>
          <a:p>
            <a:pPr marL="0" indent="0">
              <a:buNone/>
            </a:pPr>
            <a:r>
              <a:rPr lang="en-CA" sz="2000" b="1" dirty="0"/>
              <a:t>From structural models to statistical scorecards</a:t>
            </a:r>
          </a:p>
          <a:p>
            <a:r>
              <a:rPr lang="en-CA" sz="2000" dirty="0"/>
              <a:t>Most credit decisions (cards, personal and SME loans) have no traded share price, so Merton does not apply</a:t>
            </a:r>
          </a:p>
          <a:p>
            <a:r>
              <a:rPr lang="en-CA" sz="2000" dirty="0"/>
              <a:t>Fit P(default) = logistic(b0 + sum b_i x_i) directly on historical default outcomes</a:t>
            </a:r>
          </a:p>
          <a:p>
            <a:pPr marL="0" indent="0">
              <a:buNone/>
            </a:pPr>
            <a:r>
              <a:rPr lang="en-CA" sz="2000" b="1" dirty="0"/>
              <a:t>In the lab: 30,000 real borrowers (UCI credit-card default dataset)</a:t>
            </a:r>
          </a:p>
          <a:p>
            <a:r>
              <a:rPr lang="en-CA" sz="2000" dirty="0"/>
              <a:t>Features: credit limit, age, six months of repayment status, bills and payments</a:t>
            </a:r>
          </a:p>
          <a:p>
            <a:r>
              <a:rPr lang="en-CA" sz="2000" dirty="0"/>
              <a:t>Out-of-sample AUC ~ 0.71; recent delinquency dominates every demographic variable</a:t>
            </a:r>
          </a:p>
          <a:p>
            <a:pPr marL="0" indent="0">
              <a:buNone/>
            </a:pPr>
            <a:r>
              <a:rPr lang="en-CA" sz="2000" b="1" dirty="0"/>
              <a:t>Why it matters in practice</a:t>
            </a:r>
          </a:p>
          <a:p>
            <a:r>
              <a:rPr lang="en-CA" sz="2000" dirty="0"/>
              <a:t>The workhorse of retail and SME credit; the basis of FICO-style application/behaviour scorecards</a:t>
            </a:r>
          </a:p>
          <a:p>
            <a:r>
              <a:rPr lang="en-CA" sz="2000" dirty="0"/>
              <a:t>Validate with ROC/AUC, Gini and KS; monitor drift with the Population Stability Index (PSI)</a:t>
            </a:r>
          </a:p>
          <a:p>
            <a:r>
              <a:rPr lang="en-CA" sz="2000" dirty="0"/>
              <a:t>Modern extensions: gradient boosting with SHAP for explainability; WOE/IV scorecard construction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Block 4: Python Lab</a:t>
            </a:r>
            <a:endParaRPr b="1" dirty="0">
              <a:latin typeface="Arial" panose="020B0604020202020204" pitchFamily="34" charset="0"/>
              <a:cs typeface="Arial" panose="020B0604020202020204" pitchFamily="34" charset="0"/>
            </a:endParaRPr>
          </a:p>
        </p:txBody>
      </p:sp>
      <p:sp>
        <p:nvSpPr>
          <p:cNvPr id="4044" name="Content Placeholder"/>
          <p:cNvSpPr>
            <a:spLocks noGrp="1"/>
          </p:cNvSpPr>
          <p:nvPr>
            <p:ph sz="half" idx="2"/>
          </p:nvPr>
        </p:nvSpPr>
        <p:spPr/>
        <p:txBody>
          <a:bodyPr wrap="square">
            <a:normAutofit/>
          </a:bodyPr>
          <a:lstStyle/>
          <a:p>
            <a:pPr marL="0" indent="0">
              <a:buNone/>
            </a:pPr>
            <a:r>
              <a:rPr lang="en-CA" b="1" dirty="0"/>
              <a:t>Calibrate the Merton model; compute PD surfaces; price credit spreads</a:t>
            </a:r>
          </a:p>
          <a:p>
            <a:r>
              <a:rPr lang="en-CA" dirty="0"/>
              <a:t>Six notebook sections aligned one-to-one with today's theory slides</a:t>
            </a:r>
          </a:p>
          <a:p>
            <a:r>
              <a:rPr lang="en-CA" dirty="0"/>
              <a:t>Every output feeds the Merton section of Assignment 2</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Python Lab - Session_05_Lab.ipynb</a:t>
            </a:r>
            <a:endParaRPr b="1" dirty="0">
              <a:latin typeface="Arial" panose="020B0604020202020204" pitchFamily="34" charset="0"/>
              <a:cs typeface="Arial" panose="020B0604020202020204" pitchFamily="34" charset="0"/>
            </a:endParaRPr>
          </a:p>
        </p:txBody>
      </p:sp>
      <p:sp>
        <p:nvSpPr>
          <p:cNvPr id="4046" name="Content Placeholder"/>
          <p:cNvSpPr>
            <a:spLocks noGrp="1"/>
          </p:cNvSpPr>
          <p:nvPr>
            <p:ph sz="half" idx="2"/>
          </p:nvPr>
        </p:nvSpPr>
        <p:spPr/>
        <p:txBody>
          <a:bodyPr wrap="square">
            <a:normAutofit fontScale="92500" lnSpcReduction="20000"/>
          </a:bodyPr>
          <a:lstStyle/>
          <a:p>
            <a:pPr marL="0" indent="0">
              <a:buNone/>
              <a:defRPr sz="2000"/>
            </a:pPr>
            <a:r>
              <a:rPr lang="en-CA" sz="2000" b="1" dirty="0"/>
              <a:t>Lab tasks</a:t>
            </a:r>
          </a:p>
          <a:p>
            <a:pPr>
              <a:defRPr sz="2000"/>
            </a:pPr>
            <a:r>
              <a:rPr lang="en-CA" sz="2000" dirty="0"/>
              <a:t>1. Section 1: load Moody's historical default rates; plot bar chart and S and P transition-matrix heatmap</a:t>
            </a:r>
          </a:p>
          <a:p>
            <a:pPr>
              <a:defRPr sz="2000"/>
            </a:pPr>
            <a:r>
              <a:rPr lang="en-CA" sz="2000" dirty="0"/>
              <a:t>2. Section 2: implement merton_calibrate() - solve (V, sigma_V) from (E, sigma_E, D) using scipy.optimize.fsolve</a:t>
            </a:r>
          </a:p>
          <a:p>
            <a:pPr>
              <a:defRPr sz="2000"/>
            </a:pPr>
            <a:r>
              <a:rPr lang="en-CA" sz="2000" dirty="0"/>
              <a:t>3. Section 3: case study - calibrate Merton for four leverage profiles (Low / Medium / High / Distressed)</a:t>
            </a:r>
          </a:p>
          <a:p>
            <a:pPr>
              <a:defRPr sz="2000"/>
            </a:pPr>
            <a:r>
              <a:rPr lang="en-CA" sz="2000" dirty="0"/>
              <a:t>4. Section 4: build a 2D PD surface over (V/D ratio, sigma_V) and visualise with a contourf plot</a:t>
            </a:r>
          </a:p>
          <a:p>
            <a:pPr>
              <a:defRPr sz="2000"/>
            </a:pPr>
            <a:r>
              <a:rPr lang="en-CA" sz="2000" dirty="0"/>
              <a:t>5. Section 5: compute the theoretical credit-spread term structure; plot for three leverage cases</a:t>
            </a:r>
          </a:p>
          <a:p>
            <a:pPr>
              <a:defRPr sz="2000"/>
            </a:pPr>
            <a:r>
              <a:rPr lang="en-CA" sz="2000" dirty="0"/>
              <a:t>6. Section 6: download equity data for JPM, F, T, MSFT; compute rolling volatility as the Merton input</a:t>
            </a:r>
          </a:p>
          <a:p>
            <a:pPr>
              <a:defRPr sz="2000"/>
            </a:pPr>
            <a:r>
              <a:rPr lang="en-CA" sz="2000" dirty="0"/>
              <a:t>7. Assignment 2 preview: apply </a:t>
            </a:r>
            <a:r>
              <a:rPr lang="en-CA" sz="2000" dirty="0" err="1"/>
              <a:t>merton_calibrate</a:t>
            </a:r>
            <a:r>
              <a:rPr lang="en-CA" sz="2000" dirty="0"/>
              <a:t>() to your own three exam firms using </a:t>
            </a:r>
            <a:r>
              <a:rPr lang="en-CA" sz="2000" dirty="0" err="1"/>
              <a:t>yfinance</a:t>
            </a:r>
            <a:r>
              <a:rPr lang="en-CA" sz="2000" dirty="0"/>
              <a:t> plus balance-sheet data</a:t>
            </a:r>
          </a:p>
          <a:p>
            <a:pPr>
              <a:defRPr sz="2000"/>
            </a:pPr>
            <a:endParaRPr lang="en-CA" dirty="0"/>
          </a:p>
          <a:p>
            <a:pPr marL="0" indent="0">
              <a:buNone/>
              <a:defRPr sz="2000"/>
            </a:pPr>
            <a:r>
              <a:rPr lang="en-CA" sz="2000" b="1" dirty="0"/>
              <a:t>Discuss</a:t>
            </a:r>
          </a:p>
          <a:p>
            <a:pPr>
              <a:defRPr sz="2000"/>
            </a:pPr>
            <a:r>
              <a:rPr lang="en-CA" sz="2000" dirty="0"/>
              <a:t>Where does your Firm 1 sit on the PD surface?</a:t>
            </a:r>
          </a:p>
          <a:p>
            <a:pPr>
              <a:defRPr sz="2000"/>
            </a:pPr>
            <a:r>
              <a:rPr lang="en-CA" sz="2000" dirty="0"/>
              <a:t>How does your Merton-implied spread compare to the firm's rating?</a:t>
            </a:r>
          </a:p>
          <a:p>
            <a:pPr>
              <a:defRPr sz="2000"/>
            </a:pPr>
            <a:r>
              <a:rPr lang="en-CA" sz="2000" dirty="0"/>
              <a:t>What happens to DD if equity drops 30% tomorrow?</a:t>
            </a:r>
          </a:p>
          <a:p>
            <a:pPr>
              <a:defRPr sz="2000"/>
            </a:pPr>
            <a:endParaRPr lang="en-CA"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Required Readings and References</a:t>
            </a:r>
            <a:endParaRPr b="1" dirty="0">
              <a:latin typeface="Arial" panose="020B0604020202020204" pitchFamily="34" charset="0"/>
              <a:cs typeface="Arial" panose="020B0604020202020204" pitchFamily="34" charset="0"/>
            </a:endParaRPr>
          </a:p>
        </p:txBody>
      </p:sp>
      <p:sp>
        <p:nvSpPr>
          <p:cNvPr id="4050" name="Content Placeholder"/>
          <p:cNvSpPr>
            <a:spLocks noGrp="1"/>
          </p:cNvSpPr>
          <p:nvPr>
            <p:ph sz="half" idx="2"/>
          </p:nvPr>
        </p:nvSpPr>
        <p:spPr/>
        <p:txBody>
          <a:bodyPr wrap="square">
            <a:normAutofit fontScale="92500" lnSpcReduction="20000"/>
          </a:bodyPr>
          <a:lstStyle/>
          <a:p>
            <a:pPr marL="0" indent="0">
              <a:buNone/>
            </a:pPr>
            <a:r>
              <a:rPr lang="en-CA" b="1" dirty="0"/>
              <a:t>Required</a:t>
            </a:r>
          </a:p>
          <a:p>
            <a:r>
              <a:rPr lang="en-CA" dirty="0"/>
              <a:t>Hull, J. C. (2023). Risk Management and Financial Institutions, 6e. Ch. 17: Estimating Default Probabilities. Wiley.</a:t>
            </a:r>
          </a:p>
          <a:p>
            <a:r>
              <a:rPr lang="en-CA" dirty="0"/>
              <a:t>Jorion, P. (2010). Financial Risk Manager Handbook, 6e. Ch. 19: Introduction to Credit Risk. Wiley.</a:t>
            </a:r>
          </a:p>
          <a:p>
            <a:endParaRPr lang="en-CA" dirty="0"/>
          </a:p>
          <a:p>
            <a:pPr marL="0" indent="0">
              <a:buNone/>
            </a:pPr>
            <a:r>
              <a:rPr lang="en-CA" b="1" dirty="0"/>
              <a:t>Supplementary</a:t>
            </a:r>
          </a:p>
          <a:p>
            <a:r>
              <a:rPr lang="en-CA" dirty="0"/>
              <a:t>Merton, R. C. (1974). On the pricing of corporate debt: the risk structure of interest rates. Journal of Finance, 29(2), 449 to 470.</a:t>
            </a:r>
          </a:p>
          <a:p>
            <a:r>
              <a:rPr lang="en-CA" dirty="0"/>
              <a:t>Elton, E. J., Gruber, M. J., Agrawal, D., and Mann, C. (2001). Explaining the rate spread on corporate bonds. Journal of Finance, 56(1), 247 to 277.</a:t>
            </a:r>
          </a:p>
          <a:p>
            <a:r>
              <a:rPr lang="en-CA" dirty="0"/>
              <a:t>Altman, E. I., and Rijken, H. A. (2004). How rating agencies achieve rating stability. Journal of Banking and Finance, 28(11), 2679 to 2714.</a:t>
            </a:r>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2197</TotalTime>
  <Words>7158</Words>
  <Application>Microsoft Macintosh PowerPoint</Application>
  <PresentationFormat>Widescreen</PresentationFormat>
  <Paragraphs>597</Paragraphs>
  <Slides>38</Slides>
  <Notes>38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Aptos</vt:lpstr>
      <vt:lpstr>Aptos Narrow</vt:lpstr>
      <vt:lpstr>Arial</vt:lpstr>
      <vt:lpstr>Calibri</vt:lpstr>
      <vt:lpstr>Calibri Light</vt:lpstr>
      <vt:lpstr>Helvetica</vt:lpstr>
      <vt:lpstr>Times New Roman</vt:lpstr>
      <vt:lpstr>Wingdings</vt:lpstr>
      <vt:lpstr>Office 2013 - 2022 Theme</vt:lpstr>
      <vt:lpstr>FINANCIAL RISK MANAGEMENT AND ENGINEERING  Session 5: Credit Risk I: Default Probability, Spreads and Ratings</vt:lpstr>
      <vt:lpstr>Learning Objectives</vt:lpstr>
      <vt:lpstr>Block 1: Credit Risk Landscape</vt:lpstr>
      <vt:lpstr>What Is Credit Risk?</vt:lpstr>
      <vt:lpstr>Credit Risk And  The Credit Valuation Adjustment</vt:lpstr>
      <vt:lpstr>Determinants Of Credit Risk</vt:lpstr>
      <vt:lpstr>Getting Default Probabilities From Historical Data</vt:lpstr>
      <vt:lpstr>Key Credit Risk Metrics</vt:lpstr>
      <vt:lpstr>Credit Ratings and Default Rates</vt:lpstr>
      <vt:lpstr>Rating Transition Matrices</vt:lpstr>
      <vt:lpstr>Rating Transition Matrix Example</vt:lpstr>
      <vt:lpstr>Default Probabilities: Marginal, Conditional, Cumulative and Hazard</vt:lpstr>
      <vt:lpstr>Transition Matrix And Bond Price</vt:lpstr>
      <vt:lpstr>Rating Agencies in Practice</vt:lpstr>
      <vt:lpstr>Seniority, Priority of Claims and Recovery</vt:lpstr>
      <vt:lpstr>Traditional Credit Analysis: The Four Cs</vt:lpstr>
      <vt:lpstr>Fundamental Credit Ratios: The S&amp;P Scorecard</vt:lpstr>
      <vt:lpstr>Block 2: Merton (1974) Structural Model</vt:lpstr>
      <vt:lpstr>Merton Model - Intuition</vt:lpstr>
      <vt:lpstr>Merton Model - Key Formulas</vt:lpstr>
      <vt:lpstr>Distance to Default</vt:lpstr>
      <vt:lpstr>PD, Credit Spread and Expected Loss</vt:lpstr>
      <vt:lpstr>Merton Model - Worked Example</vt:lpstr>
      <vt:lpstr>PD Sensitivity: Leverage and Volatility</vt:lpstr>
      <vt:lpstr>Block 3: Credit Spreads</vt:lpstr>
      <vt:lpstr>Credit Spreads - Theory</vt:lpstr>
      <vt:lpstr>Credit Spread Formula and Term Structure</vt:lpstr>
      <vt:lpstr>Credit Value Adjustment Calculation</vt:lpstr>
      <vt:lpstr>Valuing a Risky Bond: CVA and the Credit Spread</vt:lpstr>
      <vt:lpstr>Credit Spreads - Empirical Evidence</vt:lpstr>
      <vt:lpstr>What Drives Credit Spreads (and Spread Duration)</vt:lpstr>
      <vt:lpstr>Special Segments: High-Yield, Sovereign and Municipal</vt:lpstr>
      <vt:lpstr>Altman Z-Score and Accounting-Based Scoring</vt:lpstr>
      <vt:lpstr>Real-World versus Risk-Neutral Default Probabilities</vt:lpstr>
      <vt:lpstr>Data-Driven PD: Logistic-Regression Scorecards</vt:lpstr>
      <vt:lpstr>Block 4: Python Lab</vt:lpstr>
      <vt:lpstr>Python Lab - Session_05_Lab.ipynb</vt:lpstr>
      <vt:lpstr>Required Readings and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Hull RMFI 6e - Chapters 1-4</dc:title>
  <dc:subject>Options, Futures, and Other Derivatives, 11e</dc:subject>
  <dc:creator/>
  <cp:keywords>Chapter1</cp:keywords>
  <dc:description>Copyright 2021 by John C. Hull. All Rights Reserved. Published 2021</dc:description>
  <cp:lastModifiedBy>Yuriy Zabolotnyuk</cp:lastModifiedBy>
  <cp:revision>115</cp:revision>
  <dcterms:created xsi:type="dcterms:W3CDTF">2008-05-28T22:27:59Z</dcterms:created>
  <dcterms:modified xsi:type="dcterms:W3CDTF">2026-07-12T19:47:28Z</dcterms:modified>
</cp:coreProperties>
</file>