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7" r:id="rId1"/>
  </p:sldMasterIdLst>
  <p:notesMasterIdLst>
    <p:notesMasterId r:id="rId51"/>
  </p:notesMasterIdLst>
  <p:sldIdLst>
    <p:sldId id="256" r:id="rId2"/>
    <p:sldId id="258" r:id="rId3"/>
    <p:sldId id="259" r:id="rId4"/>
    <p:sldId id="260" r:id="rId5"/>
    <p:sldId id="296" r:id="rId6"/>
    <p:sldId id="261" r:id="rId7"/>
    <p:sldId id="262" r:id="rId8"/>
    <p:sldId id="263" r:id="rId9"/>
    <p:sldId id="297" r:id="rId10"/>
    <p:sldId id="285" r:id="rId11"/>
    <p:sldId id="300" r:id="rId12"/>
    <p:sldId id="286" r:id="rId13"/>
    <p:sldId id="301" r:id="rId14"/>
    <p:sldId id="264" r:id="rId15"/>
    <p:sldId id="298" r:id="rId16"/>
    <p:sldId id="265" r:id="rId17"/>
    <p:sldId id="266" r:id="rId18"/>
    <p:sldId id="267" r:id="rId19"/>
    <p:sldId id="299" r:id="rId20"/>
    <p:sldId id="295" r:id="rId21"/>
    <p:sldId id="288" r:id="rId22"/>
    <p:sldId id="268" r:id="rId23"/>
    <p:sldId id="269" r:id="rId24"/>
    <p:sldId id="303" r:id="rId25"/>
    <p:sldId id="270" r:id="rId26"/>
    <p:sldId id="304" r:id="rId27"/>
    <p:sldId id="271" r:id="rId28"/>
    <p:sldId id="305" r:id="rId29"/>
    <p:sldId id="272" r:id="rId30"/>
    <p:sldId id="306" r:id="rId31"/>
    <p:sldId id="273" r:id="rId32"/>
    <p:sldId id="307" r:id="rId33"/>
    <p:sldId id="274" r:id="rId34"/>
    <p:sldId id="289" r:id="rId35"/>
    <p:sldId id="309" r:id="rId36"/>
    <p:sldId id="275" r:id="rId37"/>
    <p:sldId id="287" r:id="rId38"/>
    <p:sldId id="310" r:id="rId39"/>
    <p:sldId id="277" r:id="rId40"/>
    <p:sldId id="291" r:id="rId41"/>
    <p:sldId id="311" r:id="rId42"/>
    <p:sldId id="293" r:id="rId43"/>
    <p:sldId id="312" r:id="rId44"/>
    <p:sldId id="294" r:id="rId45"/>
    <p:sldId id="313" r:id="rId46"/>
    <p:sldId id="278" r:id="rId47"/>
    <p:sldId id="279" r:id="rId48"/>
    <p:sldId id="281" r:id="rId49"/>
    <p:sldId id="290"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557042-E27A-2F40-A2AF-6E0857C42214}" v="1" dt="2026-07-13T12:50:27.4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113"/>
    <p:restoredTop sz="73022"/>
  </p:normalViewPr>
  <p:slideViewPr>
    <p:cSldViewPr>
      <p:cViewPr varScale="1">
        <p:scale>
          <a:sx n="86" d="100"/>
          <a:sy n="86" d="100"/>
        </p:scale>
        <p:origin x="1112" y="19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riy Zabolotnyuk" userId="5293f801-6ede-4669-8a17-9af1adeb069e" providerId="ADAL" clId="{9C72D551-62FB-5E3D-901C-9F32929520A9}"/>
    <pc:docChg chg="undo redo custSel addSld delSld modSld sldOrd modMainMaster">
      <pc:chgData name="Yuriy Zabolotnyuk" userId="5293f801-6ede-4669-8a17-9af1adeb069e" providerId="ADAL" clId="{9C72D551-62FB-5E3D-901C-9F32929520A9}" dt="2026-07-13T13:11:56.295" v="2318" actId="27636"/>
      <pc:docMkLst>
        <pc:docMk/>
      </pc:docMkLst>
      <pc:sldChg chg="addSp delSp modSp mod">
        <pc:chgData name="Yuriy Zabolotnyuk" userId="5293f801-6ede-4669-8a17-9af1adeb069e" providerId="ADAL" clId="{9C72D551-62FB-5E3D-901C-9F32929520A9}" dt="2026-07-05T17:33:01.698" v="1631" actId="20577"/>
        <pc:sldMkLst>
          <pc:docMk/>
          <pc:sldMk cId="0" sldId="256"/>
        </pc:sldMkLst>
        <pc:spChg chg="mod">
          <ac:chgData name="Yuriy Zabolotnyuk" userId="5293f801-6ede-4669-8a17-9af1adeb069e" providerId="ADAL" clId="{9C72D551-62FB-5E3D-901C-9F32929520A9}" dt="2026-07-05T17:33:01.698" v="1631" actId="20577"/>
          <ac:spMkLst>
            <pc:docMk/>
            <pc:sldMk cId="0" sldId="256"/>
            <ac:spMk id="2" creationId="{00000000-0000-0000-0000-000000000000}"/>
          </ac:spMkLst>
        </pc:spChg>
      </pc:sldChg>
      <pc:sldChg chg="modSp del mod modNotesTx">
        <pc:chgData name="Yuriy Zabolotnyuk" userId="5293f801-6ede-4669-8a17-9af1adeb069e" providerId="ADAL" clId="{9C72D551-62FB-5E3D-901C-9F32929520A9}" dt="2026-07-13T13:11:56.295" v="2318" actId="27636"/>
        <pc:sldMkLst>
          <pc:docMk/>
          <pc:sldMk cId="0" sldId="258"/>
        </pc:sldMkLst>
        <pc:spChg chg="mod">
          <ac:chgData name="Yuriy Zabolotnyuk" userId="5293f801-6ede-4669-8a17-9af1adeb069e" providerId="ADAL" clId="{9C72D551-62FB-5E3D-901C-9F32929520A9}" dt="2026-07-13T13:11:56.295" v="2318" actId="27636"/>
          <ac:spMkLst>
            <pc:docMk/>
            <pc:sldMk cId="0" sldId="258"/>
            <ac:spMk id="4004" creationId="{00000000-0000-0000-0000-000000000000}"/>
          </ac:spMkLst>
        </pc:spChg>
      </pc:sldChg>
      <pc:sldChg chg="modSp del mod">
        <pc:chgData name="Yuriy Zabolotnyuk" userId="5293f801-6ede-4669-8a17-9af1adeb069e" providerId="ADAL" clId="{9C72D551-62FB-5E3D-901C-9F32929520A9}" dt="2026-07-13T13:11:52.830" v="2316" actId="404"/>
        <pc:sldMkLst>
          <pc:docMk/>
          <pc:sldMk cId="0" sldId="259"/>
        </pc:sldMkLst>
        <pc:spChg chg="mod">
          <ac:chgData name="Yuriy Zabolotnyuk" userId="5293f801-6ede-4669-8a17-9af1adeb069e" providerId="ADAL" clId="{9C72D551-62FB-5E3D-901C-9F32929520A9}" dt="2026-07-13T13:11:52.830" v="2316" actId="404"/>
          <ac:spMkLst>
            <pc:docMk/>
            <pc:sldMk cId="0" sldId="259"/>
            <ac:spMk id="4006" creationId="{00000000-0000-0000-0000-000000000000}"/>
          </ac:spMkLst>
        </pc:spChg>
      </pc:sldChg>
      <pc:sldChg chg="modSp del mod">
        <pc:chgData name="Yuriy Zabolotnyuk" userId="5293f801-6ede-4669-8a17-9af1adeb069e" providerId="ADAL" clId="{9C72D551-62FB-5E3D-901C-9F32929520A9}" dt="2026-07-13T12:39:09.235" v="1760" actId="20577"/>
        <pc:sldMkLst>
          <pc:docMk/>
          <pc:sldMk cId="0" sldId="260"/>
        </pc:sldMkLst>
        <pc:spChg chg="mod">
          <ac:chgData name="Yuriy Zabolotnyuk" userId="5293f801-6ede-4669-8a17-9af1adeb069e" providerId="ADAL" clId="{9C72D551-62FB-5E3D-901C-9F32929520A9}" dt="2026-07-13T12:39:09.235" v="1760" actId="20577"/>
          <ac:spMkLst>
            <pc:docMk/>
            <pc:sldMk cId="0" sldId="260"/>
            <ac:spMk id="4008" creationId="{00000000-0000-0000-0000-000000000000}"/>
          </ac:spMkLst>
        </pc:spChg>
      </pc:sldChg>
      <pc:sldChg chg="modSp del mod">
        <pc:chgData name="Yuriy Zabolotnyuk" userId="5293f801-6ede-4669-8a17-9af1adeb069e" providerId="ADAL" clId="{9C72D551-62FB-5E3D-901C-9F32929520A9}" dt="2026-07-13T13:11:40.370" v="2315" actId="255"/>
        <pc:sldMkLst>
          <pc:docMk/>
          <pc:sldMk cId="0" sldId="261"/>
        </pc:sldMkLst>
        <pc:spChg chg="mod">
          <ac:chgData name="Yuriy Zabolotnyuk" userId="5293f801-6ede-4669-8a17-9af1adeb069e" providerId="ADAL" clId="{9C72D551-62FB-5E3D-901C-9F32929520A9}" dt="2026-07-13T13:11:40.370" v="2315" actId="255"/>
          <ac:spMkLst>
            <pc:docMk/>
            <pc:sldMk cId="0" sldId="261"/>
            <ac:spMk id="4010" creationId="{00000000-0000-0000-0000-000000000000}"/>
          </ac:spMkLst>
        </pc:spChg>
      </pc:sldChg>
      <pc:sldChg chg="modSp del mod modNotesTx">
        <pc:chgData name="Yuriy Zabolotnyuk" userId="5293f801-6ede-4669-8a17-9af1adeb069e" providerId="ADAL" clId="{9C72D551-62FB-5E3D-901C-9F32929520A9}" dt="2026-07-13T13:11:30.871" v="2312" actId="404"/>
        <pc:sldMkLst>
          <pc:docMk/>
          <pc:sldMk cId="0" sldId="262"/>
        </pc:sldMkLst>
        <pc:spChg chg="mod">
          <ac:chgData name="Yuriy Zabolotnyuk" userId="5293f801-6ede-4669-8a17-9af1adeb069e" providerId="ADAL" clId="{9C72D551-62FB-5E3D-901C-9F32929520A9}" dt="2026-07-13T13:11:30.871" v="2312" actId="404"/>
          <ac:spMkLst>
            <pc:docMk/>
            <pc:sldMk cId="0" sldId="262"/>
            <ac:spMk id="4012" creationId="{00000000-0000-0000-0000-000000000000}"/>
          </ac:spMkLst>
        </pc:spChg>
      </pc:sldChg>
      <pc:sldChg chg="modSp del mod">
        <pc:chgData name="Yuriy Zabolotnyuk" userId="5293f801-6ede-4669-8a17-9af1adeb069e" providerId="ADAL" clId="{9C72D551-62FB-5E3D-901C-9F32929520A9}" dt="2026-07-13T13:11:25.491" v="2311" actId="255"/>
        <pc:sldMkLst>
          <pc:docMk/>
          <pc:sldMk cId="0" sldId="263"/>
        </pc:sldMkLst>
        <pc:spChg chg="mod">
          <ac:chgData name="Yuriy Zabolotnyuk" userId="5293f801-6ede-4669-8a17-9af1adeb069e" providerId="ADAL" clId="{9C72D551-62FB-5E3D-901C-9F32929520A9}" dt="2026-07-13T13:11:25.491" v="2311" actId="255"/>
          <ac:spMkLst>
            <pc:docMk/>
            <pc:sldMk cId="0" sldId="263"/>
            <ac:spMk id="2" creationId="{00000000-0000-0000-0000-000000000000}"/>
          </ac:spMkLst>
        </pc:spChg>
        <pc:picChg chg="mod">
          <ac:chgData name="Yuriy Zabolotnyuk" userId="5293f801-6ede-4669-8a17-9af1adeb069e" providerId="ADAL" clId="{9C72D551-62FB-5E3D-901C-9F32929520A9}" dt="2026-07-13T12:41:44.701" v="1842" actId="14100"/>
          <ac:picMkLst>
            <pc:docMk/>
            <pc:sldMk cId="0" sldId="263"/>
            <ac:picMk id="4014" creationId="{00000000-0000-0000-0000-000000000000}"/>
          </ac:picMkLst>
        </pc:picChg>
        <pc:picChg chg="mod">
          <ac:chgData name="Yuriy Zabolotnyuk" userId="5293f801-6ede-4669-8a17-9af1adeb069e" providerId="ADAL" clId="{9C72D551-62FB-5E3D-901C-9F32929520A9}" dt="2026-07-13T12:41:46.948" v="1843" actId="14100"/>
          <ac:picMkLst>
            <pc:docMk/>
            <pc:sldMk cId="0" sldId="263"/>
            <ac:picMk id="4015" creationId="{00000000-0000-0000-0000-000000000000}"/>
          </ac:picMkLst>
        </pc:picChg>
      </pc:sldChg>
      <pc:sldChg chg="modSp del mod">
        <pc:chgData name="Yuriy Zabolotnyuk" userId="5293f801-6ede-4669-8a17-9af1adeb069e" providerId="ADAL" clId="{9C72D551-62FB-5E3D-901C-9F32929520A9}" dt="2026-07-13T12:44:19.773" v="1892" actId="20577"/>
        <pc:sldMkLst>
          <pc:docMk/>
          <pc:sldMk cId="0" sldId="264"/>
        </pc:sldMkLst>
        <pc:spChg chg="mod">
          <ac:chgData name="Yuriy Zabolotnyuk" userId="5293f801-6ede-4669-8a17-9af1adeb069e" providerId="ADAL" clId="{9C72D551-62FB-5E3D-901C-9F32929520A9}" dt="2026-07-13T12:44:19.773" v="1892" actId="20577"/>
          <ac:spMkLst>
            <pc:docMk/>
            <pc:sldMk cId="0" sldId="264"/>
            <ac:spMk id="4016" creationId="{00000000-0000-0000-0000-000000000000}"/>
          </ac:spMkLst>
        </pc:spChg>
      </pc:sldChg>
      <pc:sldChg chg="modSp del mod">
        <pc:chgData name="Yuriy Zabolotnyuk" userId="5293f801-6ede-4669-8a17-9af1adeb069e" providerId="ADAL" clId="{9C72D551-62FB-5E3D-901C-9F32929520A9}" dt="2026-07-13T12:51:34.693" v="2071" actId="255"/>
        <pc:sldMkLst>
          <pc:docMk/>
          <pc:sldMk cId="0" sldId="265"/>
        </pc:sldMkLst>
        <pc:spChg chg="mod">
          <ac:chgData name="Yuriy Zabolotnyuk" userId="5293f801-6ede-4669-8a17-9af1adeb069e" providerId="ADAL" clId="{9C72D551-62FB-5E3D-901C-9F32929520A9}" dt="2026-07-13T12:51:34.693" v="2071" actId="255"/>
          <ac:spMkLst>
            <pc:docMk/>
            <pc:sldMk cId="0" sldId="265"/>
            <ac:spMk id="2" creationId="{00000000-0000-0000-0000-000000000000}"/>
          </ac:spMkLst>
        </pc:spChg>
        <pc:picChg chg="mod">
          <ac:chgData name="Yuriy Zabolotnyuk" userId="5293f801-6ede-4669-8a17-9af1adeb069e" providerId="ADAL" clId="{9C72D551-62FB-5E3D-901C-9F32929520A9}" dt="2026-07-13T12:45:30.446" v="1904" actId="1035"/>
          <ac:picMkLst>
            <pc:docMk/>
            <pc:sldMk cId="0" sldId="265"/>
            <ac:picMk id="4018" creationId="{00000000-0000-0000-0000-000000000000}"/>
          </ac:picMkLst>
        </pc:picChg>
        <pc:picChg chg="mod">
          <ac:chgData name="Yuriy Zabolotnyuk" userId="5293f801-6ede-4669-8a17-9af1adeb069e" providerId="ADAL" clId="{9C72D551-62FB-5E3D-901C-9F32929520A9}" dt="2026-07-13T12:45:38.283" v="1930" actId="1038"/>
          <ac:picMkLst>
            <pc:docMk/>
            <pc:sldMk cId="0" sldId="265"/>
            <ac:picMk id="4019" creationId="{00000000-0000-0000-0000-000000000000}"/>
          </ac:picMkLst>
        </pc:picChg>
      </pc:sldChg>
      <pc:sldChg chg="modSp del mod">
        <pc:chgData name="Yuriy Zabolotnyuk" userId="5293f801-6ede-4669-8a17-9af1adeb069e" providerId="ADAL" clId="{9C72D551-62FB-5E3D-901C-9F32929520A9}" dt="2026-07-13T12:51:48.819" v="2076" actId="255"/>
        <pc:sldMkLst>
          <pc:docMk/>
          <pc:sldMk cId="0" sldId="266"/>
        </pc:sldMkLst>
        <pc:spChg chg="mod">
          <ac:chgData name="Yuriy Zabolotnyuk" userId="5293f801-6ede-4669-8a17-9af1adeb069e" providerId="ADAL" clId="{9C72D551-62FB-5E3D-901C-9F32929520A9}" dt="2026-07-13T12:51:48.819" v="2076" actId="255"/>
          <ac:spMkLst>
            <pc:docMk/>
            <pc:sldMk cId="0" sldId="266"/>
            <ac:spMk id="4020" creationId="{00000000-0000-0000-0000-000000000000}"/>
          </ac:spMkLst>
        </pc:spChg>
      </pc:sldChg>
      <pc:sldChg chg="modSp del mod">
        <pc:chgData name="Yuriy Zabolotnyuk" userId="5293f801-6ede-4669-8a17-9af1adeb069e" providerId="ADAL" clId="{9C72D551-62FB-5E3D-901C-9F32929520A9}" dt="2026-07-13T13:10:17.014" v="2305" actId="1035"/>
        <pc:sldMkLst>
          <pc:docMk/>
          <pc:sldMk cId="0" sldId="267"/>
        </pc:sldMkLst>
        <pc:spChg chg="mod">
          <ac:chgData name="Yuriy Zabolotnyuk" userId="5293f801-6ede-4669-8a17-9af1adeb069e" providerId="ADAL" clId="{9C72D551-62FB-5E3D-901C-9F32929520A9}" dt="2026-07-13T13:10:17.014" v="2305" actId="1035"/>
          <ac:spMkLst>
            <pc:docMk/>
            <pc:sldMk cId="0" sldId="267"/>
            <ac:spMk id="4022" creationId="{00000000-0000-0000-0000-000000000000}"/>
          </ac:spMkLst>
        </pc:spChg>
      </pc:sldChg>
      <pc:sldChg chg="modSp del mod">
        <pc:chgData name="Yuriy Zabolotnyuk" userId="5293f801-6ede-4669-8a17-9af1adeb069e" providerId="ADAL" clId="{9C72D551-62FB-5E3D-901C-9F32929520A9}" dt="2026-07-13T13:09:44.172" v="2295" actId="404"/>
        <pc:sldMkLst>
          <pc:docMk/>
          <pc:sldMk cId="0" sldId="268"/>
        </pc:sldMkLst>
        <pc:spChg chg="mod">
          <ac:chgData name="Yuriy Zabolotnyuk" userId="5293f801-6ede-4669-8a17-9af1adeb069e" providerId="ADAL" clId="{9C72D551-62FB-5E3D-901C-9F32929520A9}" dt="2026-07-13T13:09:44.172" v="2295" actId="404"/>
          <ac:spMkLst>
            <pc:docMk/>
            <pc:sldMk cId="0" sldId="268"/>
            <ac:spMk id="4024" creationId="{00000000-0000-0000-0000-000000000000}"/>
          </ac:spMkLst>
        </pc:spChg>
      </pc:sldChg>
      <pc:sldChg chg="modSp add del mod modNotesTx">
        <pc:chgData name="Yuriy Zabolotnyuk" userId="5293f801-6ede-4669-8a17-9af1adeb069e" providerId="ADAL" clId="{9C72D551-62FB-5E3D-901C-9F32929520A9}" dt="2026-07-13T13:09:37.881" v="2294" actId="27636"/>
        <pc:sldMkLst>
          <pc:docMk/>
          <pc:sldMk cId="0" sldId="269"/>
        </pc:sldMkLst>
        <pc:spChg chg="mod">
          <ac:chgData name="Yuriy Zabolotnyuk" userId="5293f801-6ede-4669-8a17-9af1adeb069e" providerId="ADAL" clId="{9C72D551-62FB-5E3D-901C-9F32929520A9}" dt="2026-07-13T13:09:37.881" v="2294" actId="27636"/>
          <ac:spMkLst>
            <pc:docMk/>
            <pc:sldMk cId="0" sldId="269"/>
            <ac:spMk id="4026" creationId="{00000000-0000-0000-0000-000000000000}"/>
          </ac:spMkLst>
        </pc:spChg>
      </pc:sldChg>
      <pc:sldChg chg="modSp add del mod">
        <pc:chgData name="Yuriy Zabolotnyuk" userId="5293f801-6ede-4669-8a17-9af1adeb069e" providerId="ADAL" clId="{9C72D551-62FB-5E3D-901C-9F32929520A9}" dt="2026-07-13T13:09:29.177" v="2292" actId="27636"/>
        <pc:sldMkLst>
          <pc:docMk/>
          <pc:sldMk cId="0" sldId="270"/>
        </pc:sldMkLst>
        <pc:spChg chg="mod">
          <ac:chgData name="Yuriy Zabolotnyuk" userId="5293f801-6ede-4669-8a17-9af1adeb069e" providerId="ADAL" clId="{9C72D551-62FB-5E3D-901C-9F32929520A9}" dt="2026-07-13T13:09:29.177" v="2292" actId="27636"/>
          <ac:spMkLst>
            <pc:docMk/>
            <pc:sldMk cId="0" sldId="270"/>
            <ac:spMk id="2" creationId="{00000000-0000-0000-0000-000000000000}"/>
          </ac:spMkLst>
        </pc:spChg>
        <pc:picChg chg="mod">
          <ac:chgData name="Yuriy Zabolotnyuk" userId="5293f801-6ede-4669-8a17-9af1adeb069e" providerId="ADAL" clId="{9C72D551-62FB-5E3D-901C-9F32929520A9}" dt="2026-07-13T12:53:58.300" v="2096" actId="1076"/>
          <ac:picMkLst>
            <pc:docMk/>
            <pc:sldMk cId="0" sldId="270"/>
            <ac:picMk id="4028" creationId="{00000000-0000-0000-0000-000000000000}"/>
          </ac:picMkLst>
        </pc:picChg>
      </pc:sldChg>
      <pc:sldChg chg="delSp modSp add del mod">
        <pc:chgData name="Yuriy Zabolotnyuk" userId="5293f801-6ede-4669-8a17-9af1adeb069e" providerId="ADAL" clId="{9C72D551-62FB-5E3D-901C-9F32929520A9}" dt="2026-07-13T13:09:20.852" v="2290" actId="255"/>
        <pc:sldMkLst>
          <pc:docMk/>
          <pc:sldMk cId="0" sldId="271"/>
        </pc:sldMkLst>
        <pc:spChg chg="mod">
          <ac:chgData name="Yuriy Zabolotnyuk" userId="5293f801-6ede-4669-8a17-9af1adeb069e" providerId="ADAL" clId="{9C72D551-62FB-5E3D-901C-9F32929520A9}" dt="2026-07-13T13:09:20.852" v="2290" actId="255"/>
          <ac:spMkLst>
            <pc:docMk/>
            <pc:sldMk cId="0" sldId="271"/>
            <ac:spMk id="2" creationId="{00000000-0000-0000-0000-000000000000}"/>
          </ac:spMkLst>
        </pc:spChg>
      </pc:sldChg>
      <pc:sldChg chg="delSp modSp add del mod modNotesTx">
        <pc:chgData name="Yuriy Zabolotnyuk" userId="5293f801-6ede-4669-8a17-9af1adeb069e" providerId="ADAL" clId="{9C72D551-62FB-5E3D-901C-9F32929520A9}" dt="2026-07-13T13:08:54.342" v="2289" actId="1035"/>
        <pc:sldMkLst>
          <pc:docMk/>
          <pc:sldMk cId="0" sldId="272"/>
        </pc:sldMkLst>
        <pc:spChg chg="mod">
          <ac:chgData name="Yuriy Zabolotnyuk" userId="5293f801-6ede-4669-8a17-9af1adeb069e" providerId="ADAL" clId="{9C72D551-62FB-5E3D-901C-9F32929520A9}" dt="2026-07-13T13:08:54.342" v="2289" actId="1035"/>
          <ac:spMkLst>
            <pc:docMk/>
            <pc:sldMk cId="0" sldId="272"/>
            <ac:spMk id="2" creationId="{00000000-0000-0000-0000-000000000000}"/>
          </ac:spMkLst>
        </pc:spChg>
        <pc:picChg chg="mod">
          <ac:chgData name="Yuriy Zabolotnyuk" userId="5293f801-6ede-4669-8a17-9af1adeb069e" providerId="ADAL" clId="{9C72D551-62FB-5E3D-901C-9F32929520A9}" dt="2026-07-13T13:08:41.923" v="2274" actId="1035"/>
          <ac:picMkLst>
            <pc:docMk/>
            <pc:sldMk cId="0" sldId="272"/>
            <ac:picMk id="4032" creationId="{00000000-0000-0000-0000-000000000000}"/>
          </ac:picMkLst>
        </pc:picChg>
        <pc:picChg chg="mod">
          <ac:chgData name="Yuriy Zabolotnyuk" userId="5293f801-6ede-4669-8a17-9af1adeb069e" providerId="ADAL" clId="{9C72D551-62FB-5E3D-901C-9F32929520A9}" dt="2026-07-13T13:08:45.452" v="2279" actId="1035"/>
          <ac:picMkLst>
            <pc:docMk/>
            <pc:sldMk cId="0" sldId="272"/>
            <ac:picMk id="4033" creationId="{00000000-0000-0000-0000-000000000000}"/>
          </ac:picMkLst>
        </pc:picChg>
        <pc:picChg chg="mod">
          <ac:chgData name="Yuriy Zabolotnyuk" userId="5293f801-6ede-4669-8a17-9af1adeb069e" providerId="ADAL" clId="{9C72D551-62FB-5E3D-901C-9F32929520A9}" dt="2026-07-13T13:08:49.496" v="2286" actId="1035"/>
          <ac:picMkLst>
            <pc:docMk/>
            <pc:sldMk cId="0" sldId="272"/>
            <ac:picMk id="4034" creationId="{00000000-0000-0000-0000-000000000000}"/>
          </ac:picMkLst>
        </pc:picChg>
      </pc:sldChg>
      <pc:sldChg chg="modSp add del mod modNotesTx">
        <pc:chgData name="Yuriy Zabolotnyuk" userId="5293f801-6ede-4669-8a17-9af1adeb069e" providerId="ADAL" clId="{9C72D551-62FB-5E3D-901C-9F32929520A9}" dt="2026-07-13T13:08:13.675" v="2258" actId="27636"/>
        <pc:sldMkLst>
          <pc:docMk/>
          <pc:sldMk cId="0" sldId="273"/>
        </pc:sldMkLst>
        <pc:spChg chg="mod">
          <ac:chgData name="Yuriy Zabolotnyuk" userId="5293f801-6ede-4669-8a17-9af1adeb069e" providerId="ADAL" clId="{9C72D551-62FB-5E3D-901C-9F32929520A9}" dt="2026-07-13T13:08:13.675" v="2258" actId="27636"/>
          <ac:spMkLst>
            <pc:docMk/>
            <pc:sldMk cId="0" sldId="273"/>
            <ac:spMk id="2" creationId="{00000000-0000-0000-0000-000000000000}"/>
          </ac:spMkLst>
        </pc:spChg>
      </pc:sldChg>
      <pc:sldChg chg="modSp mod">
        <pc:chgData name="Yuriy Zabolotnyuk" userId="5293f801-6ede-4669-8a17-9af1adeb069e" providerId="ADAL" clId="{9C72D551-62FB-5E3D-901C-9F32929520A9}" dt="2026-07-13T13:08:06.191" v="2256" actId="27636"/>
        <pc:sldMkLst>
          <pc:docMk/>
          <pc:sldMk cId="0" sldId="274"/>
        </pc:sldMkLst>
        <pc:spChg chg="mod">
          <ac:chgData name="Yuriy Zabolotnyuk" userId="5293f801-6ede-4669-8a17-9af1adeb069e" providerId="ADAL" clId="{9C72D551-62FB-5E3D-901C-9F32929520A9}" dt="2026-07-13T13:08:06.191" v="2256" actId="27636"/>
          <ac:spMkLst>
            <pc:docMk/>
            <pc:sldMk cId="0" sldId="274"/>
            <ac:spMk id="4036" creationId="{00000000-0000-0000-0000-000000000000}"/>
          </ac:spMkLst>
        </pc:spChg>
      </pc:sldChg>
      <pc:sldChg chg="modSp add del mod">
        <pc:chgData name="Yuriy Zabolotnyuk" userId="5293f801-6ede-4669-8a17-9af1adeb069e" providerId="ADAL" clId="{9C72D551-62FB-5E3D-901C-9F32929520A9}" dt="2026-07-13T13:07:28.727" v="2252" actId="255"/>
        <pc:sldMkLst>
          <pc:docMk/>
          <pc:sldMk cId="0" sldId="275"/>
        </pc:sldMkLst>
        <pc:spChg chg="mod">
          <ac:chgData name="Yuriy Zabolotnyuk" userId="5293f801-6ede-4669-8a17-9af1adeb069e" providerId="ADAL" clId="{9C72D551-62FB-5E3D-901C-9F32929520A9}" dt="2026-07-13T13:07:28.727" v="2252" actId="255"/>
          <ac:spMkLst>
            <pc:docMk/>
            <pc:sldMk cId="0" sldId="275"/>
            <ac:spMk id="4038" creationId="{00000000-0000-0000-0000-000000000000}"/>
          </ac:spMkLst>
        </pc:spChg>
      </pc:sldChg>
      <pc:sldChg chg="modSp add del mod">
        <pc:chgData name="Yuriy Zabolotnyuk" userId="5293f801-6ede-4669-8a17-9af1adeb069e" providerId="ADAL" clId="{9C72D551-62FB-5E3D-901C-9F32929520A9}" dt="2026-07-13T12:57:06.244" v="2112" actId="2696"/>
        <pc:sldMkLst>
          <pc:docMk/>
          <pc:sldMk cId="0" sldId="276"/>
        </pc:sldMkLst>
        <pc:spChg chg="mod">
          <ac:chgData name="Yuriy Zabolotnyuk" userId="5293f801-6ede-4669-8a17-9af1adeb069e" providerId="ADAL" clId="{9C72D551-62FB-5E3D-901C-9F32929520A9}" dt="2026-07-13T12:50:27.600" v="2051" actId="27636"/>
          <ac:spMkLst>
            <pc:docMk/>
            <pc:sldMk cId="0" sldId="276"/>
            <ac:spMk id="4040" creationId="{00000000-0000-0000-0000-000000000000}"/>
          </ac:spMkLst>
        </pc:spChg>
      </pc:sldChg>
      <pc:sldChg chg="addSp delSp modSp mod modNotesTx">
        <pc:chgData name="Yuriy Zabolotnyuk" userId="5293f801-6ede-4669-8a17-9af1adeb069e" providerId="ADAL" clId="{9C72D551-62FB-5E3D-901C-9F32929520A9}" dt="2026-07-13T12:59:58.607" v="2129" actId="20577"/>
        <pc:sldMkLst>
          <pc:docMk/>
          <pc:sldMk cId="0" sldId="277"/>
        </pc:sldMkLst>
        <pc:spChg chg="mod">
          <ac:chgData name="Yuriy Zabolotnyuk" userId="5293f801-6ede-4669-8a17-9af1adeb069e" providerId="ADAL" clId="{9C72D551-62FB-5E3D-901C-9F32929520A9}" dt="2026-07-13T12:57:45.486" v="2121" actId="20577"/>
          <ac:spMkLst>
            <pc:docMk/>
            <pc:sldMk cId="0" sldId="277"/>
            <ac:spMk id="4042" creationId="{00000000-0000-0000-0000-000000000000}"/>
          </ac:spMkLst>
        </pc:spChg>
      </pc:sldChg>
      <pc:sldChg chg="addSp modSp mod">
        <pc:chgData name="Yuriy Zabolotnyuk" userId="5293f801-6ede-4669-8a17-9af1adeb069e" providerId="ADAL" clId="{9C72D551-62FB-5E3D-901C-9F32929520A9}" dt="2026-07-13T13:06:40.329" v="2244" actId="20577"/>
        <pc:sldMkLst>
          <pc:docMk/>
          <pc:sldMk cId="0" sldId="278"/>
        </pc:sldMkLst>
        <pc:spChg chg="mod">
          <ac:chgData name="Yuriy Zabolotnyuk" userId="5293f801-6ede-4669-8a17-9af1adeb069e" providerId="ADAL" clId="{9C72D551-62FB-5E3D-901C-9F32929520A9}" dt="2026-07-13T13:06:40.329" v="2244" actId="20577"/>
          <ac:spMkLst>
            <pc:docMk/>
            <pc:sldMk cId="0" sldId="278"/>
            <ac:spMk id="4044" creationId="{00000000-0000-0000-0000-000000000000}"/>
          </ac:spMkLst>
        </pc:spChg>
      </pc:sldChg>
      <pc:sldChg chg="modSp add del mod">
        <pc:chgData name="Yuriy Zabolotnyuk" userId="5293f801-6ede-4669-8a17-9af1adeb069e" providerId="ADAL" clId="{9C72D551-62FB-5E3D-901C-9F32929520A9}" dt="2026-07-13T13:06:23.581" v="2241" actId="20577"/>
        <pc:sldMkLst>
          <pc:docMk/>
          <pc:sldMk cId="0" sldId="279"/>
        </pc:sldMkLst>
        <pc:spChg chg="mod">
          <ac:chgData name="Yuriy Zabolotnyuk" userId="5293f801-6ede-4669-8a17-9af1adeb069e" providerId="ADAL" clId="{9C72D551-62FB-5E3D-901C-9F32929520A9}" dt="2026-07-13T13:06:23.581" v="2241" actId="20577"/>
          <ac:spMkLst>
            <pc:docMk/>
            <pc:sldMk cId="0" sldId="279"/>
            <ac:spMk id="4046" creationId="{00000000-0000-0000-0000-000000000000}"/>
          </ac:spMkLst>
        </pc:spChg>
      </pc:sldChg>
      <pc:sldChg chg="addSp delSp modSp del mod">
        <pc:chgData name="Yuriy Zabolotnyuk" userId="5293f801-6ede-4669-8a17-9af1adeb069e" providerId="ADAL" clId="{9C72D551-62FB-5E3D-901C-9F32929520A9}" dt="2026-07-13T13:04:32.011" v="2174" actId="2696"/>
        <pc:sldMkLst>
          <pc:docMk/>
          <pc:sldMk cId="0" sldId="280"/>
        </pc:sldMkLst>
        <pc:spChg chg="mod">
          <ac:chgData name="Yuriy Zabolotnyuk" userId="5293f801-6ede-4669-8a17-9af1adeb069e" providerId="ADAL" clId="{9C72D551-62FB-5E3D-901C-9F32929520A9}" dt="2026-07-13T12:50:27.637" v="2056" actId="27636"/>
          <ac:spMkLst>
            <pc:docMk/>
            <pc:sldMk cId="0" sldId="280"/>
            <ac:spMk id="4048" creationId="{00000000-0000-0000-0000-000000000000}"/>
          </ac:spMkLst>
        </pc:spChg>
      </pc:sldChg>
      <pc:sldChg chg="modSp mod modNotesTx">
        <pc:chgData name="Yuriy Zabolotnyuk" userId="5293f801-6ede-4669-8a17-9af1adeb069e" providerId="ADAL" clId="{9C72D551-62FB-5E3D-901C-9F32929520A9}" dt="2026-07-13T13:05:17.665" v="2219" actId="20577"/>
        <pc:sldMkLst>
          <pc:docMk/>
          <pc:sldMk cId="0" sldId="281"/>
        </pc:sldMkLst>
      </pc:sldChg>
      <pc:sldChg chg="del">
        <pc:chgData name="Yuriy Zabolotnyuk" userId="5293f801-6ede-4669-8a17-9af1adeb069e" providerId="ADAL" clId="{9C72D551-62FB-5E3D-901C-9F32929520A9}" dt="2026-07-13T12:50:18.833" v="2041" actId="2696"/>
        <pc:sldMkLst>
          <pc:docMk/>
          <pc:sldMk cId="0" sldId="285"/>
        </pc:sldMkLst>
      </pc:sldChg>
      <pc:sldChg chg="modSp add mod">
        <pc:chgData name="Yuriy Zabolotnyuk" userId="5293f801-6ede-4669-8a17-9af1adeb069e" providerId="ADAL" clId="{9C72D551-62FB-5E3D-901C-9F32929520A9}" dt="2026-07-13T13:11:17.851" v="2310" actId="255"/>
        <pc:sldMkLst>
          <pc:docMk/>
          <pc:sldMk cId="3831878164" sldId="285"/>
        </pc:sldMkLst>
        <pc:spChg chg="mod">
          <ac:chgData name="Yuriy Zabolotnyuk" userId="5293f801-6ede-4669-8a17-9af1adeb069e" providerId="ADAL" clId="{9C72D551-62FB-5E3D-901C-9F32929520A9}" dt="2026-07-13T13:11:17.851" v="2310" actId="255"/>
          <ac:spMkLst>
            <pc:docMk/>
            <pc:sldMk cId="3831878164" sldId="285"/>
            <ac:spMk id="4042" creationId="{00000000-0000-0000-0000-000000000000}"/>
          </ac:spMkLst>
        </pc:spChg>
      </pc:sldChg>
      <pc:sldChg chg="del">
        <pc:chgData name="Yuriy Zabolotnyuk" userId="5293f801-6ede-4669-8a17-9af1adeb069e" providerId="ADAL" clId="{9C72D551-62FB-5E3D-901C-9F32929520A9}" dt="2026-07-13T12:50:18.833" v="2041" actId="2696"/>
        <pc:sldMkLst>
          <pc:docMk/>
          <pc:sldMk cId="0" sldId="286"/>
        </pc:sldMkLst>
      </pc:sldChg>
      <pc:sldChg chg="modSp add mod">
        <pc:chgData name="Yuriy Zabolotnyuk" userId="5293f801-6ede-4669-8a17-9af1adeb069e" providerId="ADAL" clId="{9C72D551-62FB-5E3D-901C-9F32929520A9}" dt="2026-07-13T13:11:08.746" v="2309" actId="1035"/>
        <pc:sldMkLst>
          <pc:docMk/>
          <pc:sldMk cId="3194422383" sldId="286"/>
        </pc:sldMkLst>
        <pc:spChg chg="mod">
          <ac:chgData name="Yuriy Zabolotnyuk" userId="5293f801-6ede-4669-8a17-9af1adeb069e" providerId="ADAL" clId="{9C72D551-62FB-5E3D-901C-9F32929520A9}" dt="2026-07-13T13:11:08.746" v="2309" actId="1035"/>
          <ac:spMkLst>
            <pc:docMk/>
            <pc:sldMk cId="3194422383" sldId="286"/>
            <ac:spMk id="4042" creationId="{00000000-0000-0000-0000-000000000000}"/>
          </ac:spMkLst>
        </pc:spChg>
      </pc:sldChg>
      <pc:sldChg chg="modSp mod">
        <pc:chgData name="Yuriy Zabolotnyuk" userId="5293f801-6ede-4669-8a17-9af1adeb069e" providerId="ADAL" clId="{9C72D551-62FB-5E3D-901C-9F32929520A9}" dt="2026-07-13T13:07:13.641" v="2246" actId="255"/>
        <pc:sldMkLst>
          <pc:docMk/>
          <pc:sldMk cId="0" sldId="287"/>
        </pc:sldMkLst>
        <pc:spChg chg="mod">
          <ac:chgData name="Yuriy Zabolotnyuk" userId="5293f801-6ede-4669-8a17-9af1adeb069e" providerId="ADAL" clId="{9C72D551-62FB-5E3D-901C-9F32929520A9}" dt="2026-07-13T13:07:13.641" v="2246" actId="255"/>
          <ac:spMkLst>
            <pc:docMk/>
            <pc:sldMk cId="0" sldId="287"/>
            <ac:spMk id="4042" creationId="{00000000-0000-0000-0000-000000000000}"/>
          </ac:spMkLst>
        </pc:spChg>
      </pc:sldChg>
      <pc:sldChg chg="modSp mod">
        <pc:chgData name="Yuriy Zabolotnyuk" userId="5293f801-6ede-4669-8a17-9af1adeb069e" providerId="ADAL" clId="{9C72D551-62FB-5E3D-901C-9F32929520A9}" dt="2026-07-13T12:52:08.813" v="2080" actId="255"/>
        <pc:sldMkLst>
          <pc:docMk/>
          <pc:sldMk cId="0" sldId="288"/>
        </pc:sldMkLst>
        <pc:spChg chg="mod">
          <ac:chgData name="Yuriy Zabolotnyuk" userId="5293f801-6ede-4669-8a17-9af1adeb069e" providerId="ADAL" clId="{9C72D551-62FB-5E3D-901C-9F32929520A9}" dt="2026-07-13T12:52:08.813" v="2080" actId="255"/>
          <ac:spMkLst>
            <pc:docMk/>
            <pc:sldMk cId="0" sldId="288"/>
            <ac:spMk id="4042" creationId="{00000000-0000-0000-0000-000000000000}"/>
          </ac:spMkLst>
        </pc:spChg>
      </pc:sldChg>
      <pc:sldChg chg="modSp mod">
        <pc:chgData name="Yuriy Zabolotnyuk" userId="5293f801-6ede-4669-8a17-9af1adeb069e" providerId="ADAL" clId="{9C72D551-62FB-5E3D-901C-9F32929520A9}" dt="2026-07-13T13:08:00.797" v="2254" actId="27636"/>
        <pc:sldMkLst>
          <pc:docMk/>
          <pc:sldMk cId="0" sldId="289"/>
        </pc:sldMkLst>
        <pc:spChg chg="mod">
          <ac:chgData name="Yuriy Zabolotnyuk" userId="5293f801-6ede-4669-8a17-9af1adeb069e" providerId="ADAL" clId="{9C72D551-62FB-5E3D-901C-9F32929520A9}" dt="2026-07-13T13:08:00.797" v="2254" actId="27636"/>
          <ac:spMkLst>
            <pc:docMk/>
            <pc:sldMk cId="0" sldId="289"/>
            <ac:spMk id="4042" creationId="{00000000-0000-0000-0000-000000000000}"/>
          </ac:spMkLst>
        </pc:spChg>
      </pc:sldChg>
      <pc:sldChg chg="modSp mod modNotesTx">
        <pc:chgData name="Yuriy Zabolotnyuk" userId="5293f801-6ede-4669-8a17-9af1adeb069e" providerId="ADAL" clId="{9C72D551-62FB-5E3D-901C-9F32929520A9}" dt="2026-07-13T13:05:59.443" v="2237" actId="1036"/>
        <pc:sldMkLst>
          <pc:docMk/>
          <pc:sldMk cId="0" sldId="290"/>
        </pc:sldMkLst>
        <pc:spChg chg="mod">
          <ac:chgData name="Yuriy Zabolotnyuk" userId="5293f801-6ede-4669-8a17-9af1adeb069e" providerId="ADAL" clId="{9C72D551-62FB-5E3D-901C-9F32929520A9}" dt="2026-07-13T13:05:59.443" v="2237" actId="1036"/>
          <ac:spMkLst>
            <pc:docMk/>
            <pc:sldMk cId="0" sldId="290"/>
            <ac:spMk id="4042" creationId="{00000000-0000-0000-0000-000000000000}"/>
          </ac:spMkLst>
        </pc:spChg>
      </pc:sldChg>
      <pc:sldChg chg="modSp mod">
        <pc:chgData name="Yuriy Zabolotnyuk" userId="5293f801-6ede-4669-8a17-9af1adeb069e" providerId="ADAL" clId="{9C72D551-62FB-5E3D-901C-9F32929520A9}" dt="2026-07-13T13:07:00.452" v="2245" actId="255"/>
        <pc:sldMkLst>
          <pc:docMk/>
          <pc:sldMk cId="0" sldId="291"/>
        </pc:sldMkLst>
        <pc:spChg chg="mod">
          <ac:chgData name="Yuriy Zabolotnyuk" userId="5293f801-6ede-4669-8a17-9af1adeb069e" providerId="ADAL" clId="{9C72D551-62FB-5E3D-901C-9F32929520A9}" dt="2026-07-13T13:07:00.452" v="2245" actId="255"/>
          <ac:spMkLst>
            <pc:docMk/>
            <pc:sldMk cId="0" sldId="291"/>
            <ac:spMk id="4042" creationId="{00000000-0000-0000-0000-000000000000}"/>
          </ac:spMkLst>
        </pc:spChg>
      </pc:sldChg>
      <pc:sldChg chg="del">
        <pc:chgData name="Yuriy Zabolotnyuk" userId="5293f801-6ede-4669-8a17-9af1adeb069e" providerId="ADAL" clId="{9C72D551-62FB-5E3D-901C-9F32929520A9}" dt="2026-07-13T13:04:27.856" v="2173" actId="2696"/>
        <pc:sldMkLst>
          <pc:docMk/>
          <pc:sldMk cId="0" sldId="292"/>
        </pc:sldMkLst>
      </pc:sldChg>
      <pc:sldChg chg="modSp mod">
        <pc:chgData name="Yuriy Zabolotnyuk" userId="5293f801-6ede-4669-8a17-9af1adeb069e" providerId="ADAL" clId="{9C72D551-62FB-5E3D-901C-9F32929520A9}" dt="2026-07-13T13:02:15.117" v="2137" actId="1035"/>
        <pc:sldMkLst>
          <pc:docMk/>
          <pc:sldMk cId="0" sldId="293"/>
        </pc:sldMkLst>
        <pc:spChg chg="mod">
          <ac:chgData name="Yuriy Zabolotnyuk" userId="5293f801-6ede-4669-8a17-9af1adeb069e" providerId="ADAL" clId="{9C72D551-62FB-5E3D-901C-9F32929520A9}" dt="2026-07-13T13:02:15.117" v="2137" actId="1035"/>
          <ac:spMkLst>
            <pc:docMk/>
            <pc:sldMk cId="0" sldId="293"/>
            <ac:spMk id="4042" creationId="{00000000-0000-0000-0000-000000000000}"/>
          </ac:spMkLst>
        </pc:spChg>
      </pc:sldChg>
      <pc:sldChg chg="modSp mod modNotesTx">
        <pc:chgData name="Yuriy Zabolotnyuk" userId="5293f801-6ede-4669-8a17-9af1adeb069e" providerId="ADAL" clId="{9C72D551-62FB-5E3D-901C-9F32929520A9}" dt="2026-07-13T13:04:05.807" v="2170" actId="20577"/>
        <pc:sldMkLst>
          <pc:docMk/>
          <pc:sldMk cId="0" sldId="294"/>
        </pc:sldMkLst>
        <pc:spChg chg="mod">
          <ac:chgData name="Yuriy Zabolotnyuk" userId="5293f801-6ede-4669-8a17-9af1adeb069e" providerId="ADAL" clId="{9C72D551-62FB-5E3D-901C-9F32929520A9}" dt="2026-07-13T13:03:48.295" v="2149" actId="20577"/>
          <ac:spMkLst>
            <pc:docMk/>
            <pc:sldMk cId="0" sldId="294"/>
            <ac:spMk id="4042" creationId="{00000000-0000-0000-0000-000000000000}"/>
          </ac:spMkLst>
        </pc:spChg>
      </pc:sldChg>
      <pc:sldChg chg="modSp mod">
        <pc:chgData name="Yuriy Zabolotnyuk" userId="5293f801-6ede-4669-8a17-9af1adeb069e" providerId="ADAL" clId="{9C72D551-62FB-5E3D-901C-9F32929520A9}" dt="2026-07-13T13:09:57.837" v="2300" actId="1035"/>
        <pc:sldMkLst>
          <pc:docMk/>
          <pc:sldMk cId="0" sldId="295"/>
        </pc:sldMkLst>
        <pc:spChg chg="mod">
          <ac:chgData name="Yuriy Zabolotnyuk" userId="5293f801-6ede-4669-8a17-9af1adeb069e" providerId="ADAL" clId="{9C72D551-62FB-5E3D-901C-9F32929520A9}" dt="2026-07-13T13:09:57.837" v="2300" actId="1035"/>
          <ac:spMkLst>
            <pc:docMk/>
            <pc:sldMk cId="0" sldId="295"/>
            <ac:spMk id="4022" creationId="{00000000-0000-0000-0000-000000000000}"/>
          </ac:spMkLst>
        </pc:spChg>
      </pc:sldChg>
      <pc:sldChg chg="modSp mod">
        <pc:chgData name="Yuriy Zabolotnyuk" userId="5293f801-6ede-4669-8a17-9af1adeb069e" providerId="ADAL" clId="{9C72D551-62FB-5E3D-901C-9F32929520A9}" dt="2026-07-13T12:40:16.700" v="1767" actId="20577"/>
        <pc:sldMkLst>
          <pc:docMk/>
          <pc:sldMk cId="0" sldId="296"/>
        </pc:sldMkLst>
        <pc:spChg chg="mod">
          <ac:chgData name="Yuriy Zabolotnyuk" userId="5293f801-6ede-4669-8a17-9af1adeb069e" providerId="ADAL" clId="{9C72D551-62FB-5E3D-901C-9F32929520A9}" dt="2026-07-13T12:40:16.700" v="1767" actId="20577"/>
          <ac:spMkLst>
            <pc:docMk/>
            <pc:sldMk cId="0" sldId="296"/>
            <ac:spMk id="4022" creationId="{00000000-0000-0000-0000-000000000000}"/>
          </ac:spMkLst>
        </pc:spChg>
      </pc:sldChg>
      <pc:sldChg chg="modSp mod">
        <pc:chgData name="Yuriy Zabolotnyuk" userId="5293f801-6ede-4669-8a17-9af1adeb069e" providerId="ADAL" clId="{9C72D551-62FB-5E3D-901C-9F32929520A9}" dt="2026-07-13T12:43:02.119" v="1867" actId="255"/>
        <pc:sldMkLst>
          <pc:docMk/>
          <pc:sldMk cId="0" sldId="297"/>
        </pc:sldMkLst>
        <pc:spChg chg="mod">
          <ac:chgData name="Yuriy Zabolotnyuk" userId="5293f801-6ede-4669-8a17-9af1adeb069e" providerId="ADAL" clId="{9C72D551-62FB-5E3D-901C-9F32929520A9}" dt="2026-07-13T12:43:02.119" v="1867" actId="255"/>
          <ac:spMkLst>
            <pc:docMk/>
            <pc:sldMk cId="0" sldId="297"/>
            <ac:spMk id="4022" creationId="{00000000-0000-0000-0000-000000000000}"/>
          </ac:spMkLst>
        </pc:spChg>
      </pc:sldChg>
      <pc:sldChg chg="modSp mod">
        <pc:chgData name="Yuriy Zabolotnyuk" userId="5293f801-6ede-4669-8a17-9af1adeb069e" providerId="ADAL" clId="{9C72D551-62FB-5E3D-901C-9F32929520A9}" dt="2026-07-13T12:45:03.201" v="1897" actId="255"/>
        <pc:sldMkLst>
          <pc:docMk/>
          <pc:sldMk cId="0" sldId="298"/>
        </pc:sldMkLst>
        <pc:spChg chg="mod">
          <ac:chgData name="Yuriy Zabolotnyuk" userId="5293f801-6ede-4669-8a17-9af1adeb069e" providerId="ADAL" clId="{9C72D551-62FB-5E3D-901C-9F32929520A9}" dt="2026-07-13T12:45:03.201" v="1897" actId="255"/>
          <ac:spMkLst>
            <pc:docMk/>
            <pc:sldMk cId="0" sldId="298"/>
            <ac:spMk id="4022" creationId="{00000000-0000-0000-0000-000000000000}"/>
          </ac:spMkLst>
        </pc:spChg>
      </pc:sldChg>
      <pc:sldChg chg="modSp mod">
        <pc:chgData name="Yuriy Zabolotnyuk" userId="5293f801-6ede-4669-8a17-9af1adeb069e" providerId="ADAL" clId="{9C72D551-62FB-5E3D-901C-9F32929520A9}" dt="2026-07-13T12:48:38.861" v="2040" actId="255"/>
        <pc:sldMkLst>
          <pc:docMk/>
          <pc:sldMk cId="0" sldId="299"/>
        </pc:sldMkLst>
        <pc:spChg chg="mod">
          <ac:chgData name="Yuriy Zabolotnyuk" userId="5293f801-6ede-4669-8a17-9af1adeb069e" providerId="ADAL" clId="{9C72D551-62FB-5E3D-901C-9F32929520A9}" dt="2026-07-13T12:48:38.861" v="2040" actId="255"/>
          <ac:spMkLst>
            <pc:docMk/>
            <pc:sldMk cId="0" sldId="299"/>
            <ac:spMk id="4022" creationId="{00000000-0000-0000-0000-000000000000}"/>
          </ac:spMkLst>
        </pc:spChg>
      </pc:sldChg>
      <pc:sldChg chg="del">
        <pc:chgData name="Yuriy Zabolotnyuk" userId="5293f801-6ede-4669-8a17-9af1adeb069e" providerId="ADAL" clId="{9C72D551-62FB-5E3D-901C-9F32929520A9}" dt="2026-07-13T12:50:18.833" v="2041" actId="2696"/>
        <pc:sldMkLst>
          <pc:docMk/>
          <pc:sldMk cId="0" sldId="300"/>
        </pc:sldMkLst>
      </pc:sldChg>
      <pc:sldChg chg="modSp add mod">
        <pc:chgData name="Yuriy Zabolotnyuk" userId="5293f801-6ede-4669-8a17-9af1adeb069e" providerId="ADAL" clId="{9C72D551-62FB-5E3D-901C-9F32929520A9}" dt="2026-07-13T12:50:38.926" v="2063" actId="255"/>
        <pc:sldMkLst>
          <pc:docMk/>
          <pc:sldMk cId="3572989678" sldId="300"/>
        </pc:sldMkLst>
        <pc:spChg chg="mod">
          <ac:chgData name="Yuriy Zabolotnyuk" userId="5293f801-6ede-4669-8a17-9af1adeb069e" providerId="ADAL" clId="{9C72D551-62FB-5E3D-901C-9F32929520A9}" dt="2026-07-13T12:50:38.926" v="2063" actId="255"/>
          <ac:spMkLst>
            <pc:docMk/>
            <pc:sldMk cId="3572989678" sldId="300"/>
            <ac:spMk id="4022" creationId="{00000000-0000-0000-0000-000000000000}"/>
          </ac:spMkLst>
        </pc:spChg>
      </pc:sldChg>
      <pc:sldChg chg="del">
        <pc:chgData name="Yuriy Zabolotnyuk" userId="5293f801-6ede-4669-8a17-9af1adeb069e" providerId="ADAL" clId="{9C72D551-62FB-5E3D-901C-9F32929520A9}" dt="2026-07-13T12:50:18.833" v="2041" actId="2696"/>
        <pc:sldMkLst>
          <pc:docMk/>
          <pc:sldMk cId="0" sldId="301"/>
        </pc:sldMkLst>
      </pc:sldChg>
      <pc:sldChg chg="modSp add mod">
        <pc:chgData name="Yuriy Zabolotnyuk" userId="5293f801-6ede-4669-8a17-9af1adeb069e" providerId="ADAL" clId="{9C72D551-62FB-5E3D-901C-9F32929520A9}" dt="2026-07-13T12:50:59.928" v="2067" actId="255"/>
        <pc:sldMkLst>
          <pc:docMk/>
          <pc:sldMk cId="2692161947" sldId="301"/>
        </pc:sldMkLst>
        <pc:spChg chg="mod">
          <ac:chgData name="Yuriy Zabolotnyuk" userId="5293f801-6ede-4669-8a17-9af1adeb069e" providerId="ADAL" clId="{9C72D551-62FB-5E3D-901C-9F32929520A9}" dt="2026-07-13T12:50:59.928" v="2067" actId="255"/>
          <ac:spMkLst>
            <pc:docMk/>
            <pc:sldMk cId="2692161947" sldId="301"/>
            <ac:spMk id="4022" creationId="{00000000-0000-0000-0000-000000000000}"/>
          </ac:spMkLst>
        </pc:spChg>
      </pc:sldChg>
      <pc:sldChg chg="del">
        <pc:chgData name="Yuriy Zabolotnyuk" userId="5293f801-6ede-4669-8a17-9af1adeb069e" providerId="ADAL" clId="{9C72D551-62FB-5E3D-901C-9F32929520A9}" dt="2026-07-13T12:52:24.386" v="2081" actId="2696"/>
        <pc:sldMkLst>
          <pc:docMk/>
          <pc:sldMk cId="0" sldId="302"/>
        </pc:sldMkLst>
      </pc:sldChg>
      <pc:sldChg chg="modSp mod">
        <pc:chgData name="Yuriy Zabolotnyuk" userId="5293f801-6ede-4669-8a17-9af1adeb069e" providerId="ADAL" clId="{9C72D551-62FB-5E3D-901C-9F32929520A9}" dt="2026-07-13T12:53:36.273" v="2094" actId="255"/>
        <pc:sldMkLst>
          <pc:docMk/>
          <pc:sldMk cId="0" sldId="303"/>
        </pc:sldMkLst>
        <pc:spChg chg="mod">
          <ac:chgData name="Yuriy Zabolotnyuk" userId="5293f801-6ede-4669-8a17-9af1adeb069e" providerId="ADAL" clId="{9C72D551-62FB-5E3D-901C-9F32929520A9}" dt="2026-07-13T12:53:36.273" v="2094" actId="255"/>
          <ac:spMkLst>
            <pc:docMk/>
            <pc:sldMk cId="0" sldId="303"/>
            <ac:spMk id="4022" creationId="{00000000-0000-0000-0000-000000000000}"/>
          </ac:spMkLst>
        </pc:spChg>
      </pc:sldChg>
      <pc:sldChg chg="modSp mod">
        <pc:chgData name="Yuriy Zabolotnyuk" userId="5293f801-6ede-4669-8a17-9af1adeb069e" providerId="ADAL" clId="{9C72D551-62FB-5E3D-901C-9F32929520A9}" dt="2026-07-13T12:54:39.224" v="2097" actId="255"/>
        <pc:sldMkLst>
          <pc:docMk/>
          <pc:sldMk cId="0" sldId="304"/>
        </pc:sldMkLst>
        <pc:spChg chg="mod">
          <ac:chgData name="Yuriy Zabolotnyuk" userId="5293f801-6ede-4669-8a17-9af1adeb069e" providerId="ADAL" clId="{9C72D551-62FB-5E3D-901C-9F32929520A9}" dt="2026-07-13T12:54:39.224" v="2097" actId="255"/>
          <ac:spMkLst>
            <pc:docMk/>
            <pc:sldMk cId="0" sldId="304"/>
            <ac:spMk id="4022" creationId="{00000000-0000-0000-0000-000000000000}"/>
          </ac:spMkLst>
        </pc:spChg>
      </pc:sldChg>
      <pc:sldChg chg="modSp mod">
        <pc:chgData name="Yuriy Zabolotnyuk" userId="5293f801-6ede-4669-8a17-9af1adeb069e" providerId="ADAL" clId="{9C72D551-62FB-5E3D-901C-9F32929520A9}" dt="2026-07-13T12:55:28.569" v="2098" actId="255"/>
        <pc:sldMkLst>
          <pc:docMk/>
          <pc:sldMk cId="0" sldId="305"/>
        </pc:sldMkLst>
        <pc:spChg chg="mod">
          <ac:chgData name="Yuriy Zabolotnyuk" userId="5293f801-6ede-4669-8a17-9af1adeb069e" providerId="ADAL" clId="{9C72D551-62FB-5E3D-901C-9F32929520A9}" dt="2026-07-13T12:55:28.569" v="2098" actId="255"/>
          <ac:spMkLst>
            <pc:docMk/>
            <pc:sldMk cId="0" sldId="305"/>
            <ac:spMk id="4022" creationId="{00000000-0000-0000-0000-000000000000}"/>
          </ac:spMkLst>
        </pc:spChg>
      </pc:sldChg>
      <pc:sldChg chg="modSp mod">
        <pc:chgData name="Yuriy Zabolotnyuk" userId="5293f801-6ede-4669-8a17-9af1adeb069e" providerId="ADAL" clId="{9C72D551-62FB-5E3D-901C-9F32929520A9}" dt="2026-07-13T12:55:57.632" v="2105" actId="255"/>
        <pc:sldMkLst>
          <pc:docMk/>
          <pc:sldMk cId="0" sldId="306"/>
        </pc:sldMkLst>
        <pc:spChg chg="mod">
          <ac:chgData name="Yuriy Zabolotnyuk" userId="5293f801-6ede-4669-8a17-9af1adeb069e" providerId="ADAL" clId="{9C72D551-62FB-5E3D-901C-9F32929520A9}" dt="2026-07-13T12:55:57.632" v="2105" actId="255"/>
          <ac:spMkLst>
            <pc:docMk/>
            <pc:sldMk cId="0" sldId="306"/>
            <ac:spMk id="4022" creationId="{00000000-0000-0000-0000-000000000000}"/>
          </ac:spMkLst>
        </pc:spChg>
      </pc:sldChg>
      <pc:sldChg chg="modSp mod">
        <pc:chgData name="Yuriy Zabolotnyuk" userId="5293f801-6ede-4669-8a17-9af1adeb069e" providerId="ADAL" clId="{9C72D551-62FB-5E3D-901C-9F32929520A9}" dt="2026-07-13T12:56:11.429" v="2109" actId="255"/>
        <pc:sldMkLst>
          <pc:docMk/>
          <pc:sldMk cId="0" sldId="307"/>
        </pc:sldMkLst>
        <pc:spChg chg="mod">
          <ac:chgData name="Yuriy Zabolotnyuk" userId="5293f801-6ede-4669-8a17-9af1adeb069e" providerId="ADAL" clId="{9C72D551-62FB-5E3D-901C-9F32929520A9}" dt="2026-07-13T12:56:11.429" v="2109" actId="255"/>
          <ac:spMkLst>
            <pc:docMk/>
            <pc:sldMk cId="0" sldId="307"/>
            <ac:spMk id="4022" creationId="{00000000-0000-0000-0000-000000000000}"/>
          </ac:spMkLst>
        </pc:spChg>
      </pc:sldChg>
      <pc:sldChg chg="del">
        <pc:chgData name="Yuriy Zabolotnyuk" userId="5293f801-6ede-4669-8a17-9af1adeb069e" providerId="ADAL" clId="{9C72D551-62FB-5E3D-901C-9F32929520A9}" dt="2026-07-13T12:56:29.098" v="2110" actId="2696"/>
        <pc:sldMkLst>
          <pc:docMk/>
          <pc:sldMk cId="0" sldId="308"/>
        </pc:sldMkLst>
      </pc:sldChg>
      <pc:sldChg chg="modSp mod">
        <pc:chgData name="Yuriy Zabolotnyuk" userId="5293f801-6ede-4669-8a17-9af1adeb069e" providerId="ADAL" clId="{9C72D551-62FB-5E3D-901C-9F32929520A9}" dt="2026-07-13T12:56:55.019" v="2111" actId="255"/>
        <pc:sldMkLst>
          <pc:docMk/>
          <pc:sldMk cId="0" sldId="309"/>
        </pc:sldMkLst>
        <pc:spChg chg="mod">
          <ac:chgData name="Yuriy Zabolotnyuk" userId="5293f801-6ede-4669-8a17-9af1adeb069e" providerId="ADAL" clId="{9C72D551-62FB-5E3D-901C-9F32929520A9}" dt="2026-07-13T12:56:55.019" v="2111" actId="255"/>
          <ac:spMkLst>
            <pc:docMk/>
            <pc:sldMk cId="0" sldId="309"/>
            <ac:spMk id="4022" creationId="{00000000-0000-0000-0000-000000000000}"/>
          </ac:spMkLst>
        </pc:spChg>
      </pc:sldChg>
      <pc:sldChg chg="modSp mod">
        <pc:chgData name="Yuriy Zabolotnyuk" userId="5293f801-6ede-4669-8a17-9af1adeb069e" providerId="ADAL" clId="{9C72D551-62FB-5E3D-901C-9F32929520A9}" dt="2026-07-13T12:57:21.607" v="2114" actId="255"/>
        <pc:sldMkLst>
          <pc:docMk/>
          <pc:sldMk cId="0" sldId="310"/>
        </pc:sldMkLst>
        <pc:spChg chg="mod">
          <ac:chgData name="Yuriy Zabolotnyuk" userId="5293f801-6ede-4669-8a17-9af1adeb069e" providerId="ADAL" clId="{9C72D551-62FB-5E3D-901C-9F32929520A9}" dt="2026-07-13T12:57:21.607" v="2114" actId="255"/>
          <ac:spMkLst>
            <pc:docMk/>
            <pc:sldMk cId="0" sldId="310"/>
            <ac:spMk id="4022" creationId="{00000000-0000-0000-0000-000000000000}"/>
          </ac:spMkLst>
        </pc:spChg>
      </pc:sldChg>
      <pc:sldChg chg="modSp mod">
        <pc:chgData name="Yuriy Zabolotnyuk" userId="5293f801-6ede-4669-8a17-9af1adeb069e" providerId="ADAL" clId="{9C72D551-62FB-5E3D-901C-9F32929520A9}" dt="2026-07-13T13:01:41.566" v="2130" actId="255"/>
        <pc:sldMkLst>
          <pc:docMk/>
          <pc:sldMk cId="0" sldId="311"/>
        </pc:sldMkLst>
        <pc:spChg chg="mod">
          <ac:chgData name="Yuriy Zabolotnyuk" userId="5293f801-6ede-4669-8a17-9af1adeb069e" providerId="ADAL" clId="{9C72D551-62FB-5E3D-901C-9F32929520A9}" dt="2026-07-13T13:01:41.566" v="2130" actId="255"/>
          <ac:spMkLst>
            <pc:docMk/>
            <pc:sldMk cId="0" sldId="311"/>
            <ac:spMk id="4022" creationId="{00000000-0000-0000-0000-000000000000}"/>
          </ac:spMkLst>
        </pc:spChg>
      </pc:sldChg>
      <pc:sldChg chg="modSp mod">
        <pc:chgData name="Yuriy Zabolotnyuk" userId="5293f801-6ede-4669-8a17-9af1adeb069e" providerId="ADAL" clId="{9C72D551-62FB-5E3D-901C-9F32929520A9}" dt="2026-07-13T13:03:09.903" v="2138" actId="255"/>
        <pc:sldMkLst>
          <pc:docMk/>
          <pc:sldMk cId="0" sldId="312"/>
        </pc:sldMkLst>
        <pc:spChg chg="mod">
          <ac:chgData name="Yuriy Zabolotnyuk" userId="5293f801-6ede-4669-8a17-9af1adeb069e" providerId="ADAL" clId="{9C72D551-62FB-5E3D-901C-9F32929520A9}" dt="2026-07-13T13:03:09.903" v="2138" actId="255"/>
          <ac:spMkLst>
            <pc:docMk/>
            <pc:sldMk cId="0" sldId="312"/>
            <ac:spMk id="4022" creationId="{00000000-0000-0000-0000-000000000000}"/>
          </ac:spMkLst>
        </pc:spChg>
      </pc:sldChg>
      <pc:sldChg chg="modSp mod">
        <pc:chgData name="Yuriy Zabolotnyuk" userId="5293f801-6ede-4669-8a17-9af1adeb069e" providerId="ADAL" clId="{9C72D551-62FB-5E3D-901C-9F32929520A9}" dt="2026-07-13T13:04:16.585" v="2172" actId="255"/>
        <pc:sldMkLst>
          <pc:docMk/>
          <pc:sldMk cId="0" sldId="313"/>
        </pc:sldMkLst>
        <pc:spChg chg="mod">
          <ac:chgData name="Yuriy Zabolotnyuk" userId="5293f801-6ede-4669-8a17-9af1adeb069e" providerId="ADAL" clId="{9C72D551-62FB-5E3D-901C-9F32929520A9}" dt="2026-07-13T13:04:16.585" v="2172" actId="255"/>
          <ac:spMkLst>
            <pc:docMk/>
            <pc:sldMk cId="0" sldId="313"/>
            <ac:spMk id="402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D0D3E168-E06C-4270-93A1-BA6F395C0456}" type="datetimeFigureOut">
              <a:rPr lang="en-US"/>
              <a:pPr>
                <a:defRPr/>
              </a:pPr>
              <a:t>7/13/26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30D07607-43F6-4AEA-9890-00BBE9F451C8}" type="slidenum">
              <a:rPr lang="en-US" altLang="en-US"/>
              <a:pPr/>
              <a:t>‹#›</a:t>
            </a:fld>
            <a:endParaRPr lang="en-US" altLang="en-US"/>
          </a:p>
        </p:txBody>
      </p:sp>
    </p:spTree>
    <p:extLst>
      <p:ext uri="{BB962C8B-B14F-4D97-AF65-F5344CB8AC3E}">
        <p14:creationId xmlns:p14="http://schemas.microsoft.com/office/powerpoint/2010/main" val="30934397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Session 6 of 12. Monday 13 July 2026, 09:00 to 13:00. Today we move from the structural (Merton) approach to reduced-form intensity models, then build a one-factor Gaussian-copula portfolio credit model in Python. Both feed directly into Assignment 2 (Sessions 5 to 8).</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Five objectives spanning theory (1 to 2), pricing (3), and quantitative modelling (4 to 5).</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Brief bridge from Session 5. Merton gives a balance-sheet view of default; intensity models are driven by market prices (CDS spreads) rather than equity. No structural assumptions about firm value are needed.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contrast: Merton needs the balance sheet; intensity models read directly from CDS market prices. Both are in Hull Ch. 9 and Jorion Ch. 23. Neither approach dominates in all use cases.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Structural models read PD off leverage and asset volatility; reduced-form models read it straight off the traded spread. They rarely agree in level because they use different information - one the firm's capital structure, the other the market's risk-neutral pricing. Use structural for economic intuition, reduced-form for pricing and hedging.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Stress the CVA point: every major bank now has an XVA desk running intensity models. Students building their own CDS pricer in the lab are replicating what practitioners do.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Block 2 is the core mathematics. </a:t>
            </a:r>
            <a:r>
              <a:rPr lang="en-US" dirty="0"/>
              <a:t>T</a:t>
            </a:r>
            <a:r>
              <a:rPr dirty="0"/>
              <a:t>he exponential </a:t>
            </a:r>
            <a:r>
              <a:rPr lang="en-CA" dirty="0"/>
              <a:t>s</a:t>
            </a:r>
            <a:r>
              <a:rPr dirty="0" err="1"/>
              <a:t>urvival</a:t>
            </a:r>
            <a:r>
              <a:rPr dirty="0"/>
              <a:t> formula is the anchor for everything that follows.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formula is the session's workhorse. Show the plot from Section 1 of the lab: five rating-class survival curves. lambda for BBB about 0.5 percent per year means S(5) about e to the minus 0.025, about 97.5 percent.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hazard rate is the instantaneous default arrival rate. Survival decays exponentially, so cumulative default is concave: each year adds a bit less than a naive lambda x t would suggest. This exponential survival curve is the backbone of every intensity model and of CDS pricing.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market mechanics behind the CDS pricing we already did. The three credit events, the auction-based cash settlement (payout = 1 - recovery), and the single-name / index / tranche distinction. The auction is how the market discovers the recovery rate that feeds every LGD in the session.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85363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credit event (bankruptcy, failure to pay, restructuring) triggers the contract. The ISDA auction fixes a single recovery so cash settlement is unambiguous. Physical settlement was the original mechanism but broke down when CDS notional exceeded the deliverable bonds outstanding, which is why auctions and cash settlement became standard.</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365255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CDS are actually used. Indices (CDX/iTraxx) are the liquid macro instrument; the credit curve's shape (normal vs inverted) carries information; and the standard trades - long-short, curve, and basis - are the relative-value playbook a credit desk runs. Ties the single-name math to markets careers.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203246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CDS indices (CDX, iTraxx) give diversified, liquid credit exposure in one trade. The buyer of protection is short credit; each default delivers a small payout and shrinks the index notional. Indices trade tighter bid-ask than single names and are the main vehicle for macro credit hedging and for the basis trade against single-name CDS.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742072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BBB example numerically. Students replicate this in lab Cell 2 using the cds_spread_bps() function. Emphasise: lambda is not observable; it is implied from the CDS market the same way implied volatility is implied from options.</a:t>
            </a:r>
          </a:p>
          <a:p>
            <a:endParaRPr/>
          </a:p>
          <a:p>
            <a:r>
              <a:t>Hazards are now calibrated to real, current market spreads (FRED ICE BofA OAS). The lab bootstraps a piecewise-constant hazard curve from the real IG maturity-bucketed OAS - an upward-sloping curve, the typical investment-grade shape.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credit triangle spread ~= lambda x LGD is the fastest bridge from market spreads to a default intensity. It is exact in continuous time for a flat hazard. Note the recovery assumption matters: LGD sits in the denominator, so a recovery guess of 20% vs 40% changes the implied default rate materially.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Lab Cell 2 implements cds_spread_bps() which computes both legs numerically. The approximation s approx (1 minus R) times lambda holds for short maturities and small lambda; for longer maturities or high-yield credits the full discount-factor weighting matters.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Have students verify this on a calculator first; then they will see the same number from their lab output. The intuition: you are paying the obligor's expected loss per year.</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Lab Section 2 produces a term-structure chart for six rating classes. Ask which curves look upward sloping vs flat. Note that BBB flattens at long maturities because cumulative PD grows more slowly when lambda is already low.</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spread curve is a term structure of hazard rates, just like a yield curve is a term structure of forward rates. Bootstrapping forward hazards from consecutive maturities shows what the market expects about default timing: a steep curve means rising forward default risk, an inverted curve means near-term distress that is expected to ease.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rating transition matrix is the discrete-time cousin of the hazard rate. Each row says where an issuer of that grade lands one year later; the diagonal dominates because ratings are sticky. D is an absorbing state - once in default you stay there, so its row is (0,0,0,100). To get the probability of defaulting within t years you do NOT multiply the one-year rate by t; you raise the matrix to the t-th power and read the default column: Q(t)=(M^t)[grade,D]. That compounding is why the curves bend. Numbers here are a hand-built A/B/C toy so students can reproduce M^t by hand before meeting the real 7x8 S&amp;P matrix in the notebook. Read-off: a B issuer defaults within 3 years with probability ~7.1%.</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other half of a credit PM's job - not how much risk, but which credits to own now. Mean-reversion analysis (Fabozzi Ch.20): spreads oscillate around a cycle-long mean, so a z-score above +1 is historically cheap (buy, expect tightening) and below -1 is rich. The quality/crossover spread (BB minus BBB) collapses in expansions and blows out in stress; buying the lower-quality bucket when it is wide is the credit-upside trade. The lab runs this on the full FRED OAS history: in mid-2026 IG spreads are historically tight (rich), with only CCC screening cheap. Same z-score logic drives yield-pickup, credit-defense and sector rotation.</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Block 3 goes from one obligor to a portfolio. The key insight: individual PDs are not enough - you need a model of joint default. This is where the Gaussian copula and the Vasicek one-factor model enter.</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 the mental experiment: 100 bonds, each PD 2 percent, independent, gives a very tight loss distribution. Now add rho = 0.3 and the distribution flattens dramatically. The tail (Credit VaR) explodes. This is the key intuition for the whole simulation that follows in the lab.</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Single-name PDs tell you nothing about how losses stack up. Correlation controls the joint tail: even a small positive default correlation multiplies the probability that names go down together, which is exactly the scenario that breaks a portfolio. This is why portfolio credit models are all about the dependence structure, not the marginals.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Gaussian copula is deceptively simple: map to normals, apply correlation, map back. The GFC lesson is that the correlation matrix Sigma was mis-specified: mortgage defaults clustered far more than the copula assumed under benign conditions. Li (2000) is the foundational paper and supplementary reading this session.</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Gaussian copula maps each firm's default to a threshold on a standard normal latent variable, then correlates those variables. It cleanly separates the marginals (the PDs) from the dependence (rho). Phi2 is the bivariate normal CDF. This is the model at the heart of CDO pricing - and its thin-tailed dependence is exactly what underpriced joint defaults in 2007-2009.</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model in the lab. Walk through the matrix: rows are simulations, columns are obligors. For each simulation draw M once, then N epsilons, compute X-i = root-rho times M plus root(1 minus rho) times epsilon-i, and compare to the inverse-normal threshold. Very fast in vectorised NumPy as shown in the lab.</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Conditioning on a single market factor M makes names independent given M, which is the trick that lets us price large portfolios in closed form. The default rate is a function of the economy: it fans out from the average PD as the factor moves. That conditional default curve is the engine of the Vasicek loss distribution and the Basel IRB formula.</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key pedagogical point: EL = PD times LGD regardless of rho. It is the tail - Credit VaR = 99th percentile minus EL - that explodes with correlation. Vasicek (2002) is the supplementary reading; the analytical formula is exact only for N to infinity, and the simulation converges there with N = 500.</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Vasicek large-pool limit turns the one-factor copula into a closed-form loss distribution: idiosyncratic risk diversifies away and only the systematic factor remains. The 99.9% default rate is the worst case at a 1-in-1000 confidence. Basel's IRB capital is precisely LGD x (DR(0.999) - PD) - unexpected loss at that quantile.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unifies the theory and the assignment. Assignment 2 asks students to compute Credit VaR for their portfolio of obligors using the simulated loss distribution. The Basel II formula is the closed-form version of what the simulation computes numerically.</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Credit VaR is an unexpected-loss measure: the distance from the mean loss to a high quantile, not the quantile itself, because expected loss is already priced and provisioned. The shape of the credit loss distribution is highly skewed - small losses most years, a fat right tail in a systematic downturn - so Credit VaR sits far above EL.</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four-panel view synthesises the correlation sensitivity analysis from lab Section 4. Ask: at rho = 0.40, does adding more obligors still help? Answer: barely - the systematic factor dominates and idiosyncratic risk is negligible.</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ways to transfer credit risk beyond single-name CDS (Fabozzi Ch.24). A total-return swap sends the receiver the reference bond's whole economic return (coupon + price change) against a floating LIBOR+spread leg - funded-free long credit, but it bundles credit-spread and interest-rate risk, so the lab shows a correct spread-tightening view still losing when rates rise 100bp. Basket / Nth-to-default swaps pay on the N-th name to default and are priced almost entirely by default correlation - the one-factor copula from Block 3. As rho rises the first-to-default spread falls (defaults cluster) while the senior/last-to-default spread rises. A first-to-default seller is short correlation; a senior-basket seller is long it.</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Basket and Nth-to-default swaps are correlation products: the first-to-default seller is effectively short correlation (defaults spread out means more trigger risk), the senior/last-to-default seller is long correlation. A total-return swap transfers the entire economic performance of a bond (coupons and mark-to-market) without transferring ownership - synthetic financed exposure with counterparty risk on the payer.</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'so what' slide connecting the math to the GFC. The model itself works well for liquid investment-grade CDS portfolios calibrated daily. The failure was assuming a historical rho calibrated from benign markets applied to a stressed scenario. Coval, Jurek and Stafford (2009) is the supplementary reading here.</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Connects the copula/CDO material to how structured deals are actually built. Subordination, overcollateralization, and excess spread are the internal tools; guarantees/LOCs are external (and add counterparty risk). The punchline reuses the session's core lesson: enhancement is only as good as the correlation assumption behind the tranching.</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Credit enhancement (subordination, overcollateralisation, excess spread) redistributes pool losses so the senior tranche can earn a high rating. The attachment point is the tranche's own deductible. Correlation decides how often the senior attachment is breached: in the tail, defaults cluster and even 'safe' senior tranches take losses - the 2007-2009 lesson.</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O</a:t>
            </a:r>
            <a:r>
              <a:rPr dirty="0"/>
              <a:t>ne-factor Vasicek simulation is one of three industry approaches. </a:t>
            </a:r>
            <a:r>
              <a:rPr dirty="0" err="1"/>
              <a:t>CreditMetrics</a:t>
            </a:r>
            <a:r>
              <a:rPr dirty="0"/>
              <a:t> adds rating migration and marks the book to market, so a downgrade (not just default) is a loss. </a:t>
            </a:r>
            <a:endParaRPr lang="en-US" dirty="0"/>
          </a:p>
          <a:p>
            <a:endParaRPr lang="en-CA" dirty="0"/>
          </a:p>
          <a:p>
            <a:r>
              <a:rPr dirty="0" err="1"/>
              <a:t>CreditRisk</a:t>
            </a:r>
            <a:r>
              <a:rPr dirty="0"/>
              <a:t>+ is a fast actuarial model with a closed-form loss distribution. All three need the same three inputs (PD, recovery, correlation) and all aim at the loss-distribution tail.</a:t>
            </a:r>
            <a:endParaRPr lang="en-US" dirty="0"/>
          </a:p>
          <a:p>
            <a:endParaRPr dirty="0"/>
          </a:p>
          <a:p>
            <a:r>
              <a:rPr dirty="0"/>
              <a:t>All three portfolio models are now implemented in the notebook. </a:t>
            </a:r>
            <a:r>
              <a:rPr dirty="0" err="1"/>
              <a:t>CreditMetrics</a:t>
            </a:r>
            <a:r>
              <a:rPr dirty="0"/>
              <a:t> uses the real S&amp;P transition matrix from Session 5 and real FRED spreads to revalue a bond portfolio; </a:t>
            </a:r>
            <a:r>
              <a:rPr dirty="0" err="1"/>
              <a:t>CreditRisk</a:t>
            </a:r>
            <a:r>
              <a:rPr dirty="0"/>
              <a:t>+ is the actuarial gamma-mixed Poisson. Punchline: when correlation is matched across models the 99.9% </a:t>
            </a:r>
            <a:r>
              <a:rPr dirty="0" err="1"/>
              <a:t>VaRs</a:t>
            </a:r>
            <a:r>
              <a:rPr dirty="0"/>
              <a:t> agree - the systematic factor, not the model family, owns the tail.</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this as the landscape map: today's one-factor Vasicek simulation is one of three industry approaches. CreditMetrics adds rating migration and marks the book to market, so a downgrade (not just default) is a loss. CreditRisk+ is a fast actuarial model with a closed-form loss distribution. All three need the same three inputs (PD, recovery, correlation) and all aim at the loss-distribution tail. Students implement Vasicek; they should be able to name and contrast the other two for Assignment 2's discussion.</a:t>
            </a:r>
          </a:p>
          <a:p>
            <a:endParaRPr/>
          </a:p>
          <a:p>
            <a:r>
              <a:t>All three portfolio models are now implemented in the notebook. CreditMetrics uses the real S&amp;P transition matrix from Session 5 and real FRED spreads to revalue a bond portfolio; CreditRisk+ is the actuarial gamma-mixed Poisson. Punchline: when correlation is matched across models the 99.9% VaRs agree - the systematic factor, not the model family, owns the tail.</a:t>
            </a:r>
          </a:p>
          <a:p>
            <a:endParaRPr/>
          </a:p>
          <a:p>
            <a:r>
              <a:t>(Continued from the previous slide.)</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CreditRisk+ is an actuarial model borrowed from insurance: it treats defaults as rare Poisson events and gets the loss distribution analytically, without simulating asset values. It is fast and data-light (no correlations to estimate in the basic form) but its independence assumption understates clustering, so practitioners add sector default-rate volatility to fatten the tail.</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CVA is the price of counterparty default risk on a derivative and, since Basel III, a capital charge. We simulate a 5y payer swap under a Vasicek short rate to get the expected-exposure hump and PFE, take the counterparty survival curve from the hazard curve bootstrapped earlier, and sum marginal-PD x LGD x EE x DF. Feed a risk-neutral (spread) curve and you get the market CVA charge; feed a real-world curve and the same formula gives expected loss - the IFRS 9 number. The wedge between them is the credit-risk premium. The notebook Section 10 builds this on real FRED data.</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CVA is the expected loss from a counterparty defaulting while it owes you money, integrated over the exposure profile and the default probabilities. Here we simplify with a flat exposure; in practice EE is a simulated profile (it grows then rolls down for a swap). More exposure, a weaker counterparty, or higher LGD all raise CVA. Collateral and netting reduce it.</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IFRS 9 is where credit risk hits the P&amp;L. The forward-looking Expected Credit Loss replaced 'incurred loss', which reserved too little too late in 2008. Three stages: Stage 1 healthy reserves the 12-month ECL, Stage 2 on a significant increase in credit risk (e.g. a downgrade) jumps to lifetime ECL - the defining feature - and Stage 3 is credit-impaired. ECL = marginal PD x LGD x EAD x DF, and the lifetime PD term structure comes straight from raising the real S&amp;P one-year matrix to power n. Notebook Section 11 shows the ~8x Stage 1-&gt;2 reserve jump on a $1m BBB loan, ~35x after a downgrade.</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IFRS 9 replaced incurred-loss provisioning with expected-loss. Stage 1 (performing) books a 12-month ECL; once credit risk increases significantly (SICR) the loan moves to Stage 2 and books LIFETIME ECL - a large, immediate jump. Stage 3 is credit-impaired. The staging cliff is why IFRS 9 provisions are procyclical and sensitive to the PD term structure.</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Block 4 is hands-on. Students should have Session_06_Lab.ipynb open. The notebook has five sections: hazard-rate curves, CDS pricing, Vasicek simulation, correlation sensitivity, and analytical vs simulation comparison.</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lab is self-contained; students should be able to run all five sections within the 60-minute lab window. Circulate and check Section 4 correlation sensitivity - that output is the most likely element in Assignment 2 write-ups.</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Hull Ch. 9 sec. 9.6 covers copula / Vasicek; Hull Ch. 19 covers Credit </a:t>
            </a:r>
            <a:r>
              <a:rPr dirty="0" err="1"/>
              <a:t>VaR.</a:t>
            </a:r>
            <a:r>
              <a:rPr dirty="0"/>
              <a:t> Jorion Ch. 23 covers credit derivatives. All three supplementary papers are short and accessible. Coval et al. is the most readable GFC post-mortem from an academic perspective.</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4115700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950961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1330155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Aarhus University Summer School 2026</a:t>
            </a:r>
          </a:p>
        </p:txBody>
      </p:sp>
      <p:sp>
        <p:nvSpPr>
          <p:cNvPr id="7" name="Slide Number Placeholder 6"/>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4159761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Aarhus University Summer School 2026</a:t>
            </a:r>
          </a:p>
        </p:txBody>
      </p:sp>
      <p:sp>
        <p:nvSpPr>
          <p:cNvPr id="9" name="Slide Number Placeholder 8"/>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14538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Aarhus University Summer School 2026</a:t>
            </a:r>
          </a:p>
        </p:txBody>
      </p:sp>
      <p:sp>
        <p:nvSpPr>
          <p:cNvPr id="5" name="Slide Number Placeholder 4"/>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2965185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Aarhus University Summer School 2026</a:t>
            </a:r>
          </a:p>
        </p:txBody>
      </p:sp>
      <p:sp>
        <p:nvSpPr>
          <p:cNvPr id="4" name="Slide Number Placeholder 3"/>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3000429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Aarhus University Summer School 2026</a:t>
            </a:r>
          </a:p>
        </p:txBody>
      </p:sp>
      <p:sp>
        <p:nvSpPr>
          <p:cNvPr id="7" name="Slide Number Placeholder 6"/>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917986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Aarhus University Summer School 2026</a:t>
            </a:r>
          </a:p>
        </p:txBody>
      </p:sp>
      <p:sp>
        <p:nvSpPr>
          <p:cNvPr id="7" name="Slide Number Placeholder 6"/>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11968037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318535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21847734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3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23099" y="365125"/>
            <a:ext cx="11345799" cy="1325563"/>
          </a:xfrm>
        </p:spPr>
        <p:txBody>
          <a:bodyPr lIns="0" tIns="0" rIns="0" bIns="0" anchor="t">
            <a:normAutofit/>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423101" y="1681163"/>
            <a:ext cx="6438105" cy="823912"/>
          </a:xfrm>
        </p:spPr>
        <p:txBody>
          <a:bodyPr lIns="0" tIns="0" rIns="0" bIns="0" anchor="t"/>
          <a:lstStyle>
            <a:lvl1pPr marL="0" indent="0">
              <a:buNone/>
              <a:defRPr sz="2400" b="1">
                <a:solidFill>
                  <a:schemeClr val="accent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423101" y="2671763"/>
            <a:ext cx="6438105" cy="3684588"/>
          </a:xfrm>
        </p:spPr>
        <p:txBody>
          <a:bodyPr lIns="0" tIns="0" rIns="0" bIns="0">
            <a:normAutofit/>
          </a:bodyPr>
          <a:lstStyle>
            <a:lvl1pPr marL="0" indent="0">
              <a:buFontTx/>
              <a:buNone/>
              <a:defRPr sz="2133"/>
            </a:lvl1pPr>
            <a:lvl2pPr marL="457189" indent="0">
              <a:buFontTx/>
              <a:buNone/>
              <a:defRPr sz="2400"/>
            </a:lvl2pPr>
            <a:lvl3pPr marL="914377" indent="0">
              <a:buFontTx/>
              <a:buNone/>
              <a:defRPr sz="2400"/>
            </a:lvl3pPr>
            <a:lvl4pPr marL="1371566" indent="0">
              <a:buFontTx/>
              <a:buNone/>
              <a:defRPr sz="2400"/>
            </a:lvl4pPr>
            <a:lvl5pPr marL="1828754" indent="0">
              <a:buFontTx/>
              <a:buNone/>
              <a:defRPr sz="2400"/>
            </a:lvl5pPr>
          </a:lstStyle>
          <a:p>
            <a:pPr lvl="0"/>
            <a:r>
              <a:rPr lang="en-US"/>
              <a:t>Click to edit Master text styles</a:t>
            </a:r>
          </a:p>
        </p:txBody>
      </p:sp>
      <p:sp>
        <p:nvSpPr>
          <p:cNvPr id="6" name="Content Placeholder 5"/>
          <p:cNvSpPr>
            <a:spLocks noGrp="1"/>
          </p:cNvSpPr>
          <p:nvPr>
            <p:ph sz="quarter" idx="4"/>
          </p:nvPr>
        </p:nvSpPr>
        <p:spPr>
          <a:xfrm>
            <a:off x="7299767" y="1723424"/>
            <a:ext cx="4453672" cy="3168811"/>
          </a:xfrm>
          <a:solidFill>
            <a:schemeClr val="tx1"/>
          </a:solidFill>
        </p:spPr>
        <p:txBody>
          <a:bodyPr lIns="360000" tIns="360000" rIns="360000" bIns="360000" anchor="ctr"/>
          <a:lstStyle>
            <a:lvl1pPr marL="0" indent="0" algn="l">
              <a:buFontTx/>
              <a:buNone/>
              <a:defRPr sz="24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820502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New Title Content Slide">
    <p:spTree>
      <p:nvGrpSpPr>
        <p:cNvPr id="1" name=""/>
        <p:cNvGrpSpPr/>
        <p:nvPr/>
      </p:nvGrpSpPr>
      <p:grpSpPr>
        <a:xfrm>
          <a:off x="0" y="0"/>
          <a:ext cx="0" cy="0"/>
          <a:chOff x="0" y="0"/>
          <a:chExt cx="0" cy="0"/>
        </a:xfrm>
      </p:grpSpPr>
      <p:sp>
        <p:nvSpPr>
          <p:cNvPr id="2" name="Title 1"/>
          <p:cNvSpPr>
            <a:spLocks noGrp="1"/>
          </p:cNvSpPr>
          <p:nvPr>
            <p:ph type="title"/>
          </p:nvPr>
        </p:nvSpPr>
        <p:spPr>
          <a:xfrm>
            <a:off x="423099" y="365126"/>
            <a:ext cx="11345799" cy="1076813"/>
          </a:xfrm>
        </p:spPr>
        <p:txBody>
          <a:bodyPr lIns="0" tIns="0" rIns="0" bIns="0" anchor="t">
            <a:normAutofit/>
          </a:bodyPr>
          <a:lstStyle>
            <a:lvl1pPr algn="ctr">
              <a:defRPr sz="3200"/>
            </a:lvl1pPr>
          </a:lstStyle>
          <a:p>
            <a:r>
              <a:rPr lang="en-US"/>
              <a:t>Click to edit Master title style</a:t>
            </a:r>
            <a:endParaRPr lang="en-US" dirty="0"/>
          </a:p>
        </p:txBody>
      </p:sp>
      <p:sp>
        <p:nvSpPr>
          <p:cNvPr id="4" name="Content Placeholder 3"/>
          <p:cNvSpPr>
            <a:spLocks noGrp="1"/>
          </p:cNvSpPr>
          <p:nvPr>
            <p:ph sz="half" idx="2"/>
          </p:nvPr>
        </p:nvSpPr>
        <p:spPr>
          <a:xfrm>
            <a:off x="423100" y="1535723"/>
            <a:ext cx="11345797" cy="4501661"/>
          </a:xfrm>
        </p:spPr>
        <p:txBody>
          <a:bodyPr lIns="0" tIns="0" rIns="0" bIns="0">
            <a:normAutofit/>
          </a:bodyPr>
          <a:lstStyle>
            <a:lvl1pPr marL="228594" indent="-228594">
              <a:buClr>
                <a:schemeClr val="accent1"/>
              </a:buClr>
              <a:buFont typeface="Arial" panose="020B0604020202020204" pitchFamily="34" charset="0"/>
              <a:buChar char="•"/>
              <a:defRPr sz="2667"/>
            </a:lvl1pPr>
            <a:lvl2pPr marL="685783" indent="-228594">
              <a:buClr>
                <a:schemeClr val="accent1"/>
              </a:buClr>
              <a:buFont typeface="Arial" panose="020B0604020202020204" pitchFamily="34" charset="0"/>
              <a:buChar char="•"/>
              <a:defRPr sz="2667"/>
            </a:lvl2pPr>
            <a:lvl3pPr marL="1142971" indent="-228594">
              <a:buClr>
                <a:schemeClr val="accent1"/>
              </a:buClr>
              <a:buFont typeface="Arial" panose="020B0604020202020204" pitchFamily="34" charset="0"/>
              <a:buChar char="•"/>
              <a:defRPr sz="2667"/>
            </a:lvl3pPr>
            <a:lvl4pPr marL="1600160" indent="-228594">
              <a:buClr>
                <a:schemeClr val="accent1"/>
              </a:buClr>
              <a:buFont typeface="Arial" panose="020B0604020202020204" pitchFamily="34" charset="0"/>
              <a:buChar char="•"/>
              <a:defRPr sz="2667"/>
            </a:lvl4pPr>
            <a:lvl5pPr marL="2057349" indent="-228594">
              <a:buClr>
                <a:schemeClr val="accent1"/>
              </a:buClr>
              <a:buFont typeface="Arial" panose="020B0604020202020204" pitchFamily="34" charset="0"/>
              <a:buChar char="•"/>
              <a:defRPr sz="26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203823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New Title Content Slide">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CCE42D8-5361-9940-B797-FFC03759880E}"/>
              </a:ext>
            </a:extLst>
          </p:cNvPr>
          <p:cNvPicPr>
            <a:picLocks noChangeAspect="1"/>
          </p:cNvPicPr>
          <p:nvPr/>
        </p:nvPicPr>
        <p:blipFill>
          <a:blip r:embed="rId2"/>
          <a:srcRect/>
          <a:stretch/>
        </p:blipFill>
        <p:spPr>
          <a:xfrm>
            <a:off x="0" y="1"/>
            <a:ext cx="12192000" cy="6858000"/>
          </a:xfrm>
          <a:prstGeom prst="rect">
            <a:avLst/>
          </a:prstGeom>
        </p:spPr>
      </p:pic>
      <p:sp>
        <p:nvSpPr>
          <p:cNvPr id="2" name="Title 1"/>
          <p:cNvSpPr>
            <a:spLocks noGrp="1"/>
          </p:cNvSpPr>
          <p:nvPr>
            <p:ph type="title"/>
          </p:nvPr>
        </p:nvSpPr>
        <p:spPr>
          <a:xfrm>
            <a:off x="423099" y="365126"/>
            <a:ext cx="11345799" cy="924413"/>
          </a:xfrm>
        </p:spPr>
        <p:txBody>
          <a:bodyPr lIns="0" tIns="0" rIns="0" bIns="0" anchor="t">
            <a:normAutofit/>
          </a:bodyPr>
          <a:lstStyle>
            <a:lvl1pPr algn="ctr">
              <a:defRPr sz="3200"/>
            </a:lvl1pPr>
          </a:lstStyle>
          <a:p>
            <a:r>
              <a:rPr lang="en-US"/>
              <a:t>Click to edit Master title style</a:t>
            </a:r>
            <a:endParaRPr lang="en-US" dirty="0"/>
          </a:p>
        </p:txBody>
      </p:sp>
      <p:sp>
        <p:nvSpPr>
          <p:cNvPr id="4" name="Content Placeholder 3"/>
          <p:cNvSpPr>
            <a:spLocks noGrp="1"/>
          </p:cNvSpPr>
          <p:nvPr>
            <p:ph sz="half" idx="2"/>
          </p:nvPr>
        </p:nvSpPr>
        <p:spPr>
          <a:xfrm>
            <a:off x="423100" y="1383323"/>
            <a:ext cx="11345797" cy="4380169"/>
          </a:xfrm>
        </p:spPr>
        <p:txBody>
          <a:bodyPr lIns="0" tIns="0" rIns="0" bIns="0">
            <a:normAutofit/>
          </a:bodyPr>
          <a:lstStyle>
            <a:lvl1pPr marL="228594" indent="-228594">
              <a:buClr>
                <a:schemeClr val="accent1"/>
              </a:buClr>
              <a:buFont typeface="Arial" panose="020B0604020202020204" pitchFamily="34" charset="0"/>
              <a:buChar char="•"/>
              <a:defRPr sz="2667"/>
            </a:lvl1pPr>
            <a:lvl2pPr marL="685783" indent="-228594">
              <a:buClr>
                <a:schemeClr val="accent1"/>
              </a:buClr>
              <a:buFont typeface="Arial" panose="020B0604020202020204" pitchFamily="34" charset="0"/>
              <a:buChar char="•"/>
              <a:defRPr sz="2667"/>
            </a:lvl2pPr>
            <a:lvl3pPr marL="1142971" indent="-228594">
              <a:buClr>
                <a:schemeClr val="accent1"/>
              </a:buClr>
              <a:buFont typeface="Arial" panose="020B0604020202020204" pitchFamily="34" charset="0"/>
              <a:buChar char="•"/>
              <a:defRPr sz="2667"/>
            </a:lvl3pPr>
            <a:lvl4pPr marL="1600160" indent="-228594">
              <a:buClr>
                <a:schemeClr val="accent1"/>
              </a:buClr>
              <a:buFont typeface="Arial" panose="020B0604020202020204" pitchFamily="34" charset="0"/>
              <a:buChar char="•"/>
              <a:defRPr sz="2667"/>
            </a:lvl4pPr>
            <a:lvl5pPr marL="2057349" indent="-228594">
              <a:buClr>
                <a:schemeClr val="accent1"/>
              </a:buClr>
              <a:buFont typeface="Arial" panose="020B0604020202020204" pitchFamily="34" charset="0"/>
              <a:buChar char="•"/>
              <a:defRPr sz="26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a:extLst>
              <a:ext uri="{FF2B5EF4-FFF2-40B4-BE49-F238E27FC236}">
                <a16:creationId xmlns:a16="http://schemas.microsoft.com/office/drawing/2014/main" id="{423224AA-A183-CA4A-BDDA-A7ED236E648B}"/>
              </a:ext>
            </a:extLst>
          </p:cNvPr>
          <p:cNvPicPr>
            <a:picLocks noChangeAspect="1"/>
          </p:cNvPicPr>
          <p:nvPr/>
        </p:nvPicPr>
        <p:blipFill>
          <a:blip r:embed="rId3"/>
          <a:srcRect/>
          <a:stretch/>
        </p:blipFill>
        <p:spPr>
          <a:xfrm>
            <a:off x="8875618" y="5748384"/>
            <a:ext cx="3316380" cy="1109616"/>
          </a:xfrm>
          <a:prstGeom prst="rect">
            <a:avLst/>
          </a:prstGeom>
        </p:spPr>
      </p:pic>
    </p:spTree>
    <p:extLst>
      <p:ext uri="{BB962C8B-B14F-4D97-AF65-F5344CB8AC3E}">
        <p14:creationId xmlns:p14="http://schemas.microsoft.com/office/powerpoint/2010/main" val="26311648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2314D-F56C-2D2F-97D9-F1714A9861D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79986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Aarhus University Summer School 2026</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977878-5A46-4A4D-987F-065558C472F5}" type="slidenum">
              <a:rPr lang="en-US" smtClean="0"/>
              <a:t>‹#›</a:t>
            </a:fld>
            <a:endParaRPr lang="en-US"/>
          </a:p>
        </p:txBody>
      </p:sp>
    </p:spTree>
    <p:extLst>
      <p:ext uri="{BB962C8B-B14F-4D97-AF65-F5344CB8AC3E}">
        <p14:creationId xmlns:p14="http://schemas.microsoft.com/office/powerpoint/2010/main" val="2450784130"/>
      </p:ext>
    </p:extLst>
  </p:cSld>
  <p:clrMap bg1="lt1" tx1="dk1" bg2="lt2" tx2="dk2" accent1="accent1" accent2="accent2" accent3="accent3" accent4="accent4" accent5="accent5" accent6="accent6" hlink="hlink" folHlink="folHlink"/>
  <p:sldLayoutIdLst>
    <p:sldLayoutId id="2147484118" r:id="rId1"/>
    <p:sldLayoutId id="2147484119" r:id="rId2"/>
    <p:sldLayoutId id="2147484120" r:id="rId3"/>
    <p:sldLayoutId id="2147484121" r:id="rId4"/>
    <p:sldLayoutId id="2147484122" r:id="rId5"/>
    <p:sldLayoutId id="2147484123" r:id="rId6"/>
    <p:sldLayoutId id="2147484124" r:id="rId7"/>
    <p:sldLayoutId id="2147484125" r:id="rId8"/>
    <p:sldLayoutId id="2147484126" r:id="rId9"/>
    <p:sldLayoutId id="2147484127" r:id="rId10"/>
    <p:sldLayoutId id="2147484128" r:id="rId11"/>
    <p:sldLayoutId id="2147484129" r:id="rId12"/>
    <p:sldLayoutId id="2147484130" r:id="rId13"/>
    <p:sldLayoutId id="2147484059" r:id="rId14"/>
    <p:sldLayoutId id="2147484017" r:id="rId15"/>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13.xml"/><Relationship Id="rId5" Type="http://schemas.openxmlformats.org/officeDocument/2006/relationships/image" Target="../media/image15.png"/><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3099" y="2112962"/>
            <a:ext cx="7273101" cy="2306638"/>
          </a:xfrm>
        </p:spPr>
        <p:txBody>
          <a:bodyPr anchor="t">
            <a:normAutofit/>
          </a:bodyPr>
          <a:lstStyle/>
          <a:p>
            <a:r>
              <a:rPr lang="en-US" dirty="0"/>
              <a:t>FINANCIAL RISK MANAGEMENT AND ENGINEERING</a:t>
            </a:r>
            <a:br>
              <a:rPr lang="en-US" dirty="0"/>
            </a:br>
            <a:br>
              <a:rPr lang="en-US" dirty="0"/>
            </a:br>
            <a:r>
              <a:rPr lang="en-US" dirty="0"/>
              <a:t>Session 6: Credit Risk II: Intensity Models &amp; Portfolio Credit Risk</a:t>
            </a:r>
          </a:p>
        </p:txBody>
      </p:sp>
      <p:pic>
        <p:nvPicPr>
          <p:cNvPr id="4" name="Picture 3" descr="New guidelines for the logo structure and university seal">
            <a:extLst>
              <a:ext uri="{FF2B5EF4-FFF2-40B4-BE49-F238E27FC236}">
                <a16:creationId xmlns:a16="http://schemas.microsoft.com/office/drawing/2014/main" id="{D6F9100D-02AF-EE22-EDE3-68F783F22630}"/>
              </a:ext>
            </a:extLst>
          </p:cNvPr>
          <p:cNvPicPr>
            <a:picLocks noChangeAspect="1"/>
          </p:cNvPicPr>
          <p:nvPr/>
        </p:nvPicPr>
        <p:blipFill>
          <a:blip r:embed="rId3"/>
          <a:srcRect t="42767" r="4" b="4"/>
          <a:stretch>
            <a:fillRect/>
          </a:stretch>
        </p:blipFill>
        <p:spPr>
          <a:xfrm>
            <a:off x="423101" y="2671763"/>
            <a:ext cx="6438105" cy="3684588"/>
          </a:xfrm>
          <a:prstGeom prst="rect">
            <a:avLst/>
          </a:prstGeom>
          <a:noFill/>
        </p:spPr>
      </p:pic>
      <p:pic>
        <p:nvPicPr>
          <p:cNvPr id="6" name="Picture 5" descr="AU's segl">
            <a:extLst>
              <a:ext uri="{FF2B5EF4-FFF2-40B4-BE49-F238E27FC236}">
                <a16:creationId xmlns:a16="http://schemas.microsoft.com/office/drawing/2014/main" id="{49BE1E43-6F81-3C41-C30C-E25204F4EEF2}"/>
              </a:ext>
            </a:extLst>
          </p:cNvPr>
          <p:cNvPicPr>
            <a:picLocks noChangeAspect="1"/>
          </p:cNvPicPr>
          <p:nvPr/>
        </p:nvPicPr>
        <p:blipFill>
          <a:blip r:embed="rId4"/>
          <a:stretch>
            <a:fillRect/>
          </a:stretch>
        </p:blipFill>
        <p:spPr>
          <a:xfrm>
            <a:off x="8153400" y="1905000"/>
            <a:ext cx="3048000" cy="304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Learning Objectives</a:t>
            </a:r>
            <a:endParaRPr b="1" dirty="0">
              <a:latin typeface="Arial" panose="020B0604020202020204" pitchFamily="34" charset="0"/>
              <a:cs typeface="Arial" panose="020B0604020202020204" pitchFamily="34" charset="0"/>
            </a:endParaRPr>
          </a:p>
        </p:txBody>
      </p:sp>
      <p:sp>
        <p:nvSpPr>
          <p:cNvPr id="4004" name="Content Placeholder"/>
          <p:cNvSpPr>
            <a:spLocks noGrp="1"/>
          </p:cNvSpPr>
          <p:nvPr>
            <p:ph sz="half" idx="2"/>
          </p:nvPr>
        </p:nvSpPr>
        <p:spPr/>
        <p:txBody>
          <a:bodyPr wrap="square">
            <a:normAutofit/>
          </a:bodyPr>
          <a:lstStyle/>
          <a:p>
            <a:pPr marL="0" indent="0">
              <a:buNone/>
            </a:pPr>
            <a:r>
              <a:rPr lang="en-CA" sz="2400" b="1" dirty="0"/>
              <a:t>By the end of this session you will be able to:</a:t>
            </a:r>
          </a:p>
          <a:p>
            <a:r>
              <a:rPr lang="en-CA" sz="2400" dirty="0"/>
              <a:t>1. Explain the reduced-form (intensity) approach to credit risk and contrast it with the structural Merton model</a:t>
            </a:r>
          </a:p>
          <a:p>
            <a:r>
              <a:rPr lang="en-CA" sz="2400" dirty="0"/>
              <a:t>2. Derive survival probabilities and default-time distributions from a constant hazard rate lambda</a:t>
            </a:r>
          </a:p>
          <a:p>
            <a:r>
              <a:rPr lang="en-CA" sz="2400" dirty="0"/>
              <a:t>3. Price a Credit Default Swap (CDS) using intensity-model mechanics and the spread approximation</a:t>
            </a:r>
          </a:p>
          <a:p>
            <a:r>
              <a:rPr lang="en-CA" sz="2400" dirty="0"/>
              <a:t>4. Simulate correlated defaults using the one-factor Gaussian copula and the Vasicek framework to produce a portfolio loss distribution</a:t>
            </a:r>
          </a:p>
          <a:p>
            <a:r>
              <a:rPr lang="en-CA" sz="2400" dirty="0"/>
              <a:t>5. Compute portfolio Credit VaR and Expected Loss from a simulated loss distribution and interpret the effect of asset correlation on tail risk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Block 1: Recap and Motivation</a:t>
            </a:r>
            <a:endParaRPr b="1" dirty="0">
              <a:latin typeface="Arial" panose="020B0604020202020204" pitchFamily="34" charset="0"/>
              <a:cs typeface="Arial" panose="020B0604020202020204" pitchFamily="34" charset="0"/>
            </a:endParaRPr>
          </a:p>
        </p:txBody>
      </p:sp>
      <p:sp>
        <p:nvSpPr>
          <p:cNvPr id="4006" name="Content Placeholder"/>
          <p:cNvSpPr>
            <a:spLocks noGrp="1"/>
          </p:cNvSpPr>
          <p:nvPr>
            <p:ph sz="half" idx="2"/>
          </p:nvPr>
        </p:nvSpPr>
        <p:spPr/>
        <p:txBody>
          <a:bodyPr wrap="square">
            <a:normAutofit/>
          </a:bodyPr>
          <a:lstStyle/>
          <a:p>
            <a:pPr marL="0" indent="0">
              <a:buNone/>
            </a:pPr>
            <a:r>
              <a:rPr lang="en-CA" sz="2400" b="1" dirty="0"/>
              <a:t>From Merton's balance sheet to market-implied hazard rates</a:t>
            </a:r>
          </a:p>
          <a:p>
            <a:r>
              <a:rPr lang="en-CA" sz="2400" dirty="0"/>
              <a:t>Structural (Merton) reads default off the firm balance sheet; intensity models read it off market CDS prices</a:t>
            </a:r>
          </a:p>
          <a:p>
            <a:r>
              <a:rPr lang="en-CA" sz="2400" dirty="0"/>
              <a:t>Today we move to the reduced-form approach, then build a one-factor portfolio credit model in Python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Structural vs Reduced-Form Models</a:t>
            </a:r>
            <a:endParaRPr b="1" dirty="0">
              <a:latin typeface="Arial" panose="020B0604020202020204" pitchFamily="34" charset="0"/>
              <a:cs typeface="Arial" panose="020B0604020202020204" pitchFamily="34" charset="0"/>
            </a:endParaRPr>
          </a:p>
        </p:txBody>
      </p:sp>
      <p:sp>
        <p:nvSpPr>
          <p:cNvPr id="4008" name="Content Placeholder"/>
          <p:cNvSpPr>
            <a:spLocks noGrp="1"/>
          </p:cNvSpPr>
          <p:nvPr>
            <p:ph sz="half" idx="2"/>
          </p:nvPr>
        </p:nvSpPr>
        <p:spPr/>
        <p:txBody>
          <a:bodyPr wrap="square">
            <a:normAutofit fontScale="92500" lnSpcReduction="20000"/>
          </a:bodyPr>
          <a:lstStyle/>
          <a:p>
            <a:pPr marL="0" indent="0">
              <a:buNone/>
            </a:pPr>
            <a:r>
              <a:rPr lang="en-CA" sz="2400" b="1" dirty="0"/>
              <a:t>Structural (Merton, Session 5)</a:t>
            </a:r>
          </a:p>
          <a:p>
            <a:r>
              <a:rPr lang="en-CA" sz="2400" dirty="0"/>
              <a:t>Firm value V follows geometric Brownian motion; default when V falls below the face value of debt</a:t>
            </a:r>
          </a:p>
          <a:p>
            <a:r>
              <a:rPr lang="en-CA" sz="2400" dirty="0"/>
              <a:t>PD derived from equity market data; distance-to-default DD = (ln(V/F) + (mu minus half sigma-squared) T) / (sigma root-T)</a:t>
            </a:r>
          </a:p>
          <a:p>
            <a:r>
              <a:rPr lang="en-CA" sz="2400" dirty="0"/>
              <a:t>Requires balance-sheet data and less liquid pricing</a:t>
            </a:r>
          </a:p>
          <a:p>
            <a:r>
              <a:rPr lang="en-CA" sz="2400" dirty="0"/>
              <a:t>Best for: credit-risk measurement and regulatory capital</a:t>
            </a:r>
          </a:p>
          <a:p>
            <a:pPr marL="0" indent="0">
              <a:buNone/>
            </a:pPr>
            <a:r>
              <a:rPr lang="en-CA" sz="2400" b="1" dirty="0"/>
              <a:t>Reduced-Form (Intensity)</a:t>
            </a:r>
          </a:p>
          <a:p>
            <a:r>
              <a:rPr lang="en-CA" sz="2400" dirty="0"/>
              <a:t>Default arrives as a Poisson shock, so no balance sheet is needed; calibrated directly to market CDS spreads</a:t>
            </a:r>
          </a:p>
          <a:p>
            <a:r>
              <a:rPr lang="en-CA" sz="2400" dirty="0"/>
              <a:t>Hazard rate lambda(t) extracted from market data; survival P(tau greater than T) = exp(minus integral of lambda)</a:t>
            </a:r>
          </a:p>
          <a:p>
            <a:r>
              <a:rPr lang="en-CA" sz="2400" dirty="0"/>
              <a:t>Flexible: fits a full-term structure of credit risk</a:t>
            </a:r>
          </a:p>
          <a:p>
            <a:r>
              <a:rPr lang="en-CA" sz="2400" dirty="0"/>
              <a:t>Best for: CDS pricing, structured products, and CVA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Structural vs Reduced-Form: Example</a:t>
            </a:r>
            <a:endParaRPr b="1" dirty="0">
              <a:latin typeface="Arial" panose="020B0604020202020204" pitchFamily="34" charset="0"/>
              <a:cs typeface="Arial" panose="020B0604020202020204" pitchFamily="34" charset="0"/>
            </a:endParaRPr>
          </a:p>
        </p:txBody>
      </p:sp>
      <p:sp>
        <p:nvSpPr>
          <p:cNvPr id="4022" name="Content Placeholder"/>
          <p:cNvSpPr>
            <a:spLocks noGrp="1"/>
          </p:cNvSpPr>
          <p:nvPr>
            <p:ph sz="half" idx="2"/>
          </p:nvPr>
        </p:nvSpPr>
        <p:spPr>
          <a:xfrm>
            <a:off x="502920" y="1325880"/>
            <a:ext cx="11155680" cy="5166360"/>
          </a:xfrm>
        </p:spPr>
        <p:txBody>
          <a:bodyPr wrap="square">
            <a:noAutofit/>
          </a:bodyPr>
          <a:lstStyle/>
          <a:p>
            <a:r>
              <a:rPr lang="en-CA" sz="2200" b="1" dirty="0"/>
              <a:t>Given</a:t>
            </a:r>
          </a:p>
          <a:p>
            <a:r>
              <a:rPr lang="en-CA" sz="2200" b="0" dirty="0"/>
              <a:t>Firm assets V=130, debt face D=100, asset vol sigma=20%, r=3%, T=1 yr.</a:t>
            </a:r>
          </a:p>
          <a:p>
            <a:r>
              <a:rPr lang="en-CA" sz="2200" b="0" dirty="0"/>
              <a:t>Market 1y CDS spread = 130 bps, LGD = 60%.</a:t>
            </a:r>
          </a:p>
          <a:p>
            <a:r>
              <a:rPr lang="en-CA" sz="2200" b="1" dirty="0"/>
              <a:t>Formula (structural / Merton)</a:t>
            </a:r>
          </a:p>
          <a:p>
            <a:r>
              <a:rPr lang="en-CA" sz="2200" b="0" dirty="0"/>
              <a:t>PD = Phi(-d2),  d2 = [ln(V/D) + (r - 0.5 sigma^2) T] / (sigma*sqrt(T))</a:t>
            </a:r>
          </a:p>
          <a:p>
            <a:r>
              <a:rPr lang="en-CA" sz="2200" b="1" dirty="0"/>
              <a:t>Solution</a:t>
            </a:r>
          </a:p>
          <a:p>
            <a:r>
              <a:rPr lang="en-CA" sz="2200" b="0" dirty="0"/>
              <a:t>d2 = [ln(1.30) + (0.03 - 0.02)] / 0.20 = (0.2624 + 0.010)/0.20 = 1.362</a:t>
            </a:r>
          </a:p>
          <a:p>
            <a:r>
              <a:rPr lang="en-CA" sz="2200" b="0" dirty="0"/>
              <a:t>Structural PD = Phi(-1.362) = 8.66%</a:t>
            </a:r>
          </a:p>
          <a:p>
            <a:r>
              <a:rPr lang="en-CA" sz="2200" b="0" dirty="0"/>
              <a:t>Reduced-form: lambda = spread/LGD = 0.0130/0.60 = 2.17%/yr; 1y PD = 1 - e^-lambda = 2.14%</a:t>
            </a:r>
          </a:p>
          <a:p>
            <a:r>
              <a:rPr lang="en-CA" sz="2200" b="1" dirty="0"/>
              <a:t>Answer</a:t>
            </a:r>
          </a:p>
          <a:p>
            <a:r>
              <a:rPr lang="en-CA" sz="2200" b="0" dirty="0"/>
              <a:t>Same firm, two lenses: the balance-sheet model says 8.7%, the market-spread model says 2.1%.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Why Intensity Models?</a:t>
            </a:r>
            <a:endParaRPr b="1" dirty="0">
              <a:latin typeface="Arial" panose="020B0604020202020204" pitchFamily="34" charset="0"/>
              <a:cs typeface="Arial" panose="020B0604020202020204" pitchFamily="34" charset="0"/>
            </a:endParaRPr>
          </a:p>
        </p:txBody>
      </p:sp>
      <p:sp>
        <p:nvSpPr>
          <p:cNvPr id="4010" name="Content Placeholder"/>
          <p:cNvSpPr>
            <a:spLocks noGrp="1"/>
          </p:cNvSpPr>
          <p:nvPr>
            <p:ph sz="half" idx="2"/>
          </p:nvPr>
        </p:nvSpPr>
        <p:spPr/>
        <p:txBody>
          <a:bodyPr wrap="square">
            <a:normAutofit/>
          </a:bodyPr>
          <a:lstStyle/>
          <a:p>
            <a:pPr marL="0" indent="0">
              <a:buNone/>
            </a:pPr>
            <a:r>
              <a:rPr lang="en-CA" sz="2200" b="1" dirty="0"/>
              <a:t>The industry standard for CDS and structured-credit pricing since the mid-1990s</a:t>
            </a:r>
          </a:p>
          <a:p>
            <a:r>
              <a:rPr lang="en-CA" sz="2200" dirty="0"/>
              <a:t>Foundational work: Jarrow-Turnbull (1995) and Duffie-Singleton (1999)</a:t>
            </a:r>
          </a:p>
          <a:p>
            <a:r>
              <a:rPr lang="en-CA" sz="2200" dirty="0"/>
              <a:t>Market-consistent pricing: lambda implied from liquid CDS quotes, with no balance-sheet delay</a:t>
            </a:r>
          </a:p>
          <a:p>
            <a:r>
              <a:rPr lang="en-CA" sz="2200" dirty="0"/>
              <a:t>Tractable default time: tau is Exponential(lambda) with closed-form survival and PD</a:t>
            </a:r>
          </a:p>
          <a:p>
            <a:r>
              <a:rPr lang="en-CA" sz="2200" dirty="0"/>
              <a:t>Term-structure flexibility: piecewise-constant or stochastic lambda(t) fits any CDS curve</a:t>
            </a:r>
          </a:p>
          <a:p>
            <a:r>
              <a:rPr lang="en-CA" sz="2200" dirty="0"/>
              <a:t>CVA / XVA: the standard pricing framework for counterparty credit risk in derivatives</a:t>
            </a:r>
          </a:p>
          <a:p>
            <a:r>
              <a:rPr lang="en-CA" sz="2200" dirty="0"/>
              <a:t>Portfolio models: individual intensity plus a copula gives the joint default distribution</a:t>
            </a:r>
          </a:p>
          <a:p>
            <a:r>
              <a:rPr lang="en-CA" sz="2200" dirty="0"/>
              <a:t>Sources: Hull (2023) Ch. 19 sec. 19.5 (CDS desk pricing); Jorion (2010) Ch. 23 (CDO and credit-derivative structuring)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Block 2: Intensity Models - Theory and Pricing</a:t>
            </a:r>
            <a:endParaRPr b="1" dirty="0">
              <a:latin typeface="Arial" panose="020B0604020202020204" pitchFamily="34" charset="0"/>
              <a:cs typeface="Arial" panose="020B0604020202020204" pitchFamily="34" charset="0"/>
            </a:endParaRPr>
          </a:p>
        </p:txBody>
      </p:sp>
      <p:sp>
        <p:nvSpPr>
          <p:cNvPr id="4012" name="Content Placeholder"/>
          <p:cNvSpPr>
            <a:spLocks noGrp="1"/>
          </p:cNvSpPr>
          <p:nvPr>
            <p:ph sz="half" idx="2"/>
          </p:nvPr>
        </p:nvSpPr>
        <p:spPr/>
        <p:txBody>
          <a:bodyPr wrap="square">
            <a:normAutofit/>
          </a:bodyPr>
          <a:lstStyle/>
          <a:p>
            <a:pPr marL="0" indent="0">
              <a:buNone/>
            </a:pPr>
            <a:r>
              <a:rPr lang="en-CA" sz="2400" b="1" dirty="0"/>
              <a:t>Hazard rates, survival probabilities, and CDS spreads</a:t>
            </a:r>
          </a:p>
          <a:p>
            <a:r>
              <a:rPr lang="en-CA" sz="2400" dirty="0"/>
              <a:t>The exponential survival formula is the workhorse for the whole session</a:t>
            </a:r>
          </a:p>
          <a:p>
            <a:r>
              <a:rPr lang="en-CA" sz="2400" dirty="0"/>
              <a:t>From a single hazard rate to CDS spreads and the full term structure of credit risk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Hazard Rate and Survival Probability</a:t>
            </a:r>
            <a:endParaRPr b="1" dirty="0">
              <a:latin typeface="Arial" panose="020B0604020202020204" pitchFamily="34" charset="0"/>
              <a:cs typeface="Arial" panose="020B0604020202020204" pitchFamily="34" charset="0"/>
            </a:endParaRPr>
          </a:p>
        </p:txBody>
      </p:sp>
      <p:pic>
        <p:nvPicPr>
          <p:cNvPr id="4014" name="Picture 4013" descr="f_survival.png"/>
          <p:cNvPicPr>
            <a:picLocks noChangeAspect="1"/>
          </p:cNvPicPr>
          <p:nvPr/>
        </p:nvPicPr>
        <p:blipFill>
          <a:blip r:embed="rId3"/>
          <a:stretch>
            <a:fillRect/>
          </a:stretch>
        </p:blipFill>
        <p:spPr>
          <a:xfrm>
            <a:off x="3282536" y="1219200"/>
            <a:ext cx="4609736" cy="609600"/>
          </a:xfrm>
          <a:prstGeom prst="rect">
            <a:avLst/>
          </a:prstGeom>
        </p:spPr>
      </p:pic>
      <p:pic>
        <p:nvPicPr>
          <p:cNvPr id="4015" name="Picture 4014" descr="f_survconst.png"/>
          <p:cNvPicPr>
            <a:picLocks noChangeAspect="1"/>
          </p:cNvPicPr>
          <p:nvPr/>
        </p:nvPicPr>
        <p:blipFill>
          <a:blip r:embed="rId4"/>
          <a:stretch>
            <a:fillRect/>
          </a:stretch>
        </p:blipFill>
        <p:spPr>
          <a:xfrm>
            <a:off x="951032" y="2078736"/>
            <a:ext cx="8431876" cy="609600"/>
          </a:xfrm>
          <a:prstGeom prst="rect">
            <a:avLst/>
          </a:prstGeom>
        </p:spPr>
      </p:pic>
      <p:sp>
        <p:nvSpPr>
          <p:cNvPr id="2" name="Content Placeholder"/>
          <p:cNvSpPr>
            <a:spLocks noGrp="1"/>
          </p:cNvSpPr>
          <p:nvPr>
            <p:ph sz="half" idx="2"/>
          </p:nvPr>
        </p:nvSpPr>
        <p:spPr>
          <a:xfrm>
            <a:off x="420624" y="2889504"/>
            <a:ext cx="11347704" cy="3163824"/>
          </a:xfrm>
        </p:spPr>
        <p:txBody>
          <a:bodyPr wrap="square">
            <a:noAutofit/>
          </a:bodyPr>
          <a:lstStyle/>
          <a:p>
            <a:pPr marL="0" indent="0">
              <a:buNone/>
            </a:pPr>
            <a:r>
              <a:rPr lang="en-CA" sz="2200" b="1" dirty="0"/>
              <a:t>Interpretation</a:t>
            </a:r>
          </a:p>
          <a:p>
            <a:r>
              <a:rPr lang="en-CA" sz="2200" dirty="0"/>
              <a:t>lambda(t): the instantaneous probability of default given survival to t</a:t>
            </a:r>
          </a:p>
          <a:p>
            <a:r>
              <a:rPr lang="en-CA" sz="2200" dirty="0"/>
              <a:t>S(t): the probability the obligor has NOT defaulted by time t</a:t>
            </a:r>
          </a:p>
          <a:p>
            <a:r>
              <a:rPr lang="en-CA" sz="2200" dirty="0"/>
              <a:t>Constant lambda gives an exponential default-time distribution; tau is the first jump of a Poisson process</a:t>
            </a:r>
          </a:p>
          <a:p>
            <a:r>
              <a:rPr lang="en-CA" sz="2200" dirty="0"/>
              <a:t>Higher credit rating means lower lambda and slower decay in S(t)</a:t>
            </a:r>
          </a:p>
          <a:p>
            <a:r>
              <a:rPr lang="en-CA" sz="2200" dirty="0"/>
              <a:t>Historical anchors: AAA about lambda 0.02 percent per year; BBB about 0.5 percent; B about 4 percent</a:t>
            </a:r>
          </a:p>
          <a:p>
            <a:r>
              <a:rPr lang="en-CA" sz="2200" dirty="0"/>
              <a:t>Source: Hull (2023) Ch. 9.6; Ch. 19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Hazard Rate and Survival: Example</a:t>
            </a:r>
            <a:endParaRPr b="1" dirty="0">
              <a:latin typeface="Arial" panose="020B0604020202020204" pitchFamily="34" charset="0"/>
              <a:cs typeface="Arial" panose="020B0604020202020204" pitchFamily="34" charset="0"/>
            </a:endParaRPr>
          </a:p>
        </p:txBody>
      </p:sp>
      <p:sp>
        <p:nvSpPr>
          <p:cNvPr id="4022" name="Content Placeholder"/>
          <p:cNvSpPr>
            <a:spLocks noGrp="1"/>
          </p:cNvSpPr>
          <p:nvPr>
            <p:ph sz="half" idx="2"/>
          </p:nvPr>
        </p:nvSpPr>
        <p:spPr>
          <a:xfrm>
            <a:off x="502920" y="1325880"/>
            <a:ext cx="11155680" cy="5166360"/>
          </a:xfrm>
        </p:spPr>
        <p:txBody>
          <a:bodyPr wrap="square">
            <a:noAutofit/>
          </a:bodyPr>
          <a:lstStyle/>
          <a:p>
            <a:r>
              <a:rPr lang="en-CA" sz="2200" b="1" dirty="0"/>
              <a:t>Given</a:t>
            </a:r>
          </a:p>
          <a:p>
            <a:r>
              <a:rPr lang="en-CA" sz="2200" b="0" dirty="0"/>
              <a:t>Constant default intensity (flat hazard) lambda = 3% per year.</a:t>
            </a:r>
          </a:p>
          <a:p>
            <a:r>
              <a:rPr lang="en-CA" sz="2200" b="1" dirty="0"/>
              <a:t>Formula</a:t>
            </a:r>
          </a:p>
          <a:p>
            <a:r>
              <a:rPr lang="en-CA" sz="2200" b="0" dirty="0"/>
              <a:t>Survival S(t) = e^(-lambda t);  cumulative default Q(t) = 1 - e^(-lambda t)</a:t>
            </a:r>
          </a:p>
          <a:p>
            <a:r>
              <a:rPr lang="en-CA" sz="2200" b="1" dirty="0"/>
              <a:t>Solution</a:t>
            </a:r>
          </a:p>
          <a:p>
            <a:r>
              <a:rPr lang="en-CA" sz="2200" b="0" dirty="0"/>
              <a:t>1-year default = 1 - e^(-0.03) = 2.96%</a:t>
            </a:r>
          </a:p>
          <a:p>
            <a:r>
              <a:rPr lang="en-CA" sz="2200" b="0" dirty="0"/>
              <a:t>5-year survival S(5) = e^(-0.15) = 86.07%  -&gt;  5y default = 13.93%</a:t>
            </a:r>
          </a:p>
          <a:p>
            <a:r>
              <a:rPr lang="en-CA" sz="2200" b="0" dirty="0"/>
              <a:t>10-year default = 1 - e^(-0.30) = 25.92%</a:t>
            </a:r>
          </a:p>
          <a:p>
            <a:r>
              <a:rPr lang="en-CA" sz="2200" b="1" dirty="0"/>
              <a:t>Answer</a:t>
            </a:r>
          </a:p>
          <a:p>
            <a:r>
              <a:rPr lang="en-CA" sz="2200" b="0" dirty="0"/>
              <a:t>A 3% yearly hazard compounds to about 26% default over ten years - not 30%, because survival shrinks the base.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CDS in Practice: Credit Events, Settlement and Types</a:t>
            </a:r>
            <a:endParaRPr b="1" dirty="0">
              <a:latin typeface="Arial" panose="020B0604020202020204" pitchFamily="34" charset="0"/>
              <a:cs typeface="Arial" panose="020B0604020202020204" pitchFamily="34" charset="0"/>
            </a:endParaRPr>
          </a:p>
        </p:txBody>
      </p:sp>
      <p:sp>
        <p:nvSpPr>
          <p:cNvPr id="4042" name="Content Placeholder"/>
          <p:cNvSpPr>
            <a:spLocks noGrp="1"/>
          </p:cNvSpPr>
          <p:nvPr>
            <p:ph sz="half" idx="2"/>
          </p:nvPr>
        </p:nvSpPr>
        <p:spPr/>
        <p:txBody>
          <a:bodyPr wrap="square">
            <a:noAutofit/>
          </a:bodyPr>
          <a:lstStyle/>
          <a:p>
            <a:r>
              <a:rPr lang="en-CA" sz="2200" b="1" dirty="0"/>
              <a:t>What a CDS is</a:t>
            </a:r>
          </a:p>
          <a:p>
            <a:r>
              <a:rPr lang="en-CA" sz="2200" b="0" dirty="0"/>
              <a:t>A bilateral contract: the protection buyer pays a periodic premium; the seller pays if a credit event occurs</a:t>
            </a:r>
          </a:p>
          <a:p>
            <a:r>
              <a:rPr lang="en-CA" sz="2200" b="0" dirty="0"/>
              <a:t>Transfers credit risk without selling the bond - insurance on a reference entity</a:t>
            </a:r>
          </a:p>
          <a:p>
            <a:r>
              <a:rPr lang="en-CA" sz="2200" b="1" dirty="0"/>
              <a:t>Credit events (the trigger)</a:t>
            </a:r>
          </a:p>
          <a:p>
            <a:r>
              <a:rPr lang="en-CA" sz="2200" b="0" dirty="0"/>
              <a:t>Bankruptcy, failure to pay, and restructuring - ruled on by an ISDA Determinations Committee</a:t>
            </a:r>
          </a:p>
          <a:p>
            <a:r>
              <a:rPr lang="en-CA" sz="2200" b="1" dirty="0"/>
              <a:t>Settlement</a:t>
            </a:r>
          </a:p>
          <a:p>
            <a:r>
              <a:rPr lang="en-CA" sz="2200" b="0" dirty="0"/>
              <a:t>Cash (common): payout = payout ratio x notional, where payout ratio = 1 - recovery rate</a:t>
            </a:r>
          </a:p>
          <a:p>
            <a:r>
              <a:rPr lang="en-CA" sz="2200" b="0" dirty="0"/>
              <a:t>Recovery is set by an AUCTION for the cheapest-to-deliver defaulted debt; physical settlement delivers the bond for par</a:t>
            </a:r>
          </a:p>
          <a:p>
            <a:r>
              <a:rPr lang="en-CA" sz="2200" b="1" dirty="0"/>
              <a:t>Types of CDS</a:t>
            </a:r>
          </a:p>
          <a:p>
            <a:r>
              <a:rPr lang="en-CA" sz="2200" b="0" dirty="0"/>
              <a:t>Single-name (one issuer), index (a basket), and tranche (a slice of an index's loss distribution)</a:t>
            </a:r>
          </a:p>
        </p:txBody>
      </p:sp>
    </p:spTree>
    <p:extLst>
      <p:ext uri="{BB962C8B-B14F-4D97-AF65-F5344CB8AC3E}">
        <p14:creationId xmlns:p14="http://schemas.microsoft.com/office/powerpoint/2010/main" val="3831878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CDS Settlement: Example</a:t>
            </a:r>
            <a:endParaRPr b="1" dirty="0">
              <a:latin typeface="Arial" panose="020B0604020202020204" pitchFamily="34" charset="0"/>
              <a:cs typeface="Arial" panose="020B0604020202020204" pitchFamily="34" charset="0"/>
            </a:endParaRPr>
          </a:p>
        </p:txBody>
      </p:sp>
      <p:sp>
        <p:nvSpPr>
          <p:cNvPr id="4022" name="Content Placeholder"/>
          <p:cNvSpPr>
            <a:spLocks noGrp="1"/>
          </p:cNvSpPr>
          <p:nvPr>
            <p:ph sz="half" idx="2"/>
          </p:nvPr>
        </p:nvSpPr>
        <p:spPr>
          <a:xfrm>
            <a:off x="502920" y="1325880"/>
            <a:ext cx="11155680" cy="5166360"/>
          </a:xfrm>
        </p:spPr>
        <p:txBody>
          <a:bodyPr wrap="square">
            <a:noAutofit/>
          </a:bodyPr>
          <a:lstStyle/>
          <a:p>
            <a:r>
              <a:rPr lang="en-CA" sz="2200" b="1" dirty="0"/>
              <a:t>Given</a:t>
            </a:r>
          </a:p>
          <a:p>
            <a:r>
              <a:rPr lang="en-CA" sz="2200" b="0" dirty="0"/>
              <a:t>$10M notional CDS on a bond; a credit event is triggered.</a:t>
            </a:r>
          </a:p>
          <a:p>
            <a:r>
              <a:rPr lang="en-CA" sz="2200" b="0" dirty="0"/>
              <a:t>The recovery auction sets recovery = 40%.</a:t>
            </a:r>
          </a:p>
          <a:p>
            <a:r>
              <a:rPr lang="en-CA" sz="2200" b="1" dirty="0"/>
              <a:t>Formula</a:t>
            </a:r>
          </a:p>
          <a:p>
            <a:r>
              <a:rPr lang="en-CA" sz="2200" b="0" dirty="0"/>
              <a:t>cash payout = notional x (1 - recovery)</a:t>
            </a:r>
          </a:p>
          <a:p>
            <a:r>
              <a:rPr lang="en-CA" sz="2200" b="1" dirty="0"/>
              <a:t>Solution</a:t>
            </a:r>
          </a:p>
          <a:p>
            <a:r>
              <a:rPr lang="en-CA" sz="2200" b="0" dirty="0"/>
              <a:t>Cash settlement: 10M x (1 - 0.40) = $6.0M paid to the protection buyer</a:t>
            </a:r>
          </a:p>
          <a:p>
            <a:r>
              <a:rPr lang="en-CA" sz="2200" b="0" dirty="0"/>
              <a:t>Physical settlement: buyer delivers $10M face of bonds, receives $10M par</a:t>
            </a:r>
          </a:p>
          <a:p>
            <a:r>
              <a:rPr lang="en-CA" sz="2200" b="1" dirty="0"/>
              <a:t>Answer</a:t>
            </a:r>
          </a:p>
          <a:p>
            <a:r>
              <a:rPr lang="en-CA" sz="2200" b="0" dirty="0"/>
              <a:t>Either route makes the buyer whole for the $6M loss - cash uses the auction price, physical delivers the actual bonds.</a:t>
            </a:r>
          </a:p>
        </p:txBody>
      </p:sp>
    </p:spTree>
    <p:extLst>
      <p:ext uri="{BB962C8B-B14F-4D97-AF65-F5344CB8AC3E}">
        <p14:creationId xmlns:p14="http://schemas.microsoft.com/office/powerpoint/2010/main" val="35729896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CDS Indices and Trading Strategies</a:t>
            </a:r>
            <a:endParaRPr b="1" dirty="0">
              <a:latin typeface="Arial" panose="020B0604020202020204" pitchFamily="34" charset="0"/>
              <a:cs typeface="Arial" panose="020B0604020202020204" pitchFamily="34" charset="0"/>
            </a:endParaRPr>
          </a:p>
        </p:txBody>
      </p:sp>
      <p:sp>
        <p:nvSpPr>
          <p:cNvPr id="4042" name="Content Placeholder"/>
          <p:cNvSpPr>
            <a:spLocks noGrp="1"/>
          </p:cNvSpPr>
          <p:nvPr>
            <p:ph sz="half" idx="2"/>
          </p:nvPr>
        </p:nvSpPr>
        <p:spPr>
          <a:xfrm>
            <a:off x="423100" y="1295400"/>
            <a:ext cx="11345797" cy="4501661"/>
          </a:xfrm>
        </p:spPr>
        <p:txBody>
          <a:bodyPr wrap="square">
            <a:noAutofit/>
          </a:bodyPr>
          <a:lstStyle/>
          <a:p>
            <a:r>
              <a:rPr lang="en-CA" sz="2200" b="1" dirty="0"/>
              <a:t>CDS index products</a:t>
            </a:r>
          </a:p>
          <a:p>
            <a:r>
              <a:rPr lang="en-CA" sz="2200" b="0" dirty="0"/>
              <a:t>CDX (North America) and iTraxx (Europe/Asia): standardized, liquid baskets of single-name CDS</a:t>
            </a:r>
          </a:p>
          <a:p>
            <a:r>
              <a:rPr lang="en-CA" sz="2200" b="0" dirty="0"/>
              <a:t>Investment-grade and high-yield versions - the cheapest way to take a macro credit view or hedge a book</a:t>
            </a:r>
          </a:p>
          <a:p>
            <a:r>
              <a:rPr lang="en-CA" sz="2200" b="1" dirty="0"/>
              <a:t>The CDS credit curve</a:t>
            </a:r>
          </a:p>
          <a:p>
            <a:r>
              <a:rPr lang="en-CA" sz="2200" b="0" dirty="0"/>
              <a:t>Spread by maturity for one reference entity; normally upward-sloping</a:t>
            </a:r>
          </a:p>
          <a:p>
            <a:r>
              <a:rPr lang="en-CA" sz="2200" b="0" dirty="0"/>
              <a:t>Inverts for distressed names (near-term default dominates) - the same shape the Merton model produces</a:t>
            </a:r>
          </a:p>
          <a:p>
            <a:r>
              <a:rPr lang="en-CA" sz="2200" b="1" dirty="0"/>
              <a:t>Trading strategies</a:t>
            </a:r>
          </a:p>
          <a:p>
            <a:r>
              <a:rPr lang="en-CA" sz="2200" b="0" dirty="0"/>
              <a:t>Long-short (relative value): sell protection on one name, buy on another</a:t>
            </a:r>
          </a:p>
          <a:p>
            <a:r>
              <a:rPr lang="en-CA" sz="2200" b="0" dirty="0"/>
              <a:t>Curve trades: buy one maturity and sell another to trade the curve's shape</a:t>
            </a:r>
          </a:p>
          <a:p>
            <a:r>
              <a:rPr lang="en-CA" sz="2200" b="0" dirty="0"/>
              <a:t>Basis trades: exploit the CDS-bond basis (CDS spread vs the cash-bond spread); monetize by unwinding or offsetting</a:t>
            </a:r>
          </a:p>
        </p:txBody>
      </p:sp>
    </p:spTree>
    <p:extLst>
      <p:ext uri="{BB962C8B-B14F-4D97-AF65-F5344CB8AC3E}">
        <p14:creationId xmlns:p14="http://schemas.microsoft.com/office/powerpoint/2010/main" val="3194422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CDS Index: Example</a:t>
            </a:r>
            <a:endParaRPr b="1" dirty="0">
              <a:latin typeface="Arial" panose="020B0604020202020204" pitchFamily="34" charset="0"/>
              <a:cs typeface="Arial" panose="020B0604020202020204" pitchFamily="34" charset="0"/>
            </a:endParaRPr>
          </a:p>
        </p:txBody>
      </p:sp>
      <p:sp>
        <p:nvSpPr>
          <p:cNvPr id="4022" name="Content Placeholder"/>
          <p:cNvSpPr>
            <a:spLocks noGrp="1"/>
          </p:cNvSpPr>
          <p:nvPr>
            <p:ph sz="half" idx="2"/>
          </p:nvPr>
        </p:nvSpPr>
        <p:spPr>
          <a:xfrm>
            <a:off x="502920" y="1325880"/>
            <a:ext cx="11155680" cy="5166360"/>
          </a:xfrm>
        </p:spPr>
        <p:txBody>
          <a:bodyPr wrap="square">
            <a:noAutofit/>
          </a:bodyPr>
          <a:lstStyle/>
          <a:p>
            <a:r>
              <a:rPr lang="en-CA" sz="2200" b="1" dirty="0"/>
              <a:t>Given</a:t>
            </a:r>
          </a:p>
          <a:p>
            <a:r>
              <a:rPr lang="en-CA" sz="2200" b="0" dirty="0"/>
              <a:t>CDX IG: 125 equally-weighted names; you buy $125M protection, coupon 100 bps.</a:t>
            </a:r>
          </a:p>
          <a:p>
            <a:r>
              <a:rPr lang="en-CA" sz="2200" b="0" dirty="0"/>
              <a:t>One name defaults, recovery = 40%.</a:t>
            </a:r>
          </a:p>
          <a:p>
            <a:r>
              <a:rPr lang="en-CA" sz="2200" b="1" dirty="0"/>
              <a:t>Formula</a:t>
            </a:r>
          </a:p>
          <a:p>
            <a:r>
              <a:rPr lang="en-CA" sz="2200" b="0" dirty="0"/>
              <a:t>single-name payout = (notional / 125) x (1 - recovery)</a:t>
            </a:r>
          </a:p>
          <a:p>
            <a:r>
              <a:rPr lang="en-CA" sz="2200" b="1" dirty="0"/>
              <a:t>Solution</a:t>
            </a:r>
          </a:p>
          <a:p>
            <a:r>
              <a:rPr lang="en-CA" sz="2200" b="0" dirty="0"/>
              <a:t>Defaulted-name notional = 125M / 125 = $1.0M</a:t>
            </a:r>
          </a:p>
          <a:p>
            <a:r>
              <a:rPr lang="en-CA" sz="2200" b="0" dirty="0"/>
              <a:t>Protection payout = 1.0M x (1 - 0.40) = $0.6M</a:t>
            </a:r>
          </a:p>
          <a:p>
            <a:r>
              <a:rPr lang="en-CA" sz="2200" b="0" dirty="0"/>
              <a:t>You keep paying the 100 bps coupon on the remaining $124M</a:t>
            </a:r>
          </a:p>
          <a:p>
            <a:r>
              <a:rPr lang="en-CA" sz="2200" b="1" dirty="0"/>
              <a:t>Answer</a:t>
            </a:r>
          </a:p>
          <a:p>
            <a:r>
              <a:rPr lang="en-CA" sz="2200" b="0" dirty="0"/>
              <a:t>An index is a portfolio of single-name CDS: each default pays (1 - R) on its share and the index rolls down to 124 names.</a:t>
            </a:r>
          </a:p>
        </p:txBody>
      </p:sp>
    </p:spTree>
    <p:extLst>
      <p:ext uri="{BB962C8B-B14F-4D97-AF65-F5344CB8AC3E}">
        <p14:creationId xmlns:p14="http://schemas.microsoft.com/office/powerpoint/2010/main" val="26921619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Calibrating Lambda from Market CDS Spreads</a:t>
            </a:r>
            <a:endParaRPr b="1" dirty="0">
              <a:latin typeface="Arial" panose="020B0604020202020204" pitchFamily="34" charset="0"/>
              <a:cs typeface="Arial" panose="020B0604020202020204" pitchFamily="34" charset="0"/>
            </a:endParaRPr>
          </a:p>
        </p:txBody>
      </p:sp>
      <p:sp>
        <p:nvSpPr>
          <p:cNvPr id="4016" name="Content Placeholder"/>
          <p:cNvSpPr>
            <a:spLocks noGrp="1"/>
          </p:cNvSpPr>
          <p:nvPr>
            <p:ph sz="half" idx="2"/>
          </p:nvPr>
        </p:nvSpPr>
        <p:spPr>
          <a:xfrm>
            <a:off x="423100" y="1219201"/>
            <a:ext cx="11345797" cy="4818184"/>
          </a:xfrm>
        </p:spPr>
        <p:txBody>
          <a:bodyPr wrap="square">
            <a:normAutofit/>
          </a:bodyPr>
          <a:lstStyle/>
          <a:p>
            <a:pPr marL="0" indent="0">
              <a:buNone/>
            </a:pPr>
            <a:r>
              <a:rPr lang="en-CA" sz="2200" b="1" dirty="0"/>
              <a:t>Intensity models are calibrated to traded CDS spreads, making them market-consistent</a:t>
            </a:r>
          </a:p>
          <a:p>
            <a:r>
              <a:rPr lang="en-CA" sz="2200" dirty="0"/>
              <a:t>Step 1: observe the market CDS spread s(T) for each maturity T</a:t>
            </a:r>
          </a:p>
          <a:p>
            <a:r>
              <a:rPr lang="en-CA" sz="2200" dirty="0"/>
              <a:t>Step 2: approximate s(T) =(1-R) * lambda, where R is the recovery rate</a:t>
            </a:r>
          </a:p>
          <a:p>
            <a:r>
              <a:rPr lang="en-CA" sz="2200" dirty="0"/>
              <a:t>Step 3: solve for lambda = s(T) / (1-R) under the constant-hazard approximation</a:t>
            </a:r>
          </a:p>
          <a:p>
            <a:r>
              <a:rPr lang="en-CA" sz="2200" dirty="0"/>
              <a:t>Step 4: for a term structure, bootstrap piecewise-constant lambda from short to long maturity</a:t>
            </a:r>
          </a:p>
          <a:p>
            <a:r>
              <a:rPr lang="en-CA" sz="2200" dirty="0"/>
              <a:t>Example: BBB 5yr OAS ~ 94 bps (FRED ICE BofA, Jul 2026), R = 40% gives lambda ~ 0.0157</a:t>
            </a:r>
          </a:p>
          <a:p>
            <a:r>
              <a:rPr lang="en-CA" sz="2200" dirty="0"/>
              <a:t>Exact pricing discounts the premium leg and protection leg under the survival measure</a:t>
            </a:r>
          </a:p>
          <a:p>
            <a:r>
              <a:rPr lang="en-CA" sz="2200" dirty="0"/>
              <a:t>Jorion (2010) Ch. 23: CDS mechanics - premium leg, protection leg, accrual</a:t>
            </a:r>
          </a:p>
          <a:p>
            <a:r>
              <a:rPr lang="en-CA" sz="2200" dirty="0"/>
              <a:t>Lab bootstraps the hazard term structure from the real IG corporate OAS curve (1-3y, 3-5y, 5-7y, 7-10y, 10-15y buckets)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Calibrating Lambda: Example</a:t>
            </a:r>
            <a:endParaRPr b="1" dirty="0">
              <a:latin typeface="Arial" panose="020B0604020202020204" pitchFamily="34" charset="0"/>
              <a:cs typeface="Arial" panose="020B0604020202020204" pitchFamily="34" charset="0"/>
            </a:endParaRPr>
          </a:p>
        </p:txBody>
      </p:sp>
      <p:sp>
        <p:nvSpPr>
          <p:cNvPr id="4022" name="Content Placeholder"/>
          <p:cNvSpPr>
            <a:spLocks noGrp="1"/>
          </p:cNvSpPr>
          <p:nvPr>
            <p:ph sz="half" idx="2"/>
          </p:nvPr>
        </p:nvSpPr>
        <p:spPr>
          <a:xfrm>
            <a:off x="502920" y="1325880"/>
            <a:ext cx="11155680" cy="5166360"/>
          </a:xfrm>
        </p:spPr>
        <p:txBody>
          <a:bodyPr wrap="square">
            <a:noAutofit/>
          </a:bodyPr>
          <a:lstStyle/>
          <a:p>
            <a:r>
              <a:rPr lang="en-CA" sz="2200" b="1" dirty="0"/>
              <a:t>Given</a:t>
            </a:r>
          </a:p>
          <a:p>
            <a:r>
              <a:rPr lang="en-CA" sz="2200" b="0" dirty="0"/>
              <a:t>5-year CDS spread s = 150 bps; assumed LGD = 60% (recovery 40%).</a:t>
            </a:r>
          </a:p>
          <a:p>
            <a:r>
              <a:rPr lang="en-CA" sz="2200" b="1" dirty="0"/>
              <a:t>Formula (credit triangle)</a:t>
            </a:r>
          </a:p>
          <a:p>
            <a:r>
              <a:rPr lang="en-CA" sz="2200" b="0" dirty="0"/>
              <a:t>lambda ~= s / LGD</a:t>
            </a:r>
          </a:p>
          <a:p>
            <a:r>
              <a:rPr lang="en-CA" sz="2200" b="1" dirty="0"/>
              <a:t>Solution</a:t>
            </a:r>
          </a:p>
          <a:p>
            <a:r>
              <a:rPr lang="en-CA" sz="2200" b="0" dirty="0"/>
              <a:t>lambda ~= 0.0150 / 0.60 = 2.50% per year (risk-neutral hazard)</a:t>
            </a:r>
          </a:p>
          <a:p>
            <a:r>
              <a:rPr lang="en-CA" sz="2200" b="0" dirty="0"/>
              <a:t>Implied 1-year default = 1 - e^(-0.025) = 2.47%</a:t>
            </a:r>
          </a:p>
          <a:p>
            <a:r>
              <a:rPr lang="en-CA" sz="2200" b="1" dirty="0"/>
              <a:t>Answer</a:t>
            </a:r>
          </a:p>
          <a:p>
            <a:r>
              <a:rPr lang="en-CA" sz="2200" b="0" dirty="0"/>
              <a:t>A 150 bps spread with 60% LGD implies a ~2.5% annual default intensity.</a:t>
            </a:r>
          </a:p>
          <a:p>
            <a:r>
              <a:rPr lang="en-CA" sz="2200" b="0" dirty="0"/>
              <a:t>Assume a higher recovery and the same spread implies a HIGHER lambda.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CDS Pricing - The Spread Formula</a:t>
            </a:r>
            <a:endParaRPr b="1" dirty="0">
              <a:latin typeface="Arial" panose="020B0604020202020204" pitchFamily="34" charset="0"/>
              <a:cs typeface="Arial" panose="020B0604020202020204" pitchFamily="34" charset="0"/>
            </a:endParaRPr>
          </a:p>
        </p:txBody>
      </p:sp>
      <p:pic>
        <p:nvPicPr>
          <p:cNvPr id="4018" name="Picture 4017" descr="f_cds_spread.png"/>
          <p:cNvPicPr>
            <a:picLocks noChangeAspect="1"/>
          </p:cNvPicPr>
          <p:nvPr/>
        </p:nvPicPr>
        <p:blipFill>
          <a:blip r:embed="rId3"/>
          <a:stretch>
            <a:fillRect/>
          </a:stretch>
        </p:blipFill>
        <p:spPr>
          <a:xfrm>
            <a:off x="4897557" y="1066800"/>
            <a:ext cx="2393836" cy="475488"/>
          </a:xfrm>
          <a:prstGeom prst="rect">
            <a:avLst/>
          </a:prstGeom>
        </p:spPr>
      </p:pic>
      <p:pic>
        <p:nvPicPr>
          <p:cNvPr id="4019" name="Picture 4018" descr="f_cds_legs.png"/>
          <p:cNvPicPr>
            <a:picLocks noChangeAspect="1"/>
          </p:cNvPicPr>
          <p:nvPr/>
        </p:nvPicPr>
        <p:blipFill>
          <a:blip r:embed="rId4"/>
          <a:stretch>
            <a:fillRect/>
          </a:stretch>
        </p:blipFill>
        <p:spPr>
          <a:xfrm>
            <a:off x="1544441" y="1676400"/>
            <a:ext cx="9275959" cy="707136"/>
          </a:xfrm>
          <a:prstGeom prst="rect">
            <a:avLst/>
          </a:prstGeom>
        </p:spPr>
      </p:pic>
      <p:sp>
        <p:nvSpPr>
          <p:cNvPr id="2" name="Content Placeholder"/>
          <p:cNvSpPr>
            <a:spLocks noGrp="1"/>
          </p:cNvSpPr>
          <p:nvPr>
            <p:ph sz="half" idx="2"/>
          </p:nvPr>
        </p:nvSpPr>
        <p:spPr>
          <a:xfrm>
            <a:off x="420624" y="2889504"/>
            <a:ext cx="11347704" cy="3163824"/>
          </a:xfrm>
        </p:spPr>
        <p:txBody>
          <a:bodyPr wrap="square">
            <a:noAutofit/>
          </a:bodyPr>
          <a:lstStyle/>
          <a:p>
            <a:pPr marL="0" indent="0">
              <a:buNone/>
            </a:pPr>
            <a:r>
              <a:rPr lang="en-CA" sz="2200" b="1" dirty="0"/>
              <a:t>Interpretation</a:t>
            </a:r>
          </a:p>
          <a:p>
            <a:r>
              <a:rPr lang="en-CA" sz="2200" dirty="0"/>
              <a:t>R: recovery rate (typically 40 percent for senior unsecured); LGD = 1-R is the LGD</a:t>
            </a:r>
          </a:p>
          <a:p>
            <a:r>
              <a:rPr lang="en-CA" sz="2200" dirty="0"/>
              <a:t>S(t-k): survival probability at payment date t-k; df(t-k) = e to the minus r t-k is the risk-free discount factor</a:t>
            </a:r>
          </a:p>
          <a:p>
            <a:r>
              <a:rPr lang="en-CA" sz="2200" dirty="0"/>
              <a:t>Premium leg A: present value of periodic spread payments while there is no default</a:t>
            </a:r>
          </a:p>
          <a:p>
            <a:r>
              <a:rPr lang="en-CA" sz="2200" dirty="0"/>
              <a:t>Protection leg PL: present value of the contingent LGD payment on default</a:t>
            </a:r>
          </a:p>
          <a:p>
            <a:r>
              <a:rPr lang="en-CA" sz="2200" dirty="0"/>
              <a:t>Fair spread s = PL / A, quoted in basis points per annum</a:t>
            </a:r>
          </a:p>
          <a:p>
            <a:r>
              <a:rPr lang="en-CA" sz="2200" dirty="0"/>
              <a:t>Source: Hull (2023) Ch. 9.6; Jorion (2010) Ch. 23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CDS Pricing - Worked Example</a:t>
            </a:r>
            <a:endParaRPr b="1" dirty="0">
              <a:latin typeface="Arial" panose="020B0604020202020204" pitchFamily="34" charset="0"/>
              <a:cs typeface="Arial" panose="020B0604020202020204" pitchFamily="34" charset="0"/>
            </a:endParaRPr>
          </a:p>
        </p:txBody>
      </p:sp>
      <p:sp>
        <p:nvSpPr>
          <p:cNvPr id="4020" name="Content Placeholder"/>
          <p:cNvSpPr>
            <a:spLocks noGrp="1"/>
          </p:cNvSpPr>
          <p:nvPr>
            <p:ph sz="half" idx="2"/>
          </p:nvPr>
        </p:nvSpPr>
        <p:spPr/>
        <p:txBody>
          <a:bodyPr wrap="square">
            <a:normAutofit/>
          </a:bodyPr>
          <a:lstStyle/>
          <a:p>
            <a:pPr marL="0" indent="0">
              <a:buNone/>
            </a:pPr>
            <a:r>
              <a:rPr lang="en-CA" sz="2200" b="1" dirty="0"/>
              <a:t>A numerical walkthrough under a constant hazard rate</a:t>
            </a:r>
          </a:p>
          <a:p>
            <a:r>
              <a:rPr lang="en-CA" sz="2200" dirty="0"/>
              <a:t>Given: BBB obligor, lambda = 1.5 percent per year, recovery R = 40 percent, risk-free rate r = 4.5 percent, T = 5yr</a:t>
            </a:r>
          </a:p>
          <a:p>
            <a:r>
              <a:rPr lang="en-CA" sz="2200" dirty="0"/>
              <a:t>Survival at 5yr: S(5) = exp to the minus 0.075, about 92.8 percent</a:t>
            </a:r>
          </a:p>
          <a:p>
            <a:r>
              <a:rPr lang="en-CA" sz="2200" dirty="0"/>
              <a:t>Approximation: s= (1- 0.40)* 0.015 = 0.009 = 90 bps per annum</a:t>
            </a:r>
          </a:p>
          <a:p>
            <a:r>
              <a:rPr lang="en-CA" sz="2200" dirty="0"/>
              <a:t>Full model (quarterly payments): s about 89.5 bps, very close to the approximation</a:t>
            </a:r>
          </a:p>
          <a:p>
            <a:r>
              <a:rPr lang="en-CA" sz="2200" dirty="0"/>
              <a:t>Interpretation: pay about 89.5 bps per year to insure against BBB default on a notional of 10M USD</a:t>
            </a:r>
          </a:p>
          <a:p>
            <a:r>
              <a:rPr lang="en-CA" sz="2200" dirty="0"/>
              <a:t>If lambda doubles (credit deteriorates): s=179 bps, so spreads widen proportionally</a:t>
            </a:r>
          </a:p>
          <a:p>
            <a:r>
              <a:rPr lang="en-CA" sz="2200" dirty="0"/>
              <a:t>Lab Section 2: replicate the CDS term-structure chart for AAA through B ratings (Jorion 2010 Ch. 23)</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Term Structure of Credit Risk</a:t>
            </a:r>
            <a:endParaRPr b="1" dirty="0">
              <a:latin typeface="Arial" panose="020B0604020202020204" pitchFamily="34" charset="0"/>
              <a:cs typeface="Arial" panose="020B0604020202020204" pitchFamily="34" charset="0"/>
            </a:endParaRPr>
          </a:p>
        </p:txBody>
      </p:sp>
      <p:sp>
        <p:nvSpPr>
          <p:cNvPr id="4022" name="Content Placeholder"/>
          <p:cNvSpPr>
            <a:spLocks noGrp="1"/>
          </p:cNvSpPr>
          <p:nvPr>
            <p:ph sz="half" idx="2"/>
          </p:nvPr>
        </p:nvSpPr>
        <p:spPr>
          <a:xfrm>
            <a:off x="423100" y="1219200"/>
            <a:ext cx="11345797" cy="4501661"/>
          </a:xfrm>
        </p:spPr>
        <p:txBody>
          <a:bodyPr wrap="square">
            <a:noAutofit/>
          </a:bodyPr>
          <a:lstStyle/>
          <a:p>
            <a:pPr marL="0" indent="0">
              <a:buNone/>
            </a:pPr>
            <a:r>
              <a:rPr lang="en-CA" sz="2200" b="1" dirty="0"/>
              <a:t>Upward-Sloping (Investment Grade)</a:t>
            </a:r>
          </a:p>
          <a:p>
            <a:r>
              <a:rPr lang="en-CA" sz="2200" dirty="0"/>
              <a:t>Short-dated CDS spreads are low because the company is stable now</a:t>
            </a:r>
          </a:p>
          <a:p>
            <a:r>
              <a:rPr lang="en-CA" sz="2200" dirty="0"/>
              <a:t>Longer maturities carry more uncertainty and thus a higher spread; cumulative PD rises steeply over 5 to 10yr</a:t>
            </a:r>
          </a:p>
          <a:p>
            <a:r>
              <a:rPr lang="en-CA" sz="2200" dirty="0"/>
              <a:t>Typical: AAA 5yr about 5 bps; BBB 5yr about 120 bps</a:t>
            </a:r>
          </a:p>
          <a:p>
            <a:r>
              <a:rPr lang="en-CA" sz="2200" dirty="0"/>
              <a:t>Calibration: bootstrap lambda(t) from 1yr, 3yr, 5yr, and 10yr CDS</a:t>
            </a:r>
          </a:p>
          <a:p>
            <a:pPr marL="0" indent="0">
              <a:buNone/>
            </a:pPr>
            <a:r>
              <a:rPr lang="en-CA" sz="2200" b="1" dirty="0"/>
              <a:t>Inverted / Humped (Distressed Credit)</a:t>
            </a:r>
          </a:p>
          <a:p>
            <a:r>
              <a:rPr lang="en-CA" sz="2200" dirty="0"/>
              <a:t>Short spreads are very high because near-term distress is priced in</a:t>
            </a:r>
          </a:p>
          <a:p>
            <a:r>
              <a:rPr lang="en-CA" sz="2200" dirty="0"/>
              <a:t>Long spreads are lower: if the firm survives, risk declines; seen in CCC / D ratings near restructuring</a:t>
            </a:r>
          </a:p>
          <a:p>
            <a:r>
              <a:rPr lang="en-CA" sz="2200" dirty="0"/>
              <a:t>Stochastic lambda(t) is needed to capture humped term structures</a:t>
            </a:r>
          </a:p>
          <a:p>
            <a:r>
              <a:rPr lang="en-CA" sz="2200" dirty="0"/>
              <a:t>Hull (2023) Ch. 19.4-19.5: term-structure extensions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Term Structure of Credit Risk: Example</a:t>
            </a:r>
            <a:endParaRPr b="1" dirty="0">
              <a:latin typeface="Arial" panose="020B0604020202020204" pitchFamily="34" charset="0"/>
              <a:cs typeface="Arial" panose="020B0604020202020204" pitchFamily="34" charset="0"/>
            </a:endParaRPr>
          </a:p>
        </p:txBody>
      </p:sp>
      <p:sp>
        <p:nvSpPr>
          <p:cNvPr id="4022" name="Content Placeholder"/>
          <p:cNvSpPr>
            <a:spLocks noGrp="1"/>
          </p:cNvSpPr>
          <p:nvPr>
            <p:ph sz="half" idx="2"/>
          </p:nvPr>
        </p:nvSpPr>
        <p:spPr>
          <a:xfrm>
            <a:off x="502920" y="1325880"/>
            <a:ext cx="11155680" cy="5166360"/>
          </a:xfrm>
        </p:spPr>
        <p:txBody>
          <a:bodyPr wrap="square">
            <a:noAutofit/>
          </a:bodyPr>
          <a:lstStyle/>
          <a:p>
            <a:r>
              <a:rPr lang="en-CA" sz="2200" b="1" dirty="0"/>
              <a:t>Given</a:t>
            </a:r>
          </a:p>
          <a:p>
            <a:r>
              <a:rPr lang="en-CA" sz="2200" b="0" dirty="0"/>
              <a:t>1-year CDS = 100 bps, 2-year CDS = 150 bps, LGD = 60%.</a:t>
            </a:r>
          </a:p>
          <a:p>
            <a:r>
              <a:rPr lang="en-CA" sz="2200" b="1" dirty="0"/>
              <a:t>Formula</a:t>
            </a:r>
          </a:p>
          <a:p>
            <a:r>
              <a:rPr lang="en-CA" sz="2200" b="0" dirty="0"/>
              <a:t>avg hazard lambda_avg(T) ~= s(T)/LGD;  forward lambda(1,2) = 2 lambda_avg(2) - lambda_avg(1)</a:t>
            </a:r>
          </a:p>
          <a:p>
            <a:r>
              <a:rPr lang="en-CA" sz="2200" b="1" dirty="0"/>
              <a:t>Solution</a:t>
            </a:r>
          </a:p>
          <a:p>
            <a:r>
              <a:rPr lang="en-CA" sz="2200" b="0" dirty="0"/>
              <a:t>lambda_avg(1) = 0.0100/0.60 = 1.67%;  lambda_avg(2) = 0.0150/0.60 = 2.50%</a:t>
            </a:r>
          </a:p>
          <a:p>
            <a:r>
              <a:rPr lang="en-CA" sz="2200" b="0" dirty="0"/>
              <a:t>Forward hazard in year 2 = 2 x 2.50% - 1.67% = 3.33%</a:t>
            </a:r>
          </a:p>
          <a:p>
            <a:r>
              <a:rPr lang="en-CA" sz="2200" b="1" dirty="0"/>
              <a:t>Answer</a:t>
            </a:r>
          </a:p>
          <a:p>
            <a:r>
              <a:rPr lang="en-CA" sz="2200" b="0" dirty="0"/>
              <a:t>An upward-sloping spread curve prices a higher default intensity in year 2 (3.33%) than year 1 (1.67%).</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Rating Transition Matrix and Matrix Powers</a:t>
            </a:r>
            <a:endParaRPr b="1" dirty="0">
              <a:latin typeface="Arial" panose="020B0604020202020204" pitchFamily="34" charset="0"/>
              <a:cs typeface="Arial" panose="020B0604020202020204" pitchFamily="34" charset="0"/>
            </a:endParaRPr>
          </a:p>
        </p:txBody>
      </p:sp>
      <p:sp>
        <p:nvSpPr>
          <p:cNvPr id="4022" name="Content Placeholder"/>
          <p:cNvSpPr>
            <a:spLocks noGrp="1"/>
          </p:cNvSpPr>
          <p:nvPr>
            <p:ph sz="half" idx="2"/>
          </p:nvPr>
        </p:nvSpPr>
        <p:spPr>
          <a:xfrm>
            <a:off x="502920" y="990600"/>
            <a:ext cx="11155680" cy="1554480"/>
          </a:xfrm>
        </p:spPr>
        <p:txBody>
          <a:bodyPr wrap="square">
            <a:noAutofit/>
          </a:bodyPr>
          <a:lstStyle/>
          <a:p>
            <a:r>
              <a:rPr lang="en-CA" sz="2200" b="0" dirty="0"/>
              <a:t>Rows = grade today, columns = grade in one year; each row sums to 100%.</a:t>
            </a:r>
          </a:p>
          <a:p>
            <a:r>
              <a:rPr lang="en-CA" sz="2200" b="0" dirty="0"/>
              <a:t>Diagonal-heavy: ratings are sticky. D is absorbing (default is permanent).</a:t>
            </a:r>
          </a:p>
          <a:p>
            <a:r>
              <a:rPr lang="en-CA" sz="2200" b="0" dirty="0"/>
              <a:t>Multi-year default compounds through the matrix: Q(t) = (M^t)[grade, D].</a:t>
            </a:r>
          </a:p>
          <a:p>
            <a:r>
              <a:rPr lang="en-CA" sz="2200" b="0" dirty="0"/>
              <a:t>Toy A/B/C figures - hand-built for teaching, not real agency data.</a:t>
            </a:r>
          </a:p>
        </p:txBody>
      </p:sp>
      <p:pic>
        <p:nvPicPr>
          <p:cNvPr id="4023" name="Picture 4022" descr="s6_toy_matrix.png"/>
          <p:cNvPicPr>
            <a:picLocks noChangeAspect="1"/>
          </p:cNvPicPr>
          <p:nvPr/>
        </p:nvPicPr>
        <p:blipFill>
          <a:blip r:embed="rId3"/>
          <a:stretch>
            <a:fillRect/>
          </a:stretch>
        </p:blipFill>
        <p:spPr>
          <a:xfrm>
            <a:off x="1112367" y="2743200"/>
            <a:ext cx="9966960" cy="394262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Spread Relative Value: Mean Reversion and the Crossover Trade</a:t>
            </a:r>
            <a:endParaRPr b="1" dirty="0">
              <a:latin typeface="Arial" panose="020B0604020202020204" pitchFamily="34" charset="0"/>
              <a:cs typeface="Arial" panose="020B0604020202020204" pitchFamily="34" charset="0"/>
            </a:endParaRPr>
          </a:p>
        </p:txBody>
      </p:sp>
      <p:sp>
        <p:nvSpPr>
          <p:cNvPr id="4042" name="Content Placeholder"/>
          <p:cNvSpPr>
            <a:spLocks noGrp="1"/>
          </p:cNvSpPr>
          <p:nvPr>
            <p:ph sz="half" idx="2"/>
          </p:nvPr>
        </p:nvSpPr>
        <p:spPr/>
        <p:txBody>
          <a:bodyPr wrap="square">
            <a:normAutofit/>
          </a:bodyPr>
          <a:lstStyle/>
          <a:p>
            <a:r>
              <a:rPr lang="en-CA" sz="2200" b="1" dirty="0"/>
              <a:t>Which credits are cheap or rich right now?</a:t>
            </a:r>
          </a:p>
          <a:p>
            <a:r>
              <a:rPr lang="en-CA" sz="2200" b="0" dirty="0"/>
              <a:t>Mean-reversion signal: z = (current spread - cycle-long mean) / stdev; z &gt; +1 = cheap (buy, expect tightening), z &lt; -1 = rich (sell)</a:t>
            </a:r>
          </a:p>
          <a:p>
            <a:r>
              <a:rPr lang="en-CA" sz="2200" b="0" dirty="0"/>
              <a:t>Quality (crossover) spread = low-minus-high-quality bucket, e.g. BB - BBB; wide and expected to compress = the credit-upside trade</a:t>
            </a:r>
          </a:p>
          <a:p>
            <a:r>
              <a:rPr lang="en-CA" sz="2200" b="0" dirty="0"/>
              <a:t>Feeds the secondary-trade rationales: yield/spread pickup, credit-upside/crossover, credit-defense, sector rotation</a:t>
            </a:r>
          </a:p>
          <a:p>
            <a:r>
              <a:rPr lang="en-CA" sz="2200" b="1" dirty="0"/>
              <a:t>On the real FRED OAS history (lab)</a:t>
            </a:r>
          </a:p>
          <a:p>
            <a:r>
              <a:rPr lang="en-CA" sz="2200" b="0" dirty="0"/>
              <a:t>Mid-2026: investment-grade buckets screen RICH (z ~ -1, spreads historically tight); only CCC screens CHEAP (z ~ +1)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Block 3: Portfolio Credit Risk</a:t>
            </a:r>
            <a:endParaRPr b="1" dirty="0">
              <a:latin typeface="Arial" panose="020B0604020202020204" pitchFamily="34" charset="0"/>
              <a:cs typeface="Arial" panose="020B0604020202020204" pitchFamily="34" charset="0"/>
            </a:endParaRPr>
          </a:p>
        </p:txBody>
      </p:sp>
      <p:sp>
        <p:nvSpPr>
          <p:cNvPr id="4024" name="Content Placeholder"/>
          <p:cNvSpPr>
            <a:spLocks noGrp="1"/>
          </p:cNvSpPr>
          <p:nvPr>
            <p:ph sz="half" idx="2"/>
          </p:nvPr>
        </p:nvSpPr>
        <p:spPr/>
        <p:txBody>
          <a:bodyPr wrap="square">
            <a:normAutofit/>
          </a:bodyPr>
          <a:lstStyle/>
          <a:p>
            <a:pPr marL="0" indent="0">
              <a:buNone/>
            </a:pPr>
            <a:r>
              <a:rPr lang="en-CA" sz="2400" b="1" dirty="0"/>
              <a:t>Gaussian copula, Vasicek one-factor model, and Credit VaR</a:t>
            </a:r>
          </a:p>
          <a:p>
            <a:r>
              <a:rPr lang="en-CA" sz="2400" dirty="0"/>
              <a:t>The central question: do defaults cluster together, or arrive independently?</a:t>
            </a:r>
          </a:p>
          <a:p>
            <a:r>
              <a:rPr lang="en-CA" sz="2400" dirty="0"/>
              <a:t>Correlated defaults are what drive the tail of the portfolio loss distribution and thus Credit VaR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The Portfolio Challenge: Why Correlation Matters</a:t>
            </a:r>
            <a:endParaRPr b="1" dirty="0">
              <a:latin typeface="Arial" panose="020B0604020202020204" pitchFamily="34" charset="0"/>
              <a:cs typeface="Arial" panose="020B0604020202020204" pitchFamily="34" charset="0"/>
            </a:endParaRPr>
          </a:p>
        </p:txBody>
      </p:sp>
      <p:sp>
        <p:nvSpPr>
          <p:cNvPr id="4026" name="Content Placeholder"/>
          <p:cNvSpPr>
            <a:spLocks noGrp="1"/>
          </p:cNvSpPr>
          <p:nvPr>
            <p:ph sz="half" idx="2"/>
          </p:nvPr>
        </p:nvSpPr>
        <p:spPr/>
        <p:txBody>
          <a:bodyPr wrap="square">
            <a:normAutofit/>
          </a:bodyPr>
          <a:lstStyle/>
          <a:p>
            <a:pPr marL="0" indent="0">
              <a:buNone/>
            </a:pPr>
            <a:r>
              <a:rPr lang="en-CA" sz="2200" b="1" dirty="0"/>
              <a:t>Diversification reduces Expected Loss but does not eliminate Unexpected Loss</a:t>
            </a:r>
          </a:p>
          <a:p>
            <a:r>
              <a:rPr lang="en-CA" sz="2200" dirty="0"/>
              <a:t>Individual credit risk (PD, LGD, EAD per obligor) is tractable; the JOINT distribution of defaults is much harder</a:t>
            </a:r>
          </a:p>
          <a:p>
            <a:r>
              <a:rPr lang="en-CA" sz="2200" dirty="0"/>
              <a:t>Key question: do defaults tend to cluster (correlated) or arrive independently?</a:t>
            </a:r>
          </a:p>
          <a:p>
            <a:r>
              <a:rPr lang="en-CA" sz="2200" dirty="0"/>
              <a:t>Independent defaults (rho = 0): the law of large numbers gives EL only, with no tail risk</a:t>
            </a:r>
          </a:p>
          <a:p>
            <a:r>
              <a:rPr lang="en-CA" sz="2200" dirty="0"/>
              <a:t>Correlated defaults (rho greater than 0): tail risk increases and portfolios can be wiped out</a:t>
            </a:r>
          </a:p>
          <a:p>
            <a:r>
              <a:rPr lang="en-CA" sz="2200" dirty="0"/>
              <a:t>2007 to 2009 GFC: correlation among mortgage defaults far exceeded model assumptions</a:t>
            </a:r>
          </a:p>
          <a:p>
            <a:r>
              <a:rPr lang="en-CA" sz="2200" dirty="0"/>
              <a:t>EL = PD*LGD per obligor; Unexpected Loss (UL) is driven by default correlation</a:t>
            </a:r>
          </a:p>
          <a:p>
            <a:r>
              <a:rPr lang="en-CA" sz="2200" dirty="0"/>
              <a:t>Capital requirement = Credit VaR = percentile loss minus Expected Loss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Joint Default and Correlation: Example</a:t>
            </a:r>
            <a:endParaRPr b="1" dirty="0">
              <a:latin typeface="Arial" panose="020B0604020202020204" pitchFamily="34" charset="0"/>
              <a:cs typeface="Arial" panose="020B0604020202020204" pitchFamily="34" charset="0"/>
            </a:endParaRPr>
          </a:p>
        </p:txBody>
      </p:sp>
      <p:sp>
        <p:nvSpPr>
          <p:cNvPr id="4022" name="Content Placeholder"/>
          <p:cNvSpPr>
            <a:spLocks noGrp="1"/>
          </p:cNvSpPr>
          <p:nvPr>
            <p:ph sz="half" idx="2"/>
          </p:nvPr>
        </p:nvSpPr>
        <p:spPr>
          <a:xfrm>
            <a:off x="502920" y="1325880"/>
            <a:ext cx="11155680" cy="5166360"/>
          </a:xfrm>
        </p:spPr>
        <p:txBody>
          <a:bodyPr wrap="square">
            <a:noAutofit/>
          </a:bodyPr>
          <a:lstStyle/>
          <a:p>
            <a:r>
              <a:rPr lang="en-CA" sz="2200" b="1" dirty="0"/>
              <a:t>Given</a:t>
            </a:r>
          </a:p>
          <a:p>
            <a:r>
              <a:rPr lang="en-CA" sz="2200" b="0" dirty="0"/>
              <a:t>Two firms, each PD = 5%; default correlation rho_D = 0.20.</a:t>
            </a:r>
          </a:p>
          <a:p>
            <a:r>
              <a:rPr lang="en-CA" sz="2200" b="1" dirty="0"/>
              <a:t>Formula</a:t>
            </a:r>
          </a:p>
          <a:p>
            <a:r>
              <a:rPr lang="en-CA" sz="2200" b="0" dirty="0"/>
              <a:t>P(both default) = PD1 x PD2 + rho_D x sqrt[ PD1(1-PD1) x PD2(1-PD2) ]</a:t>
            </a:r>
          </a:p>
          <a:p>
            <a:r>
              <a:rPr lang="en-CA" sz="2200" b="1" dirty="0"/>
              <a:t>Solution</a:t>
            </a:r>
          </a:p>
          <a:p>
            <a:r>
              <a:rPr lang="en-CA" sz="2200" b="0" dirty="0"/>
              <a:t>Independent: 0.05 x 0.05 = 0.25%</a:t>
            </a:r>
          </a:p>
          <a:p>
            <a:r>
              <a:rPr lang="en-CA" sz="2200" b="0" dirty="0"/>
              <a:t>Correlated: 0.0025 + 0.20 x (0.05 x 0.95) = 0.0025 + 0.0095 = 1.20%</a:t>
            </a:r>
          </a:p>
          <a:p>
            <a:r>
              <a:rPr lang="en-CA" sz="2200" b="1" dirty="0"/>
              <a:t>Answer</a:t>
            </a:r>
          </a:p>
          <a:p>
            <a:r>
              <a:rPr lang="en-CA" sz="2200" b="0" dirty="0"/>
              <a:t>A modest 0.20 default correlation makes the both-default probability about 5x the independent case.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Gaussian Copula Default Model</a:t>
            </a:r>
            <a:endParaRPr b="1" dirty="0">
              <a:latin typeface="Arial" panose="020B0604020202020204" pitchFamily="34" charset="0"/>
              <a:cs typeface="Arial" panose="020B0604020202020204" pitchFamily="34" charset="0"/>
            </a:endParaRPr>
          </a:p>
        </p:txBody>
      </p:sp>
      <p:pic>
        <p:nvPicPr>
          <p:cNvPr id="4028" name="Picture 4027" descr="f_copula.png"/>
          <p:cNvPicPr>
            <a:picLocks noChangeAspect="1"/>
          </p:cNvPicPr>
          <p:nvPr/>
        </p:nvPicPr>
        <p:blipFill>
          <a:blip r:embed="rId3"/>
          <a:stretch>
            <a:fillRect/>
          </a:stretch>
        </p:blipFill>
        <p:spPr>
          <a:xfrm>
            <a:off x="1862630" y="1233212"/>
            <a:ext cx="8463692" cy="393589"/>
          </a:xfrm>
          <a:prstGeom prst="rect">
            <a:avLst/>
          </a:prstGeom>
        </p:spPr>
      </p:pic>
      <p:sp>
        <p:nvSpPr>
          <p:cNvPr id="2" name="Content Placeholder"/>
          <p:cNvSpPr>
            <a:spLocks noGrp="1"/>
          </p:cNvSpPr>
          <p:nvPr>
            <p:ph sz="half" idx="2"/>
          </p:nvPr>
        </p:nvSpPr>
        <p:spPr>
          <a:xfrm>
            <a:off x="420624" y="2267712"/>
            <a:ext cx="11347704" cy="3785616"/>
          </a:xfrm>
        </p:spPr>
        <p:txBody>
          <a:bodyPr wrap="square">
            <a:normAutofit/>
          </a:bodyPr>
          <a:lstStyle/>
          <a:p>
            <a:pPr marL="0" indent="0">
              <a:buNone/>
            </a:pPr>
            <a:r>
              <a:rPr lang="en-CA" sz="2200" b="1" dirty="0"/>
              <a:t>Interpretation</a:t>
            </a:r>
          </a:p>
          <a:p>
            <a:r>
              <a:rPr lang="en-CA" sz="2200" dirty="0"/>
              <a:t>Map each PD-i to a threshold K-i = inverse-normal(PD-i) in the normal space</a:t>
            </a:r>
          </a:p>
          <a:p>
            <a:r>
              <a:rPr lang="en-CA" sz="2200" dirty="0"/>
              <a:t>Draw a correlated normal vector (U-1 to U-n) from N(0, Sigma); obligor i defaults if U-i is below K-i</a:t>
            </a:r>
          </a:p>
          <a:p>
            <a:r>
              <a:rPr lang="en-CA" sz="2200" dirty="0"/>
              <a:t>inverse-normal is the inverse standard normal CDF; U-i is the latent credit-quality variable for obligor i</a:t>
            </a:r>
          </a:p>
          <a:p>
            <a:r>
              <a:rPr lang="en-CA" sz="2200" dirty="0"/>
              <a:t>Sigma, the correlation matrix, captures the joint default dependency</a:t>
            </a:r>
          </a:p>
          <a:p>
            <a:r>
              <a:rPr lang="en-CA" sz="2200" dirty="0"/>
              <a:t>Li (2000) introduced this copula for credit portfolios; used to price CDO tranches pre-2008, then widely criticised</a:t>
            </a:r>
          </a:p>
          <a:p>
            <a:r>
              <a:rPr lang="en-CA" sz="2200" dirty="0"/>
              <a:t>Source: Hull (2023) RMFI 6e Ch. 9 sec. 9.6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Gaussian Copula: Joint Default Example</a:t>
            </a:r>
            <a:endParaRPr b="1" dirty="0">
              <a:latin typeface="Arial" panose="020B0604020202020204" pitchFamily="34" charset="0"/>
              <a:cs typeface="Arial" panose="020B0604020202020204" pitchFamily="34" charset="0"/>
            </a:endParaRPr>
          </a:p>
        </p:txBody>
      </p:sp>
      <p:sp>
        <p:nvSpPr>
          <p:cNvPr id="4022" name="Content Placeholder"/>
          <p:cNvSpPr>
            <a:spLocks noGrp="1"/>
          </p:cNvSpPr>
          <p:nvPr>
            <p:ph sz="half" idx="2"/>
          </p:nvPr>
        </p:nvSpPr>
        <p:spPr>
          <a:xfrm>
            <a:off x="502920" y="1325880"/>
            <a:ext cx="11155680" cy="5166360"/>
          </a:xfrm>
        </p:spPr>
        <p:txBody>
          <a:bodyPr wrap="square">
            <a:noAutofit/>
          </a:bodyPr>
          <a:lstStyle/>
          <a:p>
            <a:r>
              <a:rPr lang="en-CA" sz="2200" b="1" dirty="0"/>
              <a:t>Given</a:t>
            </a:r>
          </a:p>
          <a:p>
            <a:r>
              <a:rPr lang="en-CA" sz="2200" b="0" dirty="0"/>
              <a:t>Two names, each PD = 5%; asset correlation rho = 0.30.</a:t>
            </a:r>
          </a:p>
          <a:p>
            <a:r>
              <a:rPr lang="en-CA" sz="2200" b="1" dirty="0"/>
              <a:t>Formula</a:t>
            </a:r>
          </a:p>
          <a:p>
            <a:r>
              <a:rPr lang="en-CA" sz="2200" b="0" dirty="0"/>
              <a:t>default threshold c = Phi^-1(PD);  P(both) = Phi2(c, c; rho)</a:t>
            </a:r>
          </a:p>
          <a:p>
            <a:r>
              <a:rPr lang="en-CA" sz="2200" b="1" dirty="0"/>
              <a:t>Solution</a:t>
            </a:r>
          </a:p>
          <a:p>
            <a:r>
              <a:rPr lang="en-CA" sz="2200" b="0" dirty="0"/>
              <a:t>c = Phi^-1(0.05) = -1.645</a:t>
            </a:r>
          </a:p>
          <a:p>
            <a:r>
              <a:rPr lang="en-CA" sz="2200" b="0" dirty="0"/>
              <a:t>P(both) = Phi2(-1.645, -1.645; 0.30) = 0.71%</a:t>
            </a:r>
          </a:p>
          <a:p>
            <a:r>
              <a:rPr lang="en-CA" sz="2200" b="0" dirty="0"/>
              <a:t>Independent benchmark = 0.05 x 0.05 = 0.25%</a:t>
            </a:r>
          </a:p>
          <a:p>
            <a:r>
              <a:rPr lang="en-CA" sz="2200" b="1" dirty="0"/>
              <a:t>Answer</a:t>
            </a:r>
          </a:p>
          <a:p>
            <a:r>
              <a:rPr lang="en-CA" sz="2200" b="0" dirty="0"/>
              <a:t>The copula links defaults through a shared normal factor; rho = 0.30 lifts joint default to 0.71%, about 3x independent. The marginal PDs are unchanged.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One-Factor Gaussian Copula</a:t>
            </a:r>
            <a:endParaRPr b="1" dirty="0">
              <a:latin typeface="Arial" panose="020B0604020202020204" pitchFamily="34" charset="0"/>
              <a:cs typeface="Arial" panose="020B0604020202020204" pitchFamily="34" charset="0"/>
            </a:endParaRPr>
          </a:p>
        </p:txBody>
      </p:sp>
      <p:pic>
        <p:nvPicPr>
          <p:cNvPr id="4030" name="Picture 4029" descr="f_onefactor.png"/>
          <p:cNvPicPr>
            <a:picLocks noChangeAspect="1"/>
          </p:cNvPicPr>
          <p:nvPr/>
        </p:nvPicPr>
        <p:blipFill>
          <a:blip r:embed="rId3"/>
          <a:stretch>
            <a:fillRect/>
          </a:stretch>
        </p:blipFill>
        <p:spPr>
          <a:xfrm>
            <a:off x="2509910" y="1591056"/>
            <a:ext cx="7169131" cy="475488"/>
          </a:xfrm>
          <a:prstGeom prst="rect">
            <a:avLst/>
          </a:prstGeom>
        </p:spPr>
      </p:pic>
      <p:pic>
        <p:nvPicPr>
          <p:cNvPr id="4031" name="Picture 4030" descr="f_onefcond.png"/>
          <p:cNvPicPr>
            <a:picLocks noChangeAspect="1"/>
          </p:cNvPicPr>
          <p:nvPr/>
        </p:nvPicPr>
        <p:blipFill>
          <a:blip r:embed="rId4"/>
          <a:stretch>
            <a:fillRect/>
          </a:stretch>
        </p:blipFill>
        <p:spPr>
          <a:xfrm>
            <a:off x="4688024" y="2212848"/>
            <a:ext cx="2812903" cy="475488"/>
          </a:xfrm>
          <a:prstGeom prst="rect">
            <a:avLst/>
          </a:prstGeom>
        </p:spPr>
      </p:pic>
      <p:sp>
        <p:nvSpPr>
          <p:cNvPr id="2" name="Content Placeholder"/>
          <p:cNvSpPr>
            <a:spLocks noGrp="1"/>
          </p:cNvSpPr>
          <p:nvPr>
            <p:ph sz="half" idx="2"/>
          </p:nvPr>
        </p:nvSpPr>
        <p:spPr>
          <a:xfrm>
            <a:off x="420624" y="2889504"/>
            <a:ext cx="11347704" cy="3163824"/>
          </a:xfrm>
        </p:spPr>
        <p:txBody>
          <a:bodyPr wrap="square">
            <a:noAutofit/>
          </a:bodyPr>
          <a:lstStyle/>
          <a:p>
            <a:pPr marL="0" indent="0">
              <a:buNone/>
            </a:pPr>
            <a:r>
              <a:rPr lang="en-CA" sz="2200" b="1" dirty="0"/>
              <a:t>Interpretation</a:t>
            </a:r>
          </a:p>
          <a:p>
            <a:r>
              <a:rPr lang="en-CA" sz="2200" dirty="0"/>
              <a:t>rho: asset correlation, with all pairs sharing the same rho</a:t>
            </a:r>
          </a:p>
          <a:p>
            <a:r>
              <a:rPr lang="en-CA" sz="2200" dirty="0"/>
              <a:t>M: a single systematic risk factor (for example a GDP-growth shock); epsilon-i is firm-specific idiosyncratic risk</a:t>
            </a:r>
          </a:p>
          <a:p>
            <a:r>
              <a:rPr lang="en-CA" sz="2200" dirty="0"/>
              <a:t>Conditional on M, all defaults are independent</a:t>
            </a:r>
          </a:p>
          <a:p>
            <a:r>
              <a:rPr lang="en-CA" sz="2200" dirty="0"/>
              <a:t>Large M (good economy) gives fewer defaults; small M gives many</a:t>
            </a:r>
          </a:p>
          <a:p>
            <a:r>
              <a:rPr lang="en-CA" sz="2200" dirty="0"/>
              <a:t>rho = 0 is fully diversifiable; rho = 1 means all obligors default together</a:t>
            </a:r>
          </a:p>
          <a:p>
            <a:r>
              <a:rPr lang="en-CA" sz="2200" dirty="0"/>
              <a:t>Basel II IRB uses rho about 0.12 to 0.24 (asset-class dependent)</a:t>
            </a:r>
          </a:p>
          <a:p>
            <a:r>
              <a:rPr lang="en-CA" sz="2200" dirty="0"/>
              <a:t>Source: Vasicek (2002); Hull (2023) Ch. 9 sec. 9.6</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One-Factor Copula: Conditional Default Example</a:t>
            </a:r>
            <a:endParaRPr b="1" dirty="0">
              <a:latin typeface="Arial" panose="020B0604020202020204" pitchFamily="34" charset="0"/>
              <a:cs typeface="Arial" panose="020B0604020202020204" pitchFamily="34" charset="0"/>
            </a:endParaRPr>
          </a:p>
        </p:txBody>
      </p:sp>
      <p:sp>
        <p:nvSpPr>
          <p:cNvPr id="4022" name="Content Placeholder"/>
          <p:cNvSpPr>
            <a:spLocks noGrp="1"/>
          </p:cNvSpPr>
          <p:nvPr>
            <p:ph sz="half" idx="2"/>
          </p:nvPr>
        </p:nvSpPr>
        <p:spPr>
          <a:xfrm>
            <a:off x="502920" y="1325880"/>
            <a:ext cx="11155680" cy="5166360"/>
          </a:xfrm>
        </p:spPr>
        <p:txBody>
          <a:bodyPr wrap="square">
            <a:noAutofit/>
          </a:bodyPr>
          <a:lstStyle/>
          <a:p>
            <a:r>
              <a:rPr lang="en-CA" sz="2200" b="1" dirty="0"/>
              <a:t>Given</a:t>
            </a:r>
          </a:p>
          <a:p>
            <a:r>
              <a:rPr lang="en-CA" sz="2200" b="0" dirty="0"/>
              <a:t>PD = 5%, asset correlation rho = 0.30, common systematic factor M.</a:t>
            </a:r>
          </a:p>
          <a:p>
            <a:r>
              <a:rPr lang="en-CA" sz="2200" b="1" dirty="0"/>
              <a:t>Formula</a:t>
            </a:r>
          </a:p>
          <a:p>
            <a:r>
              <a:rPr lang="en-CA" sz="2200" b="0" dirty="0"/>
              <a:t>p(M) = Phi( [ Phi^-1(PD) - sqrt(rho) x M ] / sqrt(1 - rho) )</a:t>
            </a:r>
          </a:p>
          <a:p>
            <a:r>
              <a:rPr lang="en-CA" sz="2200" b="1" dirty="0"/>
              <a:t>Solution</a:t>
            </a:r>
          </a:p>
          <a:p>
            <a:r>
              <a:rPr lang="en-CA" sz="2200" b="0" dirty="0"/>
              <a:t>Bad year M = -2:  p = Phi([-1.645 + 1.095]/0.837) = Phi(-0.657) = 25.6%</a:t>
            </a:r>
          </a:p>
          <a:p>
            <a:r>
              <a:rPr lang="en-CA" sz="2200" b="0" dirty="0"/>
              <a:t>Average  M = 0:   p = 5.0%  (back to the marginal PD)</a:t>
            </a:r>
          </a:p>
          <a:p>
            <a:r>
              <a:rPr lang="en-CA" sz="2200" b="0" dirty="0"/>
              <a:t>Good year M = +2:  p = Phi(-3.28) = 0.05%</a:t>
            </a:r>
          </a:p>
          <a:p>
            <a:r>
              <a:rPr lang="en-CA" sz="2200" b="1" dirty="0"/>
              <a:t>Answer</a:t>
            </a:r>
          </a:p>
          <a:p>
            <a:r>
              <a:rPr lang="en-CA" sz="2200" b="0" dirty="0"/>
              <a:t>One common factor makes every name's default rate swing with the economy: 0.05% in booms, 25.6% in a 2-sigma bust.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Vasicek Portfolio Loss Distribution</a:t>
            </a:r>
            <a:endParaRPr b="1" dirty="0">
              <a:latin typeface="Arial" panose="020B0604020202020204" pitchFamily="34" charset="0"/>
              <a:cs typeface="Arial" panose="020B0604020202020204" pitchFamily="34" charset="0"/>
            </a:endParaRPr>
          </a:p>
        </p:txBody>
      </p:sp>
      <p:pic>
        <p:nvPicPr>
          <p:cNvPr id="4032" name="Picture 4031" descr="f_vas_loss.png"/>
          <p:cNvPicPr>
            <a:picLocks noChangeAspect="1"/>
          </p:cNvPicPr>
          <p:nvPr/>
        </p:nvPicPr>
        <p:blipFill>
          <a:blip r:embed="rId3"/>
          <a:stretch>
            <a:fillRect/>
          </a:stretch>
        </p:blipFill>
        <p:spPr>
          <a:xfrm>
            <a:off x="3962400" y="990600"/>
            <a:ext cx="4242303" cy="707546"/>
          </a:xfrm>
          <a:prstGeom prst="rect">
            <a:avLst/>
          </a:prstGeom>
        </p:spPr>
      </p:pic>
      <p:pic>
        <p:nvPicPr>
          <p:cNvPr id="4033" name="Picture 4032" descr="f_vas_cdf.png"/>
          <p:cNvPicPr>
            <a:picLocks noChangeAspect="1"/>
          </p:cNvPicPr>
          <p:nvPr/>
        </p:nvPicPr>
        <p:blipFill>
          <a:blip r:embed="rId4"/>
          <a:stretch>
            <a:fillRect/>
          </a:stretch>
        </p:blipFill>
        <p:spPr>
          <a:xfrm>
            <a:off x="3048000" y="1676400"/>
            <a:ext cx="5254673" cy="730978"/>
          </a:xfrm>
          <a:prstGeom prst="rect">
            <a:avLst/>
          </a:prstGeom>
        </p:spPr>
      </p:pic>
      <p:pic>
        <p:nvPicPr>
          <p:cNvPr id="4034" name="Picture 4033" descr="f_el_ul.png"/>
          <p:cNvPicPr>
            <a:picLocks noChangeAspect="1"/>
          </p:cNvPicPr>
          <p:nvPr/>
        </p:nvPicPr>
        <p:blipFill>
          <a:blip r:embed="rId5"/>
          <a:stretch>
            <a:fillRect/>
          </a:stretch>
        </p:blipFill>
        <p:spPr>
          <a:xfrm>
            <a:off x="2861434" y="2362200"/>
            <a:ext cx="6466083" cy="475488"/>
          </a:xfrm>
          <a:prstGeom prst="rect">
            <a:avLst/>
          </a:prstGeom>
        </p:spPr>
      </p:pic>
      <p:sp>
        <p:nvSpPr>
          <p:cNvPr id="2" name="Content Placeholder"/>
          <p:cNvSpPr>
            <a:spLocks noGrp="1"/>
          </p:cNvSpPr>
          <p:nvPr>
            <p:ph sz="half" idx="2"/>
          </p:nvPr>
        </p:nvSpPr>
        <p:spPr>
          <a:xfrm>
            <a:off x="420624" y="3124200"/>
            <a:ext cx="11347704" cy="2542032"/>
          </a:xfrm>
        </p:spPr>
        <p:txBody>
          <a:bodyPr wrap="square">
            <a:noAutofit/>
          </a:bodyPr>
          <a:lstStyle/>
          <a:p>
            <a:pPr marL="0" indent="0">
              <a:buNone/>
            </a:pPr>
            <a:r>
              <a:rPr lang="en-CA" sz="2200" b="1" dirty="0"/>
              <a:t>Interpretation</a:t>
            </a:r>
          </a:p>
          <a:p>
            <a:r>
              <a:rPr lang="en-CA" sz="2200" dirty="0"/>
              <a:t>L: the portfolio loss rate as a percent of notional; N: the number of obligors (500 in the lab)</a:t>
            </a:r>
          </a:p>
          <a:p>
            <a:r>
              <a:rPr lang="en-CA" sz="2200" dirty="0"/>
              <a:t>LGD: Loss Given Default (45 percent in the lab); PD: unconditional default probability (2 percent in the lab)</a:t>
            </a:r>
          </a:p>
          <a:p>
            <a:r>
              <a:rPr lang="en-CA" sz="2200" dirty="0"/>
              <a:t>Expected Loss EL does NOT depend on correlation rho</a:t>
            </a:r>
          </a:p>
          <a:p>
            <a:r>
              <a:rPr lang="en-CA" sz="2200" dirty="0"/>
              <a:t>The 99th percentile of L gives the 99 percent Credit VaR</a:t>
            </a:r>
          </a:p>
          <a:p>
            <a:r>
              <a:rPr lang="en-CA" sz="2200" dirty="0"/>
              <a:t>Unexpected Loss (and VaR) increase strongly with rho</a:t>
            </a:r>
          </a:p>
          <a:p>
            <a:r>
              <a:rPr lang="en-CA" sz="2200" dirty="0"/>
              <a:t>Source: Vasicek (2002), 'The distribution of loan portfolio value'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Vasicek Loss Distribution: Example</a:t>
            </a:r>
            <a:endParaRPr b="1" dirty="0">
              <a:latin typeface="Arial" panose="020B0604020202020204" pitchFamily="34" charset="0"/>
              <a:cs typeface="Arial" panose="020B0604020202020204" pitchFamily="34" charset="0"/>
            </a:endParaRPr>
          </a:p>
        </p:txBody>
      </p:sp>
      <p:sp>
        <p:nvSpPr>
          <p:cNvPr id="4022" name="Content Placeholder"/>
          <p:cNvSpPr>
            <a:spLocks noGrp="1"/>
          </p:cNvSpPr>
          <p:nvPr>
            <p:ph sz="half" idx="2"/>
          </p:nvPr>
        </p:nvSpPr>
        <p:spPr>
          <a:xfrm>
            <a:off x="502920" y="1325880"/>
            <a:ext cx="11155680" cy="5166360"/>
          </a:xfrm>
        </p:spPr>
        <p:txBody>
          <a:bodyPr wrap="square">
            <a:noAutofit/>
          </a:bodyPr>
          <a:lstStyle/>
          <a:p>
            <a:r>
              <a:rPr lang="en-CA" sz="2200" b="1" dirty="0"/>
              <a:t>Given</a:t>
            </a:r>
          </a:p>
          <a:p>
            <a:r>
              <a:rPr lang="en-CA" sz="2200" b="0" dirty="0"/>
              <a:t>Large homogeneous pool, PD = 2%, asset correlation rho = 0.15; confidence 99.9%.</a:t>
            </a:r>
          </a:p>
          <a:p>
            <a:r>
              <a:rPr lang="en-CA" sz="2200" b="1" dirty="0"/>
              <a:t>Formula</a:t>
            </a:r>
          </a:p>
          <a:p>
            <a:r>
              <a:rPr lang="en-CA" sz="2200" b="0" dirty="0"/>
              <a:t>worst-case default rate DR(q) = Phi( [ Phi^-1(PD) + sqrt(rho) x Phi^-1(q) ] / sqrt(1 - rho) )</a:t>
            </a:r>
          </a:p>
          <a:p>
            <a:r>
              <a:rPr lang="en-CA" sz="2200" b="1" dirty="0"/>
              <a:t>Solution</a:t>
            </a:r>
          </a:p>
          <a:p>
            <a:r>
              <a:rPr lang="en-CA" sz="2200" b="0" dirty="0"/>
              <a:t>DR(0.999) = Phi( [-2.054 + 0.387 x 3.090] / sqrt(0.85) ) = Phi(-0.930) = 17.6%</a:t>
            </a:r>
          </a:p>
          <a:p>
            <a:r>
              <a:rPr lang="en-CA" sz="2200" b="0" dirty="0"/>
              <a:t>Expected default rate = 2.0%</a:t>
            </a:r>
          </a:p>
          <a:p>
            <a:r>
              <a:rPr lang="en-CA" sz="2200" b="1" dirty="0"/>
              <a:t>Answer</a:t>
            </a:r>
          </a:p>
          <a:p>
            <a:r>
              <a:rPr lang="en-CA" sz="2200" b="0" dirty="0"/>
              <a:t>At the 99.9% quantile the default rate is 17.6%, nearly 9x the 2% average - this gap is the Basel IRB capital charge.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Credit VaR</a:t>
            </a:r>
            <a:endParaRPr b="1" dirty="0">
              <a:latin typeface="Arial" panose="020B0604020202020204" pitchFamily="34" charset="0"/>
              <a:cs typeface="Arial" panose="020B0604020202020204" pitchFamily="34" charset="0"/>
            </a:endParaRPr>
          </a:p>
        </p:txBody>
      </p:sp>
      <p:pic>
        <p:nvPicPr>
          <p:cNvPr id="4034" name="Picture 4033" descr="f_creditvar.png"/>
          <p:cNvPicPr>
            <a:picLocks noChangeAspect="1"/>
          </p:cNvPicPr>
          <p:nvPr/>
        </p:nvPicPr>
        <p:blipFill>
          <a:blip r:embed="rId3"/>
          <a:stretch>
            <a:fillRect/>
          </a:stretch>
        </p:blipFill>
        <p:spPr>
          <a:xfrm>
            <a:off x="745236" y="1591056"/>
            <a:ext cx="10698480" cy="366177"/>
          </a:xfrm>
          <a:prstGeom prst="rect">
            <a:avLst/>
          </a:prstGeom>
        </p:spPr>
      </p:pic>
      <p:pic>
        <p:nvPicPr>
          <p:cNvPr id="4035" name="Picture 4034" descr="f_wcdr.png"/>
          <p:cNvPicPr>
            <a:picLocks noChangeAspect="1"/>
          </p:cNvPicPr>
          <p:nvPr/>
        </p:nvPicPr>
        <p:blipFill>
          <a:blip r:embed="rId4"/>
          <a:stretch>
            <a:fillRect/>
          </a:stretch>
        </p:blipFill>
        <p:spPr>
          <a:xfrm>
            <a:off x="3412051" y="2103537"/>
            <a:ext cx="5364849" cy="475488"/>
          </a:xfrm>
          <a:prstGeom prst="rect">
            <a:avLst/>
          </a:prstGeom>
        </p:spPr>
      </p:pic>
      <p:sp>
        <p:nvSpPr>
          <p:cNvPr id="2" name="Content Placeholder"/>
          <p:cNvSpPr>
            <a:spLocks noGrp="1"/>
          </p:cNvSpPr>
          <p:nvPr>
            <p:ph sz="half" idx="2"/>
          </p:nvPr>
        </p:nvSpPr>
        <p:spPr>
          <a:xfrm>
            <a:off x="420624" y="2780193"/>
            <a:ext cx="11347704" cy="3273134"/>
          </a:xfrm>
        </p:spPr>
        <p:txBody>
          <a:bodyPr wrap="square">
            <a:normAutofit/>
          </a:bodyPr>
          <a:lstStyle/>
          <a:p>
            <a:pPr marL="0" indent="0">
              <a:buNone/>
            </a:pPr>
            <a:r>
              <a:rPr lang="en-CA" sz="2200" b="1" dirty="0"/>
              <a:t>Interpretation</a:t>
            </a:r>
          </a:p>
          <a:p>
            <a:r>
              <a:rPr lang="en-CA" sz="2200" dirty="0"/>
              <a:t>Credit VaR: the unexpected loss at confidence level alpha</a:t>
            </a:r>
          </a:p>
          <a:p>
            <a:r>
              <a:rPr lang="en-CA" sz="2200" dirty="0"/>
              <a:t>alpha = 99 percent for a bank portfolio; 99.9 percent for Basel IRB capital</a:t>
            </a:r>
          </a:p>
          <a:p>
            <a:r>
              <a:rPr lang="en-CA" sz="2200" dirty="0"/>
              <a:t>WCDR: the Worst-Case Default Rate at 99.9 percent confidence</a:t>
            </a:r>
          </a:p>
          <a:p>
            <a:r>
              <a:rPr lang="en-CA" sz="2200" dirty="0"/>
              <a:t>The capital requirement protects against the WCDR, not the average</a:t>
            </a:r>
          </a:p>
          <a:p>
            <a:r>
              <a:rPr lang="en-CA" sz="2200" dirty="0"/>
              <a:t>Lab simulation: np.percentile(losses, 99) minus losses.mean()</a:t>
            </a:r>
          </a:p>
          <a:p>
            <a:r>
              <a:rPr lang="en-CA" sz="2200" dirty="0"/>
              <a:t>Basel II uses this formula with asset-class correlations (Hull 2023 Ch. 19; Vasicek 2002)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Credit VaR: Example</a:t>
            </a:r>
            <a:endParaRPr b="1" dirty="0">
              <a:latin typeface="Arial" panose="020B0604020202020204" pitchFamily="34" charset="0"/>
              <a:cs typeface="Arial" panose="020B0604020202020204" pitchFamily="34" charset="0"/>
            </a:endParaRPr>
          </a:p>
        </p:txBody>
      </p:sp>
      <p:sp>
        <p:nvSpPr>
          <p:cNvPr id="4022" name="Content Placeholder"/>
          <p:cNvSpPr>
            <a:spLocks noGrp="1"/>
          </p:cNvSpPr>
          <p:nvPr>
            <p:ph sz="half" idx="2"/>
          </p:nvPr>
        </p:nvSpPr>
        <p:spPr>
          <a:xfrm>
            <a:off x="502920" y="1325880"/>
            <a:ext cx="11155680" cy="5166360"/>
          </a:xfrm>
        </p:spPr>
        <p:txBody>
          <a:bodyPr wrap="square">
            <a:noAutofit/>
          </a:bodyPr>
          <a:lstStyle/>
          <a:p>
            <a:r>
              <a:rPr lang="en-CA" sz="2200" b="1" dirty="0"/>
              <a:t>Given</a:t>
            </a:r>
          </a:p>
          <a:p>
            <a:r>
              <a:rPr lang="en-CA" sz="2200" b="0" dirty="0"/>
              <a:t>$100M portfolio, PD = 2%, LGD = 45%; Vasicek 99.9% default rate = 17.6%.</a:t>
            </a:r>
          </a:p>
          <a:p>
            <a:r>
              <a:rPr lang="en-CA" sz="2200" b="1" dirty="0"/>
              <a:t>Formula</a:t>
            </a:r>
          </a:p>
          <a:p>
            <a:r>
              <a:rPr lang="en-CA" sz="2200" b="0" dirty="0"/>
              <a:t>EL = Notional x PD x LGD;   Credit VaR = Loss(99.9%) - EL</a:t>
            </a:r>
          </a:p>
          <a:p>
            <a:r>
              <a:rPr lang="en-CA" sz="2200" b="1" dirty="0"/>
              <a:t>Solution</a:t>
            </a:r>
          </a:p>
          <a:p>
            <a:r>
              <a:rPr lang="en-CA" sz="2200" b="0" dirty="0"/>
              <a:t>EL = 100M x 0.02 x 0.45 = $0.90M</a:t>
            </a:r>
          </a:p>
          <a:p>
            <a:r>
              <a:rPr lang="en-CA" sz="2200" b="0" dirty="0"/>
              <a:t>Loss(99.9%) = 100M x 0.176 x 0.45 = $7.93M</a:t>
            </a:r>
          </a:p>
          <a:p>
            <a:r>
              <a:rPr lang="en-CA" sz="2200" b="0" dirty="0"/>
              <a:t>Credit VaR = 7.93M - 0.90M = $7.03M</a:t>
            </a:r>
          </a:p>
          <a:p>
            <a:r>
              <a:rPr lang="en-CA" sz="2200" b="1" dirty="0"/>
              <a:t>Answer</a:t>
            </a:r>
          </a:p>
          <a:p>
            <a:r>
              <a:rPr lang="en-CA" sz="2200" b="0" dirty="0"/>
              <a:t>Expected loss ($0.90M) is covered by provisions; the $7.03M unexpected loss is what economic capital must absorb.</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How Asset Correlation Drives Tail Risk</a:t>
            </a:r>
            <a:endParaRPr b="1" dirty="0">
              <a:latin typeface="Arial" panose="020B0604020202020204" pitchFamily="34" charset="0"/>
              <a:cs typeface="Arial" panose="020B0604020202020204" pitchFamily="34" charset="0"/>
            </a:endParaRPr>
          </a:p>
        </p:txBody>
      </p:sp>
      <p:sp>
        <p:nvSpPr>
          <p:cNvPr id="4036" name="Content Placeholder"/>
          <p:cNvSpPr>
            <a:spLocks noGrp="1"/>
          </p:cNvSpPr>
          <p:nvPr>
            <p:ph sz="half" idx="2"/>
          </p:nvPr>
        </p:nvSpPr>
        <p:spPr/>
        <p:txBody>
          <a:bodyPr wrap="square">
            <a:normAutofit/>
          </a:bodyPr>
          <a:lstStyle/>
          <a:p>
            <a:pPr marL="0" indent="0">
              <a:buNone/>
            </a:pPr>
            <a:r>
              <a:rPr lang="en-CA" sz="2200" b="1" dirty="0"/>
              <a:t>Lab simulation: N = 500 obligors, PD = 2 percent, LGD = 45 percent, 100,000 scenarios</a:t>
            </a:r>
          </a:p>
          <a:p>
            <a:r>
              <a:rPr lang="en-CA" sz="2200" dirty="0"/>
              <a:t>rho = 0.02 (Low): defaults nearly independent; tight loss distribution; 99 percent VaR about EL plus small UL; tail dominated by idiosyncratic risk</a:t>
            </a:r>
          </a:p>
          <a:p>
            <a:r>
              <a:rPr lang="en-CA" sz="2200" dirty="0"/>
              <a:t>rho = 0.15 (Moderate): Basel II typical (rho about 12 to 24 percent); 99 percent VaR about 4.9 percent; 99.9 percent VaR about 8.1 percent; systematic factor clearly visible</a:t>
            </a:r>
          </a:p>
          <a:p>
            <a:r>
              <a:rPr lang="en-CA" sz="2200" dirty="0"/>
              <a:t>rho = 0.30 (High): severe clustering; much fatter tail; 99 percent VaR roughly doubles vs rho = 0.15; a bimodal (normal / crash) shape is possible</a:t>
            </a:r>
          </a:p>
          <a:p>
            <a:r>
              <a:rPr lang="en-CA" sz="2200" dirty="0"/>
              <a:t>rho = 0.40 plus (Crisis): GFC-level mortgage correlation; tranche models failed catastrophically; diversification largely illusory; Li (2000) correlation underestimated (Coval et al. 2009)</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Transferring Credit Risk: Total-Return and Basket Swaps</a:t>
            </a:r>
            <a:endParaRPr b="1" dirty="0">
              <a:latin typeface="Arial" panose="020B0604020202020204" pitchFamily="34" charset="0"/>
              <a:cs typeface="Arial" panose="020B0604020202020204" pitchFamily="34" charset="0"/>
            </a:endParaRPr>
          </a:p>
        </p:txBody>
      </p:sp>
      <p:sp>
        <p:nvSpPr>
          <p:cNvPr id="4042" name="Content Placeholder"/>
          <p:cNvSpPr>
            <a:spLocks noGrp="1"/>
          </p:cNvSpPr>
          <p:nvPr>
            <p:ph sz="half" idx="2"/>
          </p:nvPr>
        </p:nvSpPr>
        <p:spPr/>
        <p:txBody>
          <a:bodyPr wrap="square">
            <a:normAutofit/>
          </a:bodyPr>
          <a:lstStyle/>
          <a:p>
            <a:r>
              <a:rPr lang="en-CA" sz="2200" b="1" dirty="0"/>
              <a:t>Total-return swap (TRS)</a:t>
            </a:r>
          </a:p>
          <a:p>
            <a:r>
              <a:rPr lang="en-CA" sz="2200" b="0" dirty="0"/>
              <a:t>The receiver gets the reference bond's coupon plus its price change and pays LIBOR + spread - a funded-free way to go long credit</a:t>
            </a:r>
          </a:p>
          <a:p>
            <a:r>
              <a:rPr lang="en-CA" sz="2200" b="0" dirty="0"/>
              <a:t>Twin-risk trap: a TRS bundles credit-spread AND interest-rate risk, so a correct spread call can still lose money if the benchmark curve rises</a:t>
            </a:r>
          </a:p>
          <a:p>
            <a:r>
              <a:rPr lang="en-CA" sz="2200" b="1" dirty="0"/>
              <a:t>Basket / Nth-to-default swaps</a:t>
            </a:r>
          </a:p>
          <a:p>
            <a:r>
              <a:rPr lang="en-CA" sz="2200" b="0" dirty="0"/>
              <a:t>Protection that pays only on the N-th default in a small basket; priced almost entirely by default correlation - the same copula from Block 3</a:t>
            </a:r>
          </a:p>
          <a:p>
            <a:r>
              <a:rPr lang="en-CA" sz="2200" b="0" dirty="0"/>
              <a:t>As correlation rises the first-to-default spread FALLS (defaults bunch) while senior/last-to-default RICHENS - the equity vs senior CDO-tranche trade as a contract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Basket Default Swap: Example</a:t>
            </a:r>
            <a:endParaRPr b="1" dirty="0">
              <a:latin typeface="Arial" panose="020B0604020202020204" pitchFamily="34" charset="0"/>
              <a:cs typeface="Arial" panose="020B0604020202020204" pitchFamily="34" charset="0"/>
            </a:endParaRPr>
          </a:p>
        </p:txBody>
      </p:sp>
      <p:sp>
        <p:nvSpPr>
          <p:cNvPr id="4022" name="Content Placeholder"/>
          <p:cNvSpPr>
            <a:spLocks noGrp="1"/>
          </p:cNvSpPr>
          <p:nvPr>
            <p:ph sz="half" idx="2"/>
          </p:nvPr>
        </p:nvSpPr>
        <p:spPr>
          <a:xfrm>
            <a:off x="502920" y="1325880"/>
            <a:ext cx="11155680" cy="5166360"/>
          </a:xfrm>
        </p:spPr>
        <p:txBody>
          <a:bodyPr wrap="square">
            <a:noAutofit/>
          </a:bodyPr>
          <a:lstStyle/>
          <a:p>
            <a:r>
              <a:rPr lang="en-CA" sz="2200" b="1" dirty="0"/>
              <a:t>Given</a:t>
            </a:r>
          </a:p>
          <a:p>
            <a:r>
              <a:rPr lang="en-CA" sz="2200" b="0" dirty="0"/>
              <a:t>First-to-default basket of 5 names, each PD = 2%. Compare independence vs high correlation.</a:t>
            </a:r>
          </a:p>
          <a:p>
            <a:r>
              <a:rPr lang="en-CA" sz="2200" b="1" dirty="0"/>
              <a:t>Formula</a:t>
            </a:r>
          </a:p>
          <a:p>
            <a:r>
              <a:rPr lang="en-CA" sz="2200" b="0" dirty="0"/>
              <a:t>P(at least one defaults) = 1 - product of (1 - PD_i)</a:t>
            </a:r>
          </a:p>
          <a:p>
            <a:r>
              <a:rPr lang="en-CA" sz="2200" b="1" dirty="0"/>
              <a:t>Solution</a:t>
            </a:r>
          </a:p>
          <a:p>
            <a:r>
              <a:rPr lang="en-CA" sz="2200" b="0" dirty="0"/>
              <a:t>Independent: 1 - 0.98^5 = 9.61%  -&gt;  FTD protection is expensive (many ways to trigger)</a:t>
            </a:r>
          </a:p>
          <a:p>
            <a:r>
              <a:rPr lang="en-CA" sz="2200" b="0" dirty="0"/>
              <a:t>Perfectly correlated: names default together  -&gt;  P ~= single-name 2%</a:t>
            </a:r>
          </a:p>
          <a:p>
            <a:r>
              <a:rPr lang="en-CA" sz="2200" b="1" dirty="0"/>
              <a:t>Answer</a:t>
            </a:r>
          </a:p>
          <a:p>
            <a:r>
              <a:rPr lang="en-CA" sz="2200" b="0" dirty="0"/>
              <a:t>A first-to-default basket is long correlation-cheapness: low rho makes it costly (~9.6%), high rho makes it cheap (-&gt; 2%).</a:t>
            </a:r>
          </a:p>
          <a:p>
            <a:r>
              <a:rPr lang="en-CA" sz="2200" b="0" dirty="0"/>
              <a:t>A total-return swap instead passes the bond's full coupon plus price change to the receiver.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The GFC and the Gaussian Copula</a:t>
            </a:r>
            <a:endParaRPr b="1" dirty="0">
              <a:latin typeface="Arial" panose="020B0604020202020204" pitchFamily="34" charset="0"/>
              <a:cs typeface="Arial" panose="020B0604020202020204" pitchFamily="34" charset="0"/>
            </a:endParaRPr>
          </a:p>
        </p:txBody>
      </p:sp>
      <p:sp>
        <p:nvSpPr>
          <p:cNvPr id="4038" name="Content Placeholder"/>
          <p:cNvSpPr>
            <a:spLocks noGrp="1"/>
          </p:cNvSpPr>
          <p:nvPr>
            <p:ph sz="half" idx="2"/>
          </p:nvPr>
        </p:nvSpPr>
        <p:spPr/>
        <p:txBody>
          <a:bodyPr wrap="square">
            <a:noAutofit/>
          </a:bodyPr>
          <a:lstStyle/>
          <a:p>
            <a:pPr marL="0" indent="0">
              <a:buNone/>
            </a:pPr>
            <a:r>
              <a:rPr lang="en-CA" sz="2200" b="1" dirty="0"/>
              <a:t>The copula is not inherently flawed; it was applied without stress-testing the correlation assumption</a:t>
            </a:r>
          </a:p>
          <a:p>
            <a:r>
              <a:rPr lang="en-CA" sz="2200" dirty="0"/>
              <a:t>CDOs (Collateralised Debt Obligations) were priced using the Gaussian copula from about 2000 to 2007</a:t>
            </a:r>
          </a:p>
          <a:p>
            <a:r>
              <a:rPr lang="en-CA" sz="2200" dirty="0"/>
              <a:t>Senior tranches were rated AAA because the copula showed near-zero default probability</a:t>
            </a:r>
          </a:p>
          <a:p>
            <a:r>
              <a:rPr lang="en-CA" sz="2200" dirty="0"/>
              <a:t>Key assumption: mortgage default correlations rho about 0.10 to 0.15, calibrated from benign 1990s data</a:t>
            </a:r>
          </a:p>
          <a:p>
            <a:r>
              <a:rPr lang="en-CA" sz="2200" dirty="0"/>
              <a:t>2006 to 2007: US house prices fell nationally and correlations surged toward 0.70 plus</a:t>
            </a:r>
          </a:p>
          <a:p>
            <a:r>
              <a:rPr lang="en-CA" sz="2200" dirty="0"/>
              <a:t>AAA tranches suffered catastrophic losses that the model did not allow</a:t>
            </a:r>
          </a:p>
          <a:p>
            <a:r>
              <a:rPr lang="en-CA" sz="2200" dirty="0"/>
              <a:t>'Correlation smile': copula correlation depended on tranche attachment, so the model was mis-specified</a:t>
            </a:r>
          </a:p>
          <a:p>
            <a:r>
              <a:rPr lang="en-CA" sz="2200" dirty="0"/>
              <a:t>Salmon (2009), 'The formula that killed Wall Street' (Wired), blamed the Li (2000) copula; the fairer view (Coval et al. 2009) is overreliance on a model believed to be universal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Credit Enhancement in Securitizations</a:t>
            </a:r>
            <a:endParaRPr b="1" dirty="0">
              <a:latin typeface="Arial" panose="020B0604020202020204" pitchFamily="34" charset="0"/>
              <a:cs typeface="Arial" panose="020B0604020202020204" pitchFamily="34" charset="0"/>
            </a:endParaRPr>
          </a:p>
        </p:txBody>
      </p:sp>
      <p:sp>
        <p:nvSpPr>
          <p:cNvPr id="4042" name="Content Placeholder"/>
          <p:cNvSpPr>
            <a:spLocks noGrp="1"/>
          </p:cNvSpPr>
          <p:nvPr>
            <p:ph sz="half" idx="2"/>
          </p:nvPr>
        </p:nvSpPr>
        <p:spPr>
          <a:xfrm>
            <a:off x="423100" y="1295401"/>
            <a:ext cx="11345797" cy="4741984"/>
          </a:xfrm>
        </p:spPr>
        <p:txBody>
          <a:bodyPr wrap="square">
            <a:noAutofit/>
          </a:bodyPr>
          <a:lstStyle/>
          <a:p>
            <a:r>
              <a:rPr lang="en-CA" sz="2200" b="1" dirty="0"/>
              <a:t>Why enhancement exists</a:t>
            </a:r>
          </a:p>
          <a:p>
            <a:r>
              <a:rPr lang="en-CA" sz="2200" b="0" dirty="0"/>
              <a:t>Securitizations (ABS, MBS, CLOs) pool loans and issue tranches; enhancement lets senior tranches earn high ratings from lower-quality collateral</a:t>
            </a:r>
          </a:p>
          <a:p>
            <a:r>
              <a:rPr lang="en-CA" sz="2200" b="1" dirty="0"/>
              <a:t>Internal credit enhancement</a:t>
            </a:r>
          </a:p>
          <a:p>
            <a:r>
              <a:rPr lang="en-CA" sz="2200" b="0" dirty="0"/>
              <a:t>Subordination / tranching: junior tranches absorb losses first (the waterfall)</a:t>
            </a:r>
          </a:p>
          <a:p>
            <a:r>
              <a:rPr lang="en-CA" sz="2200" b="0" dirty="0"/>
              <a:t>Overcollateralization: collateral value exceeds the notional of the notes issued</a:t>
            </a:r>
          </a:p>
          <a:p>
            <a:r>
              <a:rPr lang="en-CA" sz="2200" b="0" dirty="0"/>
              <a:t>Excess spread: collateral yield above the notes' cost, trapped in a reserve; plus cash reserve accounts</a:t>
            </a:r>
          </a:p>
          <a:p>
            <a:r>
              <a:rPr lang="en-CA" sz="2200" b="1" dirty="0"/>
              <a:t>External credit enhancement</a:t>
            </a:r>
          </a:p>
          <a:p>
            <a:r>
              <a:rPr lang="en-CA" sz="2200" b="0" dirty="0"/>
              <a:t>Third-party guarantees, surety bonds, letters of credit - which introduce counterparty risk</a:t>
            </a:r>
          </a:p>
          <a:p>
            <a:r>
              <a:rPr lang="en-CA" sz="2200" b="1" dirty="0"/>
              <a:t>The 2008 lesson</a:t>
            </a:r>
          </a:p>
          <a:p>
            <a:r>
              <a:rPr lang="en-CA" sz="2200" b="0" dirty="0"/>
              <a:t>Enhancement only protects if loss CORRELATION is estimated correctly; senior tranches failed when correlation spiked</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Securitization Tranches: Example</a:t>
            </a:r>
            <a:endParaRPr b="1" dirty="0">
              <a:latin typeface="Arial" panose="020B0604020202020204" pitchFamily="34" charset="0"/>
              <a:cs typeface="Arial" panose="020B0604020202020204" pitchFamily="34" charset="0"/>
            </a:endParaRPr>
          </a:p>
        </p:txBody>
      </p:sp>
      <p:sp>
        <p:nvSpPr>
          <p:cNvPr id="4022" name="Content Placeholder"/>
          <p:cNvSpPr>
            <a:spLocks noGrp="1"/>
          </p:cNvSpPr>
          <p:nvPr>
            <p:ph sz="half" idx="2"/>
          </p:nvPr>
        </p:nvSpPr>
        <p:spPr>
          <a:xfrm>
            <a:off x="502920" y="1325880"/>
            <a:ext cx="11155680" cy="5166360"/>
          </a:xfrm>
        </p:spPr>
        <p:txBody>
          <a:bodyPr wrap="square">
            <a:noAutofit/>
          </a:bodyPr>
          <a:lstStyle/>
          <a:p>
            <a:r>
              <a:rPr lang="en-CA" sz="2200" b="1" dirty="0"/>
              <a:t>Given</a:t>
            </a:r>
          </a:p>
          <a:p>
            <a:r>
              <a:rPr lang="en-CA" sz="2200" b="0" dirty="0"/>
              <a:t>$100M pool; tranches equity 0-3%, mezzanine 3-7%, senior 7-100%.</a:t>
            </a:r>
          </a:p>
          <a:p>
            <a:r>
              <a:rPr lang="en-CA" sz="2200" b="0" dirty="0"/>
              <a:t>Realized pool loss = 5% ($5M).</a:t>
            </a:r>
          </a:p>
          <a:p>
            <a:r>
              <a:rPr lang="en-CA" sz="2200" b="1" dirty="0"/>
              <a:t>Formula</a:t>
            </a:r>
          </a:p>
          <a:p>
            <a:r>
              <a:rPr lang="en-CA" sz="2200" b="0" dirty="0"/>
              <a:t>each tranche absorbs losses between its attachment and detachment points</a:t>
            </a:r>
          </a:p>
          <a:p>
            <a:r>
              <a:rPr lang="en-CA" sz="2200" b="1" dirty="0"/>
              <a:t>Solution</a:t>
            </a:r>
          </a:p>
          <a:p>
            <a:r>
              <a:rPr lang="en-CA" sz="2200" b="0" dirty="0"/>
              <a:t>Equity (0-3%, $3M): fully wiped out  -&gt;  $3M loss</a:t>
            </a:r>
          </a:p>
          <a:p>
            <a:r>
              <a:rPr lang="en-CA" sz="2200" b="0" dirty="0"/>
              <a:t>Mezzanine (3-7%, $4M): absorbs the next $2M  -&gt;  50% loss</a:t>
            </a:r>
          </a:p>
          <a:p>
            <a:r>
              <a:rPr lang="en-CA" sz="2200" b="0" dirty="0"/>
              <a:t>Senior (7-100%): untouched  -&gt;  $0 loss</a:t>
            </a:r>
          </a:p>
          <a:p>
            <a:r>
              <a:rPr lang="en-CA" sz="2200" b="1" dirty="0"/>
              <a:t>Answer</a:t>
            </a:r>
          </a:p>
          <a:p>
            <a:r>
              <a:rPr lang="en-CA" sz="2200" b="0" dirty="0"/>
              <a:t>Subordination protects the senior tranche: a 5% pool loss destroys equity and halves mezzanine while senior stays money-good.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Alternative Portfolio Credit Models</a:t>
            </a:r>
            <a:endParaRPr b="1" dirty="0">
              <a:latin typeface="Arial" panose="020B0604020202020204" pitchFamily="34" charset="0"/>
              <a:cs typeface="Arial" panose="020B0604020202020204" pitchFamily="34" charset="0"/>
            </a:endParaRPr>
          </a:p>
        </p:txBody>
      </p:sp>
      <p:sp>
        <p:nvSpPr>
          <p:cNvPr id="4042" name="Content Placeholder"/>
          <p:cNvSpPr>
            <a:spLocks noGrp="1"/>
          </p:cNvSpPr>
          <p:nvPr>
            <p:ph sz="half" idx="2"/>
          </p:nvPr>
        </p:nvSpPr>
        <p:spPr>
          <a:xfrm>
            <a:off x="423100" y="1143001"/>
            <a:ext cx="11345797" cy="4894384"/>
          </a:xfrm>
        </p:spPr>
        <p:txBody>
          <a:bodyPr wrap="square">
            <a:noAutofit/>
          </a:bodyPr>
          <a:lstStyle/>
          <a:p>
            <a:pPr marL="0" indent="0">
              <a:buNone/>
              <a:defRPr sz="2000"/>
            </a:pPr>
            <a:r>
              <a:rPr lang="en-CA" sz="2200" b="1" dirty="0"/>
              <a:t>CreditMetrics (J.P. Morgan)</a:t>
            </a:r>
          </a:p>
          <a:p>
            <a:pPr>
              <a:defRPr sz="2000"/>
            </a:pPr>
            <a:r>
              <a:rPr lang="en-CA" sz="2200" dirty="0"/>
              <a:t>Mark-to-market, not just default; uses the full rating-transition matrix</a:t>
            </a:r>
          </a:p>
          <a:p>
            <a:pPr>
              <a:defRPr sz="2000"/>
            </a:pPr>
            <a:r>
              <a:rPr lang="en-CA" sz="2200" dirty="0"/>
              <a:t>Each obligor migrates to a new rating; bonds revalued at forward credit spreads</a:t>
            </a:r>
          </a:p>
          <a:p>
            <a:pPr>
              <a:defRPr sz="2000"/>
            </a:pPr>
            <a:r>
              <a:rPr lang="en-CA" sz="2200" dirty="0"/>
              <a:t>A Gaussian copula links asset-value moves; loss = downgrade plus default value changes</a:t>
            </a:r>
          </a:p>
          <a:p>
            <a:pPr marL="0" indent="0">
              <a:buNone/>
              <a:defRPr sz="2000"/>
            </a:pPr>
            <a:r>
              <a:rPr lang="en-CA" sz="2200" b="1" dirty="0"/>
              <a:t>CreditRisk+ (CSFB)</a:t>
            </a:r>
          </a:p>
          <a:p>
            <a:pPr>
              <a:defRPr sz="2000"/>
            </a:pPr>
            <a:r>
              <a:rPr lang="en-CA" sz="2200" dirty="0"/>
              <a:t>Actuarial / default-mode model; default counts are Poisson with random lambda</a:t>
            </a:r>
          </a:p>
          <a:p>
            <a:pPr>
              <a:defRPr sz="2000"/>
            </a:pPr>
            <a:r>
              <a:rPr lang="en-CA" sz="2200" dirty="0"/>
              <a:t>No equity or asset process (uses default rates); closed-form loss distribution, no simulation</a:t>
            </a:r>
          </a:p>
          <a:p>
            <a:pPr>
              <a:defRPr sz="2000"/>
            </a:pPr>
            <a:r>
              <a:rPr lang="en-CA" sz="2200" dirty="0"/>
              <a:t>Fast, but ignores migration and market value; sector factors drive default correlation</a:t>
            </a:r>
          </a:p>
          <a:p>
            <a:pPr marL="0" indent="0">
              <a:buNone/>
              <a:defRPr sz="2000"/>
            </a:pPr>
            <a:r>
              <a:rPr lang="en-CA" sz="2200" b="1" dirty="0"/>
              <a:t>Vasicek / one-factor (today)</a:t>
            </a:r>
          </a:p>
          <a:p>
            <a:pPr>
              <a:defRPr sz="2000"/>
            </a:pPr>
            <a:r>
              <a:rPr lang="en-CA" sz="2200" dirty="0"/>
              <a:t>Default-mode with a single common factor; closed-form WCDR, the basis of Basel IRB</a:t>
            </a:r>
          </a:p>
          <a:p>
            <a:pPr>
              <a:defRPr sz="2000"/>
            </a:pPr>
            <a:r>
              <a:rPr lang="en-CA" sz="2200" dirty="0"/>
              <a:t>Asset correlation rho drives the tail; a special analytic case of the copula model</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Alternative Portfolio Credit Models  (cont.)</a:t>
            </a:r>
            <a:endParaRPr b="1" dirty="0">
              <a:latin typeface="Arial" panose="020B0604020202020204" pitchFamily="34" charset="0"/>
              <a:cs typeface="Arial" panose="020B0604020202020204" pitchFamily="34" charset="0"/>
            </a:endParaRPr>
          </a:p>
        </p:txBody>
      </p:sp>
      <p:sp>
        <p:nvSpPr>
          <p:cNvPr id="4042" name="Content Placeholder"/>
          <p:cNvSpPr>
            <a:spLocks noGrp="1"/>
          </p:cNvSpPr>
          <p:nvPr>
            <p:ph sz="half" idx="2"/>
          </p:nvPr>
        </p:nvSpPr>
        <p:spPr/>
        <p:txBody>
          <a:bodyPr wrap="square">
            <a:normAutofit/>
          </a:bodyPr>
          <a:lstStyle/>
          <a:p>
            <a:pPr>
              <a:defRPr sz="2000"/>
            </a:pPr>
            <a:r>
              <a:rPr lang="en-CA" sz="2200" dirty="0"/>
              <a:t>The lab implements all of these: copula, Vasicek, CreditMetrics (on the real S&amp;P matrix), and CreditRisk+</a:t>
            </a:r>
          </a:p>
          <a:p>
            <a:pPr>
              <a:defRPr sz="2000"/>
            </a:pPr>
            <a:endParaRPr lang="en-CA" sz="2200" dirty="0"/>
          </a:p>
          <a:p>
            <a:pPr marL="0" indent="0">
              <a:buNone/>
              <a:defRPr sz="2000"/>
            </a:pPr>
            <a:r>
              <a:rPr lang="en-CA" sz="2200" b="1" dirty="0"/>
              <a:t>How they compare</a:t>
            </a:r>
          </a:p>
          <a:p>
            <a:pPr>
              <a:defRPr sz="2000"/>
            </a:pPr>
            <a:r>
              <a:rPr lang="en-CA" sz="2200" dirty="0"/>
              <a:t>All three need PD, LGD / recovery, and correlation, and all target the tail of portfolio loss</a:t>
            </a:r>
          </a:p>
          <a:p>
            <a:pPr>
              <a:defRPr sz="2000"/>
            </a:pPr>
            <a:r>
              <a:rPr lang="en-CA" sz="2200" dirty="0"/>
              <a:t>CreditMetrics is the richest and most data-hungry; CreditRisk+ is the fastest and analytic; Vasicek is the regulatory benchmark</a:t>
            </a:r>
          </a:p>
          <a:p>
            <a:pPr>
              <a:defRPr sz="2000"/>
            </a:pPr>
            <a:r>
              <a:rPr lang="en-CA" sz="2200" dirty="0"/>
              <a:t>Choose by data availability, speed, and whether mark-to-market is needed</a:t>
            </a:r>
          </a:p>
          <a:p>
            <a:pPr>
              <a:defRPr sz="2000"/>
            </a:pPr>
            <a:r>
              <a:rPr lang="en-CA" sz="2200" dirty="0"/>
              <a:t>Run on one pool with matched correlation, all three 99.9% Credit VaRs coincide (~11% of exposure) - different mathematics, one answer</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CreditRisk+ Poisson: Example</a:t>
            </a:r>
            <a:endParaRPr b="1" dirty="0">
              <a:latin typeface="Arial" panose="020B0604020202020204" pitchFamily="34" charset="0"/>
              <a:cs typeface="Arial" panose="020B0604020202020204" pitchFamily="34" charset="0"/>
            </a:endParaRPr>
          </a:p>
        </p:txBody>
      </p:sp>
      <p:sp>
        <p:nvSpPr>
          <p:cNvPr id="4022" name="Content Placeholder"/>
          <p:cNvSpPr>
            <a:spLocks noGrp="1"/>
          </p:cNvSpPr>
          <p:nvPr>
            <p:ph sz="half" idx="2"/>
          </p:nvPr>
        </p:nvSpPr>
        <p:spPr>
          <a:xfrm>
            <a:off x="502920" y="1325880"/>
            <a:ext cx="11155680" cy="5166360"/>
          </a:xfrm>
        </p:spPr>
        <p:txBody>
          <a:bodyPr wrap="square">
            <a:noAutofit/>
          </a:bodyPr>
          <a:lstStyle/>
          <a:p>
            <a:r>
              <a:rPr lang="en-CA" sz="2200" b="1" dirty="0"/>
              <a:t>Given</a:t>
            </a:r>
          </a:p>
          <a:p>
            <a:r>
              <a:rPr lang="en-CA" sz="2200" b="0" dirty="0"/>
              <a:t>100 loans, each PD = 3%, defaults treated as independent Poisson arrivals.</a:t>
            </a:r>
          </a:p>
          <a:p>
            <a:r>
              <a:rPr lang="en-CA" sz="2200" b="1" dirty="0"/>
              <a:t>Formula</a:t>
            </a:r>
          </a:p>
          <a:p>
            <a:r>
              <a:rPr lang="en-CA" sz="2200" b="0" dirty="0"/>
              <a:t>number of defaults ~ Poisson(mu),  mu = n x PD;  P(k) = e^(-mu) mu^k / k!</a:t>
            </a:r>
          </a:p>
          <a:p>
            <a:r>
              <a:rPr lang="en-CA" sz="2200" b="1" dirty="0"/>
              <a:t>Solution</a:t>
            </a:r>
          </a:p>
          <a:p>
            <a:r>
              <a:rPr lang="en-CA" sz="2200" b="0" dirty="0"/>
              <a:t>mu = 100 x 0.03 = 3 expected defaults</a:t>
            </a:r>
          </a:p>
          <a:p>
            <a:r>
              <a:rPr lang="en-CA" sz="2200" b="0" dirty="0"/>
              <a:t>P(0 defaults) = e^(-3) = 4.98%</a:t>
            </a:r>
          </a:p>
          <a:p>
            <a:r>
              <a:rPr lang="en-CA" sz="2200" b="0" dirty="0"/>
              <a:t>P(7 or more defaults) = 3.35%</a:t>
            </a:r>
          </a:p>
          <a:p>
            <a:r>
              <a:rPr lang="en-CA" sz="2200" b="1" dirty="0"/>
              <a:t>Answer</a:t>
            </a:r>
          </a:p>
          <a:p>
            <a:r>
              <a:rPr lang="en-CA" sz="2200" b="0" dirty="0"/>
              <a:t>CreditRisk+ needs only PDs and exposures, no asset values. Even with 3 expected defaults, 7 or more occur about 3% of the time - that tail is the capital driver.</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Counterparty Credit Risk: CVA</a:t>
            </a:r>
            <a:endParaRPr b="1" dirty="0">
              <a:latin typeface="Arial" panose="020B0604020202020204" pitchFamily="34" charset="0"/>
              <a:cs typeface="Arial" panose="020B0604020202020204" pitchFamily="34" charset="0"/>
            </a:endParaRPr>
          </a:p>
        </p:txBody>
      </p:sp>
      <p:sp>
        <p:nvSpPr>
          <p:cNvPr id="4042" name="Content Placeholder"/>
          <p:cNvSpPr>
            <a:spLocks noGrp="1"/>
          </p:cNvSpPr>
          <p:nvPr>
            <p:ph sz="half" idx="2"/>
          </p:nvPr>
        </p:nvSpPr>
        <p:spPr>
          <a:xfrm>
            <a:off x="423100" y="1066800"/>
            <a:ext cx="11345797" cy="4501661"/>
          </a:xfrm>
        </p:spPr>
        <p:txBody>
          <a:bodyPr wrap="square">
            <a:noAutofit/>
          </a:bodyPr>
          <a:lstStyle/>
          <a:p>
            <a:pPr marL="0" indent="0">
              <a:buNone/>
              <a:defRPr sz="2000"/>
            </a:pPr>
            <a:r>
              <a:rPr lang="en-CA" sz="2200" b="1" dirty="0"/>
              <a:t>What CVA is</a:t>
            </a:r>
          </a:p>
          <a:p>
            <a:pPr marL="0" indent="0">
              <a:buNone/>
              <a:defRPr sz="2000"/>
            </a:pPr>
            <a:r>
              <a:rPr lang="en-CA" sz="2200" b="0" dirty="0"/>
              <a:t>A derivative also carries counterparty default risk while the trade is in your favour</a:t>
            </a:r>
          </a:p>
          <a:p>
            <a:pPr marL="0" indent="0">
              <a:buNone/>
              <a:defRPr sz="2000"/>
            </a:pPr>
            <a:r>
              <a:rPr lang="en-CA" sz="2200" b="0" dirty="0"/>
              <a:t>CVA = discount to a derivative's risk-free value; a Basel III capital charge since 2008</a:t>
            </a:r>
          </a:p>
          <a:p>
            <a:pPr marL="0" indent="0">
              <a:buNone/>
              <a:defRPr sz="2000"/>
            </a:pPr>
            <a:r>
              <a:rPr lang="en-CA" sz="2200" b="1" dirty="0"/>
              <a:t>The formula</a:t>
            </a:r>
          </a:p>
          <a:p>
            <a:pPr marL="0" indent="0">
              <a:buNone/>
              <a:defRPr sz="2000"/>
            </a:pPr>
            <a:r>
              <a:rPr lang="en-CA" sz="2200" b="0" dirty="0"/>
              <a:t>CVA = LGD x sum_k EE(t_k) x [ S(t_k-1) - S(t_k) ] x DF(t_k)</a:t>
            </a:r>
          </a:p>
          <a:p>
            <a:pPr marL="0" indent="0">
              <a:buNone/>
              <a:defRPr sz="2000"/>
            </a:pPr>
            <a:r>
              <a:rPr lang="en-CA" sz="2200" b="0" dirty="0"/>
              <a:t>expected exposure x marginal PD x discount, summed across the horizon</a:t>
            </a:r>
          </a:p>
          <a:p>
            <a:pPr marL="0" indent="0">
              <a:buNone/>
              <a:defRPr sz="2000"/>
            </a:pPr>
            <a:r>
              <a:rPr lang="en-CA" sz="2200" b="1" dirty="0"/>
              <a:t>Two ingredients we already have</a:t>
            </a:r>
          </a:p>
          <a:p>
            <a:pPr marL="0" indent="0">
              <a:buNone/>
              <a:defRPr sz="2000"/>
            </a:pPr>
            <a:r>
              <a:rPr lang="en-CA" sz="2200" b="0" dirty="0"/>
              <a:t>Exposure: a 5-year payer swap under a Vasicek short rate gives EE(t) and PFE; the profile humps then amortises to zero</a:t>
            </a:r>
          </a:p>
          <a:p>
            <a:pPr marL="0" indent="0">
              <a:buNone/>
              <a:defRPr sz="2000"/>
            </a:pPr>
            <a:r>
              <a:rPr lang="en-CA" sz="2200" b="0" dirty="0"/>
              <a:t>Default: survival S(t) from the bootstrapped hazard curve; CVA swept across the real FRED credit curve by rating</a:t>
            </a:r>
          </a:p>
          <a:p>
            <a:pPr marL="0" indent="0">
              <a:buNone/>
              <a:defRPr sz="2000"/>
            </a:pPr>
            <a:r>
              <a:rPr lang="en-CA" sz="2200" b="1" dirty="0"/>
              <a:t>Risk-neutral vs real-world</a:t>
            </a:r>
          </a:p>
          <a:p>
            <a:pPr marL="0" indent="0">
              <a:buNone/>
              <a:defRPr sz="2000"/>
            </a:pPr>
            <a:r>
              <a:rPr lang="en-CA" sz="2200" b="0" dirty="0"/>
              <a:t>A risk-neutral (spread) curve gives the CVA charge; a real-world curve gives expected loss; the gap is the credit-risk premium</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CVA: Example</a:t>
            </a:r>
            <a:endParaRPr b="1" dirty="0">
              <a:latin typeface="Arial" panose="020B0604020202020204" pitchFamily="34" charset="0"/>
              <a:cs typeface="Arial" panose="020B0604020202020204" pitchFamily="34" charset="0"/>
            </a:endParaRPr>
          </a:p>
        </p:txBody>
      </p:sp>
      <p:sp>
        <p:nvSpPr>
          <p:cNvPr id="4022" name="Content Placeholder"/>
          <p:cNvSpPr>
            <a:spLocks noGrp="1"/>
          </p:cNvSpPr>
          <p:nvPr>
            <p:ph sz="half" idx="2"/>
          </p:nvPr>
        </p:nvSpPr>
        <p:spPr>
          <a:xfrm>
            <a:off x="502920" y="1325880"/>
            <a:ext cx="11155680" cy="5166360"/>
          </a:xfrm>
        </p:spPr>
        <p:txBody>
          <a:bodyPr wrap="square">
            <a:noAutofit/>
          </a:bodyPr>
          <a:lstStyle/>
          <a:p>
            <a:r>
              <a:rPr lang="en-CA" sz="2200" b="1" dirty="0"/>
              <a:t>Given</a:t>
            </a:r>
          </a:p>
          <a:p>
            <a:r>
              <a:rPr lang="en-CA" sz="2200" b="0" dirty="0"/>
              <a:t>Uncollateralised swap, flat expected exposure EE = $1M over 5 years.</a:t>
            </a:r>
          </a:p>
          <a:p>
            <a:r>
              <a:rPr lang="en-CA" sz="2200" b="0" dirty="0"/>
              <a:t>Counterparty hazard lambda = 2%/yr, LGD = 60%.</a:t>
            </a:r>
          </a:p>
          <a:p>
            <a:r>
              <a:rPr lang="en-CA" sz="2200" b="1" dirty="0"/>
              <a:t>Formula</a:t>
            </a:r>
          </a:p>
          <a:p>
            <a:r>
              <a:rPr lang="en-CA" sz="2200" b="0" dirty="0"/>
              <a:t>CVA ~= LGD x EE x (1 - e^(-lambda T))</a:t>
            </a:r>
          </a:p>
          <a:p>
            <a:r>
              <a:rPr lang="en-CA" sz="2200" b="1" dirty="0"/>
              <a:t>Solution</a:t>
            </a:r>
          </a:p>
          <a:p>
            <a:r>
              <a:rPr lang="en-CA" sz="2200" b="0" dirty="0"/>
              <a:t>Default probability over 5y = 1 - e^(-0.02 x 5) = 9.52%</a:t>
            </a:r>
          </a:p>
          <a:p>
            <a:r>
              <a:rPr lang="en-CA" sz="2200" b="0" dirty="0"/>
              <a:t>CVA ~= 0.60 x 1M x 0.0952 = $57,100</a:t>
            </a:r>
          </a:p>
          <a:p>
            <a:r>
              <a:rPr lang="en-CA" sz="2200" b="1" dirty="0"/>
              <a:t>Answer</a:t>
            </a:r>
          </a:p>
          <a:p>
            <a:r>
              <a:rPr lang="en-CA" sz="2200" b="0" dirty="0"/>
              <a:t>CVA is the market price of counterparty default risk - about $57k here, deducted from the derivative's risk-free value.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IFRS 9: Expected Credit Loss</a:t>
            </a:r>
            <a:endParaRPr b="1" dirty="0">
              <a:latin typeface="Arial" panose="020B0604020202020204" pitchFamily="34" charset="0"/>
              <a:cs typeface="Arial" panose="020B0604020202020204" pitchFamily="34" charset="0"/>
            </a:endParaRPr>
          </a:p>
        </p:txBody>
      </p:sp>
      <p:sp>
        <p:nvSpPr>
          <p:cNvPr id="4042" name="Content Placeholder"/>
          <p:cNvSpPr>
            <a:spLocks noGrp="1"/>
          </p:cNvSpPr>
          <p:nvPr>
            <p:ph sz="half" idx="2"/>
          </p:nvPr>
        </p:nvSpPr>
        <p:spPr>
          <a:xfrm>
            <a:off x="423100" y="1219200"/>
            <a:ext cx="11345797" cy="4501661"/>
          </a:xfrm>
        </p:spPr>
        <p:txBody>
          <a:bodyPr wrap="square">
            <a:noAutofit/>
          </a:bodyPr>
          <a:lstStyle/>
          <a:p>
            <a:pPr marL="0" indent="0">
              <a:buNone/>
              <a:defRPr sz="2000"/>
            </a:pPr>
            <a:r>
              <a:rPr lang="en-CA" sz="2200" b="1" dirty="0"/>
              <a:t>What IFRS 9 is</a:t>
            </a:r>
          </a:p>
          <a:p>
            <a:pPr marL="0" indent="0">
              <a:buNone/>
              <a:defRPr sz="2000"/>
            </a:pPr>
            <a:r>
              <a:rPr lang="en-CA" sz="2200" b="0" dirty="0"/>
              <a:t>The accounting rule for how much a bank must provision today for loans that may not be repaid</a:t>
            </a:r>
          </a:p>
          <a:p>
            <a:pPr marL="0" indent="0">
              <a:buNone/>
              <a:defRPr sz="2000"/>
            </a:pPr>
            <a:r>
              <a:rPr lang="en-CA" sz="2200" b="0" dirty="0"/>
              <a:t>Replaces 'incurred loss' (too little, too late in 2008) with a forward-looking Expected Credit Loss</a:t>
            </a:r>
            <a:endParaRPr lang="en-CA" sz="2200" dirty="0"/>
          </a:p>
          <a:p>
            <a:pPr marL="0" indent="0">
              <a:buNone/>
              <a:defRPr sz="2000"/>
            </a:pPr>
            <a:r>
              <a:rPr lang="en-CA" sz="2200" b="1" dirty="0"/>
              <a:t>The three-stage model</a:t>
            </a:r>
          </a:p>
          <a:p>
            <a:pPr marL="0" indent="0">
              <a:buNone/>
              <a:defRPr sz="2000"/>
            </a:pPr>
            <a:r>
              <a:rPr lang="en-CA" sz="2200" b="0" dirty="0"/>
              <a:t>Stage 1 (healthy): reserve the 12-month ECL</a:t>
            </a:r>
          </a:p>
          <a:p>
            <a:pPr marL="0" indent="0">
              <a:buNone/>
              <a:defRPr sz="2000"/>
            </a:pPr>
            <a:r>
              <a:rPr lang="en-CA" sz="2200" b="0" dirty="0"/>
              <a:t>Stage 2 (significant increase in credit risk, e.g. a downgrade): reserve lifetime ECL-the heart of IFRS 9</a:t>
            </a:r>
          </a:p>
          <a:p>
            <a:pPr marL="0" indent="0">
              <a:buNone/>
              <a:defRPr sz="2000"/>
            </a:pPr>
            <a:r>
              <a:rPr lang="en-CA" sz="2200" b="0" dirty="0"/>
              <a:t>Stage 3 (credit-impaired): lifetime ECL, interest on the net amount</a:t>
            </a:r>
          </a:p>
          <a:p>
            <a:pPr marL="0" indent="0">
              <a:buNone/>
              <a:defRPr sz="2000"/>
            </a:pPr>
            <a:r>
              <a:rPr lang="en-CA" sz="2200" b="1" dirty="0"/>
              <a:t>The formula</a:t>
            </a:r>
          </a:p>
          <a:p>
            <a:pPr marL="0" indent="0">
              <a:buNone/>
              <a:defRPr sz="2000"/>
            </a:pPr>
            <a:r>
              <a:rPr lang="en-CA" sz="2200" b="0" dirty="0"/>
              <a:t>ECL = sum_k marginal PD_k x LGD x EAD_k x DF_k</a:t>
            </a:r>
          </a:p>
          <a:p>
            <a:pPr marL="0" indent="0">
              <a:buNone/>
              <a:defRPr sz="2000"/>
            </a:pPr>
            <a:r>
              <a:rPr lang="en-CA" sz="2200" b="0" dirty="0"/>
              <a:t>Lifetime PD = the real one-year S&amp;P matrix raised to the power n</a:t>
            </a:r>
          </a:p>
          <a:p>
            <a:pPr marL="0" indent="0">
              <a:buNone/>
              <a:defRPr sz="2000"/>
            </a:pPr>
            <a:r>
              <a:rPr lang="en-CA" sz="2200" b="0" dirty="0"/>
              <a:t>On a $1m BBB loan, staging lifts the reserve ~8x; a downgrade to BB ~35x</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IFRS 9 ECL: Example</a:t>
            </a:r>
            <a:endParaRPr b="1" dirty="0">
              <a:latin typeface="Arial" panose="020B0604020202020204" pitchFamily="34" charset="0"/>
              <a:cs typeface="Arial" panose="020B0604020202020204" pitchFamily="34" charset="0"/>
            </a:endParaRPr>
          </a:p>
        </p:txBody>
      </p:sp>
      <p:sp>
        <p:nvSpPr>
          <p:cNvPr id="4022" name="Content Placeholder"/>
          <p:cNvSpPr>
            <a:spLocks noGrp="1"/>
          </p:cNvSpPr>
          <p:nvPr>
            <p:ph sz="half" idx="2"/>
          </p:nvPr>
        </p:nvSpPr>
        <p:spPr>
          <a:xfrm>
            <a:off x="502920" y="1325880"/>
            <a:ext cx="11155680" cy="5166360"/>
          </a:xfrm>
        </p:spPr>
        <p:txBody>
          <a:bodyPr wrap="square">
            <a:noAutofit/>
          </a:bodyPr>
          <a:lstStyle/>
          <a:p>
            <a:r>
              <a:rPr lang="en-CA" sz="2200" b="1" dirty="0"/>
              <a:t>Given</a:t>
            </a:r>
          </a:p>
          <a:p>
            <a:r>
              <a:rPr lang="en-CA" sz="2200" b="0" dirty="0"/>
              <a:t>$1M loan, LGD = 45%; 12-month PD = 1%, horizon for lifetime = 5 years.</a:t>
            </a:r>
          </a:p>
          <a:p>
            <a:r>
              <a:rPr lang="en-CA" sz="2200" b="1" dirty="0"/>
              <a:t>Formula</a:t>
            </a:r>
          </a:p>
          <a:p>
            <a:r>
              <a:rPr lang="en-CA" sz="2200" b="0" dirty="0"/>
              <a:t>ECL = EAD x PD x LGD;  lifetime PD = 1 - (1 - PD)^years</a:t>
            </a:r>
          </a:p>
          <a:p>
            <a:r>
              <a:rPr lang="en-CA" sz="2200" b="1" dirty="0"/>
              <a:t>Solution</a:t>
            </a:r>
          </a:p>
          <a:p>
            <a:r>
              <a:rPr lang="en-CA" sz="2200" b="0" dirty="0"/>
              <a:t>Stage 1 (12-month ECL): 1M x 0.01 x 0.45 = $4,500</a:t>
            </a:r>
          </a:p>
          <a:p>
            <a:r>
              <a:rPr lang="en-CA" sz="2200" b="0" dirty="0"/>
              <a:t>Lifetime PD = 1 - 0.99^5 = 4.90%</a:t>
            </a:r>
          </a:p>
          <a:p>
            <a:r>
              <a:rPr lang="en-CA" sz="2200" b="0" dirty="0"/>
              <a:t>Stage 2 (lifetime ECL): 1M x 0.049 x 0.45 = $22,050</a:t>
            </a:r>
          </a:p>
          <a:p>
            <a:r>
              <a:rPr lang="en-CA" sz="2200" b="1" dirty="0"/>
              <a:t>Answer</a:t>
            </a:r>
          </a:p>
          <a:p>
            <a:r>
              <a:rPr lang="en-CA" sz="2200" b="0" dirty="0"/>
              <a:t>A significant increase in credit risk moves the loan from Stage 1 to Stage 2 and the provision jumps ~5x ($4.5k -&gt; $22k) before any default.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Block 4: Python Lab</a:t>
            </a:r>
            <a:endParaRPr b="1" dirty="0">
              <a:latin typeface="Arial" panose="020B0604020202020204" pitchFamily="34" charset="0"/>
              <a:cs typeface="Arial" panose="020B0604020202020204" pitchFamily="34" charset="0"/>
            </a:endParaRPr>
          </a:p>
        </p:txBody>
      </p:sp>
      <p:sp>
        <p:nvSpPr>
          <p:cNvPr id="4044" name="Content Placeholder"/>
          <p:cNvSpPr>
            <a:spLocks noGrp="1"/>
          </p:cNvSpPr>
          <p:nvPr>
            <p:ph sz="half" idx="2"/>
          </p:nvPr>
        </p:nvSpPr>
        <p:spPr/>
        <p:txBody>
          <a:bodyPr wrap="square">
            <a:normAutofit/>
          </a:bodyPr>
          <a:lstStyle/>
          <a:p>
            <a:pPr marL="0" indent="0">
              <a:buNone/>
            </a:pPr>
            <a:r>
              <a:rPr lang="en-CA" b="1" dirty="0"/>
              <a:t>Vasicek one-factor simulation: 500 obligors, 100,000 scenarios</a:t>
            </a:r>
          </a:p>
          <a:p>
            <a:r>
              <a:rPr lang="en-CA" dirty="0"/>
              <a:t>Build the survival curves and CDS pricer first, then the correlated-default simulation</a:t>
            </a:r>
          </a:p>
          <a:p>
            <a:r>
              <a:rPr lang="en-CA" dirty="0"/>
              <a:t>Loss distribution, Credit VaR, and the correlation sensitivity</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Python Lab - Session_06_Lab.ipynb</a:t>
            </a:r>
            <a:endParaRPr b="1" dirty="0">
              <a:latin typeface="Arial" panose="020B0604020202020204" pitchFamily="34" charset="0"/>
              <a:cs typeface="Arial" panose="020B0604020202020204" pitchFamily="34" charset="0"/>
            </a:endParaRPr>
          </a:p>
        </p:txBody>
      </p:sp>
      <p:sp>
        <p:nvSpPr>
          <p:cNvPr id="4046" name="Content Placeholder"/>
          <p:cNvSpPr>
            <a:spLocks noGrp="1"/>
          </p:cNvSpPr>
          <p:nvPr>
            <p:ph sz="half" idx="2"/>
          </p:nvPr>
        </p:nvSpPr>
        <p:spPr/>
        <p:txBody>
          <a:bodyPr wrap="square">
            <a:normAutofit/>
          </a:bodyPr>
          <a:lstStyle/>
          <a:p>
            <a:pPr marL="0" indent="0">
              <a:buNone/>
              <a:defRPr sz="2000"/>
            </a:pPr>
            <a:r>
              <a:rPr lang="en-CA" sz="2000" b="1" dirty="0"/>
              <a:t>Lab tasks</a:t>
            </a:r>
          </a:p>
          <a:p>
            <a:pPr>
              <a:defRPr sz="2000"/>
            </a:pPr>
            <a:r>
              <a:rPr lang="en-CA" sz="2000" dirty="0"/>
              <a:t>1. Section 1: plot survival probability S(T) = e to the minus lambda T for AAA through B (five lambda values); overlay the default-time density f(t) = lambda e to the minus lambda t</a:t>
            </a:r>
          </a:p>
          <a:p>
            <a:pPr>
              <a:defRPr sz="2000"/>
            </a:pPr>
            <a:r>
              <a:rPr lang="en-CA" sz="2000" dirty="0"/>
              <a:t>2. Section 2: implement cds_spread_bps(lambda, LGD, r, T) - premium leg vs protection leg; plot the CDS term structure by rating</a:t>
            </a:r>
          </a:p>
          <a:p>
            <a:pPr>
              <a:defRPr sz="2000"/>
            </a:pPr>
            <a:r>
              <a:rPr lang="en-CA" sz="2000" dirty="0"/>
              <a:t>3. Section 3: Vasicek simulation - N = 500, PD = 2 percent, LGD = 45 percent, rho = 0.15, 100,000 scenarios; compute EL, 99 percent VaR, 99.9 percent VaR, ES</a:t>
            </a:r>
          </a:p>
          <a:p>
            <a:pPr>
              <a:defRPr sz="2000"/>
            </a:pPr>
            <a:r>
              <a:rPr lang="en-CA" sz="2000" dirty="0"/>
              <a:t>4. Section 4: correlation sensitivity - run rho in {0.02, 0.08, 0.15, 0.25, 0.40}; plot loss distributions and record 99 percent / 99.9 percent VaR vs rho</a:t>
            </a:r>
          </a:p>
          <a:p>
            <a:pPr>
              <a:defRPr sz="2000"/>
            </a:pPr>
            <a:r>
              <a:rPr lang="en-CA" sz="2000" dirty="0"/>
              <a:t>5. Section 5: compare the Vasicek analytical CDF to the simulation histogram; verify convergence</a:t>
            </a:r>
          </a:p>
          <a:p>
            <a:pPr>
              <a:defRPr sz="2000"/>
            </a:pPr>
            <a:r>
              <a:rPr lang="en-CA" sz="2000" dirty="0"/>
              <a:t>6. Interpret: which parameter (PD, LGD, or rho) has the largest effect on Credit VaR?</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Required Readings and References</a:t>
            </a:r>
            <a:endParaRPr b="1" dirty="0">
              <a:latin typeface="Arial" panose="020B0604020202020204" pitchFamily="34" charset="0"/>
              <a:cs typeface="Arial" panose="020B0604020202020204" pitchFamily="34" charset="0"/>
            </a:endParaRPr>
          </a:p>
        </p:txBody>
      </p:sp>
      <p:sp>
        <p:nvSpPr>
          <p:cNvPr id="4050" name="Content Placeholder"/>
          <p:cNvSpPr>
            <a:spLocks noGrp="1"/>
          </p:cNvSpPr>
          <p:nvPr>
            <p:ph sz="half" idx="2"/>
          </p:nvPr>
        </p:nvSpPr>
        <p:spPr/>
        <p:txBody>
          <a:bodyPr wrap="square">
            <a:normAutofit fontScale="92500" lnSpcReduction="20000"/>
          </a:bodyPr>
          <a:lstStyle/>
          <a:p>
            <a:pPr marL="0" indent="0">
              <a:buNone/>
            </a:pPr>
            <a:r>
              <a:rPr lang="en-CA" b="1" dirty="0"/>
              <a:t>Required</a:t>
            </a:r>
          </a:p>
          <a:p>
            <a:r>
              <a:rPr lang="en-CA" dirty="0"/>
              <a:t>Hull, J. C. (2023). Risk Management and Financial Institutions, 6e. Ch. 9 sec. 9.6: Vasicek's model and the Gaussian copula; Ch. 19: Credit Value at Risk.</a:t>
            </a:r>
          </a:p>
          <a:p>
            <a:r>
              <a:rPr lang="en-CA" dirty="0"/>
              <a:t>Jorion, P. (2010). Financial Risk Manager Handbook, 6e. Ch. 23: Credit Derivatives and Structured Products.</a:t>
            </a:r>
          </a:p>
          <a:p>
            <a:endParaRPr lang="en-CA" dirty="0"/>
          </a:p>
          <a:p>
            <a:pPr marL="0" indent="0">
              <a:buNone/>
            </a:pPr>
            <a:r>
              <a:rPr lang="en-CA" b="1" dirty="0"/>
              <a:t>Supplementary</a:t>
            </a:r>
          </a:p>
          <a:p>
            <a:r>
              <a:rPr lang="en-CA" dirty="0"/>
              <a:t>Li, D. X. (2000). On default correlation: a copula function approach. Journal of Fixed Income, 9(4), 43 to 54.</a:t>
            </a:r>
          </a:p>
          <a:p>
            <a:r>
              <a:rPr lang="en-CA" dirty="0"/>
              <a:t>Vasicek, O. (2002). The distribution of loan portfolio value. Risk, 15(12), 160 to 162.</a:t>
            </a:r>
          </a:p>
          <a:p>
            <a:r>
              <a:rPr lang="en-CA" dirty="0"/>
              <a:t>Coval, J., Jurek, J., and Stafford, E. (2009). The economics of structured finance. Journal of Economic Perspectives, 23(1), 3 to 25.</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Session Wrap-Up</a:t>
            </a:r>
            <a:endParaRPr b="1" dirty="0">
              <a:latin typeface="Arial" panose="020B0604020202020204" pitchFamily="34" charset="0"/>
              <a:cs typeface="Arial" panose="020B0604020202020204" pitchFamily="34" charset="0"/>
            </a:endParaRPr>
          </a:p>
        </p:txBody>
      </p:sp>
      <p:sp>
        <p:nvSpPr>
          <p:cNvPr id="4042" name="Content Placeholder"/>
          <p:cNvSpPr>
            <a:spLocks noGrp="1"/>
          </p:cNvSpPr>
          <p:nvPr>
            <p:ph sz="half" idx="2"/>
          </p:nvPr>
        </p:nvSpPr>
        <p:spPr>
          <a:xfrm>
            <a:off x="423100" y="1289539"/>
            <a:ext cx="11345797" cy="4501661"/>
          </a:xfrm>
        </p:spPr>
        <p:txBody>
          <a:bodyPr wrap="square">
            <a:noAutofit/>
          </a:bodyPr>
          <a:lstStyle/>
          <a:p>
            <a:r>
              <a:rPr lang="en-CA" sz="2200" b="1" dirty="0"/>
              <a:t>Key takeaways</a:t>
            </a:r>
          </a:p>
          <a:p>
            <a:r>
              <a:rPr lang="en-CA" sz="2200" b="0" dirty="0"/>
              <a:t>Reduced-form (intensity) models put default risk in one hazard rate lambda; survival S(T)=exp(-lambda T), and lambda ~ spread / LGD bootstraps straight from market CDS/OAS</a:t>
            </a:r>
          </a:p>
          <a:p>
            <a:r>
              <a:rPr lang="en-CA" sz="2200" b="0" dirty="0"/>
              <a:t>Single-name CDS transfer default risk; the fair spread equates the premium and protection legs, and a hazard curve bootstraps from the spread term structure</a:t>
            </a:r>
          </a:p>
          <a:p>
            <a:r>
              <a:rPr lang="en-CA" sz="2200" b="0" dirty="0"/>
              <a:t>Portfolio credit risk is driven by default correlation: the one-factor Gaussian copula and Vasicek (2002) large-pool formula turn correlation into fat tails and Credit VaR</a:t>
            </a:r>
          </a:p>
          <a:p>
            <a:r>
              <a:rPr lang="en-CA" sz="2200" b="0" dirty="0"/>
              <a:t>CreditMetrics (migration) and CreditRisk+ (actuarial) reach the same tail from different angles; CVA prices counterparty risk and IFRS 9 turns PD/LGD/EAD into the P&amp;L loss allowance</a:t>
            </a:r>
          </a:p>
          <a:p>
            <a:r>
              <a:rPr lang="en-CA" sz="2200" b="0" dirty="0"/>
              <a:t>Spread relative value and total-return / basket default swaps show how credit risk is priced, traded and transferred - correlation is the price of a basket swap</a:t>
            </a:r>
          </a:p>
          <a:p>
            <a:r>
              <a:rPr lang="en-CA" sz="2200" b="1" dirty="0"/>
              <a:t>Next session - Session 7: Liquidity and Operational Risk</a:t>
            </a:r>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2138</TotalTime>
  <Words>8805</Words>
  <Application>Microsoft Macintosh PowerPoint</Application>
  <PresentationFormat>Widescreen</PresentationFormat>
  <Paragraphs>502</Paragraphs>
  <Slides>49</Slides>
  <Notes>49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49</vt:i4>
      </vt:variant>
    </vt:vector>
  </HeadingPairs>
  <TitlesOfParts>
    <vt:vector size="53" baseType="lpstr">
      <vt:lpstr>Arial</vt:lpstr>
      <vt:lpstr>Calibri</vt:lpstr>
      <vt:lpstr>Calibri Light</vt:lpstr>
      <vt:lpstr>Office 2013 - 2022 Theme</vt:lpstr>
      <vt:lpstr>FINANCIAL RISK MANAGEMENT AND ENGINEERING  Session 6: Credit Risk II: Intensity Models &amp; Portfolio Credit Risk</vt:lpstr>
      <vt:lpstr>Learning Objectives</vt:lpstr>
      <vt:lpstr>Block 1: Recap and Motivation</vt:lpstr>
      <vt:lpstr>Structural vs Reduced-Form Models</vt:lpstr>
      <vt:lpstr>Structural vs Reduced-Form: Example</vt:lpstr>
      <vt:lpstr>Why Intensity Models?</vt:lpstr>
      <vt:lpstr>Block 2: Intensity Models - Theory and Pricing</vt:lpstr>
      <vt:lpstr>Hazard Rate and Survival Probability</vt:lpstr>
      <vt:lpstr>Hazard Rate and Survival: Example</vt:lpstr>
      <vt:lpstr>CDS in Practice: Credit Events, Settlement and Types</vt:lpstr>
      <vt:lpstr>CDS Settlement: Example</vt:lpstr>
      <vt:lpstr>CDS Indices and Trading Strategies</vt:lpstr>
      <vt:lpstr>CDS Index: Example</vt:lpstr>
      <vt:lpstr>Calibrating Lambda from Market CDS Spreads</vt:lpstr>
      <vt:lpstr>Calibrating Lambda: Example</vt:lpstr>
      <vt:lpstr>CDS Pricing - The Spread Formula</vt:lpstr>
      <vt:lpstr>CDS Pricing - Worked Example</vt:lpstr>
      <vt:lpstr>Term Structure of Credit Risk</vt:lpstr>
      <vt:lpstr>Term Structure of Credit Risk: Example</vt:lpstr>
      <vt:lpstr>Rating Transition Matrix and Matrix Powers</vt:lpstr>
      <vt:lpstr>Spread Relative Value: Mean Reversion and the Crossover Trade</vt:lpstr>
      <vt:lpstr>Block 3: Portfolio Credit Risk</vt:lpstr>
      <vt:lpstr>The Portfolio Challenge: Why Correlation Matters</vt:lpstr>
      <vt:lpstr>Joint Default and Correlation: Example</vt:lpstr>
      <vt:lpstr>Gaussian Copula Default Model</vt:lpstr>
      <vt:lpstr>Gaussian Copula: Joint Default Example</vt:lpstr>
      <vt:lpstr>One-Factor Gaussian Copula</vt:lpstr>
      <vt:lpstr>One-Factor Copula: Conditional Default Example</vt:lpstr>
      <vt:lpstr>Vasicek Portfolio Loss Distribution</vt:lpstr>
      <vt:lpstr>Vasicek Loss Distribution: Example</vt:lpstr>
      <vt:lpstr>Credit VaR</vt:lpstr>
      <vt:lpstr>Credit VaR: Example</vt:lpstr>
      <vt:lpstr>How Asset Correlation Drives Tail Risk</vt:lpstr>
      <vt:lpstr>Transferring Credit Risk: Total-Return and Basket Swaps</vt:lpstr>
      <vt:lpstr>Basket Default Swap: Example</vt:lpstr>
      <vt:lpstr>The GFC and the Gaussian Copula</vt:lpstr>
      <vt:lpstr>Credit Enhancement in Securitizations</vt:lpstr>
      <vt:lpstr>Securitization Tranches: Example</vt:lpstr>
      <vt:lpstr>Alternative Portfolio Credit Models</vt:lpstr>
      <vt:lpstr>Alternative Portfolio Credit Models  (cont.)</vt:lpstr>
      <vt:lpstr>CreditRisk+ Poisson: Example</vt:lpstr>
      <vt:lpstr>Counterparty Credit Risk: CVA</vt:lpstr>
      <vt:lpstr>CVA: Example</vt:lpstr>
      <vt:lpstr>IFRS 9: Expected Credit Loss</vt:lpstr>
      <vt:lpstr>IFRS 9 ECL: Example</vt:lpstr>
      <vt:lpstr>Block 4: Python Lab</vt:lpstr>
      <vt:lpstr>Python Lab - Session_06_Lab.ipynb</vt:lpstr>
      <vt:lpstr>Required Readings and References</vt:lpstr>
      <vt:lpstr>Session Wrap-Up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Hull RMFI 6e - Chapters 1-4</dc:title>
  <dc:subject>Options, Futures, and Other Derivatives, 11e</dc:subject>
  <dc:creator/>
  <cp:keywords>Chapter1</cp:keywords>
  <dc:description>Copyright 2021 by John C. Hull. All Rights Reserved. Published 2021</dc:description>
  <cp:lastModifiedBy>Yuriy Zabolotnyuk</cp:lastModifiedBy>
  <cp:revision>115</cp:revision>
  <dcterms:created xsi:type="dcterms:W3CDTF">2008-05-28T22:27:59Z</dcterms:created>
  <dcterms:modified xsi:type="dcterms:W3CDTF">2026-07-13T13:11:58Z</dcterms:modified>
</cp:coreProperties>
</file>