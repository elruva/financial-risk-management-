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7" r:id="rId1"/>
  </p:sldMasterIdLst>
  <p:notesMasterIdLst>
    <p:notesMasterId r:id="rId28"/>
  </p:notesMasterIdLst>
  <p:sldIdLst>
    <p:sldId id="256" r:id="rId2"/>
    <p:sldId id="258" r:id="rId3"/>
    <p:sldId id="260" r:id="rId4"/>
    <p:sldId id="261" r:id="rId5"/>
    <p:sldId id="262" r:id="rId6"/>
    <p:sldId id="263" r:id="rId7"/>
    <p:sldId id="266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4" r:id="rId23"/>
    <p:sldId id="285" r:id="rId24"/>
    <p:sldId id="286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84662-E0CF-DC40-A652-0FF688708D4B}" v="4" dt="2026-07-15T13:41:02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49"/>
    <p:restoredTop sz="73022"/>
  </p:normalViewPr>
  <p:slideViewPr>
    <p:cSldViewPr>
      <p:cViewPr varScale="1">
        <p:scale>
          <a:sx n="86" d="100"/>
          <a:sy n="86" d="100"/>
        </p:scale>
        <p:origin x="101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y Zabolotnyuk" userId="5293f801-6ede-4669-8a17-9af1adeb069e" providerId="ADAL" clId="{9C72D551-62FB-5E3D-901C-9F32929520A9}"/>
    <pc:docChg chg="undo redo custSel addSld delSld modSld sldOrd modMainMaster">
      <pc:chgData name="Yuriy Zabolotnyuk" userId="5293f801-6ede-4669-8a17-9af1adeb069e" providerId="ADAL" clId="{9C72D551-62FB-5E3D-901C-9F32929520A9}" dt="2026-07-15T20:47:53.030" v="2583" actId="2696"/>
      <pc:docMkLst>
        <pc:docMk/>
      </pc:docMkLst>
      <pc:sldChg chg="addSp delSp modSp mod">
        <pc:chgData name="Yuriy Zabolotnyuk" userId="5293f801-6ede-4669-8a17-9af1adeb069e" providerId="ADAL" clId="{9C72D551-62FB-5E3D-901C-9F32929520A9}" dt="2026-07-05T17:33:01.698" v="1631" actId="20577"/>
        <pc:sldMkLst>
          <pc:docMk/>
          <pc:sldMk cId="0" sldId="256"/>
        </pc:sldMkLst>
        <pc:spChg chg="mod">
          <ac:chgData name="Yuriy Zabolotnyuk" userId="5293f801-6ede-4669-8a17-9af1adeb069e" providerId="ADAL" clId="{9C72D551-62FB-5E3D-901C-9F32929520A9}" dt="2026-07-05T17:33:01.698" v="1631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18:08.468" v="1825" actId="27636"/>
        <pc:sldMkLst>
          <pc:docMk/>
          <pc:sldMk cId="0" sldId="258"/>
        </pc:sldMkLst>
        <pc:spChg chg="mod">
          <ac:chgData name="Yuriy Zabolotnyuk" userId="5293f801-6ede-4669-8a17-9af1adeb069e" providerId="ADAL" clId="{9C72D551-62FB-5E3D-901C-9F32929520A9}" dt="2026-07-15T13:18:08.468" v="1825" actId="27636"/>
          <ac:spMkLst>
            <pc:docMk/>
            <pc:sldMk cId="0" sldId="258"/>
            <ac:spMk id="4004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18:22.654" v="1827" actId="2696"/>
        <pc:sldMkLst>
          <pc:docMk/>
          <pc:sldMk cId="0" sldId="259"/>
        </pc:sldMkLst>
        <pc:spChg chg="mod">
          <ac:chgData name="Yuriy Zabolotnyuk" userId="5293f801-6ede-4669-8a17-9af1adeb069e" providerId="ADAL" clId="{9C72D551-62FB-5E3D-901C-9F32929520A9}" dt="2026-07-15T13:18:08.477" v="1826" actId="27636"/>
          <ac:spMkLst>
            <pc:docMk/>
            <pc:sldMk cId="0" sldId="259"/>
            <ac:spMk id="4006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18:08.174" v="1804" actId="27636"/>
        <pc:sldMkLst>
          <pc:docMk/>
          <pc:sldMk cId="0" sldId="260"/>
        </pc:sldMkLst>
        <pc:spChg chg="mod">
          <ac:chgData name="Yuriy Zabolotnyuk" userId="5293f801-6ede-4669-8a17-9af1adeb069e" providerId="ADAL" clId="{9C72D551-62FB-5E3D-901C-9F32929520A9}" dt="2026-07-15T13:18:08.174" v="1804" actId="27636"/>
          <ac:spMkLst>
            <pc:docMk/>
            <pc:sldMk cId="0" sldId="260"/>
            <ac:spMk id="4008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19:58.132" v="1924" actId="27636"/>
        <pc:sldMkLst>
          <pc:docMk/>
          <pc:sldMk cId="0" sldId="261"/>
        </pc:sldMkLst>
        <pc:spChg chg="mod">
          <ac:chgData name="Yuriy Zabolotnyuk" userId="5293f801-6ede-4669-8a17-9af1adeb069e" providerId="ADAL" clId="{9C72D551-62FB-5E3D-901C-9F32929520A9}" dt="2026-07-15T13:19:58.132" v="1924" actId="27636"/>
          <ac:spMkLst>
            <pc:docMk/>
            <pc:sldMk cId="0" sldId="261"/>
            <ac:spMk id="4010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21:14.739" v="1947" actId="20577"/>
        <pc:sldMkLst>
          <pc:docMk/>
          <pc:sldMk cId="0" sldId="262"/>
        </pc:sldMkLst>
        <pc:spChg chg="mod">
          <ac:chgData name="Yuriy Zabolotnyuk" userId="5293f801-6ede-4669-8a17-9af1adeb069e" providerId="ADAL" clId="{9C72D551-62FB-5E3D-901C-9F32929520A9}" dt="2026-07-15T13:21:14.739" v="1947" actId="20577"/>
          <ac:spMkLst>
            <pc:docMk/>
            <pc:sldMk cId="0" sldId="262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20:05.681" v="1925" actId="1076"/>
          <ac:picMkLst>
            <pc:docMk/>
            <pc:sldMk cId="0" sldId="262"/>
            <ac:picMk id="4012" creationId="{00000000-0000-0000-0000-000000000000}"/>
          </ac:picMkLst>
        </pc:picChg>
      </pc:sldChg>
      <pc:sldChg chg="modSp del mod">
        <pc:chgData name="Yuriy Zabolotnyuk" userId="5293f801-6ede-4669-8a17-9af1adeb069e" providerId="ADAL" clId="{9C72D551-62FB-5E3D-901C-9F32929520A9}" dt="2026-07-15T13:21:23.123" v="1948" actId="20577"/>
        <pc:sldMkLst>
          <pc:docMk/>
          <pc:sldMk cId="0" sldId="263"/>
        </pc:sldMkLst>
        <pc:spChg chg="mod">
          <ac:chgData name="Yuriy Zabolotnyuk" userId="5293f801-6ede-4669-8a17-9af1adeb069e" providerId="ADAL" clId="{9C72D551-62FB-5E3D-901C-9F32929520A9}" dt="2026-07-15T13:21:23.123" v="1948" actId="20577"/>
          <ac:spMkLst>
            <pc:docMk/>
            <pc:sldMk cId="0" sldId="263"/>
            <ac:spMk id="401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15T13:18:08.215" v="1807" actId="27636"/>
          <ac:spMkLst>
            <pc:docMk/>
            <pc:sldMk cId="0" sldId="263"/>
            <ac:spMk id="4014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13:26:17.847" v="2057" actId="255"/>
        <pc:sldMkLst>
          <pc:docMk/>
          <pc:sldMk cId="0" sldId="264"/>
        </pc:sldMkLst>
        <pc:spChg chg="mod">
          <ac:chgData name="Yuriy Zabolotnyuk" userId="5293f801-6ede-4669-8a17-9af1adeb069e" providerId="ADAL" clId="{9C72D551-62FB-5E3D-901C-9F32929520A9}" dt="2026-07-15T13:26:17.847" v="2057" actId="255"/>
          <ac:spMkLst>
            <pc:docMk/>
            <pc:sldMk cId="0" sldId="264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22:52.243" v="2012" actId="1036"/>
          <ac:picMkLst>
            <pc:docMk/>
            <pc:sldMk cId="0" sldId="264"/>
            <ac:picMk id="4016" creationId="{00000000-0000-0000-0000-000000000000}"/>
          </ac:picMkLst>
        </pc:picChg>
        <pc:picChg chg="mod">
          <ac:chgData name="Yuriy Zabolotnyuk" userId="5293f801-6ede-4669-8a17-9af1adeb069e" providerId="ADAL" clId="{9C72D551-62FB-5E3D-901C-9F32929520A9}" dt="2026-07-15T13:22:50.662" v="2009" actId="1036"/>
          <ac:picMkLst>
            <pc:docMk/>
            <pc:sldMk cId="0" sldId="264"/>
            <ac:picMk id="4017" creationId="{00000000-0000-0000-0000-000000000000}"/>
          </ac:picMkLst>
        </pc:picChg>
      </pc:sldChg>
      <pc:sldChg chg="modSp del mod">
        <pc:chgData name="Yuriy Zabolotnyuk" userId="5293f801-6ede-4669-8a17-9af1adeb069e" providerId="ADAL" clId="{9C72D551-62FB-5E3D-901C-9F32929520A9}" dt="2026-07-15T13:26:13.332" v="2056" actId="255"/>
        <pc:sldMkLst>
          <pc:docMk/>
          <pc:sldMk cId="0" sldId="265"/>
        </pc:sldMkLst>
        <pc:spChg chg="mod">
          <ac:chgData name="Yuriy Zabolotnyuk" userId="5293f801-6ede-4669-8a17-9af1adeb069e" providerId="ADAL" clId="{9C72D551-62FB-5E3D-901C-9F32929520A9}" dt="2026-07-15T13:26:13.332" v="2056" actId="255"/>
          <ac:spMkLst>
            <pc:docMk/>
            <pc:sldMk cId="0" sldId="265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26:08.027" v="2055" actId="1036"/>
          <ac:picMkLst>
            <pc:docMk/>
            <pc:sldMk cId="0" sldId="265"/>
            <ac:picMk id="4018" creationId="{00000000-0000-0000-0000-000000000000}"/>
          </ac:picMkLst>
        </pc:picChg>
      </pc:sldChg>
      <pc:sldChg chg="modSp del mod">
        <pc:chgData name="Yuriy Zabolotnyuk" userId="5293f801-6ede-4669-8a17-9af1adeb069e" providerId="ADAL" clId="{9C72D551-62FB-5E3D-901C-9F32929520A9}" dt="2026-07-15T13:30:46.896" v="2261" actId="2696"/>
        <pc:sldMkLst>
          <pc:docMk/>
          <pc:sldMk cId="0" sldId="266"/>
        </pc:sldMkLst>
        <pc:spChg chg="mod">
          <ac:chgData name="Yuriy Zabolotnyuk" userId="5293f801-6ede-4669-8a17-9af1adeb069e" providerId="ADAL" clId="{9C72D551-62FB-5E3D-901C-9F32929520A9}" dt="2026-07-15T13:26:59.709" v="2087" actId="27636"/>
          <ac:spMkLst>
            <pc:docMk/>
            <pc:sldMk cId="0" sldId="266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26:37.389" v="2081" actId="1035"/>
          <ac:picMkLst>
            <pc:docMk/>
            <pc:sldMk cId="0" sldId="266"/>
            <ac:picMk id="4020" creationId="{00000000-0000-0000-0000-000000000000}"/>
          </ac:picMkLst>
        </pc:picChg>
      </pc:sldChg>
      <pc:sldChg chg="add">
        <pc:chgData name="Yuriy Zabolotnyuk" userId="5293f801-6ede-4669-8a17-9af1adeb069e" providerId="ADAL" clId="{9C72D551-62FB-5E3D-901C-9F32929520A9}" dt="2026-07-15T13:30:51.514" v="2262"/>
        <pc:sldMkLst>
          <pc:docMk/>
          <pc:sldMk cId="1234293537" sldId="266"/>
        </pc:sldMkLst>
      </pc:sldChg>
      <pc:sldChg chg="modSp del mod">
        <pc:chgData name="Yuriy Zabolotnyuk" userId="5293f801-6ede-4669-8a17-9af1adeb069e" providerId="ADAL" clId="{9C72D551-62FB-5E3D-901C-9F32929520A9}" dt="2026-07-15T13:30:20.212" v="2260" actId="20577"/>
        <pc:sldMkLst>
          <pc:docMk/>
          <pc:sldMk cId="0" sldId="267"/>
        </pc:sldMkLst>
        <pc:spChg chg="mod">
          <ac:chgData name="Yuriy Zabolotnyuk" userId="5293f801-6ede-4669-8a17-9af1adeb069e" providerId="ADAL" clId="{9C72D551-62FB-5E3D-901C-9F32929520A9}" dt="2026-07-15T13:30:20.212" v="2260" actId="20577"/>
          <ac:spMkLst>
            <pc:docMk/>
            <pc:sldMk cId="0" sldId="267"/>
            <ac:spMk id="4021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15T13:30:00.942" v="2234" actId="20577"/>
          <ac:spMkLst>
            <pc:docMk/>
            <pc:sldMk cId="0" sldId="267"/>
            <ac:spMk id="402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15:43.614" v="1064" actId="2696"/>
        <pc:sldMkLst>
          <pc:docMk/>
          <pc:sldMk cId="0" sldId="268"/>
        </pc:sldMkLst>
      </pc:sldChg>
      <pc:sldChg chg="modSp add del mod modNotesTx">
        <pc:chgData name="Yuriy Zabolotnyuk" userId="5293f801-6ede-4669-8a17-9af1adeb069e" providerId="ADAL" clId="{9C72D551-62FB-5E3D-901C-9F32929520A9}" dt="2026-07-15T13:36:02.903" v="2494" actId="20577"/>
        <pc:sldMkLst>
          <pc:docMk/>
          <pc:sldMk cId="0" sldId="269"/>
        </pc:sldMkLst>
        <pc:spChg chg="mod">
          <ac:chgData name="Yuriy Zabolotnyuk" userId="5293f801-6ede-4669-8a17-9af1adeb069e" providerId="ADAL" clId="{9C72D551-62FB-5E3D-901C-9F32929520A9}" dt="2026-07-15T13:36:02.903" v="2494" actId="20577"/>
          <ac:spMkLst>
            <pc:docMk/>
            <pc:sldMk cId="0" sldId="269"/>
            <ac:spMk id="4026" creationId="{00000000-0000-0000-0000-000000000000}"/>
          </ac:spMkLst>
        </pc:spChg>
      </pc:sldChg>
      <pc:sldChg chg="modSp add del mod">
        <pc:chgData name="Yuriy Zabolotnyuk" userId="5293f801-6ede-4669-8a17-9af1adeb069e" providerId="ADAL" clId="{9C72D551-62FB-5E3D-901C-9F32929520A9}" dt="2026-07-15T13:34:53.559" v="2473" actId="400"/>
        <pc:sldMkLst>
          <pc:docMk/>
          <pc:sldMk cId="0" sldId="270"/>
        </pc:sldMkLst>
        <pc:spChg chg="mod">
          <ac:chgData name="Yuriy Zabolotnyuk" userId="5293f801-6ede-4669-8a17-9af1adeb069e" providerId="ADAL" clId="{9C72D551-62FB-5E3D-901C-9F32929520A9}" dt="2026-07-15T13:32:59.243" v="2446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15T13:34:53.559" v="2473" actId="400"/>
          <ac:spMkLst>
            <pc:docMk/>
            <pc:sldMk cId="0" sldId="270"/>
            <ac:spMk id="4027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32:27.622" v="2424" actId="1076"/>
          <ac:picMkLst>
            <pc:docMk/>
            <pc:sldMk cId="0" sldId="270"/>
            <ac:picMk id="4028" creationId="{00000000-0000-0000-0000-000000000000}"/>
          </ac:picMkLst>
        </pc:picChg>
        <pc:picChg chg="mod">
          <ac:chgData name="Yuriy Zabolotnyuk" userId="5293f801-6ede-4669-8a17-9af1adeb069e" providerId="ADAL" clId="{9C72D551-62FB-5E3D-901C-9F32929520A9}" dt="2026-07-15T13:32:34.165" v="2427" actId="14100"/>
          <ac:picMkLst>
            <pc:docMk/>
            <pc:sldMk cId="0" sldId="270"/>
            <ac:picMk id="4029" creationId="{00000000-0000-0000-0000-000000000000}"/>
          </ac:picMkLst>
        </pc:picChg>
      </pc:sldChg>
      <pc:sldChg chg="delSp modSp add del mod">
        <pc:chgData name="Yuriy Zabolotnyuk" userId="5293f801-6ede-4669-8a17-9af1adeb069e" providerId="ADAL" clId="{9C72D551-62FB-5E3D-901C-9F32929520A9}" dt="2026-07-15T13:33:34.050" v="2450" actId="20577"/>
        <pc:sldMkLst>
          <pc:docMk/>
          <pc:sldMk cId="0" sldId="271"/>
        </pc:sldMkLst>
        <pc:spChg chg="mod">
          <ac:chgData name="Yuriy Zabolotnyuk" userId="5293f801-6ede-4669-8a17-9af1adeb069e" providerId="ADAL" clId="{9C72D551-62FB-5E3D-901C-9F32929520A9}" dt="2026-07-15T13:33:34.050" v="2450" actId="20577"/>
          <ac:spMkLst>
            <pc:docMk/>
            <pc:sldMk cId="0" sldId="271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33:31.722" v="2448" actId="1076"/>
          <ac:picMkLst>
            <pc:docMk/>
            <pc:sldMk cId="0" sldId="271"/>
            <ac:picMk id="4030" creationId="{00000000-0000-0000-0000-000000000000}"/>
          </ac:picMkLst>
        </pc:picChg>
      </pc:sldChg>
      <pc:sldChg chg="delSp modSp add del mod modNotesTx">
        <pc:chgData name="Yuriy Zabolotnyuk" userId="5293f801-6ede-4669-8a17-9af1adeb069e" providerId="ADAL" clId="{9C72D551-62FB-5E3D-901C-9F32929520A9}" dt="2026-07-15T13:34:11.891" v="2466" actId="1036"/>
        <pc:sldMkLst>
          <pc:docMk/>
          <pc:sldMk cId="0" sldId="272"/>
        </pc:sldMkLst>
        <pc:spChg chg="mod">
          <ac:chgData name="Yuriy Zabolotnyuk" userId="5293f801-6ede-4669-8a17-9af1adeb069e" providerId="ADAL" clId="{9C72D551-62FB-5E3D-901C-9F32929520A9}" dt="2026-07-15T13:33:50.182" v="2459" actId="27636"/>
          <ac:spMkLst>
            <pc:docMk/>
            <pc:sldMk cId="0" sldId="272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34:11.891" v="2466" actId="1036"/>
          <ac:picMkLst>
            <pc:docMk/>
            <pc:sldMk cId="0" sldId="272"/>
            <ac:picMk id="4032" creationId="{00000000-0000-0000-0000-000000000000}"/>
          </ac:picMkLst>
        </pc:picChg>
      </pc:sldChg>
      <pc:sldChg chg="modSp add del mod modNotesTx">
        <pc:chgData name="Yuriy Zabolotnyuk" userId="5293f801-6ede-4669-8a17-9af1adeb069e" providerId="ADAL" clId="{9C72D551-62FB-5E3D-901C-9F32929520A9}" dt="2026-07-15T13:37:30.880" v="2507" actId="20577"/>
        <pc:sldMkLst>
          <pc:docMk/>
          <pc:sldMk cId="0" sldId="273"/>
        </pc:sldMkLst>
        <pc:spChg chg="mod">
          <ac:chgData name="Yuriy Zabolotnyuk" userId="5293f801-6ede-4669-8a17-9af1adeb069e" providerId="ADAL" clId="{9C72D551-62FB-5E3D-901C-9F32929520A9}" dt="2026-07-15T13:37:30.880" v="2507" actId="20577"/>
          <ac:spMkLst>
            <pc:docMk/>
            <pc:sldMk cId="0" sldId="273"/>
            <ac:spMk id="4034" creationId="{00000000-0000-0000-0000-000000000000}"/>
          </ac:spMkLst>
        </pc:spChg>
      </pc:sldChg>
      <pc:sldChg chg="modSp mod modNotesTx">
        <pc:chgData name="Yuriy Zabolotnyuk" userId="5293f801-6ede-4669-8a17-9af1adeb069e" providerId="ADAL" clId="{9C72D551-62FB-5E3D-901C-9F32929520A9}" dt="2026-07-15T13:38:46.315" v="2513" actId="20577"/>
        <pc:sldMkLst>
          <pc:docMk/>
          <pc:sldMk cId="0" sldId="274"/>
        </pc:sldMkLst>
        <pc:spChg chg="mod">
          <ac:chgData name="Yuriy Zabolotnyuk" userId="5293f801-6ede-4669-8a17-9af1adeb069e" providerId="ADAL" clId="{9C72D551-62FB-5E3D-901C-9F32929520A9}" dt="2026-07-15T13:38:22.327" v="2509" actId="27636"/>
          <ac:spMkLst>
            <pc:docMk/>
            <pc:sldMk cId="0" sldId="274"/>
            <ac:spMk id="4036" creationId="{00000000-0000-0000-0000-000000000000}"/>
          </ac:spMkLst>
        </pc:spChg>
      </pc:sldChg>
      <pc:sldChg chg="modSp add del mod">
        <pc:chgData name="Yuriy Zabolotnyuk" userId="5293f801-6ede-4669-8a17-9af1adeb069e" providerId="ADAL" clId="{9C72D551-62FB-5E3D-901C-9F32929520A9}" dt="2026-07-15T13:39:12.538" v="2528" actId="14100"/>
        <pc:sldMkLst>
          <pc:docMk/>
          <pc:sldMk cId="0" sldId="275"/>
        </pc:sldMkLst>
        <pc:spChg chg="mod">
          <ac:chgData name="Yuriy Zabolotnyuk" userId="5293f801-6ede-4669-8a17-9af1adeb069e" providerId="ADAL" clId="{9C72D551-62FB-5E3D-901C-9F32929520A9}" dt="2026-07-15T13:39:12.538" v="2528" actId="14100"/>
          <ac:spMkLst>
            <pc:docMk/>
            <pc:sldMk cId="0" sldId="275"/>
            <ac:spMk id="2" creationId="{00000000-0000-0000-0000-000000000000}"/>
          </ac:spMkLst>
        </pc:spChg>
        <pc:picChg chg="mod">
          <ac:chgData name="Yuriy Zabolotnyuk" userId="5293f801-6ede-4669-8a17-9af1adeb069e" providerId="ADAL" clId="{9C72D551-62FB-5E3D-901C-9F32929520A9}" dt="2026-07-15T13:39:08.408" v="2527" actId="1038"/>
          <ac:picMkLst>
            <pc:docMk/>
            <pc:sldMk cId="0" sldId="275"/>
            <ac:picMk id="4038" creationId="{00000000-0000-0000-0000-000000000000}"/>
          </ac:picMkLst>
        </pc:picChg>
      </pc:sldChg>
      <pc:sldChg chg="modSp add del mod">
        <pc:chgData name="Yuriy Zabolotnyuk" userId="5293f801-6ede-4669-8a17-9af1adeb069e" providerId="ADAL" clId="{9C72D551-62FB-5E3D-901C-9F32929520A9}" dt="2026-07-15T13:39:23.104" v="2531" actId="27636"/>
        <pc:sldMkLst>
          <pc:docMk/>
          <pc:sldMk cId="0" sldId="276"/>
        </pc:sldMkLst>
        <pc:spChg chg="mod">
          <ac:chgData name="Yuriy Zabolotnyuk" userId="5293f801-6ede-4669-8a17-9af1adeb069e" providerId="ADAL" clId="{9C72D551-62FB-5E3D-901C-9F32929520A9}" dt="2026-07-15T13:39:23.104" v="2531" actId="27636"/>
          <ac:spMkLst>
            <pc:docMk/>
            <pc:sldMk cId="0" sldId="276"/>
            <ac:spMk id="4040" creationId="{00000000-0000-0000-0000-000000000000}"/>
          </ac:spMkLst>
        </pc:spChg>
      </pc:sldChg>
      <pc:sldChg chg="addSp delSp modSp mod">
        <pc:chgData name="Yuriy Zabolotnyuk" userId="5293f801-6ede-4669-8a17-9af1adeb069e" providerId="ADAL" clId="{9C72D551-62FB-5E3D-901C-9F32929520A9}" dt="2026-07-15T13:18:08.354" v="1819" actId="27636"/>
        <pc:sldMkLst>
          <pc:docMk/>
          <pc:sldMk cId="0" sldId="277"/>
        </pc:sldMkLst>
        <pc:spChg chg="mod">
          <ac:chgData name="Yuriy Zabolotnyuk" userId="5293f801-6ede-4669-8a17-9af1adeb069e" providerId="ADAL" clId="{9C72D551-62FB-5E3D-901C-9F32929520A9}" dt="2026-07-15T13:18:08.354" v="1819" actId="27636"/>
          <ac:spMkLst>
            <pc:docMk/>
            <pc:sldMk cId="0" sldId="277"/>
            <ac:spMk id="4042" creationId="{00000000-0000-0000-0000-000000000000}"/>
          </ac:spMkLst>
        </pc:spChg>
      </pc:sldChg>
      <pc:sldChg chg="addSp modSp mod">
        <pc:chgData name="Yuriy Zabolotnyuk" userId="5293f801-6ede-4669-8a17-9af1adeb069e" providerId="ADAL" clId="{9C72D551-62FB-5E3D-901C-9F32929520A9}" dt="2026-07-15T13:42:04.607" v="2554" actId="20577"/>
        <pc:sldMkLst>
          <pc:docMk/>
          <pc:sldMk cId="0" sldId="278"/>
        </pc:sldMkLst>
        <pc:spChg chg="mod">
          <ac:chgData name="Yuriy Zabolotnyuk" userId="5293f801-6ede-4669-8a17-9af1adeb069e" providerId="ADAL" clId="{9C72D551-62FB-5E3D-901C-9F32929520A9}" dt="2026-07-15T13:42:04.607" v="2554" actId="20577"/>
          <ac:spMkLst>
            <pc:docMk/>
            <pc:sldMk cId="0" sldId="278"/>
            <ac:spMk id="4044" creationId="{00000000-0000-0000-0000-000000000000}"/>
          </ac:spMkLst>
        </pc:spChg>
      </pc:sldChg>
      <pc:sldChg chg="modSp add del mod">
        <pc:chgData name="Yuriy Zabolotnyuk" userId="5293f801-6ede-4669-8a17-9af1adeb069e" providerId="ADAL" clId="{9C72D551-62FB-5E3D-901C-9F32929520A9}" dt="2026-07-15T20:47:45.683" v="2582" actId="2696"/>
        <pc:sldMkLst>
          <pc:docMk/>
          <pc:sldMk cId="0" sldId="279"/>
        </pc:sldMkLst>
        <pc:spChg chg="mod">
          <ac:chgData name="Yuriy Zabolotnyuk" userId="5293f801-6ede-4669-8a17-9af1adeb069e" providerId="ADAL" clId="{9C72D551-62FB-5E3D-901C-9F32929520A9}" dt="2026-07-15T13:18:08.398" v="1821" actId="27636"/>
          <ac:spMkLst>
            <pc:docMk/>
            <pc:sldMk cId="0" sldId="279"/>
            <ac:spMk id="4046" creationId="{00000000-0000-0000-0000-000000000000}"/>
          </ac:spMkLst>
        </pc:spChg>
      </pc:sldChg>
      <pc:sldChg chg="addSp delSp modSp mod">
        <pc:chgData name="Yuriy Zabolotnyuk" userId="5293f801-6ede-4669-8a17-9af1adeb069e" providerId="ADAL" clId="{9C72D551-62FB-5E3D-901C-9F32929520A9}" dt="2026-07-15T13:47:54.192" v="2568" actId="20577"/>
        <pc:sldMkLst>
          <pc:docMk/>
          <pc:sldMk cId="0" sldId="280"/>
        </pc:sldMkLst>
        <pc:spChg chg="mod">
          <ac:chgData name="Yuriy Zabolotnyuk" userId="5293f801-6ede-4669-8a17-9af1adeb069e" providerId="ADAL" clId="{9C72D551-62FB-5E3D-901C-9F32929520A9}" dt="2026-07-15T13:47:54.192" v="2568" actId="20577"/>
          <ac:spMkLst>
            <pc:docMk/>
            <pc:sldMk cId="0" sldId="280"/>
            <ac:spMk id="4048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15T20:47:53.030" v="2583" actId="2696"/>
        <pc:sldMkLst>
          <pc:docMk/>
          <pc:sldMk cId="0" sldId="281"/>
        </pc:sldMkLst>
        <pc:spChg chg="mod">
          <ac:chgData name="Yuriy Zabolotnyuk" userId="5293f801-6ede-4669-8a17-9af1adeb069e" providerId="ADAL" clId="{9C72D551-62FB-5E3D-901C-9F32929520A9}" dt="2026-07-15T13:18:08.421" v="1823" actId="27636"/>
          <ac:spMkLst>
            <pc:docMk/>
            <pc:sldMk cId="0" sldId="281"/>
            <ac:spMk id="4050" creationId="{00000000-0000-0000-0000-000000000000}"/>
          </ac:spMkLst>
        </pc:spChg>
      </pc:sldChg>
      <pc:sldChg chg="modSp mod">
        <pc:chgData name="Yuriy Zabolotnyuk" userId="5293f801-6ede-4669-8a17-9af1adeb069e" providerId="ADAL" clId="{9C72D551-62FB-5E3D-901C-9F32929520A9}" dt="2026-07-05T12:32:46.104" v="1261" actId="113"/>
        <pc:sldMkLst>
          <pc:docMk/>
          <pc:sldMk cId="0" sldId="282"/>
        </pc:sldMkLst>
      </pc:sldChg>
      <pc:sldChg chg="modSp del mod">
        <pc:chgData name="Yuriy Zabolotnyuk" userId="5293f801-6ede-4669-8a17-9af1adeb069e" providerId="ADAL" clId="{9C72D551-62FB-5E3D-901C-9F32929520A9}" dt="2026-07-15T13:48:19.725" v="2569" actId="2696"/>
        <pc:sldMkLst>
          <pc:docMk/>
          <pc:sldMk cId="0" sldId="283"/>
        </pc:sldMkLst>
        <pc:spChg chg="mod">
          <ac:chgData name="Yuriy Zabolotnyuk" userId="5293f801-6ede-4669-8a17-9af1adeb069e" providerId="ADAL" clId="{9C72D551-62FB-5E3D-901C-9F32929520A9}" dt="2026-07-15T13:18:08.451" v="1824" actId="27636"/>
          <ac:spMkLst>
            <pc:docMk/>
            <pc:sldMk cId="0" sldId="283"/>
            <ac:spMk id="4054" creationId="{00000000-0000-0000-0000-000000000000}"/>
          </ac:spMkLst>
        </pc:spChg>
      </pc:sldChg>
      <pc:sldChg chg="modSp add mod">
        <pc:chgData name="Yuriy Zabolotnyuk" userId="5293f801-6ede-4669-8a17-9af1adeb069e" providerId="ADAL" clId="{9C72D551-62FB-5E3D-901C-9F32929520A9}" dt="2026-07-15T13:41:54.105" v="2549" actId="20577"/>
        <pc:sldMkLst>
          <pc:docMk/>
          <pc:sldMk cId="2814680245" sldId="284"/>
        </pc:sldMkLst>
        <pc:spChg chg="mod">
          <ac:chgData name="Yuriy Zabolotnyuk" userId="5293f801-6ede-4669-8a17-9af1adeb069e" providerId="ADAL" clId="{9C72D551-62FB-5E3D-901C-9F32929520A9}" dt="2026-07-15T13:41:54.105" v="2549" actId="20577"/>
          <ac:spMkLst>
            <pc:docMk/>
            <pc:sldMk cId="2814680245" sldId="284"/>
            <ac:spMk id="4044" creationId="{F179A832-126E-2EAB-722D-C6ACC64AFA27}"/>
          </ac:spMkLst>
        </pc:spChg>
      </pc:sldChg>
      <pc:sldChg chg="modSp mod">
        <pc:chgData name="Yuriy Zabolotnyuk" userId="5293f801-6ede-4669-8a17-9af1adeb069e" providerId="ADAL" clId="{9C72D551-62FB-5E3D-901C-9F32929520A9}" dt="2026-07-15T20:47:02.227" v="2581" actId="58"/>
        <pc:sldMkLst>
          <pc:docMk/>
          <pc:sldMk cId="0" sldId="285"/>
        </pc:sldMkLst>
        <pc:spChg chg="mod">
          <ac:chgData name="Yuriy Zabolotnyuk" userId="5293f801-6ede-4669-8a17-9af1adeb069e" providerId="ADAL" clId="{9C72D551-62FB-5E3D-901C-9F32929520A9}" dt="2026-07-15T20:47:02.227" v="2581" actId="58"/>
          <ac:spMkLst>
            <pc:docMk/>
            <pc:sldMk cId="0" sldId="285"/>
            <ac:spMk id="4044" creationId="{F179A832-126E-2EAB-722D-C6ACC64AFA27}"/>
          </ac:spMkLst>
        </pc:spChg>
      </pc:sldChg>
      <pc:sldChg chg="modSp mod">
        <pc:chgData name="Yuriy Zabolotnyuk" userId="5293f801-6ede-4669-8a17-9af1adeb069e" providerId="ADAL" clId="{9C72D551-62FB-5E3D-901C-9F32929520A9}" dt="2026-07-15T20:46:26.472" v="2579" actId="20577"/>
        <pc:sldMkLst>
          <pc:docMk/>
          <pc:sldMk cId="0" sldId="286"/>
        </pc:sldMkLst>
        <pc:spChg chg="mod">
          <ac:chgData name="Yuriy Zabolotnyuk" userId="5293f801-6ede-4669-8a17-9af1adeb069e" providerId="ADAL" clId="{9C72D551-62FB-5E3D-901C-9F32929520A9}" dt="2026-07-15T20:46:26.472" v="2579" actId="20577"/>
          <ac:spMkLst>
            <pc:docMk/>
            <pc:sldMk cId="0" sldId="286"/>
            <ac:spMk id="40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0D3E168-E06C-4270-93A1-BA6F395C0456}" type="datetimeFigureOut">
              <a:rPr lang="en-US"/>
              <a:pPr>
                <a:defRPr/>
              </a:pPr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0D07607-43F6-4AEA-9890-00BBE9F451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439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 8 of 12. Today we turn from measuring risk to using derivatives to control it. Black-Scholes pricing, the binomial tree, the five Greeks, and dynamic delta hedging are the core toolkit. Everything here feeds directly into Assignment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Objectives 1 to 4 map directly to the four blocks. Objective 5 connects to Assignment 2 where students price options on their own stocks and compute Greeks. The lab notebook covers objectives 1 to 5 computationally.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Motivate with Barings (1995): Leeson used futures to speculate, not hedge, and lost 827M GBP. Contrast with airlines that use oil futures to </a:t>
            </a:r>
            <a:r>
              <a:rPr dirty="0" err="1"/>
              <a:t>stabilise</a:t>
            </a:r>
            <a:r>
              <a:rPr dirty="0"/>
              <a:t> fuel costs - same instrument, different intent. The notional 700 trillion USD figure sounds alarming but most nets down to far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the hockey-stick payoff as the mnemonic: call bends up at K, put bends down at K. The premium paid shifts the kink down by the option price, so the breakeven for a long call is K plus C, for a long put is K minus P. Protective put (stock plus put) replicates a call by put-call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pure no-arbitrage result - no distributional assumption needed. Show the lab output: C = 4.5498, P = 3.4312, C minus P = 1.1187 vs S minus K times e^(-rT) = 1.1187. Point out this gives us puts 'for free' once we can price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Block 2: the two main pricing models. BS is the closed-form benchmark; the binomial tree is the discrete-time workhorse used for American options and exotics.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CRR (1979) is the workhorse because it handles American options and dividends gracefully. Show the convergence chart from the lab: with N=5 the price oscillates, by N=100 it has settled within a penny of BS. The alternating oscillation comes from the discretisation of the lognormal - even vs odd N have different terminal nodes at ATM.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6810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two components: S times N(d1) is the expected benefit of holding the stock; K times e^(-rT) times N(d2) is the expected cost (PV of strike times risk-neutral probability of exercise). The formula prices correctly under its assumptions - all subsequent work challenges those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demystifies d1 and d2 which students often treat as magic numbers. The key insight: d2 is the z-score for the question 'does the stock end above K?', while d1 is d2 shifted up by sigma sqrt(T) - the stock measure adjustment for the fact that we care about the average level, not just the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arithmetic step verbally - students often make errors on d1 (forgetting the sigma^2/2 drift term). The final answer matches the lab output exactly (call = 4.5498, put = 3.4312). Point out the put-call parity check: 4.55 minus 3.43 = 1.12 about 100 minus 100 times e^(-0.01125) = 1.12.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the oscillation at low N is not a bug - it reflects the parity of terminal nodes: with even N, ATM has a node exactly at K; with odd N it does not. The lab chart shows this clearly. Also mention that dividends break the European equals American call equivalence, which is why the binomial is used in practice for dividend-paying stocks.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Block 3: the sensitivities. The Greeks are not just academic - they are the language of options desks. Hull Ch.15 is entirely focused on these; Jorion Ch.8 covers them from the risk manager's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five Greeks fit naturally into a 2 by 2: delta and gamma are price sensitivities; </a:t>
            </a:r>
            <a:r>
              <a:rPr dirty="0" err="1"/>
              <a:t>vega</a:t>
            </a:r>
            <a:r>
              <a:rPr dirty="0"/>
              <a:t> is the vol sensitivity; theta and rho are the time and rate sensitivities. In practice traders speak of a position's 'Greeks profile': a delta-neutral, long-gamma position is the prototypical options desk stance - benefits from large moves, costs theta.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delta-gamma connection: because delta is not constant (gamma is nonzero), a delta hedge needs continuous rebalancing. In discrete time this creates the hedging error the lab simulates. Remind students that the Black-Scholes derivation is exactly the continuous-limit argument: in continuous time, GBM-driven stock plus continuously-rebalanced delta = riskless portfolio, earns r, gives the BS PDE.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theta-gamma relationship is the most important risk trade-off for options traders: you cannot have high gamma (benefit from big moves) without paying high theta (daily erosion). This is the cost of convexity. For risk managers: long gamma positions are insurance - they cost theta daily but pay off in large moves (crises).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insight: the hedging error is NOT from model error - the BS assumptions hold in the simulation. The error comes entirely from discrete rebalancing (we hedge daily, not continuously). The error's variance is proportional to gamma-squared times sigma-squared times delta t. In the lab, students will see the distribution of final hedging errors across simulated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volatility smile is one of the most important empirical regularities in finance: it proves the market knows the BS model is wrong (prices deviate from the flat-sigma BS model) yet uses it as a convenient parameteri</a:t>
            </a:r>
            <a:r>
              <a:rPr lang="en-US" dirty="0"/>
              <a:t>z</a:t>
            </a:r>
            <a:r>
              <a:rPr dirty="0"/>
              <a:t>ation. Reference the lab Section 5: students compute the smile from synthetic option prices and recover IV by inverting BS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connects the Greeks back to VaR (Session 3). A portfolio with options is non-linear, so delta-normal VaR is biased - badly so for short-gamma books, where it UNDERSTATES risk. The second-order Taylor term half gamma times (delta S)-squared is the fix. Walk the sign intuition: long options have positive gamma (curvature helps you), short options have negative gamma (curvature hurts, the London Whale problem). The lab can plot true reprice vs delta vs delta-gamma over a range of delta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on the delta-hedge slide: delta neutrality decays the instant the underlying moves (gamma) or implied vol shifts (vega), and neither can be hedged with the stock - you need other options. Sketch the mechanics: pick two traded options, solve a 2 by 2 system to zero out gamma and vega, then re-delta with the underlying. This is exactly what desks do daily, and it motivates the gamma and vega limit structure and scenario analysis from Hull Ch.15.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Block 4 connects the theory to the risk manager's job: using derivatives to control the six risk types we introduced in Session 1, and to Assignment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'so what' slide: derivatives are tools and tools can be misused. LTCM used derivatives to lever up, not to hedge. Barings: Leeson was supposed to arbitrage index futures but instead speculated. In each case the instrument was fine; the risk management framework (governance, limits, monitoring)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945D-46C5-E729-7676-EEE6200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2D26E-A45C-F13C-8B20-93D99070A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2646D-2845-D1CD-1A4A-EA1AE695B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'so what' slide: derivatives are tools and tools can be misused. LTCM used derivatives to lever up, not to hedge. Barings: Leeson was supposed to arbitrage index futures but instead speculated. In each case the instrument was fine; the risk management framework (governance, limits, monitoring) failed.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C6FA4-915E-FDDD-A6C2-C18F387A4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47987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Delta-gamma hedging: the method and the formulas. A delta hedge makes the book insensitive to small moves, but only to first order. An option's value is curved in the underlying, so a delta hedge is right only for an instant and drifts as soon as the price moves. That curvature is gamma. To hold the hedge over a wider range you also neutralise gamma.</a:t>
            </a:r>
          </a:p>
          <a:p>
            <a:endParaRPr/>
          </a:p>
          <a:p>
            <a:r>
              <a:t>Notation. The book you are hedging has delta Delta_P and gamma Gamma_P. You have two instruments: a traded option with delta delta_o and gamma gamma_o per contract, and the stock, with delta 1 and gamma 0. Let n_o be the number of hedge options and n_s the number of shares.</a:t>
            </a:r>
          </a:p>
          <a:p>
            <a:endParaRPr/>
          </a:p>
          <a:p>
            <a:r>
              <a:t>The two conditions (top formulas). Gamma-neutral: Gamma_P + n_o gamma_o = 0. Delta-neutral: Delta_P + n_o delta_o + n_s = 0.</a:t>
            </a:r>
          </a:p>
          <a:p>
            <a:endParaRPr/>
          </a:p>
          <a:p>
            <a:r>
              <a:t>Solve in order. The stock has zero gamma, so it cannot change portfolio gamma; only the option can. Solve the gamma condition first: n_o = -Gamma_P / gamma_o. That fixes gamma but shifts delta by n_o delta_o. Then solve the delta condition with shares: n_s = -(Delta_P + n_o delta_o). Shares carry no gamma, so this last step does not disturb the gamma neutrality you just set.</a:t>
            </a:r>
          </a:p>
          <a:p>
            <a:endParaRPr/>
          </a:p>
          <a:p>
            <a:r>
              <a:t>Why it is worth it. A Taylor expansion gives the portfolio change as about Delta_P times the move plus one half Gamma_P times the move squared (the same expansion behind the delta-gamma approximation slide earlier). A delta-only hedge cancels the first term but leaves the second, so error grows with the square of the move. Gamma-neutral cancels the second term too, so the hedge survives larger moves before rebalancing, cutting transaction costs.</a:t>
            </a:r>
          </a:p>
          <a:p>
            <a:endParaRPr/>
          </a:p>
          <a:p>
            <a:r>
              <a:t>The cost. You traded a second option, which ties up capital and gives the book a vega, so you are now also exposed to changes in implied volatility. Desks watch delta, gamma and vega together. The next slide works a full numerical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Worked example of delta-gamma hedging, using the two formulas from the previous slide.</a:t>
            </a:r>
          </a:p>
          <a:p>
            <a:endParaRPr dirty="0"/>
          </a:p>
          <a:p>
            <a:r>
              <a:rPr dirty="0"/>
              <a:t>Setup. You have written (sold) 1,000 European calls, each with delta 0.60 and gamma 0.04. So the book delta is -1,000 x 0.60 = -600 and the book gamma is -1,000 x 0.04 = -40. Short options means short gamma: every move works against you, and the bigger the move the worse it gets.</a:t>
            </a:r>
          </a:p>
          <a:p>
            <a:endParaRPr dirty="0"/>
          </a:p>
          <a:p>
            <a:r>
              <a:rPr dirty="0"/>
              <a:t>Two instruments. Hedge with the stock (delta 1, gamma 0) and a second, differently struck option (delta 0.50, gamma 0.02). The stock cannot repair gamma, so zero the gamma with the option first, then clean up the delta with shares.</a:t>
            </a:r>
          </a:p>
          <a:p>
            <a:endParaRPr dirty="0"/>
          </a:p>
          <a:p>
            <a:r>
              <a:rPr dirty="0"/>
              <a:t>Step 1, gamma. </a:t>
            </a:r>
            <a:r>
              <a:rPr dirty="0" err="1"/>
              <a:t>n_o</a:t>
            </a:r>
            <a:r>
              <a:rPr dirty="0"/>
              <a:t> = -</a:t>
            </a:r>
            <a:r>
              <a:rPr dirty="0" err="1"/>
              <a:t>Gamma_P</a:t>
            </a:r>
            <a:r>
              <a:rPr dirty="0"/>
              <a:t> / </a:t>
            </a:r>
            <a:r>
              <a:rPr dirty="0" err="1"/>
              <a:t>gamma_o</a:t>
            </a:r>
            <a:r>
              <a:rPr dirty="0"/>
              <a:t> = -(-40)/0.02 = 2,000. Buy 2,000 hedge options. Portfolio gamma is now -40 + 2,000 x 0.02 = 0.</a:t>
            </a:r>
          </a:p>
          <a:p>
            <a:endParaRPr dirty="0"/>
          </a:p>
          <a:p>
            <a:r>
              <a:rPr dirty="0"/>
              <a:t>Step 2, delta. The 2,000 long options add 2,000 x 0.50 = +1,000 of delta, so the book delta is now -600 + 1,000 = +400. </a:t>
            </a:r>
            <a:r>
              <a:rPr dirty="0" err="1"/>
              <a:t>n_s</a:t>
            </a:r>
            <a:r>
              <a:rPr dirty="0"/>
              <a:t> = -(+400) = -400: sell 400 shares. Check: delta = -600 + 1,000 - 400 = 0; gamma = -40 + 40 = 0.</a:t>
            </a:r>
          </a:p>
          <a:p>
            <a:endParaRPr dirty="0"/>
          </a:p>
          <a:p>
            <a:r>
              <a:rPr dirty="0"/>
              <a:t>Why it pays. A delta-only hedge leaves an error of about one half times gamma times the move squared. With gamma -40 a $1 move already leaves about $20 of unhedged curvature, and a $5 move about $500. Gamma-neutral removes that curvature, so the hedge survives much larger moves before it needs adjusting - fewer rebalances and less slippage.</a:t>
            </a:r>
          </a:p>
          <a:p>
            <a:endParaRPr dirty="0"/>
          </a:p>
          <a:p>
            <a:r>
              <a:rPr dirty="0"/>
              <a:t>The cost. The second option ties up capital and changes the book's </a:t>
            </a:r>
            <a:r>
              <a:rPr dirty="0" err="1"/>
              <a:t>vega</a:t>
            </a:r>
            <a:r>
              <a:rPr dirty="0"/>
              <a:t>, so you now also carry a volatility position. Tie back to the dashboard: the Greeks-one-by-one panel shows gamma peaking at the money, exactly where a delta-only hedge rebalances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Sections 1 to 5 of the lab are the minimum for Assignment 2. The optional Section 6 (real data) is encouraged but may require a Yahoo Finance API call. The key learning from the hedging simulation: error is about normal with variance that grows with gamma and with the size of each rebalancing interval - this motivates why continuous hedging (and hence BS) is the ideal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Hull Ch.15 is the primary reference - it covers all five Greeks and hedging in depth. Jorion Ch.8 frames options from the risk manager's perspective (exam focus). Black-Scholes (1973) and CRR (1979) are seminal and short (about 20 pages each) - worth at least a skim. Whaley (2000) on VIX is a highly readable 5-page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0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6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5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6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8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0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73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5"/>
            <a:ext cx="11345799" cy="1325563"/>
          </a:xfr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101" y="1681163"/>
            <a:ext cx="6438105" cy="823912"/>
          </a:xfrm>
        </p:spPr>
        <p:txBody>
          <a:bodyPr lIns="0" tIns="0" rIns="0" bIns="0"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1" y="2671763"/>
            <a:ext cx="6438105" cy="368458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133"/>
            </a:lvl1pPr>
            <a:lvl2pPr marL="457189" indent="0">
              <a:buFontTx/>
              <a:buNone/>
              <a:defRPr sz="2400"/>
            </a:lvl2pPr>
            <a:lvl3pPr marL="914377" indent="0">
              <a:buFontTx/>
              <a:buNone/>
              <a:defRPr sz="2400"/>
            </a:lvl3pPr>
            <a:lvl4pPr marL="1371566" indent="0">
              <a:buFontTx/>
              <a:buNone/>
              <a:defRPr sz="2400"/>
            </a:lvl4pPr>
            <a:lvl5pPr marL="1828754" indent="0">
              <a:buFontTx/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9767" y="1723424"/>
            <a:ext cx="4453672" cy="3168811"/>
          </a:xfrm>
          <a:solidFill>
            <a:schemeClr val="tx1"/>
          </a:solidFill>
        </p:spPr>
        <p:txBody>
          <a:bodyPr lIns="360000" tIns="360000" rIns="360000" bIns="360000" anchor="ctr"/>
          <a:lstStyle>
            <a:lvl1pPr marL="0" indent="0" algn="l">
              <a:buFontTx/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0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New Title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6"/>
            <a:ext cx="11345799" cy="1076813"/>
          </a:xfrm>
        </p:spPr>
        <p:txBody>
          <a:bodyPr lIns="0" tIns="0" rIns="0" bIns="0"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0" y="1535723"/>
            <a:ext cx="11345797" cy="4501661"/>
          </a:xfrm>
        </p:spPr>
        <p:txBody>
          <a:bodyPr lIns="0" tIns="0" rIns="0" bIns="0">
            <a:normAutofit/>
          </a:bodyPr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1pPr>
            <a:lvl2pPr marL="685783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2pPr>
            <a:lvl3pPr marL="1142971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3pPr>
            <a:lvl4pPr marL="1600160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4pPr>
            <a:lvl5pPr marL="2057349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82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New Title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CE42D8-5361-9940-B797-FFC03759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6"/>
            <a:ext cx="11345799" cy="924413"/>
          </a:xfrm>
        </p:spPr>
        <p:txBody>
          <a:bodyPr lIns="0" tIns="0" rIns="0" bIns="0"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0" y="1383323"/>
            <a:ext cx="11345797" cy="4380169"/>
          </a:xfrm>
        </p:spPr>
        <p:txBody>
          <a:bodyPr lIns="0" tIns="0" rIns="0" bIns="0">
            <a:normAutofit/>
          </a:bodyPr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1pPr>
            <a:lvl2pPr marL="685783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2pPr>
            <a:lvl3pPr marL="1142971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3pPr>
            <a:lvl4pPr marL="1600160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4pPr>
            <a:lvl5pPr marL="2057349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224AA-A183-CA4A-BDDA-A7ED236E6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5618" y="5748384"/>
            <a:ext cx="3316380" cy="11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6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314D-F56C-2D2F-97D9-F1714A98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998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8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8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  <p:sldLayoutId id="2147484129" r:id="rId12"/>
    <p:sldLayoutId id="2147484130" r:id="rId13"/>
    <p:sldLayoutId id="2147484059" r:id="rId14"/>
    <p:sldLayoutId id="214748401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2112962"/>
            <a:ext cx="7273101" cy="2306638"/>
          </a:xfrm>
        </p:spPr>
        <p:txBody>
          <a:bodyPr anchor="t">
            <a:normAutofit/>
          </a:bodyPr>
          <a:lstStyle/>
          <a:p>
            <a:r>
              <a:rPr lang="en-US" dirty="0"/>
              <a:t>FINANCIAL RISK MANAGEMENT AND ENGINEERING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Session 8: Derivatives in Risk Management</a:t>
            </a:r>
          </a:p>
        </p:txBody>
      </p:sp>
      <p:pic>
        <p:nvPicPr>
          <p:cNvPr id="4" name="Picture 3" descr="New guidelines for the logo structure and university seal">
            <a:extLst>
              <a:ext uri="{FF2B5EF4-FFF2-40B4-BE49-F238E27FC236}">
                <a16:creationId xmlns:a16="http://schemas.microsoft.com/office/drawing/2014/main" id="{D6F9100D-02AF-EE22-EDE3-68F783F22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767" r="4" b="4"/>
          <a:stretch>
            <a:fillRect/>
          </a:stretch>
        </p:blipFill>
        <p:spPr>
          <a:xfrm>
            <a:off x="423101" y="2671763"/>
            <a:ext cx="6438105" cy="3684588"/>
          </a:xfrm>
          <a:prstGeom prst="rect">
            <a:avLst/>
          </a:prstGeom>
          <a:noFill/>
        </p:spPr>
      </p:pic>
      <p:pic>
        <p:nvPicPr>
          <p:cNvPr id="6" name="Picture 5" descr="AU's segl">
            <a:extLst>
              <a:ext uri="{FF2B5EF4-FFF2-40B4-BE49-F238E27FC236}">
                <a16:creationId xmlns:a16="http://schemas.microsoft.com/office/drawing/2014/main" id="{49BE1E43-6F81-3C41-C30C-E25204F4E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905000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4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b="1" dirty="0"/>
              <a:t>By the end of this session you will be able to:</a:t>
            </a:r>
          </a:p>
          <a:p>
            <a:r>
              <a:rPr lang="en-CA" dirty="0"/>
              <a:t>1. Derive and apply the Black-Scholes formula to price European calls and puts</a:t>
            </a:r>
          </a:p>
          <a:p>
            <a:r>
              <a:rPr lang="en-CA" dirty="0"/>
              <a:t>2. Build a binomial option pricing tree and demonstrate its convergence to Black-Scholes</a:t>
            </a:r>
          </a:p>
          <a:p>
            <a:r>
              <a:rPr lang="en-CA" dirty="0"/>
              <a:t>3. Define all five Greeks (delta, gamma, vega, theta, rho) and interpret their risk meaning</a:t>
            </a:r>
          </a:p>
          <a:p>
            <a:r>
              <a:rPr lang="en-CA" dirty="0"/>
              <a:t>4. Construct and evaluate a dynamic delta-hedging strategy step by step</a:t>
            </a:r>
          </a:p>
          <a:p>
            <a:r>
              <a:rPr lang="en-CA" dirty="0"/>
              <a:t>5. Explain implied volatility, the volatility smile, and how derivatives transfer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What Are Derivatives?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8" name="Content Placeholder"/>
          <p:cNvSpPr>
            <a:spLocks noGrp="1"/>
          </p:cNvSpPr>
          <p:nvPr>
            <p:ph sz="half" idx="2"/>
          </p:nvPr>
        </p:nvSpPr>
        <p:spPr>
          <a:xfrm>
            <a:off x="423100" y="1066801"/>
            <a:ext cx="11345797" cy="4970584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Derivatives are the primary instruments for transferring and transforming financial risk</a:t>
            </a:r>
          </a:p>
          <a:p>
            <a:r>
              <a:rPr lang="en-CA" dirty="0"/>
              <a:t>A derivative is a contract whose value depends on an underlying asset's price</a:t>
            </a:r>
          </a:p>
          <a:p>
            <a:r>
              <a:rPr lang="en-CA" dirty="0"/>
              <a:t>Underlying: equities, FX, interest rates, commodities, credit, volatility</a:t>
            </a:r>
          </a:p>
          <a:p>
            <a:r>
              <a:rPr lang="en-CA" dirty="0"/>
              <a:t>Four building blocks: forwards, futures, swaps, options</a:t>
            </a:r>
          </a:p>
          <a:p>
            <a:r>
              <a:rPr lang="en-CA" dirty="0"/>
              <a:t> All derivatives are zero-sum game</a:t>
            </a:r>
          </a:p>
          <a:p>
            <a:r>
              <a:rPr lang="en-CA" dirty="0"/>
              <a:t>Used for: hedging risk exposures, speculation, arbitrage, and regulatory capital relief</a:t>
            </a:r>
          </a:p>
          <a:p>
            <a:r>
              <a:rPr lang="en-CA" dirty="0"/>
              <a:t>Key distinction: exchange-traded (standardised) vs OTC (customised, counterparty risk)</a:t>
            </a:r>
          </a:p>
          <a:p>
            <a:r>
              <a:rPr lang="en-CA" dirty="0"/>
              <a:t>Global notional outstanding over 700 trillion USD (BIS, 2023) - larger than world GDP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Options: Calls, Puts and Payoff Diagrams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0" name="Content Placeholder"/>
          <p:cNvSpPr>
            <a:spLocks noGrp="1"/>
          </p:cNvSpPr>
          <p:nvPr>
            <p:ph sz="half" idx="2"/>
          </p:nvPr>
        </p:nvSpPr>
        <p:spPr>
          <a:xfrm>
            <a:off x="423100" y="1066801"/>
            <a:ext cx="11345797" cy="4970584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Call option</a:t>
            </a:r>
          </a:p>
          <a:p>
            <a:r>
              <a:rPr lang="en-CA" dirty="0"/>
              <a:t>Right to BUY the underlying at strike K; payoff at expiry max(S</a:t>
            </a:r>
            <a:r>
              <a:rPr lang="en-CA" baseline="-25000" dirty="0"/>
              <a:t>T</a:t>
            </a:r>
            <a:r>
              <a:rPr lang="en-CA" dirty="0"/>
              <a:t>-K, 0)</a:t>
            </a:r>
          </a:p>
          <a:p>
            <a:r>
              <a:rPr lang="en-CA" dirty="0"/>
              <a:t>Long call: bullish view, limited downside</a:t>
            </a:r>
          </a:p>
          <a:p>
            <a:r>
              <a:rPr lang="en-CA" dirty="0"/>
              <a:t>Short call: bearish or neutral, capped upside</a:t>
            </a:r>
          </a:p>
          <a:p>
            <a:r>
              <a:rPr lang="en-CA" dirty="0"/>
              <a:t>Intrinsic value max(S</a:t>
            </a:r>
            <a:r>
              <a:rPr lang="en-CA" baseline="-25000" dirty="0"/>
              <a:t>T</a:t>
            </a:r>
            <a:r>
              <a:rPr lang="en-CA" dirty="0"/>
              <a:t>-K, 0); time value is option price minus intrinsic</a:t>
            </a:r>
          </a:p>
          <a:p>
            <a:r>
              <a:rPr lang="en-CA" dirty="0"/>
              <a:t>In-the-money S&gt;K; at-the-money S=K; out-of-the-money S&lt;K</a:t>
            </a:r>
          </a:p>
          <a:p>
            <a:pPr marL="0" indent="0">
              <a:buNone/>
            </a:pPr>
            <a:r>
              <a:rPr lang="en-CA" b="1" dirty="0"/>
              <a:t>Put option</a:t>
            </a:r>
          </a:p>
          <a:p>
            <a:r>
              <a:rPr lang="en-CA" dirty="0"/>
              <a:t>Right to SELL the underlying at strike K; payoff at expiry max(K minus S_T, 0)</a:t>
            </a:r>
          </a:p>
          <a:p>
            <a:r>
              <a:rPr lang="en-CA" dirty="0"/>
              <a:t>Long put: bearish view or insurance; short put: bullish or neutral view</a:t>
            </a:r>
          </a:p>
          <a:p>
            <a:r>
              <a:rPr lang="en-CA" dirty="0"/>
              <a:t>Protective put: long stock plus long put; hedges downside, costs the premium</a:t>
            </a:r>
          </a:p>
          <a:p>
            <a:r>
              <a:rPr lang="en-CA" dirty="0"/>
              <a:t>In-the-money S&lt;K; at-the-money S=K; out-of-the-money S&gt;K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Put-Call Parity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12" name="Picture 4011" descr="f_pc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141593"/>
            <a:ext cx="8419416" cy="475488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1981200"/>
            <a:ext cx="11347704" cy="407212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b="1" dirty="0"/>
              <a:t>Interpretation</a:t>
            </a:r>
          </a:p>
          <a:p>
            <a:r>
              <a:rPr lang="en-CA" dirty="0"/>
              <a:t>Holds for European options on non-dividend-paying stocks</a:t>
            </a:r>
          </a:p>
          <a:p>
            <a:r>
              <a:rPr lang="en-CA" dirty="0"/>
              <a:t>Derived from no-arbitrage: two portfolios with identical payoffs must cost the same</a:t>
            </a:r>
          </a:p>
          <a:p>
            <a:r>
              <a:rPr lang="en-CA" dirty="0"/>
              <a:t>S + P (protective put) replicates C + K *e</a:t>
            </a:r>
            <a:r>
              <a:rPr lang="en-CA" baseline="30000" dirty="0"/>
              <a:t>-</a:t>
            </a:r>
            <a:r>
              <a:rPr lang="en-CA" baseline="30000" dirty="0" err="1"/>
              <a:t>rT</a:t>
            </a:r>
            <a:r>
              <a:rPr lang="en-CA" dirty="0"/>
              <a:t> (fiduciary call)</a:t>
            </a:r>
          </a:p>
          <a:p>
            <a:r>
              <a:rPr lang="en-CA" dirty="0"/>
              <a:t>Empirical check: deviations equal transaction costs plus dividends</a:t>
            </a:r>
          </a:p>
          <a:p>
            <a:r>
              <a:rPr lang="en-CA" dirty="0"/>
              <a:t>Used to verify BS output is self-consistent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Option Pricing Models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4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b="1" dirty="0"/>
              <a:t>Black-Scholes and the binomial tree</a:t>
            </a:r>
          </a:p>
          <a:p>
            <a:r>
              <a:rPr lang="en-CA" dirty="0"/>
              <a:t>Black-Scholes is the closed-form benchmark built on geometric Brownian motion and continuous hedging</a:t>
            </a:r>
          </a:p>
          <a:p>
            <a:r>
              <a:rPr lang="en-CA" dirty="0"/>
              <a:t>The binomial tree is the discrete-time workhorse used for American options and exotics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The Binomial Option Pricing Tree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20" name="Picture 4019" descr="f_bin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66800"/>
            <a:ext cx="9118099" cy="704088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267712"/>
            <a:ext cx="11347704" cy="3785616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sz="2200" b="1" dirty="0"/>
              <a:t>The method</a:t>
            </a:r>
          </a:p>
          <a:p>
            <a:r>
              <a:rPr lang="en-CA" sz="2200" dirty="0"/>
              <a:t>Cox, Ross and Rubinstein (1979): discretise GBM into up and down moves</a:t>
            </a:r>
          </a:p>
          <a:p>
            <a:r>
              <a:rPr lang="en-CA" sz="2200" dirty="0"/>
              <a:t>delta t = T/N is the time step; u and d are calibrated to match volatility sigma</a:t>
            </a:r>
          </a:p>
          <a:p>
            <a:r>
              <a:rPr lang="en-CA" sz="2200" dirty="0"/>
              <a:t>p is the RISK-NEUTRAL probability, not the physical (real-world) probability</a:t>
            </a:r>
          </a:p>
          <a:p>
            <a:r>
              <a:rPr lang="en-CA" sz="2200" dirty="0"/>
              <a:t>Backward induction: start at expiry payoffs and roll back to today</a:t>
            </a:r>
          </a:p>
          <a:p>
            <a:pPr marL="0" indent="0">
              <a:buNone/>
            </a:pPr>
            <a:r>
              <a:rPr lang="en-CA" sz="2200" b="1" dirty="0"/>
              <a:t>Uses and convergence</a:t>
            </a:r>
          </a:p>
          <a:p>
            <a:r>
              <a:rPr lang="en-CA" sz="2200" dirty="0"/>
              <a:t>American option: compare continuation value vs intrinsic at each node</a:t>
            </a:r>
          </a:p>
          <a:p>
            <a:r>
              <a:rPr lang="en-CA" sz="2200" dirty="0"/>
              <a:t>Convergence: as N grows to infinity, the binomial price approaches the Black-Scholes price</a:t>
            </a:r>
          </a:p>
        </p:txBody>
      </p:sp>
    </p:spTree>
    <p:extLst>
      <p:ext uri="{BB962C8B-B14F-4D97-AF65-F5344CB8AC3E}">
        <p14:creationId xmlns:p14="http://schemas.microsoft.com/office/powerpoint/2010/main" val="123429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The Black-Scholes Formula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16" name="Picture 4015" descr="f_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23" y="1124712"/>
            <a:ext cx="9996305" cy="475488"/>
          </a:xfrm>
          <a:prstGeom prst="rect">
            <a:avLst/>
          </a:prstGeom>
        </p:spPr>
      </p:pic>
      <p:pic>
        <p:nvPicPr>
          <p:cNvPr id="4017" name="Picture 4016" descr="f_d1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714" y="1752600"/>
            <a:ext cx="6195886" cy="762000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889504"/>
            <a:ext cx="11347704" cy="316382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CA" sz="2200" b="1" dirty="0"/>
              <a:t>Inputs and meaning</a:t>
            </a:r>
          </a:p>
          <a:p>
            <a:r>
              <a:rPr lang="en-CA" sz="2200" dirty="0"/>
              <a:t>S = current stock price; K = strike; T = time to expiry in years</a:t>
            </a:r>
          </a:p>
          <a:p>
            <a:r>
              <a:rPr lang="en-CA" sz="2200" dirty="0"/>
              <a:t>r = continuously-compounded risk-free rate; sigma = annualised volatility; N(.) = standard normal CDF</a:t>
            </a:r>
          </a:p>
          <a:p>
            <a:r>
              <a:rPr lang="en-CA" sz="2200" dirty="0"/>
              <a:t>N(d1) = call delta (probability stock finishes ITM under the stock measure)</a:t>
            </a:r>
          </a:p>
          <a:p>
            <a:r>
              <a:rPr lang="en-CA" sz="2200" dirty="0"/>
              <a:t>N(d2) = risk-neutral probability the stock finishes ITM</a:t>
            </a:r>
          </a:p>
          <a:p>
            <a:r>
              <a:rPr lang="en-CA" sz="2200" dirty="0"/>
              <a:t>Assumes: GBM, constant r and sigma, no dividends, European exercise, no transaction costs</a:t>
            </a:r>
          </a:p>
          <a:p>
            <a:r>
              <a:rPr lang="en-CA" sz="2200" dirty="0"/>
              <a:t>Nobel Prize 1997 (Scholes and Merton); Black-Scholes (1973), </a:t>
            </a:r>
            <a:r>
              <a:rPr lang="en-CA" sz="2200" i="1" dirty="0"/>
              <a:t>Journal of Political Economy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Understanding d1 and d2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18" name="Picture 4017" descr="f_d1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27995"/>
            <a:ext cx="5078716" cy="624605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267712"/>
            <a:ext cx="11347704" cy="3785616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CA" sz="2200" b="1" dirty="0"/>
              <a:t>What the terms mean</a:t>
            </a:r>
          </a:p>
          <a:p>
            <a:r>
              <a:rPr lang="en-CA" sz="2200" dirty="0"/>
              <a:t>ln(S/K) measures log-moneyness (how far in or out of the money): greater than 0 ITM, 0 ATM, less than 0 OTM</a:t>
            </a:r>
          </a:p>
          <a:p>
            <a:r>
              <a:rPr lang="en-CA" sz="2200" dirty="0"/>
              <a:t>(r + sigma</a:t>
            </a:r>
            <a:r>
              <a:rPr lang="en-CA" sz="2200" baseline="30000" dirty="0"/>
              <a:t>2</a:t>
            </a:r>
            <a:r>
              <a:rPr lang="en-CA" sz="2200" dirty="0"/>
              <a:t>/2)T is the drift of ln(S) under the stock measure</a:t>
            </a:r>
          </a:p>
          <a:p>
            <a:r>
              <a:rPr lang="en-CA" sz="2200" dirty="0"/>
              <a:t>(r - sigma</a:t>
            </a:r>
            <a:r>
              <a:rPr lang="en-CA" sz="2200" baseline="30000" dirty="0"/>
              <a:t>2</a:t>
            </a:r>
            <a:r>
              <a:rPr lang="en-CA" sz="2200" dirty="0"/>
              <a:t>/2)T is the drift of ln(S) under the risk-neutral measure</a:t>
            </a:r>
          </a:p>
          <a:p>
            <a:r>
              <a:rPr lang="en-CA" sz="2200" dirty="0"/>
              <a:t>d1-d2 = sigma*sqrt(T): the gap grows with vol and time (uncertainty)</a:t>
            </a:r>
          </a:p>
          <a:p>
            <a:pPr marL="0" indent="0">
              <a:buNone/>
            </a:pPr>
            <a:r>
              <a:rPr lang="en-CA" sz="2200" b="1" dirty="0"/>
              <a:t>Limiting behaviour</a:t>
            </a:r>
          </a:p>
          <a:p>
            <a:r>
              <a:rPr lang="en-CA" sz="2200" dirty="0"/>
              <a:t>ATM (S = K, r to 0): d1 = d2 = sigma sqrt(T)/2; N(d1) about N(d2) about 0.5</a:t>
            </a:r>
          </a:p>
          <a:p>
            <a:r>
              <a:rPr lang="en-CA" sz="2200" dirty="0"/>
              <a:t>Deep ITM: d1, d2 to plus infinity, N(d1) to 1, N(d2) to 1 (call about forward price)</a:t>
            </a:r>
          </a:p>
          <a:p>
            <a:r>
              <a:rPr lang="en-CA" sz="2200" dirty="0"/>
              <a:t>Deep OTM: d1, d2 to minus infinity, N(d1) to 0, N(d2) to 0 (call about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Black Scholes Example: Pricing a European Call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2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en-CA" b="1" dirty="0"/>
              <a:t>Given</a:t>
            </a:r>
          </a:p>
          <a:p>
            <a:r>
              <a:rPr lang="en-CA" dirty="0"/>
              <a:t>S = 100 USD (current price); K = 100 USD (strike, ATM)</a:t>
            </a:r>
          </a:p>
          <a:p>
            <a:r>
              <a:rPr lang="en-CA" dirty="0"/>
              <a:t>r = 4.5% (continuously compounded); T = 0.25 yr (3 months); sigma = 20% (annualised vol)</a:t>
            </a:r>
          </a:p>
          <a:p>
            <a:r>
              <a:rPr lang="en-CA" dirty="0"/>
              <a:t>Find: call price C and put price P</a:t>
            </a:r>
          </a:p>
          <a:p>
            <a:pPr marL="0" indent="0">
              <a:buNone/>
            </a:pPr>
            <a:r>
              <a:rPr lang="en-CA" b="1" dirty="0"/>
              <a:t>Solution</a:t>
            </a:r>
          </a:p>
          <a:p>
            <a:r>
              <a:rPr lang="en-CA" dirty="0"/>
              <a:t>Step 1: d1 = [ln(100/100) + (0.045 + 0.02)*0.25] / (0.20*0.50) = 0.01625 / 0.10 = 0.1625</a:t>
            </a:r>
          </a:p>
          <a:p>
            <a:r>
              <a:rPr lang="en-CA" dirty="0"/>
              <a:t>Step 2: d2 = 0.1625 -0.20*0.50 = 0.0625</a:t>
            </a:r>
          </a:p>
          <a:p>
            <a:r>
              <a:rPr lang="en-CA" dirty="0"/>
              <a:t>Step 3: N(d1) = N(0.1625) = 0.5645; N(d2) = N(0.0625) = 0.5249</a:t>
            </a:r>
          </a:p>
          <a:p>
            <a:r>
              <a:rPr lang="en-CA" dirty="0"/>
              <a:t>Step 4: C = 100 *0.5645 – 100* e</a:t>
            </a:r>
            <a:r>
              <a:rPr lang="en-CA" baseline="30000" dirty="0"/>
              <a:t>-0.045 times 0.25</a:t>
            </a:r>
            <a:r>
              <a:rPr lang="en-CA" dirty="0"/>
              <a:t> *0.5249 = 56.45 -51.90 = 4.55</a:t>
            </a:r>
          </a:p>
          <a:p>
            <a:r>
              <a:rPr lang="en-CA" dirty="0"/>
              <a:t>Answer: call C about 4.55 USD; put P = C - S + K * e</a:t>
            </a:r>
            <a:r>
              <a:rPr lang="en-CA" baseline="30000" dirty="0"/>
              <a:t>-</a:t>
            </a:r>
            <a:r>
              <a:rPr lang="en-CA" baseline="30000" dirty="0" err="1"/>
              <a:t>rT</a:t>
            </a:r>
            <a:r>
              <a:rPr lang="en-CA" dirty="0"/>
              <a:t> = 3.43 USD (put-call parity checks)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Binomial Tree Convergence to Black-Scholes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4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The binomial tree and Black-Scholes are two implementations of the same risk-neutral pricing principle</a:t>
            </a:r>
          </a:p>
          <a:p>
            <a:r>
              <a:rPr lang="en-CA" dirty="0"/>
              <a:t>As N (number of time steps) increases, the binomial price approaches the Black-Scholes price</a:t>
            </a:r>
          </a:p>
          <a:p>
            <a:r>
              <a:rPr lang="en-CA" dirty="0"/>
              <a:t>N=5: binomial about 4.37 USD (oscillates due to even/odd parity at ATM)</a:t>
            </a:r>
          </a:p>
          <a:p>
            <a:r>
              <a:rPr lang="en-CA" dirty="0"/>
              <a:t>N=50: binomial about 4.54 USD (within 2 cents); N=500: binomial = 4.5499 USD vs BS = 4.5498 USD (error under 0.0001)</a:t>
            </a:r>
          </a:p>
          <a:p>
            <a:r>
              <a:rPr lang="en-CA" dirty="0"/>
              <a:t>American call on non-dividend stock equals European call (early exercise never optimal)</a:t>
            </a:r>
          </a:p>
          <a:p>
            <a:r>
              <a:rPr lang="en-CA" dirty="0"/>
              <a:t>American put: early exercise CAN be optimal, so binomial price exceeds BS European price</a:t>
            </a:r>
          </a:p>
          <a:p>
            <a:r>
              <a:rPr lang="en-CA" dirty="0"/>
              <a:t>Computational cost: order N-squared nodes - N=500 is fast; N=50,000 impractical</a:t>
            </a:r>
          </a:p>
          <a:p>
            <a:r>
              <a:rPr lang="en-CA" dirty="0"/>
              <a:t>Practical use: CRR with N=100 to 500 for vanilla options; finite difference for exotics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Block 3: The Option Greeks and Hedging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6" name="Content Placeholder"/>
          <p:cNvSpPr>
            <a:spLocks noGrp="1"/>
          </p:cNvSpPr>
          <p:nvPr>
            <p:ph sz="half" idx="2"/>
          </p:nvPr>
        </p:nvSpPr>
        <p:spPr>
          <a:xfrm>
            <a:off x="533400" y="1600200"/>
            <a:ext cx="11345797" cy="4501661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b="1" dirty="0"/>
              <a:t>Delta, gamma, vega, theta, rho and dynamic delta hedging</a:t>
            </a:r>
          </a:p>
          <a:p>
            <a:r>
              <a:rPr lang="en-CA" dirty="0"/>
              <a:t>The Greeks are the language of options desks: how option value moves with each market input</a:t>
            </a:r>
          </a:p>
          <a:p>
            <a:pPr lvl="1"/>
            <a:r>
              <a:rPr lang="en-CA" dirty="0"/>
              <a:t>Delta – underlying price</a:t>
            </a:r>
          </a:p>
          <a:p>
            <a:pPr lvl="1"/>
            <a:r>
              <a:rPr lang="en-CA" dirty="0"/>
              <a:t>Gamma – change in delta</a:t>
            </a:r>
          </a:p>
          <a:p>
            <a:pPr lvl="1"/>
            <a:r>
              <a:rPr lang="en-CA" dirty="0"/>
              <a:t>Theta – passage of time (t)</a:t>
            </a:r>
          </a:p>
          <a:p>
            <a:pPr lvl="1"/>
            <a:r>
              <a:rPr lang="en-CA" dirty="0"/>
              <a:t>Rho – change in interest rates (r)</a:t>
            </a:r>
          </a:p>
          <a:p>
            <a:pPr lvl="1"/>
            <a:r>
              <a:rPr lang="en-CA" dirty="0"/>
              <a:t>Vega – change in volatility (v)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The Five </a:t>
            </a:r>
            <a:r>
              <a:rPr lang="en-CA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Guys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 Greeks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28" name="Picture 4027" descr="f_delg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64" y="1018267"/>
            <a:ext cx="7238272" cy="847344"/>
          </a:xfrm>
          <a:prstGeom prst="rect">
            <a:avLst/>
          </a:prstGeom>
        </p:spPr>
      </p:pic>
      <p:pic>
        <p:nvPicPr>
          <p:cNvPr id="4029" name="Picture 4028" descr="f_v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095080"/>
            <a:ext cx="8052707" cy="648120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889504"/>
            <a:ext cx="11347704" cy="3163824"/>
          </a:xfrm>
        </p:spPr>
        <p:txBody>
          <a:bodyPr wrap="square">
            <a:normAutofit fontScale="62500" lnSpcReduction="20000"/>
          </a:bodyPr>
          <a:lstStyle/>
          <a:p>
            <a:pPr marL="0" indent="0">
              <a:buNone/>
            </a:pPr>
            <a:r>
              <a:rPr lang="en-CA" b="1" dirty="0"/>
              <a:t>Delta and gamma</a:t>
            </a:r>
          </a:p>
          <a:p>
            <a:r>
              <a:rPr lang="en-CA" dirty="0"/>
              <a:t>Delta = partial of option value with respect to S: N(d1) for a call, N(d1) minus 1 for a put; ATM call delta about 0.56</a:t>
            </a:r>
          </a:p>
          <a:p>
            <a:r>
              <a:rPr lang="en-CA" dirty="0"/>
              <a:t>Delta is number shares to hold to hedge one option - the primary hedging instrument</a:t>
            </a:r>
          </a:p>
          <a:p>
            <a:r>
              <a:rPr lang="en-CA" dirty="0"/>
              <a:t>Gamma is the second derivative with respect to S: always positive for long options; peaks at ATM</a:t>
            </a:r>
          </a:p>
          <a:p>
            <a:r>
              <a:rPr lang="en-CA" dirty="0"/>
              <a:t>High gamma means frequent rebalancing; gamma is costly to hedge (requires options)</a:t>
            </a:r>
          </a:p>
          <a:p>
            <a:pPr marL="0" indent="0">
              <a:buNone/>
            </a:pPr>
            <a:r>
              <a:rPr lang="en-CA" b="1" dirty="0"/>
              <a:t>Vega, theta and rho</a:t>
            </a:r>
          </a:p>
          <a:p>
            <a:r>
              <a:rPr lang="en-CA" dirty="0"/>
              <a:t>Vega = partial with respect to sigma: positive for long calls and puts; largest for ATM, long-dated options; central to volatility trading</a:t>
            </a:r>
          </a:p>
          <a:p>
            <a:r>
              <a:rPr lang="en-CA" dirty="0"/>
              <a:t>Theta = partial with respect to time: typically, negative for long options (daily time erosion); high gamma pairs with high magnitude theta</a:t>
            </a:r>
          </a:p>
          <a:p>
            <a:r>
              <a:rPr lang="en-CA" dirty="0"/>
              <a:t>Rho = partial with respect to r: call rho positive, put rho negative; less important at low, stable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Delta and Gamma in Depth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30" name="Picture 4029" descr="f_delg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056367"/>
            <a:ext cx="6587348" cy="771144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267712"/>
            <a:ext cx="11347704" cy="3785616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en-CA" b="1" dirty="0"/>
              <a:t>Delta - directional risk</a:t>
            </a:r>
          </a:p>
          <a:p>
            <a:r>
              <a:rPr lang="en-CA" dirty="0"/>
              <a:t>Call delta = N(d1) in (0, 1); put delta = N(d1) minus 1 in (-1, 0)</a:t>
            </a:r>
          </a:p>
          <a:p>
            <a:r>
              <a:rPr lang="en-CA" dirty="0"/>
              <a:t>Delta-neutral: long 1 call, short delta shares; ATM call (S = K = 100) delta about 0.5645, so hold 0.5645 shares per call</a:t>
            </a:r>
          </a:p>
          <a:p>
            <a:r>
              <a:rPr lang="en-CA" dirty="0"/>
              <a:t>As S rises delta rises (call gets more valuable); as T goes to 0, ITM call delta to 1, OTM to 0</a:t>
            </a:r>
          </a:p>
          <a:p>
            <a:r>
              <a:rPr lang="en-CA" dirty="0"/>
              <a:t>Put-call symmetry: delta of call minus delta of put = 1</a:t>
            </a:r>
          </a:p>
          <a:p>
            <a:pPr marL="0" indent="0">
              <a:buNone/>
            </a:pPr>
            <a:r>
              <a:rPr lang="en-CA" b="1" dirty="0"/>
              <a:t>Gamma - curvature risk</a:t>
            </a:r>
          </a:p>
          <a:p>
            <a:r>
              <a:rPr lang="en-CA" dirty="0"/>
              <a:t>Gamma = phi(d1) / (S sigma sqrt(T)), always greater than 0; ATM call gamma about 0.0394</a:t>
            </a:r>
          </a:p>
          <a:p>
            <a:r>
              <a:rPr lang="en-CA" dirty="0"/>
              <a:t>Delta changes by gamma for a 1 USD move in S; high gamma means delta changes fast, so hedging is costly</a:t>
            </a:r>
          </a:p>
          <a:p>
            <a:r>
              <a:rPr lang="en-CA" dirty="0"/>
              <a:t>Gamma peaks at ATM and near expiry (gamma spike); long gamma profits from large moves, short gamma suffers</a:t>
            </a:r>
          </a:p>
          <a:p>
            <a:r>
              <a:rPr lang="en-CA" dirty="0"/>
              <a:t>Cannot hedge gamma with stock - you need options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Vega, Theta and Rho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32" name="Picture 4031" descr="f_v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77236"/>
            <a:ext cx="8686909" cy="699164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1981200"/>
            <a:ext cx="11347704" cy="4072128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Vega - volatility sensitivity</a:t>
            </a:r>
          </a:p>
          <a:p>
            <a:r>
              <a:rPr lang="en-CA" dirty="0"/>
              <a:t>Vega = S phi(d1) sqrt(T) / 100; ATM call vega about 0.197 USD per 1% vol move</a:t>
            </a:r>
          </a:p>
          <a:p>
            <a:r>
              <a:rPr lang="en-CA" dirty="0"/>
              <a:t>Positive for both long calls and long puts; largest for ATM, long-tenor options</a:t>
            </a:r>
          </a:p>
          <a:p>
            <a:r>
              <a:rPr lang="en-CA" dirty="0"/>
              <a:t>Vega hedging uses other options (a vega-neutral portfolio); the volatility smile shows implied vol is not flat across strikes</a:t>
            </a:r>
          </a:p>
          <a:p>
            <a:r>
              <a:rPr lang="en-CA" dirty="0"/>
              <a:t>VIX = 30-day implied vol of S&amp;P 500 options; Whaley (2000): VIX as the investor fear gauge</a:t>
            </a:r>
          </a:p>
          <a:p>
            <a:pPr marL="0" indent="0">
              <a:buNone/>
            </a:pPr>
            <a:r>
              <a:rPr lang="en-CA" b="1" dirty="0"/>
              <a:t>Theta and rho</a:t>
            </a:r>
          </a:p>
          <a:p>
            <a:r>
              <a:rPr lang="en-CA" dirty="0"/>
              <a:t>Theta about -0.028 USD/day for an ATM call (loses 0.028 daily); theta is the rent paid for option convexity</a:t>
            </a:r>
          </a:p>
          <a:p>
            <a:r>
              <a:rPr lang="en-CA" dirty="0"/>
              <a:t>Short options earn theta but bear gamma risk; high gamma and high magnitude theta are two sides of the same coin</a:t>
            </a:r>
          </a:p>
          <a:p>
            <a:r>
              <a:rPr lang="en-CA" dirty="0"/>
              <a:t>Rho = K T e^(-rT) N(d2) / 100 for a call; call rho positive (higher r means higher call value)</a:t>
            </a:r>
          </a:p>
          <a:p>
            <a:r>
              <a:rPr lang="en-CA" dirty="0"/>
              <a:t>Rho is less important at low or stable rates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Delta Hedging a Short Call Position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34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Setup (step-by-step hedge rebalancing over one week)</a:t>
            </a:r>
          </a:p>
          <a:p>
            <a:r>
              <a:rPr lang="en-CA" dirty="0"/>
              <a:t>Short 1 ATM European call; S0 = 100, K = 100, r = 4.5%, T = 0.25 yr, sigma = 20%</a:t>
            </a:r>
          </a:p>
          <a:p>
            <a:r>
              <a:rPr lang="en-CA" dirty="0"/>
              <a:t>Initial call price C0 = 4.55 USD; initial delta = 0.5645</a:t>
            </a:r>
          </a:p>
          <a:p>
            <a:r>
              <a:rPr lang="en-CA" dirty="0"/>
              <a:t>Strategy: buy 0.5645 shares at t = 0, funded with the option premium; the cash account earns (or pays) r continuously</a:t>
            </a:r>
          </a:p>
          <a:p>
            <a:pPr marL="0" indent="0">
              <a:buNone/>
            </a:pPr>
            <a:r>
              <a:rPr lang="en-CA" b="1" dirty="0"/>
              <a:t>Solution</a:t>
            </a:r>
          </a:p>
          <a:p>
            <a:r>
              <a:rPr lang="en-CA" dirty="0"/>
              <a:t>Day 0: buy 0.5645 shares at 100 = 56.45 USD; receive call premium 4.55 USD; cash account = 4.55 minus 56.45 = -51.90 USD</a:t>
            </a:r>
          </a:p>
          <a:p>
            <a:r>
              <a:rPr lang="en-CA" dirty="0"/>
              <a:t>Day 5 (S = 102): new delta about 0.6103; need to buy 0.6103 minus 0.5645 = 0.0458 more shares</a:t>
            </a:r>
          </a:p>
          <a:p>
            <a:r>
              <a:rPr lang="en-CA" dirty="0"/>
              <a:t>Cost of rebalance: 0.0458 times 102 = 4.67 USD; cash account adjusted for interest plus rebalancing cost</a:t>
            </a:r>
          </a:p>
          <a:p>
            <a:r>
              <a:rPr lang="en-CA" dirty="0"/>
              <a:t>At expiry: residual P&amp;L is the hedging error, from discrete rebalancing (not model error)</a:t>
            </a:r>
          </a:p>
          <a:p>
            <a:r>
              <a:rPr lang="en-CA" dirty="0"/>
              <a:t>Answer: lab simulation mean hedging error about 0 USD over many paths; standard deviation about 0.15 to 0.30 USD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Implied Volatility and the Volatility Smile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36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Implied volatility is the option market's real-time gauge of uncertainty and fear</a:t>
            </a:r>
          </a:p>
          <a:p>
            <a:r>
              <a:rPr lang="en-CA" dirty="0"/>
              <a:t>Implied vol (IV): the sigma that makes the BS price equal the observed market price</a:t>
            </a:r>
          </a:p>
          <a:p>
            <a:r>
              <a:rPr lang="en-CA" dirty="0"/>
              <a:t>Invert BS numerically (Brent's method): given the market call price, find sigma such that BS(sigma) equals it</a:t>
            </a:r>
          </a:p>
          <a:p>
            <a:r>
              <a:rPr lang="en-CA" dirty="0"/>
              <a:t>IV is the market's consensus forecast of realised vol over the option's life</a:t>
            </a:r>
          </a:p>
          <a:p>
            <a:r>
              <a:rPr lang="en-CA" dirty="0"/>
              <a:t>The volatility smile: IV varies across strikes - BS assumes flat sigma but markets show skew</a:t>
            </a:r>
          </a:p>
          <a:p>
            <a:r>
              <a:rPr lang="en-CA" dirty="0"/>
              <a:t>Equity skew: OTM puts have higher IV than OTM calls (negative skew or smirk)</a:t>
            </a:r>
          </a:p>
          <a:p>
            <a:r>
              <a:rPr lang="en-CA" dirty="0"/>
              <a:t>Economic reason: demand for crash insurance drives up OTM put prices and thus IV</a:t>
            </a:r>
          </a:p>
          <a:p>
            <a:r>
              <a:rPr lang="en-CA" dirty="0"/>
              <a:t>VIX: CBOE Volatility Index is model-free 30-day IV of S&amp;P 500 options (Whaley 2000)</a:t>
            </a:r>
          </a:p>
          <a:p>
            <a:r>
              <a:rPr lang="en-CA" dirty="0"/>
              <a:t>VIX over 30 = high fear; under 15 = complacency; over 40 = crisis (GFC 89; COVID 82)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Delta-Gamma Approximation for Option Risk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38" name="Picture 4037" descr="f_tay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979" y="996461"/>
            <a:ext cx="5415621" cy="527539"/>
          </a:xfrm>
          <a:prstGeom prst="rect">
            <a:avLst/>
          </a:prstGeom>
        </p:spPr>
      </p:pic>
      <p:sp>
        <p:nvSpPr>
          <p:cNvPr id="2" name="Content Placeholder"/>
          <p:cNvSpPr>
            <a:spLocks noGrp="1"/>
          </p:cNvSpPr>
          <p:nvPr>
            <p:ph sz="half" idx="2"/>
          </p:nvPr>
        </p:nvSpPr>
        <p:spPr>
          <a:xfrm>
            <a:off x="420624" y="2073274"/>
            <a:ext cx="11347704" cy="3980054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en-CA" b="1" dirty="0"/>
              <a:t>The Taylor expansion</a:t>
            </a:r>
          </a:p>
          <a:p>
            <a:r>
              <a:rPr lang="en-CA" dirty="0"/>
              <a:t>Change in option value: about delta times change in S, plus half gamma times (change in S)-squared, plus vega and theta terms</a:t>
            </a:r>
          </a:p>
          <a:p>
            <a:r>
              <a:rPr lang="en-CA" dirty="0"/>
              <a:t>Delta-only (linear) uses only the first term; delta-gamma (quadratic) adds the curvature term</a:t>
            </a:r>
          </a:p>
          <a:p>
            <a:r>
              <a:rPr lang="en-CA" dirty="0"/>
              <a:t>Quadratic VaR uses the (change in S)-squared term</a:t>
            </a:r>
          </a:p>
          <a:p>
            <a:pPr marL="0" indent="0">
              <a:buNone/>
            </a:pPr>
            <a:r>
              <a:rPr lang="en-CA" b="1" dirty="0"/>
              <a:t>Interpretation</a:t>
            </a:r>
          </a:p>
          <a:p>
            <a:r>
              <a:rPr lang="en-CA" dirty="0"/>
              <a:t>Delta-normal VaR treats options as linear, which is wrong; gamma corrects for the curvature of the payoff</a:t>
            </a:r>
          </a:p>
          <a:p>
            <a:r>
              <a:rPr lang="en-CA" dirty="0"/>
              <a:t>Long options: gamma greater than 0, so losses are smaller than linear says</a:t>
            </a:r>
          </a:p>
          <a:p>
            <a:r>
              <a:rPr lang="en-CA" dirty="0"/>
              <a:t>Short options: gamma less than 0, so losses are LARGER (dangerous)</a:t>
            </a:r>
          </a:p>
          <a:p>
            <a:r>
              <a:rPr lang="en-CA" dirty="0"/>
              <a:t>The vega term captures volatility risk in VaR; this is the basis of the quadratic (delta-gamma) VaR model</a:t>
            </a:r>
          </a:p>
          <a:p>
            <a:r>
              <a:rPr lang="en-CA" dirty="0"/>
              <a:t>Hull Ch.15 sections 15.5 to 15.6; links the Greeks back to Session 3 VaR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Gamma and Vega Hedging in Practice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0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Why delta alone is not enough</a:t>
            </a:r>
          </a:p>
          <a:p>
            <a:r>
              <a:rPr lang="en-CA" dirty="0"/>
              <a:t>The delta hedge is only instantaneous and local</a:t>
            </a:r>
          </a:p>
          <a:p>
            <a:r>
              <a:rPr lang="en-CA" dirty="0"/>
              <a:t>Large moves cause gamma slippage (rehedge cost); volatility changes leave vega P&amp;L unhedged</a:t>
            </a:r>
          </a:p>
          <a:p>
            <a:r>
              <a:rPr lang="en-CA" dirty="0"/>
              <a:t>Frequent rehedging lowers risk but raises cost</a:t>
            </a:r>
          </a:p>
          <a:p>
            <a:r>
              <a:rPr lang="en-CA" dirty="0"/>
              <a:t>Gamma and vega come only from OTHER options, never from the underlying (which is linear)</a:t>
            </a:r>
          </a:p>
          <a:p>
            <a:pPr marL="0" indent="0">
              <a:buNone/>
            </a:pPr>
            <a:r>
              <a:rPr lang="en-CA" b="1" dirty="0"/>
              <a:t>Making a book neutral</a:t>
            </a:r>
          </a:p>
          <a:p>
            <a:r>
              <a:rPr lang="en-CA" dirty="0"/>
              <a:t>Solve a small linear system for option weights: set portfolio gamma = 0 and vega = 0 simultaneously</a:t>
            </a:r>
          </a:p>
          <a:p>
            <a:r>
              <a:rPr lang="en-CA" dirty="0"/>
              <a:t>Then trade the underlying to restore delta = 0</a:t>
            </a:r>
          </a:p>
          <a:p>
            <a:r>
              <a:rPr lang="en-CA" dirty="0"/>
              <a:t>Static option replication for exotics (Hull Ch.15)</a:t>
            </a:r>
          </a:p>
          <a:p>
            <a:r>
              <a:rPr lang="en-CA" dirty="0"/>
              <a:t>Gamma and vega limits cap curvature and vol exposure; scenario analysis backs up the Greek limits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Block 4: Derivatives in Risk Management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2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CA" b="1" dirty="0"/>
              <a:t>Hedging applications, risk transfer, and exam linkage</a:t>
            </a:r>
          </a:p>
          <a:p>
            <a:r>
              <a:rPr lang="en-CA" dirty="0"/>
              <a:t>How risk managers use derivatives to control the six risk types introduced in Session 1</a:t>
            </a:r>
          </a:p>
          <a:p>
            <a:r>
              <a:rPr lang="en-CA" dirty="0"/>
              <a:t>The core option-pricing and Greeks toolkit feeds directly into Assignment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Derivatives for Hedging and Risk Transfer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4" name="Content Placeholder"/>
          <p:cNvSpPr>
            <a:spLocks noGrp="1"/>
          </p:cNvSpPr>
          <p:nvPr>
            <p:ph sz="half" idx="2"/>
          </p:nvPr>
        </p:nvSpPr>
        <p:spPr>
          <a:xfrm>
            <a:off x="423100" y="1066800"/>
            <a:ext cx="11345797" cy="5181599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CA" sz="2200" b="1" dirty="0"/>
              <a:t>Hedging applications</a:t>
            </a:r>
          </a:p>
          <a:p>
            <a:r>
              <a:rPr lang="en-CA" sz="2200" dirty="0"/>
              <a:t>Equity risk: protective put; covered call; collar</a:t>
            </a:r>
          </a:p>
          <a:p>
            <a:r>
              <a:rPr lang="en-CA" sz="2200" dirty="0"/>
              <a:t>FX risk: currency forwards and options (exporters and importers)</a:t>
            </a:r>
          </a:p>
          <a:p>
            <a:r>
              <a:rPr lang="en-CA" sz="2200" dirty="0"/>
              <a:t>Interest-rate risk: swaps, caps, floors (duration management)</a:t>
            </a:r>
          </a:p>
          <a:p>
            <a:r>
              <a:rPr lang="en-CA" sz="2200" dirty="0"/>
              <a:t>Commodity risk: futures (airlines, utilities, miners)</a:t>
            </a:r>
          </a:p>
          <a:p>
            <a:r>
              <a:rPr lang="en-CA" sz="2200" dirty="0"/>
              <a:t>Credit risk: credit default swaps (CDS) on a reference entity</a:t>
            </a:r>
          </a:p>
          <a:p>
            <a:r>
              <a:rPr lang="en-CA" sz="2200" dirty="0"/>
              <a:t>Tail risk: long OTM puts or long VIX calls in a portfolio</a:t>
            </a:r>
          </a:p>
          <a:p>
            <a:r>
              <a:rPr lang="en-CA" sz="2200" dirty="0"/>
              <a:t>Dynamic delta hedging: daily rebalancing by options dealers</a:t>
            </a:r>
          </a:p>
          <a:p>
            <a:r>
              <a:rPr lang="en-CA" sz="2200" dirty="0"/>
              <a:t>Transaction costs make continuous hedging impossible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E1DB-7DAC-D087-8828-4BC46AF7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Title">
            <a:extLst>
              <a:ext uri="{FF2B5EF4-FFF2-40B4-BE49-F238E27FC236}">
                <a16:creationId xmlns:a16="http://schemas.microsoft.com/office/drawing/2014/main" id="{626B814B-F917-7CFC-0707-494FF2B0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Derivatives for Hedging and Risk Transfer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4" name="Content Placeholder">
            <a:extLst>
              <a:ext uri="{FF2B5EF4-FFF2-40B4-BE49-F238E27FC236}">
                <a16:creationId xmlns:a16="http://schemas.microsoft.com/office/drawing/2014/main" id="{F179A832-126E-2EAB-722D-C6ACC64AF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100" y="1066800"/>
            <a:ext cx="11345797" cy="5181599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CA" sz="2200" b="1" dirty="0"/>
              <a:t>Risk management pitfalls</a:t>
            </a:r>
          </a:p>
          <a:p>
            <a:r>
              <a:rPr lang="en-CA" sz="2200" dirty="0"/>
              <a:t>Model risk: wrong sigma input gives a mispriced hedge</a:t>
            </a:r>
          </a:p>
          <a:p>
            <a:r>
              <a:rPr lang="en-CA" sz="2200" dirty="0"/>
              <a:t>Gamma risk: the hedge breaks down in large moves</a:t>
            </a:r>
          </a:p>
          <a:p>
            <a:r>
              <a:rPr lang="en-CA" sz="2200" dirty="0"/>
              <a:t>Liquidity risk: OTC derivatives can freeze in crises</a:t>
            </a:r>
          </a:p>
          <a:p>
            <a:r>
              <a:rPr lang="en-CA" sz="2200" dirty="0"/>
              <a:t>Counterparty risk: OTC has no central clearing guarantee</a:t>
            </a:r>
          </a:p>
          <a:p>
            <a:r>
              <a:rPr lang="en-CA" sz="2200" dirty="0"/>
              <a:t>Wrong-way risk: the hedge provider fails exactly when you need it; vega risk: vol changes after the hedge is placed</a:t>
            </a:r>
          </a:p>
          <a:p>
            <a:r>
              <a:rPr lang="en-CA" sz="2200" dirty="0"/>
              <a:t>Operational: Barings 1995 - supervision failure on futures</a:t>
            </a:r>
          </a:p>
          <a:p>
            <a:r>
              <a:rPr lang="en-CA" sz="2200" dirty="0"/>
              <a:t>Regulation: Dodd-Frank mandates central clearing for standard swaps</a:t>
            </a:r>
          </a:p>
        </p:txBody>
      </p:sp>
    </p:spTree>
    <p:extLst>
      <p:ext uri="{BB962C8B-B14F-4D97-AF65-F5344CB8AC3E}">
        <p14:creationId xmlns:p14="http://schemas.microsoft.com/office/powerpoint/2010/main" val="2814680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Title">
            <a:extLst>
              <a:ext uri="{FF2B5EF4-FFF2-40B4-BE49-F238E27FC236}">
                <a16:creationId xmlns:a16="http://schemas.microsoft.com/office/drawing/2014/main" id="{626B814B-F917-7CFC-0707-494FF2B0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Delta-Gamma Hedging: Building the Hedge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4" name="Content Placeholder">
            <a:extLst>
              <a:ext uri="{FF2B5EF4-FFF2-40B4-BE49-F238E27FC236}">
                <a16:creationId xmlns:a16="http://schemas.microsoft.com/office/drawing/2014/main" id="{F179A832-126E-2EAB-722D-C6ACC64AF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100" y="2560320"/>
            <a:ext cx="11345797" cy="3657600"/>
          </a:xfrm>
        </p:spPr>
        <p:txBody>
          <a:bodyPr wrap="square">
            <a:noAutofit/>
          </a:bodyPr>
          <a:lstStyle/>
          <a:p>
            <a:r>
              <a:rPr lang="en-CA" sz="2200" b="1" dirty="0"/>
              <a:t>Delta neutral removes the level; gamma neutral removes the curvature</a:t>
            </a:r>
          </a:p>
          <a:p>
            <a:r>
              <a:rPr lang="en-CA" sz="2200" b="0" dirty="0"/>
              <a:t>Notation: book delta and gamma; a hedge option (delta, gamma per contract); the stock (delta 1, gamma 0)</a:t>
            </a:r>
          </a:p>
          <a:p>
            <a:r>
              <a:rPr lang="en-CA" sz="2200" b="0" dirty="0"/>
              <a:t>A share has zero gamma, so stock cannot hedge gamma - you need a second option</a:t>
            </a:r>
          </a:p>
          <a:p>
            <a:r>
              <a:rPr lang="en-CA" sz="2200" b="0" dirty="0"/>
              <a:t>Zero the gamma first with the option (left condition), which fixes n</a:t>
            </a:r>
            <a:r>
              <a:rPr lang="en-CA" sz="2200" b="0" baseline="-25000" dirty="0"/>
              <a:t>o</a:t>
            </a:r>
          </a:p>
          <a:p>
            <a:r>
              <a:rPr lang="en-CA" sz="2200" b="0" dirty="0"/>
              <a:t>Then zero the delta with shares (right condition), which fixes n_s and leaves gamma untouched</a:t>
            </a:r>
          </a:p>
          <a:p>
            <a:r>
              <a:rPr lang="en-CA" sz="2200" b="0" dirty="0"/>
              <a:t>Delta-only hedging leaves curvature about one half gamma times (change in S) squared each move</a:t>
            </a:r>
          </a:p>
          <a:p>
            <a:r>
              <a:rPr lang="en-CA" sz="2200" b="0" dirty="0"/>
              <a:t>Trade-off: the hedge option ties up capital and adds vega, so you also take on a volatility view</a:t>
            </a:r>
          </a:p>
        </p:txBody>
      </p:sp>
      <p:pic>
        <p:nvPicPr>
          <p:cNvPr id="4045" name="Picture 4044" descr="dg_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69" y="1234440"/>
            <a:ext cx="7815262" cy="502920"/>
          </a:xfrm>
          <a:prstGeom prst="rect">
            <a:avLst/>
          </a:prstGeom>
        </p:spPr>
      </p:pic>
      <p:pic>
        <p:nvPicPr>
          <p:cNvPr id="4046" name="Picture 4045" descr="dg_sol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198" y="1874519"/>
            <a:ext cx="736960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Worked Example: Delta-Gamma Hedging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4" name="Content Placeholder"/>
          <p:cNvSpPr>
            <a:spLocks noGrp="1"/>
          </p:cNvSpPr>
          <p:nvPr>
            <p:ph sz="half" idx="2"/>
          </p:nvPr>
        </p:nvSpPr>
        <p:spPr>
          <a:xfrm>
            <a:off x="423100" y="1066800"/>
            <a:ext cx="11345797" cy="5181599"/>
          </a:xfrm>
        </p:spPr>
        <p:txBody>
          <a:bodyPr wrap="square">
            <a:noAutofit/>
          </a:bodyPr>
          <a:lstStyle/>
          <a:p>
            <a:r>
              <a:rPr lang="en-CA" sz="2200" b="1" dirty="0"/>
              <a:t>Short 1,000 calls: make the book delta- and gamma-neutral</a:t>
            </a:r>
          </a:p>
          <a:p>
            <a:r>
              <a:rPr lang="en-CA" sz="2200" b="0" dirty="0"/>
              <a:t>Book: 1,000 short calls, each delta 0.60 and gamma 0.04  -&gt;  book delta -600, gamma -40 (short gamma)</a:t>
            </a:r>
          </a:p>
          <a:p>
            <a:r>
              <a:rPr lang="en-CA" sz="2200" b="0" dirty="0"/>
              <a:t>Hedge option: delta 0.50, gamma 0.02; stock: delta 1, gamma 0</a:t>
            </a:r>
          </a:p>
          <a:p>
            <a:r>
              <a:rPr lang="en-CA" sz="2200" b="0" dirty="0"/>
              <a:t>Step 1, gamma: n</a:t>
            </a:r>
            <a:r>
              <a:rPr lang="en-CA" sz="2200" b="0" baseline="-25000" dirty="0"/>
              <a:t>o</a:t>
            </a:r>
            <a:r>
              <a:rPr lang="en-CA" sz="2200" b="0" dirty="0"/>
              <a:t> = -(-40)/0.02 = 2,000  -&gt;  buy 2,000 hedge options; gamma now -40 + 40 = 0</a:t>
            </a:r>
          </a:p>
          <a:p>
            <a:r>
              <a:rPr lang="en-CA" sz="2200" b="0" dirty="0"/>
              <a:t>Step 2, delta: the 2,000 options add +1,000 delta, so book delta = +400; n</a:t>
            </a:r>
            <a:r>
              <a:rPr lang="en-CA" sz="2200" b="0" baseline="-25000" dirty="0"/>
              <a:t>s</a:t>
            </a:r>
            <a:r>
              <a:rPr lang="en-CA" sz="2200" b="0" dirty="0"/>
              <a:t> = -400  -&gt;  sell 400 shares</a:t>
            </a:r>
          </a:p>
          <a:p>
            <a:r>
              <a:rPr lang="en-CA" sz="2200" b="0" dirty="0"/>
              <a:t>Check: delta = -600 + 1,000 - 400 = 0; gamma = -40 + 40 = 0 (neutral to both)</a:t>
            </a:r>
          </a:p>
          <a:p>
            <a:r>
              <a:rPr lang="en-CA" sz="2200" b="0" dirty="0"/>
              <a:t>Payoff: a delta-only hedge loses about (1/2) 40(</a:t>
            </a:r>
            <a:r>
              <a:rPr lang="en-CA" sz="2200" b="0" dirty="0" err="1"/>
              <a:t>dS</a:t>
            </a:r>
            <a:r>
              <a:rPr lang="en-CA" sz="2200" b="0" dirty="0"/>
              <a:t>)</a:t>
            </a:r>
            <a:r>
              <a:rPr lang="en-CA" sz="2200" b="0" baseline="30000" dirty="0"/>
              <a:t>2</a:t>
            </a:r>
            <a:r>
              <a:rPr lang="en-CA" sz="2200" b="0" dirty="0"/>
              <a:t> on a move - about $500 for a $5 move; gamma-neutral avoids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Python Lab: Session_08_Lab.ipynb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8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Lab tasks</a:t>
            </a:r>
          </a:p>
          <a:p>
            <a:r>
              <a:rPr lang="en-CA" dirty="0"/>
              <a:t>1. Implement bs_price() and </a:t>
            </a:r>
            <a:r>
              <a:rPr lang="en-CA" dirty="0" err="1"/>
              <a:t>bs_greeks</a:t>
            </a:r>
            <a:r>
              <a:rPr lang="en-CA" dirty="0"/>
              <a:t>(); verify with the ATM case (C = 4.55, delta = 0.5645)</a:t>
            </a:r>
          </a:p>
          <a:p>
            <a:r>
              <a:rPr lang="en-CA" dirty="0"/>
              <a:t>2. Plot the Greeks dashboard: call price, delta, gamma, vega, theta vs spot for 4 maturities</a:t>
            </a:r>
          </a:p>
          <a:p>
            <a:r>
              <a:rPr lang="en-CA" dirty="0"/>
              <a:t>3. Build the CRR binomial tree; plot convergence (N=5 to 500) against the Black-Scholes benchmark</a:t>
            </a:r>
          </a:p>
          <a:p>
            <a:r>
              <a:rPr lang="en-CA" dirty="0"/>
              <a:t>4. Simulate dynamic delta hedging for a short call: 5 paths, N_DAYS = 63, record hedging error</a:t>
            </a:r>
          </a:p>
          <a:p>
            <a:r>
              <a:rPr lang="en-CA" dirty="0"/>
              <a:t>5. Implement implied_vol() using Brent's method; verify round-trip (price to IV to price)</a:t>
            </a:r>
          </a:p>
          <a:p>
            <a:r>
              <a:rPr lang="en-CA" dirty="0"/>
              <a:t>6. Plot the volatility smile for a synthetic equity option surface (ATM sigma = 17%, equity skew)</a:t>
            </a:r>
          </a:p>
          <a:p>
            <a:r>
              <a:rPr lang="en-CA" dirty="0"/>
              <a:t>7. Optional: download a real option chain from Yahoo Finance; compute the observed IV smile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Discuss</a:t>
            </a:r>
          </a:p>
          <a:p>
            <a:r>
              <a:rPr lang="en-CA" dirty="0"/>
              <a:t>Why is the hedging error non-zero even though the simulation uses the correct BS model?</a:t>
            </a:r>
          </a:p>
          <a:p>
            <a:r>
              <a:rPr lang="en-CA" dirty="0"/>
              <a:t>What happens to delta-hedging cost as gamma is large (near expiry, ATM)?</a:t>
            </a:r>
          </a:p>
          <a:p>
            <a:r>
              <a:rPr lang="en-CA" dirty="0"/>
              <a:t>How does the shape of the volatility smile reflect the market's view of tail risk?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Required Readings and References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52" name="Content Placeholder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Required</a:t>
            </a:r>
          </a:p>
          <a:p>
            <a:r>
              <a:rPr lang="en-CA" dirty="0"/>
              <a:t>Hull, J. C. (2023). Risk Management and Financial Institutions, 6e. Ch. 15: Derivatives Risk - the Greeks and Hedging. Wiley.</a:t>
            </a:r>
          </a:p>
          <a:p>
            <a:r>
              <a:rPr lang="en-CA" dirty="0"/>
              <a:t>Jorion, P. (2010). Financial Risk Manager Handbook, 6e. Ch. 8: Option Markets. Wiley.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Supplementary</a:t>
            </a:r>
          </a:p>
          <a:p>
            <a:r>
              <a:rPr lang="en-CA" dirty="0"/>
              <a:t>Black, F. and Scholes, M. (1973). The pricing of options and corporate liabilities. Journal of Political Economy, 81(3), 637 to 654.</a:t>
            </a:r>
          </a:p>
          <a:p>
            <a:r>
              <a:rPr lang="en-CA" dirty="0"/>
              <a:t>Cox, J. C., Ross, S. A. and Rubinstein, M. (1979). Option pricing: a simplified approach. Journal of Financial Economics, 7(3), 229 to 263.</a:t>
            </a:r>
          </a:p>
          <a:p>
            <a:r>
              <a:rPr lang="en-CA" dirty="0"/>
              <a:t>Whaley, R. E. (2000). The investor fear gauge. Journal of Portfolio Management, 26(3), 12 to 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2137</TotalTime>
  <Words>5525</Words>
  <Application>Microsoft Macintosh PowerPoint</Application>
  <PresentationFormat>Widescreen</PresentationFormat>
  <Paragraphs>280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2013 - 2022 Theme</vt:lpstr>
      <vt:lpstr>FINANCIAL RISK MANAGEMENT AND ENGINEERING  Session 8: Derivatives in Risk Management</vt:lpstr>
      <vt:lpstr>Learning Objectives</vt:lpstr>
      <vt:lpstr>What Are Derivatives?</vt:lpstr>
      <vt:lpstr>Options: Calls, Puts and Payoff Diagrams</vt:lpstr>
      <vt:lpstr>Put-Call Parity</vt:lpstr>
      <vt:lpstr>Option Pricing Models</vt:lpstr>
      <vt:lpstr>The Binomial Option Pricing Tree</vt:lpstr>
      <vt:lpstr>The Black-Scholes Formula</vt:lpstr>
      <vt:lpstr>Understanding d1 and d2</vt:lpstr>
      <vt:lpstr>Black Scholes Example: Pricing a European Call</vt:lpstr>
      <vt:lpstr>Binomial Tree Convergence to Black-Scholes</vt:lpstr>
      <vt:lpstr>Block 3: The Option Greeks and Hedging</vt:lpstr>
      <vt:lpstr>The Five Guys Greeks</vt:lpstr>
      <vt:lpstr>Delta and Gamma in Depth</vt:lpstr>
      <vt:lpstr>Vega, Theta and Rho</vt:lpstr>
      <vt:lpstr>Delta Hedging a Short Call Position</vt:lpstr>
      <vt:lpstr>Implied Volatility and the Volatility Smile</vt:lpstr>
      <vt:lpstr>Delta-Gamma Approximation for Option Risk</vt:lpstr>
      <vt:lpstr>Gamma and Vega Hedging in Practice</vt:lpstr>
      <vt:lpstr>Block 4: Derivatives in Risk Management</vt:lpstr>
      <vt:lpstr>Derivatives for Hedging and Risk Transfer</vt:lpstr>
      <vt:lpstr>Derivatives for Hedging and Risk Transfer</vt:lpstr>
      <vt:lpstr>Delta-Gamma Hedging: Building the Hedge</vt:lpstr>
      <vt:lpstr>Worked Example: Delta-Gamma Hedging</vt:lpstr>
      <vt:lpstr>Python Lab: Session_08_Lab.ipynb</vt:lpstr>
      <vt:lpstr>Required Readings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Hull RMFI 6e - Chapters 1-4</dc:title>
  <dc:subject>Options, Futures, and Other Derivatives, 11e</dc:subject>
  <dc:creator/>
  <cp:keywords>Chapter1</cp:keywords>
  <dc:description>Copyright 2021 by John C. Hull. All Rights Reserved. Published 2021</dc:description>
  <cp:lastModifiedBy>Yuriy Zabolotnyuk</cp:lastModifiedBy>
  <cp:revision>115</cp:revision>
  <dcterms:created xsi:type="dcterms:W3CDTF">2008-05-28T22:27:59Z</dcterms:created>
  <dcterms:modified xsi:type="dcterms:W3CDTF">2026-07-15T20:47:54Z</dcterms:modified>
</cp:coreProperties>
</file>