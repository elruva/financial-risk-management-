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25"/>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4" r:id="rId17"/>
    <p:sldId id="275" r:id="rId18"/>
    <p:sldId id="276" r:id="rId19"/>
    <p:sldId id="277" r:id="rId20"/>
    <p:sldId id="283" r:id="rId21"/>
    <p:sldId id="284" r:id="rId22"/>
    <p:sldId id="285" r:id="rId23"/>
    <p:sldId id="28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38"/>
    <p:restoredTop sz="73006"/>
  </p:normalViewPr>
  <p:slideViewPr>
    <p:cSldViewPr>
      <p:cViewPr varScale="1">
        <p:scale>
          <a:sx n="87" d="100"/>
          <a:sy n="87" d="100"/>
        </p:scale>
        <p:origin x="1056" y="19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17T06:15:32.409" v="1853" actId="27636"/>
      <pc:docMkLst>
        <pc:docMk/>
      </pc:docMkLst>
      <pc:sldChg chg="addSp delSp modSp mod modNotesTx">
        <pc:chgData name="Yuriy Zabolotnyuk" userId="5293f801-6ede-4669-8a17-9af1adeb069e" providerId="ADAL" clId="{9C72D551-62FB-5E3D-901C-9F32929520A9}" dt="2026-07-16T11:32:08.559" v="1695"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modSp del mod modNotesTx">
        <pc:chgData name="Yuriy Zabolotnyuk" userId="5293f801-6ede-4669-8a17-9af1adeb069e" providerId="ADAL" clId="{9C72D551-62FB-5E3D-901C-9F32929520A9}" dt="2026-07-16T11:32:30.947" v="1702" actId="15"/>
        <pc:sldMkLst>
          <pc:docMk/>
          <pc:sldMk cId="0" sldId="258"/>
        </pc:sldMkLst>
        <pc:spChg chg="mod">
          <ac:chgData name="Yuriy Zabolotnyuk" userId="5293f801-6ede-4669-8a17-9af1adeb069e" providerId="ADAL" clId="{9C72D551-62FB-5E3D-901C-9F32929520A9}" dt="2026-07-16T11:32:30.947" v="1702" actId="15"/>
          <ac:spMkLst>
            <pc:docMk/>
            <pc:sldMk cId="0" sldId="258"/>
            <ac:spMk id="4004" creationId="{00000000-0000-0000-0000-000000000000}"/>
          </ac:spMkLst>
        </pc:spChg>
      </pc:sldChg>
      <pc:sldChg chg="modSp add del mod">
        <pc:chgData name="Yuriy Zabolotnyuk" userId="5293f801-6ede-4669-8a17-9af1adeb069e" providerId="ADAL" clId="{9C72D551-62FB-5E3D-901C-9F32929520A9}" dt="2026-07-16T11:33:26.680" v="1715" actId="2696"/>
        <pc:sldMkLst>
          <pc:docMk/>
          <pc:sldMk cId="0" sldId="259"/>
        </pc:sldMkLst>
        <pc:spChg chg="mod">
          <ac:chgData name="Yuriy Zabolotnyuk" userId="5293f801-6ede-4669-8a17-9af1adeb069e" providerId="ADAL" clId="{9C72D551-62FB-5E3D-901C-9F32929520A9}" dt="2026-07-16T11:33:23.857" v="1714" actId="27636"/>
          <ac:spMkLst>
            <pc:docMk/>
            <pc:sldMk cId="0" sldId="259"/>
            <ac:spMk id="4006" creationId="{00000000-0000-0000-0000-000000000000}"/>
          </ac:spMkLst>
        </pc:spChg>
      </pc:sldChg>
      <pc:sldChg chg="modSp del mod">
        <pc:chgData name="Yuriy Zabolotnyuk" userId="5293f801-6ede-4669-8a17-9af1adeb069e" providerId="ADAL" clId="{9C72D551-62FB-5E3D-901C-9F32929520A9}" dt="2026-07-17T06:12:13.146" v="1792" actId="20577"/>
        <pc:sldMkLst>
          <pc:docMk/>
          <pc:sldMk cId="0" sldId="260"/>
        </pc:sldMkLst>
        <pc:spChg chg="mod">
          <ac:chgData name="Yuriy Zabolotnyuk" userId="5293f801-6ede-4669-8a17-9af1adeb069e" providerId="ADAL" clId="{9C72D551-62FB-5E3D-901C-9F32929520A9}" dt="2026-07-17T06:12:13.146" v="1792" actId="20577"/>
          <ac:spMkLst>
            <pc:docMk/>
            <pc:sldMk cId="0" sldId="260"/>
            <ac:spMk id="4008" creationId="{00000000-0000-0000-0000-000000000000}"/>
          </ac:spMkLst>
        </pc:spChg>
      </pc:sldChg>
      <pc:sldChg chg="modSp del mod modNotesTx">
        <pc:chgData name="Yuriy Zabolotnyuk" userId="5293f801-6ede-4669-8a17-9af1adeb069e" providerId="ADAL" clId="{9C72D551-62FB-5E3D-901C-9F32929520A9}" dt="2026-07-16T11:35:21.976" v="1773" actId="20577"/>
        <pc:sldMkLst>
          <pc:docMk/>
          <pc:sldMk cId="0" sldId="261"/>
        </pc:sldMkLst>
        <pc:spChg chg="mod">
          <ac:chgData name="Yuriy Zabolotnyuk" userId="5293f801-6ede-4669-8a17-9af1adeb069e" providerId="ADAL" clId="{9C72D551-62FB-5E3D-901C-9F32929520A9}" dt="2026-07-16T11:35:07.351" v="1772" actId="27636"/>
          <ac:spMkLst>
            <pc:docMk/>
            <pc:sldMk cId="0" sldId="261"/>
            <ac:spMk id="4010" creationId="{00000000-0000-0000-0000-000000000000}"/>
          </ac:spMkLst>
        </pc:spChg>
      </pc:sldChg>
      <pc:sldChg chg="modSp del mod">
        <pc:chgData name="Yuriy Zabolotnyuk" userId="5293f801-6ede-4669-8a17-9af1adeb069e" providerId="ADAL" clId="{9C72D551-62FB-5E3D-901C-9F32929520A9}" dt="2026-07-16T17:47:49.080" v="1777" actId="1076"/>
        <pc:sldMkLst>
          <pc:docMk/>
          <pc:sldMk cId="0" sldId="262"/>
        </pc:sldMkLst>
        <pc:picChg chg="mod">
          <ac:chgData name="Yuriy Zabolotnyuk" userId="5293f801-6ede-4669-8a17-9af1adeb069e" providerId="ADAL" clId="{9C72D551-62FB-5E3D-901C-9F32929520A9}" dt="2026-07-16T17:47:49.080" v="1777" actId="1076"/>
          <ac:picMkLst>
            <pc:docMk/>
            <pc:sldMk cId="0" sldId="262"/>
            <ac:picMk id="4012" creationId="{00000000-0000-0000-0000-000000000000}"/>
          </ac:picMkLst>
        </pc:picChg>
      </pc:sldChg>
      <pc:sldChg chg="modSp del mod">
        <pc:chgData name="Yuriy Zabolotnyuk" userId="5293f801-6ede-4669-8a17-9af1adeb069e" providerId="ADAL" clId="{9C72D551-62FB-5E3D-901C-9F32929520A9}" dt="2026-07-16T17:47:43.863" v="1775" actId="1076"/>
        <pc:sldMkLst>
          <pc:docMk/>
          <pc:sldMk cId="0" sldId="263"/>
        </pc:sldMkLst>
        <pc:picChg chg="mod">
          <ac:chgData name="Yuriy Zabolotnyuk" userId="5293f801-6ede-4669-8a17-9af1adeb069e" providerId="ADAL" clId="{9C72D551-62FB-5E3D-901C-9F32929520A9}" dt="2026-07-16T17:47:43.863" v="1775" actId="1076"/>
          <ac:picMkLst>
            <pc:docMk/>
            <pc:sldMk cId="0" sldId="263"/>
            <ac:picMk id="4014" creationId="{00000000-0000-0000-0000-000000000000}"/>
          </ac:picMkLst>
        </pc:picChg>
      </pc:sldChg>
      <pc:sldChg chg="modSp del mod">
        <pc:chgData name="Yuriy Zabolotnyuk" userId="5293f801-6ede-4669-8a17-9af1adeb069e" providerId="ADAL" clId="{9C72D551-62FB-5E3D-901C-9F32929520A9}" dt="2026-07-16T17:48:01.797" v="1779" actId="1076"/>
        <pc:sldMkLst>
          <pc:docMk/>
          <pc:sldMk cId="0" sldId="264"/>
        </pc:sldMkLst>
        <pc:picChg chg="mod">
          <ac:chgData name="Yuriy Zabolotnyuk" userId="5293f801-6ede-4669-8a17-9af1adeb069e" providerId="ADAL" clId="{9C72D551-62FB-5E3D-901C-9F32929520A9}" dt="2026-07-16T17:48:01.797" v="1779" actId="1076"/>
          <ac:picMkLst>
            <pc:docMk/>
            <pc:sldMk cId="0" sldId="264"/>
            <ac:picMk id="4016" creationId="{00000000-0000-0000-0000-000000000000}"/>
          </ac:picMkLst>
        </pc:picChg>
      </pc:sldChg>
      <pc:sldChg chg="del">
        <pc:chgData name="Yuriy Zabolotnyuk" userId="5293f801-6ede-4669-8a17-9af1adeb069e" providerId="ADAL" clId="{9C72D551-62FB-5E3D-901C-9F32929520A9}" dt="2026-07-05T10:06:38.287" v="270" actId="2696"/>
        <pc:sldMkLst>
          <pc:docMk/>
          <pc:sldMk cId="0" sldId="265"/>
        </pc:sldMkLst>
      </pc:sldChg>
      <pc:sldChg chg="modSp del mod">
        <pc:chgData name="Yuriy Zabolotnyuk" userId="5293f801-6ede-4669-8a17-9af1adeb069e" providerId="ADAL" clId="{9C72D551-62FB-5E3D-901C-9F32929520A9}" dt="2026-07-16T17:48:15.111" v="1781" actId="27636"/>
        <pc:sldMkLst>
          <pc:docMk/>
          <pc:sldMk cId="0" sldId="266"/>
        </pc:sldMkLst>
        <pc:spChg chg="mod">
          <ac:chgData name="Yuriy Zabolotnyuk" userId="5293f801-6ede-4669-8a17-9af1adeb069e" providerId="ADAL" clId="{9C72D551-62FB-5E3D-901C-9F32929520A9}" dt="2026-07-16T17:48:15.111" v="1781" actId="27636"/>
          <ac:spMkLst>
            <pc:docMk/>
            <pc:sldMk cId="0" sldId="266"/>
            <ac:spMk id="4020" creationId="{00000000-0000-0000-0000-000000000000}"/>
          </ac:spMkLst>
        </pc:spChg>
      </pc:sldChg>
      <pc:sldChg chg="del">
        <pc:chgData name="Yuriy Zabolotnyuk" userId="5293f801-6ede-4669-8a17-9af1adeb069e" providerId="ADAL" clId="{9C72D551-62FB-5E3D-901C-9F32929520A9}" dt="2026-07-05T10:06:38.287" v="270" actId="2696"/>
        <pc:sldMkLst>
          <pc:docMk/>
          <pc:sldMk cId="0" sldId="267"/>
        </pc:sldMkLst>
      </pc:sldChg>
      <pc:sldChg chg="modSp del mod modNotesTx">
        <pc:chgData name="Yuriy Zabolotnyuk" userId="5293f801-6ede-4669-8a17-9af1adeb069e" providerId="ADAL" clId="{9C72D551-62FB-5E3D-901C-9F32929520A9}" dt="2026-07-17T06:12:48.171" v="1801" actId="20577"/>
        <pc:sldMkLst>
          <pc:docMk/>
          <pc:sldMk cId="0" sldId="268"/>
        </pc:sldMkLst>
        <pc:spChg chg="mod">
          <ac:chgData name="Yuriy Zabolotnyuk" userId="5293f801-6ede-4669-8a17-9af1adeb069e" providerId="ADAL" clId="{9C72D551-62FB-5E3D-901C-9F32929520A9}" dt="2026-07-17T06:12:36.441" v="1800" actId="27636"/>
          <ac:spMkLst>
            <pc:docMk/>
            <pc:sldMk cId="0" sldId="268"/>
            <ac:spMk id="4024" creationId="{00000000-0000-0000-0000-000000000000}"/>
          </ac:spMkLst>
        </pc:spChg>
      </pc:sldChg>
      <pc:sldChg chg="modSp add del mod modNotesTx">
        <pc:chgData name="Yuriy Zabolotnyuk" userId="5293f801-6ede-4669-8a17-9af1adeb069e" providerId="ADAL" clId="{9C72D551-62FB-5E3D-901C-9F32929520A9}" dt="2026-07-05T17:31:24.955" v="1579" actId="20577"/>
        <pc:sldMkLst>
          <pc:docMk/>
          <pc:sldMk cId="0" sldId="269"/>
        </pc:sldMkLst>
      </pc:sldChg>
      <pc:sldChg chg="modSp add del mod modNotesTx">
        <pc:chgData name="Yuriy Zabolotnyuk" userId="5293f801-6ede-4669-8a17-9af1adeb069e" providerId="ADAL" clId="{9C72D551-62FB-5E3D-901C-9F32929520A9}" dt="2026-07-17T06:13:10.451" v="1806" actId="20577"/>
        <pc:sldMkLst>
          <pc:docMk/>
          <pc:sldMk cId="0" sldId="270"/>
        </pc:sldMkLst>
        <pc:spChg chg="mod">
          <ac:chgData name="Yuriy Zabolotnyuk" userId="5293f801-6ede-4669-8a17-9af1adeb069e" providerId="ADAL" clId="{9C72D551-62FB-5E3D-901C-9F32929520A9}" dt="2026-07-17T06:12:59.909" v="1805" actId="27636"/>
          <ac:spMkLst>
            <pc:docMk/>
            <pc:sldMk cId="0" sldId="270"/>
            <ac:spMk id="2" creationId="{00000000-0000-0000-0000-000000000000}"/>
          </ac:spMkLst>
        </pc:spChg>
      </pc:sldChg>
      <pc:sldChg chg="delSp modSp add del mod modNotesTx">
        <pc:chgData name="Yuriy Zabolotnyuk" userId="5293f801-6ede-4669-8a17-9af1adeb069e" providerId="ADAL" clId="{9C72D551-62FB-5E3D-901C-9F32929520A9}" dt="2026-07-17T06:13:22.066" v="1808" actId="20577"/>
        <pc:sldMkLst>
          <pc:docMk/>
          <pc:sldMk cId="0" sldId="271"/>
        </pc:sldMkLst>
      </pc:sldChg>
      <pc:sldChg chg="delSp modSp add del mod modNotesTx">
        <pc:chgData name="Yuriy Zabolotnyuk" userId="5293f801-6ede-4669-8a17-9af1adeb069e" providerId="ADAL" clId="{9C72D551-62FB-5E3D-901C-9F32929520A9}" dt="2026-07-17T06:13:19.612" v="1807" actId="20577"/>
        <pc:sldMkLst>
          <pc:docMk/>
          <pc:sldMk cId="0" sldId="272"/>
        </pc:sldMkLst>
      </pc:sldChg>
      <pc:sldChg chg="modSp add del mod modNotesTx">
        <pc:chgData name="Yuriy Zabolotnyuk" userId="5293f801-6ede-4669-8a17-9af1adeb069e" providerId="ADAL" clId="{9C72D551-62FB-5E3D-901C-9F32929520A9}" dt="2026-07-17T06:13:27.044" v="1809" actId="2696"/>
        <pc:sldMkLst>
          <pc:docMk/>
          <pc:sldMk cId="0" sldId="273"/>
        </pc:sldMkLst>
      </pc:sldChg>
      <pc:sldChg chg="modSp mod">
        <pc:chgData name="Yuriy Zabolotnyuk" userId="5293f801-6ede-4669-8a17-9af1adeb069e" providerId="ADAL" clId="{9C72D551-62FB-5E3D-901C-9F32929520A9}" dt="2026-07-17T06:13:40.611" v="1825" actId="27636"/>
        <pc:sldMkLst>
          <pc:docMk/>
          <pc:sldMk cId="0" sldId="274"/>
        </pc:sldMkLst>
        <pc:spChg chg="mod">
          <ac:chgData name="Yuriy Zabolotnyuk" userId="5293f801-6ede-4669-8a17-9af1adeb069e" providerId="ADAL" clId="{9C72D551-62FB-5E3D-901C-9F32929520A9}" dt="2026-07-17T06:13:40.611" v="1825" actId="27636"/>
          <ac:spMkLst>
            <pc:docMk/>
            <pc:sldMk cId="0" sldId="274"/>
            <ac:spMk id="2" creationId="{00000000-0000-0000-0000-000000000000}"/>
          </ac:spMkLst>
        </pc:spChg>
        <pc:picChg chg="mod">
          <ac:chgData name="Yuriy Zabolotnyuk" userId="5293f801-6ede-4669-8a17-9af1adeb069e" providerId="ADAL" clId="{9C72D551-62FB-5E3D-901C-9F32929520A9}" dt="2026-07-17T06:13:32.146" v="1817" actId="14100"/>
          <ac:picMkLst>
            <pc:docMk/>
            <pc:sldMk cId="0" sldId="274"/>
            <ac:picMk id="4036" creationId="{00000000-0000-0000-0000-000000000000}"/>
          </ac:picMkLst>
        </pc:picChg>
      </pc:sldChg>
      <pc:sldChg chg="modSp add del mod">
        <pc:chgData name="Yuriy Zabolotnyuk" userId="5293f801-6ede-4669-8a17-9af1adeb069e" providerId="ADAL" clId="{9C72D551-62FB-5E3D-901C-9F32929520A9}" dt="2026-07-17T06:13:58.347" v="1832" actId="20577"/>
        <pc:sldMkLst>
          <pc:docMk/>
          <pc:sldMk cId="0" sldId="275"/>
        </pc:sldMkLst>
        <pc:spChg chg="mod">
          <ac:chgData name="Yuriy Zabolotnyuk" userId="5293f801-6ede-4669-8a17-9af1adeb069e" providerId="ADAL" clId="{9C72D551-62FB-5E3D-901C-9F32929520A9}" dt="2026-07-17T06:13:58.347" v="1832" actId="20577"/>
          <ac:spMkLst>
            <pc:docMk/>
            <pc:sldMk cId="0" sldId="275"/>
            <ac:spMk id="2" creationId="{00000000-0000-0000-0000-000000000000}"/>
          </ac:spMkLst>
        </pc:spChg>
        <pc:picChg chg="mod">
          <ac:chgData name="Yuriy Zabolotnyuk" userId="5293f801-6ede-4669-8a17-9af1adeb069e" providerId="ADAL" clId="{9C72D551-62FB-5E3D-901C-9F32929520A9}" dt="2026-07-17T06:13:48.653" v="1827" actId="1076"/>
          <ac:picMkLst>
            <pc:docMk/>
            <pc:sldMk cId="0" sldId="275"/>
            <ac:picMk id="4038" creationId="{00000000-0000-0000-0000-000000000000}"/>
          </ac:picMkLst>
        </pc:picChg>
        <pc:picChg chg="mod">
          <ac:chgData name="Yuriy Zabolotnyuk" userId="5293f801-6ede-4669-8a17-9af1adeb069e" providerId="ADAL" clId="{9C72D551-62FB-5E3D-901C-9F32929520A9}" dt="2026-07-17T06:13:52.872" v="1829" actId="1076"/>
          <ac:picMkLst>
            <pc:docMk/>
            <pc:sldMk cId="0" sldId="275"/>
            <ac:picMk id="4039" creationId="{00000000-0000-0000-0000-000000000000}"/>
          </ac:picMkLst>
        </pc:picChg>
      </pc:sldChg>
      <pc:sldChg chg="modSp add del mod">
        <pc:chgData name="Yuriy Zabolotnyuk" userId="5293f801-6ede-4669-8a17-9af1adeb069e" providerId="ADAL" clId="{9C72D551-62FB-5E3D-901C-9F32929520A9}" dt="2026-07-17T06:14:12.963" v="1841" actId="27636"/>
        <pc:sldMkLst>
          <pc:docMk/>
          <pc:sldMk cId="0" sldId="276"/>
        </pc:sldMkLst>
        <pc:spChg chg="mod">
          <ac:chgData name="Yuriy Zabolotnyuk" userId="5293f801-6ede-4669-8a17-9af1adeb069e" providerId="ADAL" clId="{9C72D551-62FB-5E3D-901C-9F32929520A9}" dt="2026-07-17T06:14:12.963" v="1841" actId="27636"/>
          <ac:spMkLst>
            <pc:docMk/>
            <pc:sldMk cId="0" sldId="276"/>
            <ac:spMk id="4040" creationId="{00000000-0000-0000-0000-000000000000}"/>
          </ac:spMkLst>
        </pc:spChg>
      </pc:sldChg>
      <pc:sldChg chg="addSp delSp modSp mod">
        <pc:chgData name="Yuriy Zabolotnyuk" userId="5293f801-6ede-4669-8a17-9af1adeb069e" providerId="ADAL" clId="{9C72D551-62FB-5E3D-901C-9F32929520A9}" dt="2026-07-17T06:14:28.191" v="1843" actId="27636"/>
        <pc:sldMkLst>
          <pc:docMk/>
          <pc:sldMk cId="0" sldId="277"/>
        </pc:sldMkLst>
        <pc:spChg chg="mod">
          <ac:chgData name="Yuriy Zabolotnyuk" userId="5293f801-6ede-4669-8a17-9af1adeb069e" providerId="ADAL" clId="{9C72D551-62FB-5E3D-901C-9F32929520A9}" dt="2026-07-17T06:14:28.191" v="1843" actId="27636"/>
          <ac:spMkLst>
            <pc:docMk/>
            <pc:sldMk cId="0" sldId="277"/>
            <ac:spMk id="2" creationId="{00000000-0000-0000-0000-000000000000}"/>
          </ac:spMkLst>
        </pc:spChg>
      </pc:sldChg>
      <pc:sldChg chg="addSp modSp del mod">
        <pc:chgData name="Yuriy Zabolotnyuk" userId="5293f801-6ede-4669-8a17-9af1adeb069e" providerId="ADAL" clId="{9C72D551-62FB-5E3D-901C-9F32929520A9}" dt="2026-07-17T06:14:43.600" v="1844" actId="2696"/>
        <pc:sldMkLst>
          <pc:docMk/>
          <pc:sldMk cId="0" sldId="278"/>
        </pc:sldMkLst>
      </pc:sldChg>
      <pc:sldChg chg="modSp add del">
        <pc:chgData name="Yuriy Zabolotnyuk" userId="5293f801-6ede-4669-8a17-9af1adeb069e" providerId="ADAL" clId="{9C72D551-62FB-5E3D-901C-9F32929520A9}" dt="2026-07-17T06:14:46.463" v="1845" actId="2696"/>
        <pc:sldMkLst>
          <pc:docMk/>
          <pc:sldMk cId="0" sldId="279"/>
        </pc:sldMkLst>
      </pc:sldChg>
      <pc:sldChg chg="addSp delSp modSp del mod">
        <pc:chgData name="Yuriy Zabolotnyuk" userId="5293f801-6ede-4669-8a17-9af1adeb069e" providerId="ADAL" clId="{9C72D551-62FB-5E3D-901C-9F32929520A9}" dt="2026-07-17T06:14:48.384" v="1846" actId="2696"/>
        <pc:sldMkLst>
          <pc:docMk/>
          <pc:sldMk cId="0" sldId="280"/>
        </pc:sldMkLst>
      </pc:sldChg>
      <pc:sldChg chg="modSp mod ord">
        <pc:chgData name="Yuriy Zabolotnyuk" userId="5293f801-6ede-4669-8a17-9af1adeb069e" providerId="ADAL" clId="{9C72D551-62FB-5E3D-901C-9F32929520A9}" dt="2026-07-17T06:15:00.444" v="1848" actId="20578"/>
        <pc:sldMkLst>
          <pc:docMk/>
          <pc:sldMk cId="0" sldId="281"/>
        </pc:sldMkLst>
      </pc:sldChg>
      <pc:sldChg chg="modSp del mod">
        <pc:chgData name="Yuriy Zabolotnyuk" userId="5293f801-6ede-4669-8a17-9af1adeb069e" providerId="ADAL" clId="{9C72D551-62FB-5E3D-901C-9F32929520A9}" dt="2026-07-17T06:15:04.650" v="1849" actId="2696"/>
        <pc:sldMkLst>
          <pc:docMk/>
          <pc:sldMk cId="0" sldId="282"/>
        </pc:sldMkLst>
      </pc:sldChg>
      <pc:sldChg chg="modSp mod">
        <pc:chgData name="Yuriy Zabolotnyuk" userId="5293f801-6ede-4669-8a17-9af1adeb069e" providerId="ADAL" clId="{9C72D551-62FB-5E3D-901C-9F32929520A9}" dt="2026-07-17T06:15:23.124" v="1851" actId="27636"/>
        <pc:sldMkLst>
          <pc:docMk/>
          <pc:sldMk cId="0" sldId="283"/>
        </pc:sldMkLst>
        <pc:spChg chg="mod">
          <ac:chgData name="Yuriy Zabolotnyuk" userId="5293f801-6ede-4669-8a17-9af1adeb069e" providerId="ADAL" clId="{9C72D551-62FB-5E3D-901C-9F32929520A9}" dt="2026-07-17T06:15:23.124" v="1851" actId="27636"/>
          <ac:spMkLst>
            <pc:docMk/>
            <pc:sldMk cId="0" sldId="283"/>
            <ac:spMk id="4048" creationId="{00000000-0000-0000-0000-000000000000}"/>
          </ac:spMkLst>
        </pc:spChg>
      </pc:sldChg>
      <pc:sldChg chg="modSp mod">
        <pc:chgData name="Yuriy Zabolotnyuk" userId="5293f801-6ede-4669-8a17-9af1adeb069e" providerId="ADAL" clId="{9C72D551-62FB-5E3D-901C-9F32929520A9}" dt="2026-07-17T06:15:32.409" v="1853" actId="27636"/>
        <pc:sldMkLst>
          <pc:docMk/>
          <pc:sldMk cId="0" sldId="284"/>
        </pc:sldMkLst>
        <pc:spChg chg="mod">
          <ac:chgData name="Yuriy Zabolotnyuk" userId="5293f801-6ede-4669-8a17-9af1adeb069e" providerId="ADAL" clId="{9C72D551-62FB-5E3D-901C-9F32929520A9}" dt="2026-07-17T06:15:32.409" v="1853" actId="27636"/>
          <ac:spMkLst>
            <pc:docMk/>
            <pc:sldMk cId="0" sldId="284"/>
            <ac:spMk id="40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7/17/26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Hull's perspective: the goal is to take the right risks, not zero risk. Every investment decision is a risk-return trade-off, and the portfolio is the container where those trade-offs are managed jointly.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the 2-asset case explicitly: portfolio variance = w1-squared sigma1-squared + w2-squared sigma2-squared + 2 w1 w2 rho sigma1 sigma2. Show that when rho = 1 the frontier degenerates to a straight line, and when rho is below 1 the frontier bows to the left. This motivates the entire idea of diversification.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Emphasise robustness: the GMV portfolio needs only Sigma, not mu. Because expected returns are notoriously hard to estimate, GMV outperforms tangency in many out-of-sample tests. DeMiguel et al. (2009) show that even 1/N beats many optimised portfolios out-of-sample.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tangency portfolio is the theoretical foundation of CAPM: if everyone has the same beliefs (mu, Sigma), the tangency must be the market portfolio. In practice, estimated tangency weights are extreme and unstable, motivating the shrinkage and robust methods in Session 10.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Sketch the bullet on the whiteboard or walk through the Python chart. Point out that the GMV is always strictly inside the individual-asset cloud, which is the diversification benefit in action. Two-fund separation is the result that makes index investing rational.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case study bridges theory and the supplement readings. Markowitz shows why we need the framework; Michaud (1989) and DeMiguel et al. (2009) show its limits. Jorion Ch. 29 is the FRM practitioner's synthesis.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2: live coding. Session_09_Lab.ipynb has five exercises. Use 10 US sector ETFs (XLK, XLV, XLF, XLE, XLI, XLY, XLP, XLU, XLB, XLRE) over 2015 to 2024. Students will adapt this to their own 3-stock portfolios for Assignment 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Log returns are additive over time; simple returns are additive across assets, and both have their place. Sigma must have full rank, so you need T greater than n observations.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Monte Carlo has a pedagogical advantage: students see the bullet emerge from random weight vectors. They also see that random search leaves gaps near the frontier, which motivates a proper optimiser. With N = 20,000 it runs in about five seconds.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lab calculation: Sw = Sigma @ w_tan; port_var = w_tan @ Sw; rc = w_tan * Sw / port_var. Plot the bar chart of percentage contributions. Students often find that the tangency portfolio has extreme risk concentration, motivating risk parity as a more balanced alternative (Session 10).</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CAPM regression is the simplest risk-attribution model. Walk through the lab output: Technology (XLK) has the highest beta, Utilities (XLU) the lowest. Alpha estimates are unreliable with 10 years of data, so stress the statistical noise. R-squared shows how market-correlated each sector is.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Michaud's enigma is perhaps the most important result for practitioners: the </a:t>
            </a:r>
            <a:r>
              <a:rPr dirty="0" err="1"/>
              <a:t>optimiser</a:t>
            </a:r>
            <a:r>
              <a:rPr dirty="0"/>
              <a:t> is a knife that cuts both ways. Assignment 3 explicitly requires a comparison to 1/N and a discussion of estimation risk, so this slide is their roadmap for that section. References: Michaud (1989); DeMiguel, </a:t>
            </a:r>
            <a:r>
              <a:rPr dirty="0" err="1"/>
              <a:t>Garlappi</a:t>
            </a:r>
            <a:r>
              <a:rPr dirty="0"/>
              <a:t> and Uppal (2009).</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conceptual heart of Hull Ch.1: why diversification works and where it stops. Decompose each asset's variance into a market-driven piece and an asset-specific piece. Spreading across many names averages the idiosyncratic part toward zero, but the common-factor (systematic) part remains, the average-rho times average-variance floor. That floor is precisely the risk that earns a premium, and it rises in crises when average correlation approaches one (Session 2). Tie to the exam: their 3-stock portfolio is too small to diversify fully, which is a discussion point.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of 2 explaining how the nine portfolio optimisation methods from the PyPortfolioOpt notebook differ. Every method needs two inputs: an expected return for each asset (usually just the historical average) and a covariance matrix (how every asset's moves relate to every other asset's moves, which is what captures diversification). The methods differ mainly in how much they trust these inputs and what they optimise for.</a:t>
            </a:r>
          </a:p>
          <a:p>
            <a:endParaRPr/>
          </a:p>
          <a:p>
            <a:r>
              <a:t>1/N (equal weight) splits capital equally across every asset and uses no return or risk data at all. It exists as a sanity check: if a fancier method cannot beat this simple baseline, the extra complexity is not earning its keep (DeMiguel, Garlappi and Uppal 2009).</a:t>
            </a:r>
          </a:p>
          <a:p>
            <a:endParaRPr/>
          </a:p>
          <a:p>
            <a:r>
              <a:t>Minimum-variance ignores expected returns entirely and asks only: of all the ways to combine these assets, which combination has the lowest possible volatility? Reasonable when you trust your risk estimate but not your return forecast.</a:t>
            </a:r>
          </a:p>
          <a:p>
            <a:endParaRPr/>
          </a:p>
          <a:p>
            <a:r>
              <a:t>Markowitz (max-Sharpe) is the classic 1952 idea: use both expected returns and the covariance matrix to find the portfolio that maximises the Sharpe ratio. It sits exactly on the efficient frontier, but it is also the most sensitive to errors in the return forecasts fed into it.</a:t>
            </a:r>
          </a:p>
          <a:p>
            <a:endParaRPr/>
          </a:p>
          <a:p>
            <a:r>
              <a:t>Markowitz plus Ledoit-Wolf keeps the same Max-Sharpe objective, but shrinks the covariance matrix first, since raw historical covariance from a limited sample is noisy. Same recipe, less noisy ingredient.</a:t>
            </a:r>
          </a:p>
          <a:p>
            <a:endParaRPr/>
          </a:p>
          <a:p>
            <a:r>
              <a:t>Robust (L2 plus Ledoit-Wolf) starts from the low-risk idea but adds a mathematical penalty (L2 regularisation) that punishes concentrated weights, spreading the solution out without changing its risk level. Unconstrained optimisers often concentrate huge weight in a handful of names because the math found a razor-thin edge there; this guards against that being just estimation noise.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of 2. Equal Risk Contribution (ERC, or risk parity) is a different definition of balanced: instead of equal dollars (1/N) or maximum Sharpe (Markowitz), it finds weights so that every asset contributes the same share of total portfolio risk. A volatile asset gets a smaller dollar weight so its risk contribution matches a calmer asset's. This is the philosophy behind funds like Bridgewater's All Weather.</a:t>
            </a:r>
          </a:p>
          <a:p>
            <a:endParaRPr/>
          </a:p>
          <a:p>
            <a:r>
              <a:t>ESG-constrained is literally the Max-Sharpe optimiser again, with one added rule: the portfolio's average ESG score must clear a minimum floor. You get the best possible Sharpe ratio subject to that constraint - the method is constrained optimisation, not a claim that ESG investing outperforms in general.</a:t>
            </a:r>
          </a:p>
          <a:p>
            <a:endParaRPr/>
          </a:p>
          <a:p>
            <a:r>
              <a:t>Black-Litterman fixes the biggest weakness of Markowitz: the inputs. Instead of forecasting every asset's return yourself, it starts from a neutral, market-implied consensus return (back-solved from market-cap weights), then lets you nudge it with a small number of specific views you are actually confident about. The optimiser blends your views with the market consensus, weighted by your stated confidence - so you only have to be right about one or two things instead of forecasting every asset.</a:t>
            </a:r>
          </a:p>
          <a:p>
            <a:endParaRPr/>
          </a:p>
          <a:p>
            <a:r>
              <a:t>Hierarchical Risk Parity is a different mechanism entirely. Every method except 1/N needs to invert the covariance matrix, which becomes unstable with many assets or noisy data. HRP groups assets into a tree based on correlation (tech stocks cluster together, bonds cluster together) and allocates risk top-down through that tree, never inverting the full matrix. This is why HRP is popular in practice for large, real-world universes: it stays numerically stable exactly where the other methods can misbehave.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table for the nine optimisation methods demonstrated in the PyPortfolioOpt S&amp;P 500 notebook. Read across each row as: what is this method actually trying to achieve, does it need a return forecast (the hardest number to get right), and does it need to invert the covariance matrix (which becomes numerically fragile with many assets or a short data history). Only 1/N and HRP avoid both a return forecast and a matrix inversion, which is exactly why they are the two methods that stay reliable at very large scale.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Hull Ch. 1 Sections 1.1 to 1.4 set the risk-return context; Jorion Ch. 29 is the FRM practitioner treatment of portfolio risk. For the supplementaries: Markowitz (1952) is brief and readable, so students should skim the original. Michaud and DeMiguel are the key critical readings for Assignment 3's out-of-sample comparison section.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9: Portfolio Risk and Optimization I: Mean-Variance</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fontScale="92500"/>
          </a:bodyPr>
          <a:lstStyle/>
          <a:p>
            <a:pPr marL="0" indent="0">
              <a:buNone/>
            </a:pPr>
            <a:r>
              <a:rPr lang="en-CA" b="1" dirty="0"/>
              <a:t>By the end of this session, you will be able to:</a:t>
            </a:r>
          </a:p>
          <a:p>
            <a:pPr marL="0" indent="0">
              <a:buNone/>
            </a:pPr>
            <a:r>
              <a:rPr lang="en-CA" dirty="0"/>
              <a:t>1. Explain the mean-variance framework and the assumptions behind Markowitz (1952)</a:t>
            </a:r>
          </a:p>
          <a:p>
            <a:pPr marL="0" indent="0">
              <a:buNone/>
            </a:pPr>
            <a:r>
              <a:rPr lang="en-CA" dirty="0"/>
              <a:t>2. Derive and interpret portfolio variance (w-transpose Sigma w) and its components</a:t>
            </a:r>
          </a:p>
          <a:p>
            <a:pPr marL="0" indent="0">
              <a:buNone/>
            </a:pPr>
            <a:r>
              <a:rPr lang="en-CA" dirty="0"/>
              <a:t>3. Compute the global minimum-variance portfolio and the tangency (max-Sharpe) portfolio</a:t>
            </a:r>
          </a:p>
          <a:p>
            <a:pPr marL="0" indent="0">
              <a:buNone/>
            </a:pPr>
            <a:r>
              <a:rPr lang="en-CA" dirty="0"/>
              <a:t>4. Construct the efficient frontier analytically and via Monte Carlo simulation</a:t>
            </a:r>
          </a:p>
          <a:p>
            <a:pPr marL="0" indent="0">
              <a:buNone/>
            </a:pPr>
            <a:r>
              <a:rPr lang="en-CA" dirty="0"/>
              <a:t>5. Decompose portfolio risk using CAPM beta, alpha, and component risk contributions</a:t>
            </a:r>
          </a:p>
          <a:p>
            <a:pPr marL="0" indent="0">
              <a:buNone/>
            </a:pPr>
            <a:r>
              <a:rPr lang="en-CA" dirty="0"/>
              <a:t>6. Critically evaluate the limits of mean-variance optimisation (Michaud 1989; DeMiguel et al. 2009)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Risk-Return Trade-off</a:t>
            </a:r>
            <a:endParaRPr b="1" dirty="0">
              <a:latin typeface="Arial" panose="020B0604020202020204" pitchFamily="34" charset="0"/>
              <a:cs typeface="Arial" panose="020B0604020202020204" pitchFamily="34" charset="0"/>
            </a:endParaRPr>
          </a:p>
        </p:txBody>
      </p:sp>
      <p:sp>
        <p:nvSpPr>
          <p:cNvPr id="4008" name="Content Placeholder"/>
          <p:cNvSpPr>
            <a:spLocks noGrp="1"/>
          </p:cNvSpPr>
          <p:nvPr>
            <p:ph sz="half" idx="2"/>
          </p:nvPr>
        </p:nvSpPr>
        <p:spPr/>
        <p:txBody>
          <a:bodyPr wrap="square">
            <a:normAutofit fontScale="62500" lnSpcReduction="20000"/>
          </a:bodyPr>
          <a:lstStyle/>
          <a:p>
            <a:pPr marL="0" indent="0">
              <a:buNone/>
            </a:pPr>
            <a:r>
              <a:rPr lang="en-CA" b="1" dirty="0"/>
              <a:t>The trade-off (Hull 2023 RMFI 6e, Ch. 1, Sections 1.1 to 1.4)</a:t>
            </a:r>
          </a:p>
          <a:p>
            <a:r>
              <a:rPr lang="en-CA" dirty="0"/>
              <a:t>Expected return is compensation for bearing risk</a:t>
            </a:r>
          </a:p>
          <a:p>
            <a:r>
              <a:rPr lang="en-CA" dirty="0"/>
              <a:t>Higher risk means higher required return (or a lower price)</a:t>
            </a:r>
          </a:p>
          <a:p>
            <a:r>
              <a:rPr lang="en-CA" dirty="0"/>
              <a:t>The risk-free rate sets the floor; the market premium is the reward</a:t>
            </a:r>
          </a:p>
          <a:p>
            <a:r>
              <a:rPr lang="en-CA" dirty="0"/>
              <a:t>Diversification: pool assets to lower idiosyncratic risk</a:t>
            </a:r>
          </a:p>
          <a:p>
            <a:r>
              <a:rPr lang="en-CA" dirty="0"/>
              <a:t>Systematic (market) risk cannot be diversified away</a:t>
            </a:r>
          </a:p>
          <a:p>
            <a:r>
              <a:rPr lang="en-CA" dirty="0"/>
              <a:t>Key insight: risk management is not the same as risk elimination</a:t>
            </a:r>
          </a:p>
          <a:p>
            <a:pPr marL="0" indent="0">
              <a:buNone/>
            </a:pPr>
            <a:r>
              <a:rPr lang="en-CA" b="1" dirty="0"/>
              <a:t>Portfolio context</a:t>
            </a:r>
          </a:p>
          <a:p>
            <a:r>
              <a:rPr lang="en-CA" dirty="0"/>
              <a:t>A portfolio of n assets has 2n parameters to estimate</a:t>
            </a:r>
          </a:p>
          <a:p>
            <a:r>
              <a:rPr lang="en-CA" dirty="0"/>
              <a:t>Return: expected portfolio return is w-transpose mu (linear in weights)</a:t>
            </a:r>
          </a:p>
          <a:p>
            <a:r>
              <a:rPr lang="en-CA" dirty="0"/>
              <a:t>Risk: portfolio variance is w-transpose Sigma w (quadratic in weights)</a:t>
            </a:r>
          </a:p>
          <a:p>
            <a:r>
              <a:rPr lang="en-CA" dirty="0"/>
              <a:t>Diversification benefit comes from the off-diagonal Sigma terms</a:t>
            </a:r>
          </a:p>
          <a:p>
            <a:r>
              <a:rPr lang="en-CA" dirty="0"/>
              <a:t>If assets are perfectly correlated, there is no benefit</a:t>
            </a:r>
          </a:p>
          <a:p>
            <a:r>
              <a:rPr lang="en-CA" dirty="0"/>
              <a:t>In practice correlations below one push the frontier inside the solo assets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Mean-Variance Framework</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066801"/>
            <a:ext cx="11345797" cy="4970584"/>
          </a:xfrm>
        </p:spPr>
        <p:txBody>
          <a:bodyPr wrap="square">
            <a:normAutofit fontScale="62500" lnSpcReduction="20000"/>
          </a:bodyPr>
          <a:lstStyle/>
          <a:p>
            <a:pPr marL="0" indent="0">
              <a:buNone/>
            </a:pPr>
            <a:r>
              <a:rPr lang="en-CA" b="1" dirty="0"/>
              <a:t>Core assumptions</a:t>
            </a:r>
          </a:p>
          <a:p>
            <a:r>
              <a:rPr lang="en-CA" dirty="0"/>
              <a:t>Investors care only about expected return and variance</a:t>
            </a:r>
          </a:p>
          <a:p>
            <a:r>
              <a:rPr lang="en-CA" dirty="0"/>
              <a:t>Returns are jointly normally distributed</a:t>
            </a:r>
          </a:p>
          <a:p>
            <a:r>
              <a:rPr lang="en-CA" dirty="0"/>
              <a:t>Single-period optimisation horizon; no taxes, no transaction costs</a:t>
            </a:r>
          </a:p>
          <a:p>
            <a:r>
              <a:rPr lang="en-CA" dirty="0"/>
              <a:t>Homogeneous expectations across investors</a:t>
            </a:r>
          </a:p>
          <a:p>
            <a:pPr marL="0" indent="0">
              <a:buNone/>
            </a:pPr>
            <a:r>
              <a:rPr lang="en-CA" b="1" dirty="0"/>
              <a:t>Decision space</a:t>
            </a:r>
          </a:p>
          <a:p>
            <a:r>
              <a:rPr lang="en-CA" dirty="0"/>
              <a:t>Weights sum to one</a:t>
            </a:r>
          </a:p>
          <a:p>
            <a:pPr lvl="1"/>
            <a:r>
              <a:rPr lang="en-CA" dirty="0"/>
              <a:t>Long-only: weights greater than or equal to zero (standard exam case)</a:t>
            </a:r>
          </a:p>
          <a:p>
            <a:pPr lvl="1"/>
            <a:r>
              <a:rPr lang="en-CA" dirty="0"/>
              <a:t>Short sales allowed: weights unconstrained</a:t>
            </a:r>
          </a:p>
          <a:p>
            <a:r>
              <a:rPr lang="en-CA" dirty="0"/>
              <a:t>Inputs: mu (expected returns) and Sigma (covariances)</a:t>
            </a:r>
          </a:p>
          <a:p>
            <a:r>
              <a:rPr lang="en-CA" dirty="0"/>
              <a:t>All feasible portfolios form a 'bullet' shape</a:t>
            </a:r>
          </a:p>
          <a:p>
            <a:pPr marL="0" indent="0">
              <a:buNone/>
            </a:pPr>
            <a:r>
              <a:rPr lang="en-CA" b="1" dirty="0"/>
              <a:t>What the frontier is</a:t>
            </a:r>
          </a:p>
          <a:p>
            <a:r>
              <a:rPr lang="en-CA" dirty="0"/>
              <a:t>Efficient frontier is the upper-left edge of the feasible set</a:t>
            </a:r>
          </a:p>
          <a:p>
            <a:r>
              <a:rPr lang="en-CA" dirty="0"/>
              <a:t>Every point gives the minimum variance for a given return</a:t>
            </a:r>
          </a:p>
          <a:p>
            <a:r>
              <a:rPr lang="en-CA" dirty="0"/>
              <a:t>Below GMV: portfolios exist but are inefficient; above tangency on the CML use leverage or the risk-free asset</a:t>
            </a:r>
          </a:p>
          <a:p>
            <a:r>
              <a:rPr lang="en-CA" dirty="0"/>
              <a:t>Investors choose a point based on risk aversion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Key Formula: Portfolio Variance</a:t>
            </a:r>
            <a:endParaRPr b="1" dirty="0">
              <a:latin typeface="Arial" panose="020B0604020202020204" pitchFamily="34" charset="0"/>
              <a:cs typeface="Arial" panose="020B0604020202020204" pitchFamily="34" charset="0"/>
            </a:endParaRPr>
          </a:p>
        </p:txBody>
      </p:sp>
      <p:pic>
        <p:nvPicPr>
          <p:cNvPr id="4012" name="Picture 4011" descr="f_portvar.png"/>
          <p:cNvPicPr>
            <a:picLocks noChangeAspect="1"/>
          </p:cNvPicPr>
          <p:nvPr/>
        </p:nvPicPr>
        <p:blipFill>
          <a:blip r:embed="rId3"/>
          <a:stretch>
            <a:fillRect/>
          </a:stretch>
        </p:blipFill>
        <p:spPr>
          <a:xfrm>
            <a:off x="2981993" y="1230220"/>
            <a:ext cx="6224965" cy="624605"/>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92500" lnSpcReduction="20000"/>
          </a:bodyPr>
          <a:lstStyle/>
          <a:p>
            <a:pPr marL="0" indent="0">
              <a:buNone/>
            </a:pPr>
            <a:r>
              <a:rPr lang="en-CA" b="1" dirty="0"/>
              <a:t>Interpretation</a:t>
            </a:r>
          </a:p>
          <a:p>
            <a:r>
              <a:rPr lang="en-CA" dirty="0"/>
              <a:t>w is the n-by-1 weight vector; weights sum to one</a:t>
            </a:r>
          </a:p>
          <a:p>
            <a:r>
              <a:rPr lang="en-CA" dirty="0"/>
              <a:t>Sigma is the n-by-n covariance matrix of returns</a:t>
            </a:r>
          </a:p>
          <a:p>
            <a:r>
              <a:rPr lang="en-CA" dirty="0"/>
              <a:t>Diagonal terms: own-variance contribution</a:t>
            </a:r>
          </a:p>
          <a:p>
            <a:r>
              <a:rPr lang="en-CA" dirty="0"/>
              <a:t>Off-diagonal terms: covariance (the source of diversification)</a:t>
            </a:r>
          </a:p>
          <a:p>
            <a:r>
              <a:rPr lang="en-CA" dirty="0"/>
              <a:t>As n grows large, portfolio variance approaches the average covariance</a:t>
            </a:r>
          </a:p>
          <a:p>
            <a:r>
              <a:rPr lang="en-CA" dirty="0"/>
              <a:t>Only systematic covariance survives diversification</a:t>
            </a:r>
          </a:p>
          <a:p>
            <a:r>
              <a:rPr lang="en-CA" dirty="0"/>
              <a:t>In Python: port_var = w @ Sigma @ w (matrix multiply)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Key Formula: Global Minimum-Variance Portfolio</a:t>
            </a:r>
            <a:endParaRPr b="1" dirty="0">
              <a:latin typeface="Arial" panose="020B0604020202020204" pitchFamily="34" charset="0"/>
              <a:cs typeface="Arial" panose="020B0604020202020204" pitchFamily="34" charset="0"/>
            </a:endParaRPr>
          </a:p>
        </p:txBody>
      </p:sp>
      <p:pic>
        <p:nvPicPr>
          <p:cNvPr id="4014" name="Picture 4013" descr="f_gmv.png"/>
          <p:cNvPicPr>
            <a:picLocks noChangeAspect="1"/>
          </p:cNvPicPr>
          <p:nvPr/>
        </p:nvPicPr>
        <p:blipFill>
          <a:blip r:embed="rId3"/>
          <a:stretch>
            <a:fillRect/>
          </a:stretch>
        </p:blipFill>
        <p:spPr>
          <a:xfrm>
            <a:off x="2743200" y="1295400"/>
            <a:ext cx="6316048" cy="624605"/>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92500" lnSpcReduction="20000"/>
          </a:bodyPr>
          <a:lstStyle/>
          <a:p>
            <a:pPr marL="0" indent="0">
              <a:buNone/>
            </a:pPr>
            <a:r>
              <a:rPr lang="en-CA" b="1" dirty="0"/>
              <a:t>Interpretation</a:t>
            </a:r>
          </a:p>
          <a:p>
            <a:r>
              <a:rPr lang="en-CA" dirty="0"/>
              <a:t>Global minimum-variance: the lowest achievable portfolio volatility</a:t>
            </a:r>
          </a:p>
          <a:p>
            <a:r>
              <a:rPr lang="en-CA" dirty="0"/>
              <a:t>Depends on Sigma only, so no return estimates are needed</a:t>
            </a:r>
          </a:p>
          <a:p>
            <a:r>
              <a:rPr lang="en-CA" dirty="0"/>
              <a:t>More robust than tangency because it avoids mu estimation error</a:t>
            </a:r>
          </a:p>
          <a:p>
            <a:r>
              <a:rPr lang="en-CA" dirty="0"/>
              <a:t>The inverse of Sigma upweights low-variance, low-correlation assets</a:t>
            </a:r>
          </a:p>
          <a:p>
            <a:r>
              <a:rPr lang="en-CA" dirty="0"/>
              <a:t>Long-only constraint requires an SLSQP optimiser (no closed form)</a:t>
            </a:r>
          </a:p>
          <a:p>
            <a:r>
              <a:rPr lang="en-CA" dirty="0"/>
              <a:t>Benchmark: Jorion Financial Risk Manager Handbook Ch. 29, Section 29.2</a:t>
            </a:r>
          </a:p>
          <a:p>
            <a:r>
              <a:rPr lang="en-CA" dirty="0"/>
              <a:t>In Python: scipy.optimize.minimize with bounds = (0,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Key Formula: Tangency (Maximum-Sharpe) Portfolio</a:t>
            </a:r>
            <a:endParaRPr b="1" dirty="0">
              <a:latin typeface="Arial" panose="020B0604020202020204" pitchFamily="34" charset="0"/>
              <a:cs typeface="Arial" panose="020B0604020202020204" pitchFamily="34" charset="0"/>
            </a:endParaRPr>
          </a:p>
        </p:txBody>
      </p:sp>
      <p:pic>
        <p:nvPicPr>
          <p:cNvPr id="4016" name="Picture 4015" descr="f_tangency.png"/>
          <p:cNvPicPr>
            <a:picLocks noChangeAspect="1"/>
          </p:cNvPicPr>
          <p:nvPr/>
        </p:nvPicPr>
        <p:blipFill>
          <a:blip r:embed="rId3"/>
          <a:stretch>
            <a:fillRect/>
          </a:stretch>
        </p:blipFill>
        <p:spPr>
          <a:xfrm>
            <a:off x="2819400" y="1143000"/>
            <a:ext cx="5594837" cy="771144"/>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92500" lnSpcReduction="20000"/>
          </a:bodyPr>
          <a:lstStyle/>
          <a:p>
            <a:pPr marL="0" indent="0">
              <a:buNone/>
            </a:pPr>
            <a:r>
              <a:rPr lang="en-CA" b="1" dirty="0"/>
              <a:t>Interpretation</a:t>
            </a:r>
          </a:p>
          <a:p>
            <a:r>
              <a:rPr lang="en-CA" dirty="0"/>
              <a:t>Tangency: the highest Sharpe ratio on the efficient frontier</a:t>
            </a:r>
          </a:p>
          <a:p>
            <a:r>
              <a:rPr lang="en-CA" dirty="0"/>
              <a:t>The point where the Capital Market Line is tangent to the frontier</a:t>
            </a:r>
          </a:p>
          <a:p>
            <a:r>
              <a:rPr lang="en-CA" dirty="0"/>
              <a:t>Requires both Sigma and mu, so it is sensitive to estimation error</a:t>
            </a:r>
          </a:p>
          <a:p>
            <a:r>
              <a:rPr lang="en-CA" dirty="0"/>
              <a:t>Long-only case: SLSQP minimises the negative Sharpe with bounds</a:t>
            </a:r>
          </a:p>
          <a:p>
            <a:r>
              <a:rPr lang="en-CA" dirty="0"/>
              <a:t>All rational investors hold tangency plus the risk-free asset</a:t>
            </a:r>
          </a:p>
          <a:p>
            <a:r>
              <a:rPr lang="en-CA" dirty="0"/>
              <a:t>CML: expected return = risk-free rate + tangency Sharpe times sigma (a linear trade-off)</a:t>
            </a:r>
          </a:p>
          <a:p>
            <a:r>
              <a:rPr lang="en-CA" dirty="0"/>
              <a:t>Jorion Ch. 29: the CAPM tangency equals the market portfolio if mu is correct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Efficient Frontier: Geometry</a:t>
            </a:r>
            <a:endParaRPr b="1" dirty="0">
              <a:latin typeface="Arial" panose="020B0604020202020204" pitchFamily="34" charset="0"/>
              <a:cs typeface="Arial" panose="020B0604020202020204" pitchFamily="34" charset="0"/>
            </a:endParaRPr>
          </a:p>
        </p:txBody>
      </p:sp>
      <p:sp>
        <p:nvSpPr>
          <p:cNvPr id="4018" name="Content Placeholder"/>
          <p:cNvSpPr>
            <a:spLocks noGrp="1"/>
          </p:cNvSpPr>
          <p:nvPr>
            <p:ph sz="half" idx="2"/>
          </p:nvPr>
        </p:nvSpPr>
        <p:spPr/>
        <p:txBody>
          <a:bodyPr wrap="square">
            <a:normAutofit fontScale="92500" lnSpcReduction="20000"/>
          </a:bodyPr>
          <a:lstStyle/>
          <a:p>
            <a:pPr marL="0" indent="0">
              <a:buNone/>
            </a:pPr>
            <a:r>
              <a:rPr lang="en-CA" b="1" dirty="0"/>
              <a:t>The efficient frontier turns the matrix algebra into an intuitive geometry of risk-return trade-offs</a:t>
            </a:r>
          </a:p>
          <a:p>
            <a:r>
              <a:rPr lang="en-CA" dirty="0"/>
              <a:t>Feasible set: all (sigma, expected return) combinations of n risky assets form a 'bullet'</a:t>
            </a:r>
          </a:p>
          <a:p>
            <a:r>
              <a:rPr lang="en-CA" dirty="0"/>
              <a:t>Efficient frontier: the upper-left edge, giving maximum return for each risk level</a:t>
            </a:r>
          </a:p>
          <a:p>
            <a:r>
              <a:rPr lang="en-CA" dirty="0"/>
              <a:t>Global minimum-variance portfolio (GMV): the leftmost point of the bullet</a:t>
            </a:r>
          </a:p>
          <a:p>
            <a:r>
              <a:rPr lang="en-CA" dirty="0"/>
              <a:t>Efficient portfolios: all portfolios on the frontier above GMV</a:t>
            </a:r>
          </a:p>
          <a:p>
            <a:r>
              <a:rPr lang="en-CA" dirty="0"/>
              <a:t>Capital Market Line (CML): from the risk-free rate tangent to the efficient frontier</a:t>
            </a:r>
          </a:p>
          <a:p>
            <a:r>
              <a:rPr lang="en-CA" dirty="0"/>
              <a:t>Tangency portfolio T: the single risky portfolio on the CML</a:t>
            </a:r>
          </a:p>
          <a:p>
            <a:r>
              <a:rPr lang="en-CA" dirty="0"/>
              <a:t>Two-fund separation: any efficient portfolio is a mix of T and the risk-free asset</a:t>
            </a:r>
          </a:p>
          <a:p>
            <a:r>
              <a:rPr lang="en-CA" dirty="0"/>
              <a:t>Below GMV: feasible but inefficient (same risk, lower return)</a:t>
            </a:r>
          </a:p>
          <a:p>
            <a:r>
              <a:rPr lang="en-CA" dirty="0"/>
              <a:t>The efficient frontier shrinks inward as correlations rise toward 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Case Study: Markowitz (1952), a Revolution in Finance (Nobel 1990)</a:t>
            </a:r>
            <a:endParaRPr b="1" dirty="0">
              <a:latin typeface="Arial" panose="020B0604020202020204" pitchFamily="34" charset="0"/>
              <a:cs typeface="Arial" panose="020B0604020202020204" pitchFamily="34" charset="0"/>
            </a:endParaRPr>
          </a:p>
        </p:txBody>
      </p:sp>
      <p:sp>
        <p:nvSpPr>
          <p:cNvPr id="4020" name="Content Placeholder"/>
          <p:cNvSpPr>
            <a:spLocks noGrp="1"/>
          </p:cNvSpPr>
          <p:nvPr>
            <p:ph sz="half" idx="2"/>
          </p:nvPr>
        </p:nvSpPr>
        <p:spPr/>
        <p:txBody>
          <a:bodyPr wrap="square">
            <a:normAutofit fontScale="55000" lnSpcReduction="20000"/>
          </a:bodyPr>
          <a:lstStyle/>
          <a:p>
            <a:pPr marL="0" indent="0">
              <a:buNone/>
            </a:pPr>
            <a:r>
              <a:rPr lang="en-CA" b="1" dirty="0"/>
              <a:t>What happened</a:t>
            </a:r>
          </a:p>
          <a:p>
            <a:r>
              <a:rPr lang="en-CA" dirty="0"/>
              <a:t>Harry Markowitz, 'Portfolio Selection', Journal of Finance, 1952 (a 14-page paper that created modern portfolio theory)</a:t>
            </a:r>
          </a:p>
          <a:p>
            <a:r>
              <a:rPr lang="en-CA" dirty="0"/>
              <a:t>Before 1952 investors focused on individual stock selection</a:t>
            </a:r>
          </a:p>
          <a:p>
            <a:r>
              <a:rPr lang="en-CA" dirty="0"/>
              <a:t>Key insight: return is additive, but risk (variance) is not</a:t>
            </a:r>
          </a:p>
          <a:p>
            <a:r>
              <a:rPr lang="en-CA" dirty="0"/>
              <a:t>Diversification reduces risk, but not proportionally</a:t>
            </a:r>
          </a:p>
          <a:p>
            <a:r>
              <a:rPr lang="en-CA" dirty="0"/>
              <a:t>Formalised the efficient frontier via quadratic programming</a:t>
            </a:r>
          </a:p>
          <a:p>
            <a:r>
              <a:rPr lang="en-CA" dirty="0"/>
              <a:t>Extended to include a risk-free asset, giving the CML (Tobin 1958)</a:t>
            </a:r>
          </a:p>
          <a:p>
            <a:r>
              <a:rPr lang="en-CA" dirty="0"/>
              <a:t>Legacy: the foundation of CAPM (Sharpe 1964), factor models, and modern risk management</a:t>
            </a:r>
          </a:p>
          <a:p>
            <a:pPr marL="0" indent="0">
              <a:buNone/>
            </a:pPr>
            <a:endParaRPr lang="en-CA" dirty="0"/>
          </a:p>
          <a:p>
            <a:pPr marL="0" indent="0">
              <a:buNone/>
            </a:pPr>
            <a:r>
              <a:rPr lang="en-CA" b="1" dirty="0"/>
              <a:t>Key lessons</a:t>
            </a:r>
          </a:p>
          <a:p>
            <a:r>
              <a:rPr lang="en-CA" dirty="0"/>
              <a:t>Simple rule: prefer more return and less variance</a:t>
            </a:r>
          </a:p>
          <a:p>
            <a:r>
              <a:rPr lang="en-CA" dirty="0"/>
              <a:t>Covariances dominate in large portfolios</a:t>
            </a:r>
          </a:p>
          <a:p>
            <a:r>
              <a:rPr lang="en-CA" dirty="0"/>
              <a:t>Estimation error in mu degrades out-of-sample performance</a:t>
            </a:r>
          </a:p>
          <a:p>
            <a:r>
              <a:rPr lang="en-CA" dirty="0"/>
              <a:t>Michaud (1989): 'optimised' portfolios often underperform 1/N</a:t>
            </a:r>
          </a:p>
          <a:p>
            <a:r>
              <a:rPr lang="en-CA" dirty="0"/>
              <a:t>Black-Litterman (Session 10): a Bayesian fix for estimation error</a:t>
            </a:r>
          </a:p>
          <a:p>
            <a:r>
              <a:rPr lang="en-CA" dirty="0"/>
              <a:t>DeMiguel et al. (2009): 1/N beats most optimisers out-of-sample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Efficient Frontier in Python</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p:txBody>
          <a:bodyPr wrap="square">
            <a:normAutofit fontScale="92500" lnSpcReduction="20000"/>
          </a:bodyPr>
          <a:lstStyle/>
          <a:p>
            <a:pPr marL="0" indent="0">
              <a:buNone/>
            </a:pPr>
            <a:r>
              <a:rPr lang="en-CA" b="1" dirty="0"/>
              <a:t>Monte Carlo simulation, analytical optimisation, key portfolios</a:t>
            </a:r>
          </a:p>
          <a:p>
            <a:r>
              <a:rPr lang="en-CA" dirty="0"/>
              <a:t>Build intuition from random weight vectors, then move to a proper optimiser</a:t>
            </a:r>
          </a:p>
          <a:p>
            <a:r>
              <a:rPr lang="en-CA" dirty="0"/>
              <a:t>Every output feeds Assignment 3: the frontier, GMV and tangency weights, and risk attribution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Step 1: Data Acquisition and Covariance Matrix</a:t>
            </a:r>
            <a:endParaRPr b="1" dirty="0">
              <a:latin typeface="Arial" panose="020B0604020202020204" pitchFamily="34" charset="0"/>
              <a:cs typeface="Arial" panose="020B0604020202020204" pitchFamily="34" charset="0"/>
            </a:endParaRPr>
          </a:p>
        </p:txBody>
      </p:sp>
      <p:sp>
        <p:nvSpPr>
          <p:cNvPr id="4024" name="Content Placeholder"/>
          <p:cNvSpPr>
            <a:spLocks noGrp="1"/>
          </p:cNvSpPr>
          <p:nvPr>
            <p:ph sz="half" idx="2"/>
          </p:nvPr>
        </p:nvSpPr>
        <p:spPr>
          <a:xfrm>
            <a:off x="423100" y="990600"/>
            <a:ext cx="11345797" cy="5410199"/>
          </a:xfrm>
        </p:spPr>
        <p:txBody>
          <a:bodyPr wrap="square">
            <a:normAutofit fontScale="62500" lnSpcReduction="20000"/>
          </a:bodyPr>
          <a:lstStyle/>
          <a:p>
            <a:pPr marL="0" indent="0">
              <a:buNone/>
            </a:pPr>
            <a:r>
              <a:rPr lang="en-CA" b="1" dirty="0"/>
              <a:t>Python setup</a:t>
            </a:r>
          </a:p>
          <a:p>
            <a:r>
              <a:rPr lang="en-CA" dirty="0"/>
              <a:t>import yfinance as yf</a:t>
            </a:r>
          </a:p>
          <a:p>
            <a:r>
              <a:rPr lang="en-CA" dirty="0"/>
              <a:t>import numpy as np, pandas as pd</a:t>
            </a:r>
          </a:p>
          <a:p>
            <a:r>
              <a:rPr lang="en-CA" dirty="0"/>
              <a:t>from scipy.optimize import minimize</a:t>
            </a:r>
          </a:p>
          <a:p>
            <a:r>
              <a:rPr lang="en-CA" dirty="0"/>
              <a:t>import matplotlib.pyplot as plt</a:t>
            </a:r>
          </a:p>
          <a:p>
            <a:r>
              <a:rPr lang="en-CA" dirty="0"/>
              <a:t>prices = yf.download(tickers, start='2015-01-01', end='2024-12-31')['Close']</a:t>
            </a:r>
          </a:p>
          <a:p>
            <a:r>
              <a:rPr lang="en-CA" dirty="0"/>
              <a:t>rets  = np.log(prices / prices.shift(1)).dropna()</a:t>
            </a:r>
          </a:p>
          <a:p>
            <a:r>
              <a:rPr lang="en-CA" dirty="0"/>
              <a:t>mu    = rets.mean() * 252   # annualised</a:t>
            </a:r>
          </a:p>
          <a:p>
            <a:r>
              <a:rPr lang="en-CA" dirty="0"/>
              <a:t>Sigma = rets.cov()  * 252   # annualised</a:t>
            </a:r>
          </a:p>
          <a:p>
            <a:pPr marL="0" indent="0">
              <a:buNone/>
            </a:pPr>
            <a:r>
              <a:rPr lang="en-CA" b="1" dirty="0"/>
              <a:t>Why log returns?</a:t>
            </a:r>
          </a:p>
          <a:p>
            <a:r>
              <a:rPr lang="en-CA" dirty="0"/>
              <a:t>Log returns: r_t = ln(P_t / P_{t minus 1})</a:t>
            </a:r>
          </a:p>
          <a:p>
            <a:r>
              <a:rPr lang="en-CA" dirty="0"/>
              <a:t>Time-aggregation: a yearly return is the sum of daily logs</a:t>
            </a:r>
          </a:p>
          <a:p>
            <a:r>
              <a:rPr lang="en-CA" dirty="0"/>
              <a:t>Annualise: multiply mu by 252, sigma by the square root of 252</a:t>
            </a:r>
          </a:p>
          <a:p>
            <a:r>
              <a:rPr lang="en-CA" dirty="0"/>
              <a:t>The covariance matrix Sigma must be positive semi-definite</a:t>
            </a:r>
          </a:p>
          <a:p>
            <a:r>
              <a:rPr lang="en-CA" dirty="0"/>
              <a:t>With more than n observations, Sigma is positive definite (invertible)</a:t>
            </a:r>
          </a:p>
          <a:p>
            <a:r>
              <a:rPr lang="en-CA" dirty="0"/>
              <a:t>Correlation heatmap visualises the diversification potential</a:t>
            </a:r>
          </a:p>
          <a:p>
            <a:r>
              <a:rPr lang="en-CA" dirty="0"/>
              <a:t>High-correlation sectors offer limited diversification benefit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Step 2: Monte Carlo Portfolio Simulation</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p:txBody>
          <a:bodyPr wrap="square">
            <a:normAutofit fontScale="92500" lnSpcReduction="20000"/>
          </a:bodyPr>
          <a:lstStyle/>
          <a:p>
            <a:pPr marL="0" indent="0">
              <a:buNone/>
            </a:pPr>
            <a:r>
              <a:rPr lang="en-CA" b="1" dirty="0"/>
              <a:t>Monte Carlo builds intuition before the analytical solution</a:t>
            </a:r>
          </a:p>
          <a:p>
            <a:r>
              <a:rPr lang="en-CA" dirty="0"/>
              <a:t>Generate N = 20,000 random weight vectors: np.random.dirichlet(np.ones(n), N)</a:t>
            </a:r>
          </a:p>
          <a:p>
            <a:r>
              <a:rPr lang="en-CA" dirty="0"/>
              <a:t>For each portfolio: port_ret = w @ mu; port_vol = sqrt(w @ Sigma @ w)</a:t>
            </a:r>
          </a:p>
          <a:p>
            <a:r>
              <a:rPr lang="en-CA" dirty="0"/>
              <a:t>Compute the Sharpe ratio: SR = (port_ret minus r_f) / port_vol</a:t>
            </a:r>
          </a:p>
          <a:p>
            <a:r>
              <a:rPr lang="en-CA" dirty="0"/>
              <a:t>Colour-code the scatter plot by Sharpe ratio (viridis colormap)</a:t>
            </a:r>
          </a:p>
          <a:p>
            <a:r>
              <a:rPr lang="en-CA" dirty="0"/>
              <a:t>Observation: the feasible set forms the classic 'bullet' shape</a:t>
            </a:r>
          </a:p>
          <a:p>
            <a:r>
              <a:rPr lang="en-CA" dirty="0"/>
              <a:t>The frontier is the upper-left envelope of all simulated points</a:t>
            </a:r>
          </a:p>
          <a:p>
            <a:r>
              <a:rPr lang="en-CA" dirty="0"/>
              <a:t>Best simulated Sharpe is about 0.65, but random search cannot find the true maximum</a:t>
            </a:r>
          </a:p>
          <a:p>
            <a:r>
              <a:rPr lang="en-CA" dirty="0"/>
              <a:t>Dirichlet(1,...,1) samples weights uniformly over the simplex (long-only)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Step 3: Analytical Efficient Frontier</a:t>
            </a:r>
            <a:endParaRPr b="1" dirty="0">
              <a:latin typeface="Arial" panose="020B0604020202020204" pitchFamily="34" charset="0"/>
              <a:cs typeface="Arial" panose="020B0604020202020204" pitchFamily="34" charset="0"/>
            </a:endParaRPr>
          </a:p>
        </p:txBody>
      </p:sp>
      <p:pic>
        <p:nvPicPr>
          <p:cNvPr id="4028" name="Picture 4027" descr="f_frontier.png"/>
          <p:cNvPicPr>
            <a:picLocks noChangeAspect="1"/>
          </p:cNvPicPr>
          <p:nvPr/>
        </p:nvPicPr>
        <p:blipFill>
          <a:blip r:embed="rId3"/>
          <a:stretch>
            <a:fillRect/>
          </a:stretch>
        </p:blipFill>
        <p:spPr>
          <a:xfrm>
            <a:off x="2903701" y="1591056"/>
            <a:ext cx="6381549"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62500" lnSpcReduction="20000"/>
          </a:bodyPr>
          <a:lstStyle/>
          <a:p>
            <a:pPr marL="0" indent="0">
              <a:buNone/>
            </a:pPr>
            <a:r>
              <a:rPr lang="en-CA" b="1" dirty="0"/>
              <a:t>Sweep of target returns</a:t>
            </a:r>
          </a:p>
          <a:p>
            <a:r>
              <a:rPr lang="en-CA" dirty="0"/>
              <a:t>Minimise portfolio variance subject to a target return and weights summing to one, long-only</a:t>
            </a:r>
          </a:p>
          <a:p>
            <a:r>
              <a:rPr lang="en-CA" dirty="0"/>
              <a:t>Use scipy.optimize.minimize (SLSQP)</a:t>
            </a:r>
          </a:p>
          <a:p>
            <a:r>
              <a:rPr lang="en-CA" dirty="0"/>
              <a:t>Sweep the target return from its minimum to its maximum (60 points)</a:t>
            </a:r>
          </a:p>
          <a:p>
            <a:r>
              <a:rPr lang="en-CA" dirty="0"/>
              <a:t>Plot (volatility, return) to get a smooth efficient frontier; about 0.3 seconds for the full sweep</a:t>
            </a:r>
          </a:p>
          <a:p>
            <a:pPr marL="0" indent="0">
              <a:buNone/>
            </a:pPr>
            <a:r>
              <a:rPr lang="en-CA" b="1" dirty="0"/>
              <a:t>Key observations</a:t>
            </a:r>
          </a:p>
          <a:p>
            <a:r>
              <a:rPr lang="en-CA" dirty="0"/>
              <a:t>The analytical frontier lies above the Monte Carlo cloud at every point</a:t>
            </a:r>
          </a:p>
          <a:p>
            <a:r>
              <a:rPr lang="en-CA" dirty="0"/>
              <a:t>Left-most point is the Global Minimum Variance portfolio</a:t>
            </a:r>
          </a:p>
          <a:p>
            <a:r>
              <a:rPr lang="en-CA" dirty="0"/>
              <a:t>Tangency point is where the CML is tangent (maximum Sharpe)</a:t>
            </a:r>
          </a:p>
          <a:p>
            <a:r>
              <a:rPr lang="en-CA" dirty="0"/>
              <a:t>Capital Market Line: expected return = risk-free rate + tangency Sharpe times sigma</a:t>
            </a:r>
          </a:p>
          <a:p>
            <a:r>
              <a:rPr lang="en-CA" dirty="0"/>
              <a:t>Individual assets plot inside the frontier, showing the diversification gain</a:t>
            </a:r>
          </a:p>
          <a:p>
            <a:r>
              <a:rPr lang="en-CA" dirty="0"/>
              <a:t>The long-only constraint makes the frontier kinkier than theory; adding short-selling expands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Global Minimum-Variance Portfolio</a:t>
            </a:r>
            <a:endParaRPr b="1" dirty="0">
              <a:latin typeface="Arial" panose="020B0604020202020204" pitchFamily="34" charset="0"/>
              <a:cs typeface="Arial" panose="020B0604020202020204" pitchFamily="34" charset="0"/>
            </a:endParaRPr>
          </a:p>
        </p:txBody>
      </p:sp>
      <p:sp>
        <p:nvSpPr>
          <p:cNvPr id="4030" name="Content Placeholder"/>
          <p:cNvSpPr>
            <a:spLocks noGrp="1"/>
          </p:cNvSpPr>
          <p:nvPr>
            <p:ph sz="half" idx="2"/>
          </p:nvPr>
        </p:nvSpPr>
        <p:spPr/>
        <p:txBody>
          <a:bodyPr wrap="square">
            <a:normAutofit fontScale="92500" lnSpcReduction="20000"/>
          </a:bodyPr>
          <a:lstStyle/>
          <a:p>
            <a:pPr marL="0" indent="0">
              <a:buNone/>
            </a:pPr>
            <a:r>
              <a:rPr lang="en-CA" b="1" dirty="0"/>
              <a:t>The GMV portfolio is the starting point for all efficient portfolios</a:t>
            </a:r>
          </a:p>
          <a:p>
            <a:r>
              <a:rPr lang="en-CA" dirty="0"/>
              <a:t>Definition: the portfolio with the lowest achievable variance, the leftmost point on the frontier</a:t>
            </a:r>
          </a:p>
          <a:p>
            <a:r>
              <a:rPr lang="en-CA" dirty="0"/>
              <a:t>Requires only Sigma, not mu, so it is more robust to estimation error</a:t>
            </a:r>
          </a:p>
          <a:p>
            <a:r>
              <a:rPr lang="en-CA" dirty="0"/>
              <a:t>Lab result (10 US sector ETFs, 2015 to 2024): return 8.24%, volatility 14.29%, Sharpe 0.26</a:t>
            </a:r>
          </a:p>
          <a:p>
            <a:r>
              <a:rPr lang="en-CA" dirty="0"/>
              <a:t>Weights: SLSQP minimises w-transpose Sigma w subject to weights summing to one, long-only (no return constraint)</a:t>
            </a:r>
          </a:p>
          <a:p>
            <a:r>
              <a:rPr lang="en-CA" dirty="0"/>
              <a:t>Key property: every other efficient portfolio has both higher return and higher risk</a:t>
            </a:r>
          </a:p>
          <a:p>
            <a:r>
              <a:rPr lang="en-CA" dirty="0"/>
              <a:t>Out-of-sample, GMV often outperforms tangency (Ledoit and Wolf 2004; DeMiguel 2009)</a:t>
            </a:r>
          </a:p>
          <a:p>
            <a:r>
              <a:rPr lang="en-CA" dirty="0"/>
              <a:t>Weaknesses: it ignores expected returns and can be highly concentrated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Tangency Portfolio and Capital Market Line</a:t>
            </a:r>
            <a:endParaRPr b="1" dirty="0">
              <a:latin typeface="Arial" panose="020B0604020202020204" pitchFamily="34" charset="0"/>
              <a:cs typeface="Arial" panose="020B0604020202020204" pitchFamily="34" charset="0"/>
            </a:endParaRPr>
          </a:p>
        </p:txBody>
      </p:sp>
      <p:sp>
        <p:nvSpPr>
          <p:cNvPr id="4032" name="Content Placeholder"/>
          <p:cNvSpPr>
            <a:spLocks noGrp="1"/>
          </p:cNvSpPr>
          <p:nvPr>
            <p:ph sz="half" idx="2"/>
          </p:nvPr>
        </p:nvSpPr>
        <p:spPr/>
        <p:txBody>
          <a:bodyPr wrap="square">
            <a:normAutofit fontScale="92500" lnSpcReduction="20000"/>
          </a:bodyPr>
          <a:lstStyle/>
          <a:p>
            <a:pPr marL="0" indent="0">
              <a:buNone/>
            </a:pPr>
            <a:r>
              <a:rPr lang="en-CA" b="1" dirty="0"/>
              <a:t>The tangency portfolio connects the risk-free asset to the efficient frontier</a:t>
            </a:r>
          </a:p>
          <a:p>
            <a:r>
              <a:rPr lang="en-CA" dirty="0"/>
              <a:t>Tangency portfolio T: the highest Sharpe ratio on the efficient frontier</a:t>
            </a:r>
          </a:p>
          <a:p>
            <a:r>
              <a:rPr lang="en-CA" dirty="0"/>
              <a:t>Lab result (10 sector ETFs): return 20.06%, volatility 23.74%, Sharpe 0.66</a:t>
            </a:r>
          </a:p>
          <a:p>
            <a:r>
              <a:rPr lang="en-CA" dirty="0"/>
              <a:t>Concentrated in Technology (XLK dominates the 2015 to 2024 bull run)</a:t>
            </a:r>
          </a:p>
          <a:p>
            <a:r>
              <a:rPr lang="en-CA" dirty="0"/>
              <a:t>Capital Market Line: expected portfolio return = risk-free rate + tangency Sharpe times sigma</a:t>
            </a:r>
          </a:p>
          <a:p>
            <a:r>
              <a:rPr lang="en-CA" dirty="0"/>
              <a:t>Any efficient portfolio is a blend of T and the risk-free asset</a:t>
            </a:r>
          </a:p>
          <a:p>
            <a:r>
              <a:rPr lang="en-CA" dirty="0"/>
              <a:t>The tangency Sharpe is the price of risk: extra return per unit of volatility</a:t>
            </a:r>
          </a:p>
          <a:p>
            <a:r>
              <a:rPr lang="en-CA" dirty="0"/>
              <a:t>Risk-free rate used: 4.5% (about the US 10-year yield in 2024); changing it shifts the tangency point</a:t>
            </a:r>
          </a:p>
          <a:p>
            <a:r>
              <a:rPr lang="en-CA" dirty="0"/>
              <a:t>CAPM prediction: in equilibrium T equals the market portfolio (an S&amp;P 500 proxy)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Portfolio Risk Attribution</a:t>
            </a:r>
            <a:endParaRPr b="1" dirty="0">
              <a:latin typeface="Arial" panose="020B0604020202020204" pitchFamily="34" charset="0"/>
              <a:cs typeface="Arial" panose="020B0604020202020204" pitchFamily="34" charset="0"/>
            </a:endParaRPr>
          </a:p>
        </p:txBody>
      </p:sp>
      <p:pic>
        <p:nvPicPr>
          <p:cNvPr id="4036" name="Picture 4035" descr="f_crc.png"/>
          <p:cNvPicPr>
            <a:picLocks noChangeAspect="1"/>
          </p:cNvPicPr>
          <p:nvPr/>
        </p:nvPicPr>
        <p:blipFill>
          <a:blip r:embed="rId3"/>
          <a:stretch>
            <a:fillRect/>
          </a:stretch>
        </p:blipFill>
        <p:spPr>
          <a:xfrm>
            <a:off x="3476137" y="1066800"/>
            <a:ext cx="4723806" cy="533400"/>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70000" lnSpcReduction="20000"/>
          </a:bodyPr>
          <a:lstStyle/>
          <a:p>
            <a:pPr marL="0" indent="0">
              <a:buNone/>
            </a:pPr>
            <a:r>
              <a:rPr lang="en-CA" b="1" dirty="0"/>
              <a:t>Component risk contribution</a:t>
            </a:r>
          </a:p>
          <a:p>
            <a:r>
              <a:rPr lang="en-CA" dirty="0"/>
              <a:t>Marginal contribution of asset i is (Sigma w)_i divided by sigma_p</a:t>
            </a:r>
          </a:p>
          <a:p>
            <a:r>
              <a:rPr lang="en-CA" dirty="0"/>
              <a:t>Component risk contribution is weight_i times the marginal contribution</a:t>
            </a:r>
          </a:p>
          <a:p>
            <a:r>
              <a:rPr lang="en-CA" dirty="0"/>
              <a:t>Sum check: the component contributions add up exactly to sigma_p</a:t>
            </a:r>
          </a:p>
          <a:p>
            <a:r>
              <a:rPr lang="en-CA" dirty="0"/>
              <a:t>Percentage contribution = component_i divided by sigma_p, times 100</a:t>
            </a:r>
          </a:p>
          <a:p>
            <a:pPr marL="0" indent="0">
              <a:buNone/>
            </a:pPr>
            <a:r>
              <a:rPr lang="en-CA" b="1" dirty="0"/>
              <a:t>Interpretation and use</a:t>
            </a:r>
          </a:p>
          <a:p>
            <a:r>
              <a:rPr lang="en-CA" dirty="0"/>
              <a:t>Component contributions reveal which assets drive portfolio risk</a:t>
            </a:r>
          </a:p>
          <a:p>
            <a:r>
              <a:rPr lang="en-CA" dirty="0"/>
              <a:t>Risk concentration: one asset with a contribution far above its weight</a:t>
            </a:r>
          </a:p>
          <a:p>
            <a:r>
              <a:rPr lang="en-CA" dirty="0"/>
              <a:t>Equal-risk contribution is the basis of risk parity (Session 10)</a:t>
            </a:r>
          </a:p>
          <a:p>
            <a:r>
              <a:rPr lang="en-CA" dirty="0"/>
              <a:t>Tangency often concentrates risk in high-return assets; GMV can concentrate in low-vol, low-correlation assets</a:t>
            </a:r>
          </a:p>
          <a:p>
            <a:r>
              <a:rPr lang="en-CA" dirty="0"/>
              <a:t>Assignment 3: report a contribution bar chart plus a text interpretation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CAPM: Beta, Alpha, and R-squared</a:t>
            </a:r>
            <a:endParaRPr b="1" dirty="0">
              <a:latin typeface="Arial" panose="020B0604020202020204" pitchFamily="34" charset="0"/>
              <a:cs typeface="Arial" panose="020B0604020202020204" pitchFamily="34" charset="0"/>
            </a:endParaRPr>
          </a:p>
        </p:txBody>
      </p:sp>
      <p:pic>
        <p:nvPicPr>
          <p:cNvPr id="4038" name="Picture 4037" descr="f_capm.png"/>
          <p:cNvPicPr>
            <a:picLocks noChangeAspect="1"/>
          </p:cNvPicPr>
          <p:nvPr/>
        </p:nvPicPr>
        <p:blipFill>
          <a:blip r:embed="rId3"/>
          <a:stretch>
            <a:fillRect/>
          </a:stretch>
        </p:blipFill>
        <p:spPr>
          <a:xfrm>
            <a:off x="2895600" y="1025876"/>
            <a:ext cx="6048179" cy="624605"/>
          </a:xfrm>
          <a:prstGeom prst="rect">
            <a:avLst/>
          </a:prstGeom>
        </p:spPr>
      </p:pic>
      <p:pic>
        <p:nvPicPr>
          <p:cNvPr id="4039" name="Picture 4038" descr="f_capm2.png"/>
          <p:cNvPicPr>
            <a:picLocks noChangeAspect="1"/>
          </p:cNvPicPr>
          <p:nvPr/>
        </p:nvPicPr>
        <p:blipFill>
          <a:blip r:embed="rId4"/>
          <a:stretch>
            <a:fillRect/>
          </a:stretch>
        </p:blipFill>
        <p:spPr>
          <a:xfrm>
            <a:off x="3581400" y="2018407"/>
            <a:ext cx="4636541" cy="585647"/>
          </a:xfrm>
          <a:prstGeom prst="rect">
            <a:avLst/>
          </a:prstGeom>
        </p:spPr>
      </p:pic>
      <p:sp>
        <p:nvSpPr>
          <p:cNvPr id="2" name="Content Placeholder"/>
          <p:cNvSpPr>
            <a:spLocks noGrp="1"/>
          </p:cNvSpPr>
          <p:nvPr>
            <p:ph sz="half" idx="2"/>
          </p:nvPr>
        </p:nvSpPr>
        <p:spPr>
          <a:xfrm>
            <a:off x="420624" y="2889504"/>
            <a:ext cx="11347704" cy="3163824"/>
          </a:xfrm>
        </p:spPr>
        <p:txBody>
          <a:bodyPr wrap="square">
            <a:normAutofit fontScale="92500"/>
          </a:bodyPr>
          <a:lstStyle/>
          <a:p>
            <a:pPr marL="0" indent="0">
              <a:buNone/>
            </a:pPr>
            <a:r>
              <a:rPr lang="en-CA" b="1" dirty="0"/>
              <a:t>Interpretation</a:t>
            </a:r>
          </a:p>
          <a:p>
            <a:r>
              <a:rPr lang="en-CA" dirty="0"/>
              <a:t>Beta measures sensitivity to market moves; beta of one moves with the market</a:t>
            </a:r>
          </a:p>
          <a:p>
            <a:r>
              <a:rPr lang="en-CA" dirty="0"/>
              <a:t>Beta above one amplifies market swings (aggressive); beta below one is defensive</a:t>
            </a:r>
          </a:p>
          <a:p>
            <a:r>
              <a:rPr lang="en-CA" dirty="0"/>
              <a:t>Alpha is the excess return above the CAPM prediction (annualised)</a:t>
            </a:r>
          </a:p>
          <a:p>
            <a:r>
              <a:rPr lang="en-CA" dirty="0"/>
              <a:t>CAPM predicts alpha of zero in equilibrium; positive alpha means outperformance</a:t>
            </a:r>
          </a:p>
          <a:p>
            <a:r>
              <a:rPr lang="en-CA" dirty="0"/>
              <a:t>R-squared is the fraction of return variance explained by the market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Limits of Mean-Variance Optimisation</a:t>
            </a:r>
            <a:endParaRPr b="1" dirty="0">
              <a:latin typeface="Arial" panose="020B0604020202020204" pitchFamily="34" charset="0"/>
              <a:cs typeface="Arial" panose="020B0604020202020204" pitchFamily="34" charset="0"/>
            </a:endParaRPr>
          </a:p>
        </p:txBody>
      </p:sp>
      <p:sp>
        <p:nvSpPr>
          <p:cNvPr id="4040" name="Content Placeholder"/>
          <p:cNvSpPr>
            <a:spLocks noGrp="1"/>
          </p:cNvSpPr>
          <p:nvPr>
            <p:ph sz="half" idx="2"/>
          </p:nvPr>
        </p:nvSpPr>
        <p:spPr/>
        <p:txBody>
          <a:bodyPr wrap="square">
            <a:normAutofit fontScale="62500" lnSpcReduction="20000"/>
          </a:bodyPr>
          <a:lstStyle/>
          <a:p>
            <a:pPr marL="0" indent="0">
              <a:buNone/>
            </a:pPr>
            <a:r>
              <a:rPr lang="en-CA" b="1" dirty="0"/>
              <a:t>Estimation error</a:t>
            </a:r>
          </a:p>
          <a:p>
            <a:r>
              <a:rPr lang="en-CA" dirty="0"/>
              <a:t>mu and Sigma are estimated from finite history</a:t>
            </a:r>
          </a:p>
          <a:p>
            <a:r>
              <a:rPr lang="en-CA" dirty="0"/>
              <a:t>mu is especially noisy: the signal-to-noise ratio is very low</a:t>
            </a:r>
          </a:p>
          <a:p>
            <a:r>
              <a:rPr lang="en-CA" dirty="0"/>
              <a:t>The optimiser amplifies estimation errors, giving extreme, unstable weights</a:t>
            </a:r>
          </a:p>
          <a:p>
            <a:r>
              <a:rPr lang="en-CA" dirty="0"/>
              <a:t>Michaud (1989): 'Is optimised optimal?'</a:t>
            </a:r>
          </a:p>
          <a:p>
            <a:pPr marL="0" indent="0">
              <a:buNone/>
            </a:pPr>
            <a:r>
              <a:rPr lang="en-CA" b="1" dirty="0"/>
              <a:t>The 1/N benchmark</a:t>
            </a:r>
          </a:p>
          <a:p>
            <a:r>
              <a:rPr lang="en-CA" dirty="0"/>
              <a:t>DeMiguel et al. (2009): across 14 datasets, 1/N beats optimisers out-of-sample</a:t>
            </a:r>
          </a:p>
          <a:p>
            <a:r>
              <a:rPr lang="en-CA" dirty="0"/>
              <a:t>Metrics: Sharpe ratio, certainty equivalent, turnover</a:t>
            </a:r>
          </a:p>
          <a:p>
            <a:r>
              <a:rPr lang="en-CA" dirty="0"/>
              <a:t>You need roughly 3,000 months of data to identify the winner</a:t>
            </a:r>
          </a:p>
          <a:p>
            <a:r>
              <a:rPr lang="en-CA" dirty="0"/>
              <a:t>In practice, trust 1/N as a hard baseline</a:t>
            </a:r>
          </a:p>
          <a:p>
            <a:pPr marL="0" indent="0">
              <a:buNone/>
            </a:pPr>
            <a:r>
              <a:rPr lang="en-CA" b="1" dirty="0"/>
              <a:t>Practical fixes</a:t>
            </a:r>
          </a:p>
          <a:p>
            <a:r>
              <a:rPr lang="en-CA" dirty="0"/>
              <a:t>Shrinkage: the Ledoit-Wolf estimator for Sigma</a:t>
            </a:r>
          </a:p>
          <a:p>
            <a:r>
              <a:rPr lang="en-CA" dirty="0"/>
              <a:t>Bayesian: Black-Litterman (Session 10)</a:t>
            </a:r>
          </a:p>
          <a:p>
            <a:r>
              <a:rPr lang="en-CA" dirty="0"/>
              <a:t>Resampling: the Michaud efficient frontier</a:t>
            </a:r>
          </a:p>
          <a:p>
            <a:r>
              <a:rPr lang="en-CA" dirty="0"/>
              <a:t>Robust: worst-case portfolio optimisation; weight caps of 10 to 20% reduce turnover</a:t>
            </a:r>
          </a:p>
          <a:p>
            <a:endParaRPr lang="en-CA"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Diversification: Systematic vs Idiosyncratic Risk</a:t>
            </a:r>
            <a:endParaRPr b="1" dirty="0">
              <a:latin typeface="Arial" panose="020B0604020202020204" pitchFamily="34" charset="0"/>
              <a:cs typeface="Arial" panose="020B0604020202020204" pitchFamily="34" charset="0"/>
            </a:endParaRPr>
          </a:p>
        </p:txBody>
      </p:sp>
      <p:pic>
        <p:nvPicPr>
          <p:cNvPr id="4042" name="Picture 4041" descr="f_decomp.png"/>
          <p:cNvPicPr>
            <a:picLocks noChangeAspect="1"/>
          </p:cNvPicPr>
          <p:nvPr/>
        </p:nvPicPr>
        <p:blipFill>
          <a:blip r:embed="rId3"/>
          <a:stretch>
            <a:fillRect/>
          </a:stretch>
        </p:blipFill>
        <p:spPr>
          <a:xfrm>
            <a:off x="2902470" y="1591056"/>
            <a:ext cx="6384011"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a:bodyPr>
          <a:lstStyle/>
          <a:p>
            <a:pPr marL="0" indent="0">
              <a:buNone/>
            </a:pPr>
            <a:r>
              <a:rPr lang="en-CA" b="1" dirty="0"/>
              <a:t>Interpretation</a:t>
            </a:r>
          </a:p>
          <a:p>
            <a:r>
              <a:rPr lang="en-CA" dirty="0"/>
              <a:t>Total risk splits into a market part and an asset-specific part</a:t>
            </a:r>
          </a:p>
          <a:p>
            <a:r>
              <a:rPr lang="en-CA" dirty="0"/>
              <a:t>Idiosyncratic risk is diversifiable: it tends to zero as n grows</a:t>
            </a:r>
          </a:p>
          <a:p>
            <a:r>
              <a:rPr lang="en-CA" dirty="0"/>
              <a:t>Systematic (market) risk cannot be diversified away</a:t>
            </a:r>
          </a:p>
          <a:p>
            <a:r>
              <a:rPr lang="en-CA" dirty="0"/>
              <a:t>Most of the benefit arrives by about 20 to 30 names</a:t>
            </a:r>
          </a:p>
          <a:p>
            <a:r>
              <a:rPr lang="en-CA" dirty="0"/>
              <a:t>Only systematic risk earns a risk premium (CAPM)</a:t>
            </a:r>
          </a:p>
          <a:p>
            <a:r>
              <a:rPr lang="en-CA" dirty="0"/>
              <a:t>The average correlation sets the diversification floor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Comparing the Optimization Methods (1 of 2)</a:t>
            </a:r>
            <a:endParaRPr b="1" dirty="0">
              <a:latin typeface="Arial" panose="020B0604020202020204" pitchFamily="34" charset="0"/>
              <a:cs typeface="Arial" panose="020B0604020202020204" pitchFamily="34" charset="0"/>
            </a:endParaRPr>
          </a:p>
        </p:txBody>
      </p:sp>
      <p:sp>
        <p:nvSpPr>
          <p:cNvPr id="4048" name="Content Placeholder"/>
          <p:cNvSpPr>
            <a:spLocks noGrp="1"/>
          </p:cNvSpPr>
          <p:nvPr>
            <p:ph sz="half" idx="2"/>
          </p:nvPr>
        </p:nvSpPr>
        <p:spPr/>
        <p:txBody>
          <a:bodyPr wrap="square">
            <a:normAutofit fontScale="92500" lnSpcReduction="10000"/>
          </a:bodyPr>
          <a:lstStyle/>
          <a:p>
            <a:pPr marL="0" indent="0">
              <a:buNone/>
            </a:pPr>
            <a:r>
              <a:rPr lang="en-CA" b="1" dirty="0"/>
              <a:t>Every method needs two inputs: expected return per asset, and a covariance matrix (how assets move together)</a:t>
            </a:r>
          </a:p>
          <a:p>
            <a:r>
              <a:rPr lang="en-CA" b="0" dirty="0"/>
              <a:t>1/N (Equal Weight): uses no data at all - splits capital equally; the baseline every fancier method must beat</a:t>
            </a:r>
          </a:p>
          <a:p>
            <a:r>
              <a:rPr lang="en-CA" b="0" dirty="0"/>
              <a:t>Minimum-Variance: ignores expected returns; finds the single lowest-volatility combination of assets</a:t>
            </a:r>
          </a:p>
          <a:p>
            <a:r>
              <a:rPr lang="en-CA" b="0" dirty="0"/>
              <a:t>Markowitz (Max-Sharpe): uses both return and risk to maximise return per unit of risk; sits exactly on the efficient frontier</a:t>
            </a:r>
          </a:p>
          <a:p>
            <a:r>
              <a:rPr lang="en-CA" b="0" dirty="0"/>
              <a:t>Markowitz + Ledoit-Wolf: same Max-Sharpe objective, but the covariance matrix is shrunk first to reduce estimation noise</a:t>
            </a:r>
          </a:p>
          <a:p>
            <a:r>
              <a:rPr lang="en-CA" b="0" dirty="0"/>
              <a:t>Robust (L2 + Ledoit-Wolf): adds a penalty for concentrated weights, spreading the minimum-variance solution across more names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Comparing the Optimization Methods (2 of 2)</a:t>
            </a:r>
            <a:endParaRPr b="1" dirty="0">
              <a:latin typeface="Arial" panose="020B0604020202020204" pitchFamily="34" charset="0"/>
              <a:cs typeface="Arial" panose="020B0604020202020204" pitchFamily="34" charset="0"/>
            </a:endParaRPr>
          </a:p>
        </p:txBody>
      </p:sp>
      <p:sp>
        <p:nvSpPr>
          <p:cNvPr id="4048" name="Content Placeholder"/>
          <p:cNvSpPr>
            <a:spLocks noGrp="1"/>
          </p:cNvSpPr>
          <p:nvPr>
            <p:ph sz="half" idx="2"/>
          </p:nvPr>
        </p:nvSpPr>
        <p:spPr/>
        <p:txBody>
          <a:bodyPr wrap="square">
            <a:normAutofit/>
          </a:bodyPr>
          <a:lstStyle/>
          <a:p>
            <a:r>
              <a:rPr lang="en-CA" b="0" dirty="0"/>
              <a:t>Equal Risk Contribution (ERC / Risk Parity): balances by risk share, not dollar share - every asset contributes the same amount of portfolio risk</a:t>
            </a:r>
          </a:p>
          <a:p>
            <a:r>
              <a:rPr lang="en-CA" b="0" dirty="0"/>
              <a:t>ESG-Constrained: the Max-Sharpe optimiser again, with an added floor on the portfolio's average ESG score</a:t>
            </a:r>
          </a:p>
          <a:p>
            <a:r>
              <a:rPr lang="en-CA" b="0" dirty="0"/>
              <a:t>Black-Litterman: starts from a neutral market-implied return, then blends in a small number of investor views, weighted by confidence</a:t>
            </a:r>
          </a:p>
          <a:p>
            <a:r>
              <a:rPr lang="en-CA" b="0" dirty="0"/>
              <a:t>Hierarchical Risk Parity (HRP): groups assets by correlation into a tree and allocates risk top-down, without ever inverting the covariance matrix</a:t>
            </a:r>
          </a:p>
          <a:p>
            <a:r>
              <a:rPr lang="en-CA" b="0" dirty="0"/>
              <a:t>HRP stays numerically stable at large scale, which is exactly where matrix-inversion methods can misbehave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Optimization Methods at a Glance</a:t>
            </a:r>
            <a:endParaRPr b="1" dirty="0">
              <a:latin typeface="Arial" panose="020B0604020202020204" pitchFamily="34" charset="0"/>
              <a:cs typeface="Arial" panose="020B0604020202020204" pitchFamily="34" charset="0"/>
            </a:endParaRPr>
          </a:p>
        </p:txBody>
      </p:sp>
      <p:graphicFrame>
        <p:nvGraphicFramePr>
          <p:cNvPr id="4048" name="Table 4047"/>
          <p:cNvGraphicFramePr>
            <a:graphicFrameLocks noGrp="1"/>
          </p:cNvGraphicFramePr>
          <p:nvPr/>
        </p:nvGraphicFramePr>
        <p:xfrm>
          <a:off x="420624" y="1600200"/>
          <a:ext cx="11347704" cy="448056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478024">
                  <a:extLst>
                    <a:ext uri="{9D8B030D-6E8A-4147-A177-3AD203B41FA5}">
                      <a16:colId xmlns:a16="http://schemas.microsoft.com/office/drawing/2014/main" val="20003"/>
                    </a:ext>
                  </a:extLst>
                </a:gridCol>
              </a:tblGrid>
              <a:tr h="448056">
                <a:tc>
                  <a:txBody>
                    <a:bodyPr/>
                    <a:lstStyle/>
                    <a:p>
                      <a:r>
                        <a:rPr sz="1400" b="1">
                          <a:solidFill>
                            <a:srgbClr val="000000"/>
                          </a:solidFill>
                          <a:latin typeface="Aptos Narrow"/>
                        </a:rPr>
                        <a:t>Method</a:t>
                      </a:r>
                    </a:p>
                  </a:txBody>
                  <a:tcPr/>
                </a:tc>
                <a:tc>
                  <a:txBody>
                    <a:bodyPr/>
                    <a:lstStyle/>
                    <a:p>
                      <a:r>
                        <a:rPr sz="1400" b="1">
                          <a:solidFill>
                            <a:srgbClr val="000000"/>
                          </a:solidFill>
                          <a:latin typeface="Aptos Narrow"/>
                        </a:rPr>
                        <a:t>Optimises For</a:t>
                      </a:r>
                    </a:p>
                  </a:txBody>
                  <a:tcPr/>
                </a:tc>
                <a:tc>
                  <a:txBody>
                    <a:bodyPr/>
                    <a:lstStyle/>
                    <a:p>
                      <a:r>
                        <a:rPr sz="1400" b="1">
                          <a:solidFill>
                            <a:srgbClr val="000000"/>
                          </a:solidFill>
                          <a:latin typeface="Aptos Narrow"/>
                        </a:rPr>
                        <a:t>Uses Return Forecasts?</a:t>
                      </a:r>
                    </a:p>
                  </a:txBody>
                  <a:tcPr/>
                </a:tc>
                <a:tc>
                  <a:txBody>
                    <a:bodyPr/>
                    <a:lstStyle/>
                    <a:p>
                      <a:r>
                        <a:rPr sz="1400" b="1">
                          <a:solidFill>
                            <a:srgbClr val="000000"/>
                          </a:solidFill>
                          <a:latin typeface="Aptos Narrow"/>
                        </a:rPr>
                        <a:t>Inverts Covariance Matrix?</a:t>
                      </a:r>
                    </a:p>
                  </a:txBody>
                  <a:tcPr/>
                </a:tc>
                <a:extLst>
                  <a:ext uri="{0D108BD9-81ED-4DB2-BD59-A6C34878D82A}">
                    <a16:rowId xmlns:a16="http://schemas.microsoft.com/office/drawing/2014/main" val="10000"/>
                  </a:ext>
                </a:extLst>
              </a:tr>
              <a:tr h="448056">
                <a:tc>
                  <a:txBody>
                    <a:bodyPr/>
                    <a:lstStyle/>
                    <a:p>
                      <a:r>
                        <a:rPr sz="1400" b="0">
                          <a:solidFill>
                            <a:srgbClr val="000000"/>
                          </a:solidFill>
                          <a:latin typeface="Aptos Narrow"/>
                        </a:rPr>
                        <a:t>1/N</a:t>
                      </a:r>
                    </a:p>
                  </a:txBody>
                  <a:tcPr/>
                </a:tc>
                <a:tc>
                  <a:txBody>
                    <a:bodyPr/>
                    <a:lstStyle/>
                    <a:p>
                      <a:r>
                        <a:rPr sz="1400" b="0">
                          <a:solidFill>
                            <a:srgbClr val="000000"/>
                          </a:solidFill>
                          <a:latin typeface="Aptos Narrow"/>
                        </a:rPr>
                        <a:t>Nothing - equal split</a:t>
                      </a:r>
                    </a:p>
                  </a:txBody>
                  <a:tcPr/>
                </a:tc>
                <a:tc>
                  <a:txBody>
                    <a:bodyPr/>
                    <a:lstStyle/>
                    <a:p>
                      <a:r>
                        <a:rPr sz="1400" b="0">
                          <a:solidFill>
                            <a:srgbClr val="000000"/>
                          </a:solidFill>
                          <a:latin typeface="Aptos Narrow"/>
                        </a:rPr>
                        <a:t>No</a:t>
                      </a:r>
                    </a:p>
                  </a:txBody>
                  <a:tcPr/>
                </a:tc>
                <a:tc>
                  <a:txBody>
                    <a:bodyPr/>
                    <a:lstStyle/>
                    <a:p>
                      <a:r>
                        <a:rPr sz="1400" b="0">
                          <a:solidFill>
                            <a:srgbClr val="000000"/>
                          </a:solidFill>
                          <a:latin typeface="Aptos Narrow"/>
                        </a:rPr>
                        <a:t>No</a:t>
                      </a:r>
                    </a:p>
                  </a:txBody>
                  <a:tcPr/>
                </a:tc>
                <a:extLst>
                  <a:ext uri="{0D108BD9-81ED-4DB2-BD59-A6C34878D82A}">
                    <a16:rowId xmlns:a16="http://schemas.microsoft.com/office/drawing/2014/main" val="10001"/>
                  </a:ext>
                </a:extLst>
              </a:tr>
              <a:tr h="448056">
                <a:tc>
                  <a:txBody>
                    <a:bodyPr/>
                    <a:lstStyle/>
                    <a:p>
                      <a:r>
                        <a:rPr sz="1400" b="0">
                          <a:solidFill>
                            <a:srgbClr val="000000"/>
                          </a:solidFill>
                          <a:latin typeface="Aptos Narrow"/>
                        </a:rPr>
                        <a:t>Min-Variance</a:t>
                      </a:r>
                    </a:p>
                  </a:txBody>
                  <a:tcPr/>
                </a:tc>
                <a:tc>
                  <a:txBody>
                    <a:bodyPr/>
                    <a:lstStyle/>
                    <a:p>
                      <a:r>
                        <a:rPr sz="1400" b="0">
                          <a:solidFill>
                            <a:srgbClr val="000000"/>
                          </a:solidFill>
                          <a:latin typeface="Aptos Narrow"/>
                        </a:rPr>
                        <a:t>Lowest possible risk</a:t>
                      </a:r>
                    </a:p>
                  </a:txBody>
                  <a:tcPr/>
                </a:tc>
                <a:tc>
                  <a:txBody>
                    <a:bodyPr/>
                    <a:lstStyle/>
                    <a:p>
                      <a:r>
                        <a:rPr sz="1400" b="0">
                          <a:solidFill>
                            <a:srgbClr val="000000"/>
                          </a:solidFill>
                          <a:latin typeface="Aptos Narrow"/>
                        </a:rPr>
                        <a:t>No</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2"/>
                  </a:ext>
                </a:extLst>
              </a:tr>
              <a:tr h="448056">
                <a:tc>
                  <a:txBody>
                    <a:bodyPr/>
                    <a:lstStyle/>
                    <a:p>
                      <a:r>
                        <a:rPr sz="1400" b="0">
                          <a:solidFill>
                            <a:srgbClr val="000000"/>
                          </a:solidFill>
                          <a:latin typeface="Aptos Narrow"/>
                        </a:rPr>
                        <a:t>Markowitz</a:t>
                      </a:r>
                    </a:p>
                  </a:txBody>
                  <a:tcPr/>
                </a:tc>
                <a:tc>
                  <a:txBody>
                    <a:bodyPr/>
                    <a:lstStyle/>
                    <a:p>
                      <a:r>
                        <a:rPr sz="1400" b="0">
                          <a:solidFill>
                            <a:srgbClr val="000000"/>
                          </a:solidFill>
                          <a:latin typeface="Aptos Narrow"/>
                        </a:rPr>
                        <a:t>Best return per risk (Sharpe)</a:t>
                      </a:r>
                    </a:p>
                  </a:txBody>
                  <a:tcPr/>
                </a:tc>
                <a:tc>
                  <a:txBody>
                    <a:bodyPr/>
                    <a:lstStyle/>
                    <a:p>
                      <a:r>
                        <a:rPr sz="1400" b="0">
                          <a:solidFill>
                            <a:srgbClr val="000000"/>
                          </a:solidFill>
                          <a:latin typeface="Aptos Narrow"/>
                        </a:rPr>
                        <a:t>Yes (raw historical)</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3"/>
                  </a:ext>
                </a:extLst>
              </a:tr>
              <a:tr h="448056">
                <a:tc>
                  <a:txBody>
                    <a:bodyPr/>
                    <a:lstStyle/>
                    <a:p>
                      <a:r>
                        <a:rPr sz="1400" b="0">
                          <a:solidFill>
                            <a:srgbClr val="000000"/>
                          </a:solidFill>
                          <a:latin typeface="Aptos Narrow"/>
                        </a:rPr>
                        <a:t>Markowitz + LW</a:t>
                      </a:r>
                    </a:p>
                  </a:txBody>
                  <a:tcPr/>
                </a:tc>
                <a:tc>
                  <a:txBody>
                    <a:bodyPr/>
                    <a:lstStyle/>
                    <a:p>
                      <a:r>
                        <a:rPr sz="1400" b="0">
                          <a:solidFill>
                            <a:srgbClr val="000000"/>
                          </a:solidFill>
                          <a:latin typeface="Aptos Narrow"/>
                        </a:rPr>
                        <a:t>Best Sharpe, cleaner risk estimate</a:t>
                      </a:r>
                    </a:p>
                  </a:txBody>
                  <a:tcPr/>
                </a:tc>
                <a:tc>
                  <a:txBody>
                    <a:bodyPr/>
                    <a:lstStyle/>
                    <a:p>
                      <a:r>
                        <a:rPr sz="1400" b="0">
                          <a:solidFill>
                            <a:srgbClr val="000000"/>
                          </a:solidFill>
                          <a:latin typeface="Aptos Narrow"/>
                        </a:rPr>
                        <a:t>Yes (raw historical)</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4"/>
                  </a:ext>
                </a:extLst>
              </a:tr>
              <a:tr h="448056">
                <a:tc>
                  <a:txBody>
                    <a:bodyPr/>
                    <a:lstStyle/>
                    <a:p>
                      <a:r>
                        <a:rPr sz="1400" b="0">
                          <a:solidFill>
                            <a:srgbClr val="000000"/>
                          </a:solidFill>
                          <a:latin typeface="Aptos Narrow"/>
                        </a:rPr>
                        <a:t>Robust (L2 + LW)</a:t>
                      </a:r>
                    </a:p>
                  </a:txBody>
                  <a:tcPr/>
                </a:tc>
                <a:tc>
                  <a:txBody>
                    <a:bodyPr/>
                    <a:lstStyle/>
                    <a:p>
                      <a:r>
                        <a:rPr sz="1400" b="0">
                          <a:solidFill>
                            <a:srgbClr val="000000"/>
                          </a:solidFill>
                          <a:latin typeface="Aptos Narrow"/>
                        </a:rPr>
                        <a:t>Low risk, less concentrated</a:t>
                      </a:r>
                    </a:p>
                  </a:txBody>
                  <a:tcPr/>
                </a:tc>
                <a:tc>
                  <a:txBody>
                    <a:bodyPr/>
                    <a:lstStyle/>
                    <a:p>
                      <a:r>
                        <a:rPr sz="1400" b="0">
                          <a:solidFill>
                            <a:srgbClr val="000000"/>
                          </a:solidFill>
                          <a:latin typeface="Aptos Narrow"/>
                        </a:rPr>
                        <a:t>No</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5"/>
                  </a:ext>
                </a:extLst>
              </a:tr>
              <a:tr h="448056">
                <a:tc>
                  <a:txBody>
                    <a:bodyPr/>
                    <a:lstStyle/>
                    <a:p>
                      <a:r>
                        <a:rPr sz="1400" b="0">
                          <a:solidFill>
                            <a:srgbClr val="000000"/>
                          </a:solidFill>
                          <a:latin typeface="Aptos Narrow"/>
                        </a:rPr>
                        <a:t>ERC (Risk Parity)</a:t>
                      </a:r>
                    </a:p>
                  </a:txBody>
                  <a:tcPr/>
                </a:tc>
                <a:tc>
                  <a:txBody>
                    <a:bodyPr/>
                    <a:lstStyle/>
                    <a:p>
                      <a:r>
                        <a:rPr sz="1400" b="0">
                          <a:solidFill>
                            <a:srgbClr val="000000"/>
                          </a:solidFill>
                          <a:latin typeface="Aptos Narrow"/>
                        </a:rPr>
                        <a:t>Equal risk contribution per asset</a:t>
                      </a:r>
                    </a:p>
                  </a:txBody>
                  <a:tcPr/>
                </a:tc>
                <a:tc>
                  <a:txBody>
                    <a:bodyPr/>
                    <a:lstStyle/>
                    <a:p>
                      <a:r>
                        <a:rPr sz="1400" b="0">
                          <a:solidFill>
                            <a:srgbClr val="000000"/>
                          </a:solidFill>
                          <a:latin typeface="Aptos Narrow"/>
                        </a:rPr>
                        <a:t>No</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6"/>
                  </a:ext>
                </a:extLst>
              </a:tr>
              <a:tr h="448056">
                <a:tc>
                  <a:txBody>
                    <a:bodyPr/>
                    <a:lstStyle/>
                    <a:p>
                      <a:r>
                        <a:rPr sz="1400" b="0">
                          <a:solidFill>
                            <a:srgbClr val="000000"/>
                          </a:solidFill>
                          <a:latin typeface="Aptos Narrow"/>
                        </a:rPr>
                        <a:t>ESG-Constrained</a:t>
                      </a:r>
                    </a:p>
                  </a:txBody>
                  <a:tcPr/>
                </a:tc>
                <a:tc>
                  <a:txBody>
                    <a:bodyPr/>
                    <a:lstStyle/>
                    <a:p>
                      <a:r>
                        <a:rPr sz="1400" b="0">
                          <a:solidFill>
                            <a:srgbClr val="000000"/>
                          </a:solidFill>
                          <a:latin typeface="Aptos Narrow"/>
                        </a:rPr>
                        <a:t>Best Sharpe, with an ESG floor</a:t>
                      </a:r>
                    </a:p>
                  </a:txBody>
                  <a:tcPr/>
                </a:tc>
                <a:tc>
                  <a:txBody>
                    <a:bodyPr/>
                    <a:lstStyle/>
                    <a:p>
                      <a:r>
                        <a:rPr sz="1400" b="0">
                          <a:solidFill>
                            <a:srgbClr val="000000"/>
                          </a:solidFill>
                          <a:latin typeface="Aptos Narrow"/>
                        </a:rPr>
                        <a:t>Yes (raw historical)</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7"/>
                  </a:ext>
                </a:extLst>
              </a:tr>
              <a:tr h="448056">
                <a:tc>
                  <a:txBody>
                    <a:bodyPr/>
                    <a:lstStyle/>
                    <a:p>
                      <a:r>
                        <a:rPr sz="1400" b="0">
                          <a:solidFill>
                            <a:srgbClr val="000000"/>
                          </a:solidFill>
                          <a:latin typeface="Aptos Narrow"/>
                        </a:rPr>
                        <a:t>Black-Litterman</a:t>
                      </a:r>
                    </a:p>
                  </a:txBody>
                  <a:tcPr/>
                </a:tc>
                <a:tc>
                  <a:txBody>
                    <a:bodyPr/>
                    <a:lstStyle/>
                    <a:p>
                      <a:r>
                        <a:rPr sz="1400" b="0">
                          <a:solidFill>
                            <a:srgbClr val="000000"/>
                          </a:solidFill>
                          <a:latin typeface="Aptos Narrow"/>
                        </a:rPr>
                        <a:t>Best Sharpe, on blended forecasts</a:t>
                      </a:r>
                    </a:p>
                  </a:txBody>
                  <a:tcPr/>
                </a:tc>
                <a:tc>
                  <a:txBody>
                    <a:bodyPr/>
                    <a:lstStyle/>
                    <a:p>
                      <a:r>
                        <a:rPr sz="1400" b="0">
                          <a:solidFill>
                            <a:srgbClr val="000000"/>
                          </a:solidFill>
                          <a:latin typeface="Aptos Narrow"/>
                        </a:rPr>
                        <a:t>Yes (market + views)</a:t>
                      </a:r>
                    </a:p>
                  </a:txBody>
                  <a:tcPr/>
                </a:tc>
                <a:tc>
                  <a:txBody>
                    <a:bodyPr/>
                    <a:lstStyle/>
                    <a:p>
                      <a:r>
                        <a:rPr sz="1400" b="0">
                          <a:solidFill>
                            <a:srgbClr val="000000"/>
                          </a:solidFill>
                          <a:latin typeface="Aptos Narrow"/>
                        </a:rPr>
                        <a:t>Yes</a:t>
                      </a:r>
                    </a:p>
                  </a:txBody>
                  <a:tcPr/>
                </a:tc>
                <a:extLst>
                  <a:ext uri="{0D108BD9-81ED-4DB2-BD59-A6C34878D82A}">
                    <a16:rowId xmlns:a16="http://schemas.microsoft.com/office/drawing/2014/main" val="10008"/>
                  </a:ext>
                </a:extLst>
              </a:tr>
              <a:tr h="448056">
                <a:tc>
                  <a:txBody>
                    <a:bodyPr/>
                    <a:lstStyle/>
                    <a:p>
                      <a:r>
                        <a:rPr sz="1400" b="0">
                          <a:solidFill>
                            <a:srgbClr val="000000"/>
                          </a:solidFill>
                          <a:latin typeface="Aptos Narrow"/>
                        </a:rPr>
                        <a:t>HRP</a:t>
                      </a:r>
                    </a:p>
                  </a:txBody>
                  <a:tcPr/>
                </a:tc>
                <a:tc>
                  <a:txBody>
                    <a:bodyPr/>
                    <a:lstStyle/>
                    <a:p>
                      <a:r>
                        <a:rPr sz="1400" b="0">
                          <a:solidFill>
                            <a:srgbClr val="000000"/>
                          </a:solidFill>
                          <a:latin typeface="Aptos Narrow"/>
                        </a:rPr>
                        <a:t>Risk allocated via clustering</a:t>
                      </a:r>
                    </a:p>
                  </a:txBody>
                  <a:tcPr/>
                </a:tc>
                <a:tc>
                  <a:txBody>
                    <a:bodyPr/>
                    <a:lstStyle/>
                    <a:p>
                      <a:r>
                        <a:rPr sz="1400" b="0">
                          <a:solidFill>
                            <a:srgbClr val="000000"/>
                          </a:solidFill>
                          <a:latin typeface="Aptos Narrow"/>
                        </a:rPr>
                        <a:t>No</a:t>
                      </a:r>
                    </a:p>
                  </a:txBody>
                  <a:tcPr/>
                </a:tc>
                <a:tc>
                  <a:txBody>
                    <a:bodyPr/>
                    <a:lstStyle/>
                    <a:p>
                      <a:r>
                        <a:rPr sz="1400" b="0">
                          <a:solidFill>
                            <a:srgbClr val="000000"/>
                          </a:solidFill>
                          <a:latin typeface="Aptos Narrow"/>
                        </a:rPr>
                        <a:t>No</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Required Readings and References</a:t>
            </a:r>
            <a:endParaRPr b="1" dirty="0">
              <a:latin typeface="Arial" panose="020B0604020202020204" pitchFamily="34" charset="0"/>
              <a:cs typeface="Arial" panose="020B0604020202020204" pitchFamily="34" charset="0"/>
            </a:endParaRPr>
          </a:p>
        </p:txBody>
      </p:sp>
      <p:sp>
        <p:nvSpPr>
          <p:cNvPr id="4050" name="Content Placeholder"/>
          <p:cNvSpPr>
            <a:spLocks noGrp="1"/>
          </p:cNvSpPr>
          <p:nvPr>
            <p:ph sz="half" idx="2"/>
          </p:nvPr>
        </p:nvSpPr>
        <p:spPr/>
        <p:txBody>
          <a:bodyPr wrap="square">
            <a:normAutofit fontScale="92500" lnSpcReduction="20000"/>
          </a:bodyPr>
          <a:lstStyle/>
          <a:p>
            <a:pPr marL="0" indent="0">
              <a:buNone/>
            </a:pPr>
            <a:r>
              <a:rPr lang="en-CA" b="1" dirty="0"/>
              <a:t>Required</a:t>
            </a:r>
          </a:p>
          <a:p>
            <a:r>
              <a:rPr lang="en-CA" dirty="0"/>
              <a:t>Hull, J. C. (2023). Risk Management and Financial Institutions, 6e. Ch. 1, Sections 1.1 to 1.4: Risk-Return Trade-offs.</a:t>
            </a:r>
          </a:p>
          <a:p>
            <a:r>
              <a:rPr lang="en-CA" dirty="0"/>
              <a:t>Jorion, P. (2010). Financial Risk Manager Handbook, 6e. Ch. 29: Portfolio Risk Management.</a:t>
            </a:r>
          </a:p>
          <a:p>
            <a:endParaRPr lang="en-CA" dirty="0"/>
          </a:p>
          <a:p>
            <a:pPr marL="0" indent="0">
              <a:buNone/>
            </a:pPr>
            <a:r>
              <a:rPr lang="en-CA" b="1" dirty="0"/>
              <a:t>Supplementary</a:t>
            </a:r>
          </a:p>
          <a:p>
            <a:r>
              <a:rPr lang="en-CA" dirty="0"/>
              <a:t>Markowitz, H. (1952). Portfolio selection. Journal of Finance, 7(1), 77 to 91.</a:t>
            </a:r>
          </a:p>
          <a:p>
            <a:r>
              <a:rPr lang="en-CA" dirty="0"/>
              <a:t>Michaud, R. O. (1989). The Markowitz optimization enigma: is 'optimized' optimal? Financial Analysts Journal, 45(1), 31 to 42.</a:t>
            </a:r>
          </a:p>
          <a:p>
            <a:r>
              <a:rPr lang="en-CA" dirty="0"/>
              <a:t>DeMiguel, V., Garlappi, L., and Uppal, R. (2009). Optimal versus naive diversification: how inefficient is the 1/N portfolio strategy? Review of Financial Studies, 22(5), 1915 to 1953.</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2482</TotalTime>
  <Words>4131</Words>
  <Application>Microsoft Macintosh PowerPoint</Application>
  <PresentationFormat>Widescreen</PresentationFormat>
  <Paragraphs>299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 Narrow</vt:lpstr>
      <vt:lpstr>Arial</vt:lpstr>
      <vt:lpstr>Calibri</vt:lpstr>
      <vt:lpstr>Calibri Light</vt:lpstr>
      <vt:lpstr>Office 2013 - 2022 Theme</vt:lpstr>
      <vt:lpstr>FINANCIAL RISK MANAGEMENT AND ENGINEERING  Session 9: Portfolio Risk and Optimization I: Mean-Variance</vt:lpstr>
      <vt:lpstr>Learning Objectives</vt:lpstr>
      <vt:lpstr>Risk-Return Trade-off</vt:lpstr>
      <vt:lpstr>The Mean-Variance Framework</vt:lpstr>
      <vt:lpstr>Key Formula: Portfolio Variance</vt:lpstr>
      <vt:lpstr>Key Formula: Global Minimum-Variance Portfolio</vt:lpstr>
      <vt:lpstr>Key Formula: Tangency (Maximum-Sharpe) Portfolio</vt:lpstr>
      <vt:lpstr>Efficient Frontier: Geometry</vt:lpstr>
      <vt:lpstr>Case Study: Markowitz (1952), a Revolution in Finance (Nobel 1990)</vt:lpstr>
      <vt:lpstr>Block 2: Efficient Frontier in Python</vt:lpstr>
      <vt:lpstr>Step 1: Data Acquisition and Covariance Matrix</vt:lpstr>
      <vt:lpstr>Step 2: Monte Carlo Portfolio Simulation</vt:lpstr>
      <vt:lpstr>Step 3: Analytical Efficient Frontier</vt:lpstr>
      <vt:lpstr>Global Minimum-Variance Portfolio</vt:lpstr>
      <vt:lpstr>Tangency Portfolio and Capital Market Line</vt:lpstr>
      <vt:lpstr>Portfolio Risk Attribution</vt:lpstr>
      <vt:lpstr>CAPM: Beta, Alpha, and R-squared</vt:lpstr>
      <vt:lpstr>Limits of Mean-Variance Optimisation</vt:lpstr>
      <vt:lpstr>Diversification: Systematic vs Idiosyncratic Risk</vt:lpstr>
      <vt:lpstr>Comparing the Optimization Methods (1 of 2)</vt:lpstr>
      <vt:lpstr>Comparing the Optimization Methods (2 of 2)</vt:lpstr>
      <vt:lpstr>Optimization Methods at a Glance</vt:lpstr>
      <vt:lpstr>Required Readings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2026-07-17T06:15:33Z</dcterms:modified>
</cp:coreProperties>
</file>